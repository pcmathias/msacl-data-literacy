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6"/>
  </p:notesMasterIdLst>
  <p:sldIdLst>
    <p:sldId id="256" r:id="rId2"/>
    <p:sldId id="580" r:id="rId3"/>
    <p:sldId id="259" r:id="rId4"/>
    <p:sldId id="582" r:id="rId5"/>
    <p:sldId id="620" r:id="rId6"/>
    <p:sldId id="622" r:id="rId7"/>
    <p:sldId id="584" r:id="rId8"/>
    <p:sldId id="614" r:id="rId9"/>
    <p:sldId id="270" r:id="rId10"/>
    <p:sldId id="271" r:id="rId11"/>
    <p:sldId id="618" r:id="rId12"/>
    <p:sldId id="590" r:id="rId13"/>
    <p:sldId id="591" r:id="rId14"/>
    <p:sldId id="592" r:id="rId15"/>
    <p:sldId id="279" r:id="rId16"/>
    <p:sldId id="572" r:id="rId17"/>
    <p:sldId id="574" r:id="rId18"/>
    <p:sldId id="585" r:id="rId19"/>
    <p:sldId id="583" r:id="rId20"/>
    <p:sldId id="263" r:id="rId21"/>
    <p:sldId id="641" r:id="rId22"/>
    <p:sldId id="665" r:id="rId23"/>
    <p:sldId id="617" r:id="rId24"/>
    <p:sldId id="619" r:id="rId25"/>
    <p:sldId id="267" r:id="rId26"/>
    <p:sldId id="603" r:id="rId27"/>
    <p:sldId id="601" r:id="rId28"/>
    <p:sldId id="604" r:id="rId29"/>
    <p:sldId id="602" r:id="rId30"/>
    <p:sldId id="268" r:id="rId31"/>
    <p:sldId id="269" r:id="rId32"/>
    <p:sldId id="593" r:id="rId33"/>
    <p:sldId id="629" r:id="rId34"/>
    <p:sldId id="654" r:id="rId35"/>
    <p:sldId id="275" r:id="rId36"/>
    <p:sldId id="276" r:id="rId37"/>
    <p:sldId id="667" r:id="rId38"/>
    <p:sldId id="277" r:id="rId39"/>
    <p:sldId id="278" r:id="rId40"/>
    <p:sldId id="623" r:id="rId41"/>
    <p:sldId id="597" r:id="rId42"/>
    <p:sldId id="651" r:id="rId43"/>
    <p:sldId id="607" r:id="rId44"/>
    <p:sldId id="645" r:id="rId45"/>
    <p:sldId id="600" r:id="rId46"/>
    <p:sldId id="612" r:id="rId47"/>
    <p:sldId id="650" r:id="rId48"/>
    <p:sldId id="646" r:id="rId49"/>
    <p:sldId id="647" r:id="rId50"/>
    <p:sldId id="653" r:id="rId51"/>
    <p:sldId id="648" r:id="rId52"/>
    <p:sldId id="649" r:id="rId53"/>
    <p:sldId id="630" r:id="rId54"/>
    <p:sldId id="644" r:id="rId55"/>
    <p:sldId id="596" r:id="rId56"/>
    <p:sldId id="627" r:id="rId57"/>
    <p:sldId id="281" r:id="rId58"/>
    <p:sldId id="658" r:id="rId59"/>
    <p:sldId id="609" r:id="rId60"/>
    <p:sldId id="631" r:id="rId61"/>
    <p:sldId id="282" r:id="rId62"/>
    <p:sldId id="635" r:id="rId63"/>
    <p:sldId id="283" r:id="rId64"/>
    <p:sldId id="661" r:id="rId65"/>
    <p:sldId id="664" r:id="rId66"/>
    <p:sldId id="636" r:id="rId67"/>
    <p:sldId id="638" r:id="rId68"/>
    <p:sldId id="666" r:id="rId69"/>
    <p:sldId id="642" r:id="rId70"/>
    <p:sldId id="655" r:id="rId71"/>
    <p:sldId id="610" r:id="rId72"/>
    <p:sldId id="637" r:id="rId73"/>
    <p:sldId id="626" r:id="rId74"/>
    <p:sldId id="581" r:id="rId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3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DA440C-DD4B-E74E-AD1D-BD29F387E271}" v="24" dt="2026-10-04T00:38:46.6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84371"/>
  </p:normalViewPr>
  <p:slideViewPr>
    <p:cSldViewPr snapToGrid="0" snapToObjects="1">
      <p:cViewPr varScale="1">
        <p:scale>
          <a:sx n="100" d="100"/>
          <a:sy n="100" d="100"/>
        </p:scale>
        <p:origin x="184" y="280"/>
      </p:cViewPr>
      <p:guideLst>
        <p:guide orient="horz" pos="3360"/>
        <p:guide pos="338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5E3528A0-B309-4B59-A4EA-EA7B6F3CE18F}">
      <dgm:prSet/>
      <dgm:spPr/>
      <dgm:t>
        <a:bodyPr/>
        <a:lstStyle/>
        <a:p>
          <a:r>
            <a:rPr lang="en-US" b="1" baseline="0" dirty="0"/>
            <a:t>Match visual to purpose &amp; data type</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a:t>01</a:t>
          </a:r>
          <a:endParaRPr lang="en-US" dirty="0"/>
        </a:p>
      </dgm:t>
    </dgm:pt>
    <dgm:pt modelId="{5747CD0B-C499-4FA8-A1B3-73536D484281}">
      <dgm:prSet/>
      <dgm:spPr/>
      <dgm:t>
        <a:bodyPr/>
        <a:lstStyle/>
        <a:p>
          <a:r>
            <a:rPr lang="en-US" b="1" baseline="0" dirty="0"/>
            <a:t>Make comparisons effortless</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Use effective visual encodings</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dirty="0"/>
            <a:t>03</a:t>
          </a:r>
        </a:p>
      </dgm:t>
    </dgm:pt>
    <dgm:pt modelId="{8209B384-235B-47F9-8BA5-8E42CAD3B100}">
      <dgm:prSet/>
      <dgm:spPr/>
      <dgm:t>
        <a:bodyPr/>
        <a:lstStyle/>
        <a:p>
          <a:r>
            <a:rPr lang="en-US" b="1" baseline="0" dirty="0"/>
            <a:t>Design for readability &amp; accessibility</a:t>
          </a:r>
          <a:br>
            <a:rPr lang="en-US" baseline="0" dirty="0"/>
          </a:br>
          <a:endParaRPr lang="en-US" dirty="0"/>
        </a:p>
      </dgm:t>
    </dgm:pt>
    <dgm:pt modelId="{024DCA4C-740A-4C56-B457-507C462EC332}" type="sibTrans" cxnId="{F7B837F0-FF18-4CFB-A573-25BFE43069E6}">
      <dgm:prSet phldrT="04" phldr="0"/>
      <dgm:spPr/>
      <dgm:t>
        <a:bodyPr/>
        <a:lstStyle/>
        <a:p>
          <a:r>
            <a:rPr lang="en-US"/>
            <a:t>04</a:t>
          </a:r>
          <a:endParaRPr lang="en-US" dirty="0"/>
        </a:p>
      </dgm:t>
    </dgm:pt>
    <dgm:pt modelId="{C2AE047E-A7F8-431E-AA47-D57FD54650C6}" type="parTrans" cxnId="{F7B837F0-FF18-4CFB-A573-25BFE43069E6}">
      <dgm:prSet/>
      <dgm:spPr/>
      <dgm:t>
        <a:bodyPr/>
        <a:lstStyle/>
        <a:p>
          <a:endParaRPr lang="en-US"/>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5E3528A0-B309-4B59-A4EA-EA7B6F3CE18F}">
      <dgm:prSet/>
      <dgm:spPr/>
      <dgm:t>
        <a:bodyPr/>
        <a:lstStyle/>
        <a:p>
          <a:r>
            <a:rPr lang="en-US" b="1" baseline="0" dirty="0"/>
            <a:t>Match visual to purpose &amp; data type</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a:t>01</a:t>
          </a:r>
          <a:endParaRPr lang="en-US" dirty="0"/>
        </a:p>
      </dgm:t>
    </dgm:pt>
    <dgm:pt modelId="{5747CD0B-C499-4FA8-A1B3-73536D484281}">
      <dgm:prSet/>
      <dgm:spPr/>
      <dgm:t>
        <a:bodyPr/>
        <a:lstStyle/>
        <a:p>
          <a:r>
            <a:rPr lang="en-US" b="1" baseline="0" dirty="0"/>
            <a:t>Make comparisons effortless</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Use effective visual encodings</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a:t>03</a:t>
          </a:r>
          <a:endParaRPr lang="en-US" dirty="0"/>
        </a:p>
      </dgm:t>
    </dgm:pt>
    <dgm:pt modelId="{8209B384-235B-47F9-8BA5-8E42CAD3B100}">
      <dgm:prSet/>
      <dgm:spPr/>
      <dgm:t>
        <a:bodyPr/>
        <a:lstStyle/>
        <a:p>
          <a:r>
            <a:rPr lang="en-US" b="1" baseline="0"/>
            <a:t>Design for readability &amp; accessibility</a:t>
          </a:r>
          <a:br>
            <a:rPr lang="en-US" baseline="0"/>
          </a:br>
          <a:endParaRPr lang="en-US"/>
        </a:p>
      </dgm:t>
    </dgm:pt>
    <dgm:pt modelId="{C2AE047E-A7F8-431E-AA47-D57FD54650C6}" type="parTrans" cxnId="{F7B837F0-FF18-4CFB-A573-25BFE43069E6}">
      <dgm:prSet/>
      <dgm:spPr/>
      <dgm:t>
        <a:bodyPr/>
        <a:lstStyle/>
        <a:p>
          <a:endParaRPr lang="en-US"/>
        </a:p>
      </dgm:t>
    </dgm:pt>
    <dgm:pt modelId="{024DCA4C-740A-4C56-B457-507C462EC332}" type="sibTrans" cxnId="{F7B837F0-FF18-4CFB-A573-25BFE43069E6}">
      <dgm:prSet phldrT="04" phldr="0"/>
      <dgm:spPr/>
      <dgm:t>
        <a:bodyPr/>
        <a:lstStyle/>
        <a:p>
          <a:r>
            <a:rPr lang="en-US"/>
            <a:t>04</a:t>
          </a:r>
          <a:endParaRPr lang="en-US" dirty="0"/>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Match visual to purpose &amp; data type</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01</a:t>
          </a:r>
          <a:endParaRPr lang="en-US" sz="6100" kern="1200" dirty="0"/>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2">
            <a:hueOff val="-441124"/>
            <a:satOff val="497"/>
            <a:lumOff val="1177"/>
            <a:alphaOff val="0"/>
          </a:schemeClr>
        </a:solidFill>
        <a:ln w="15875" cap="flat" cmpd="sng" algn="ctr">
          <a:solidFill>
            <a:schemeClr val="accent2">
              <a:hueOff val="-441124"/>
              <a:satOff val="497"/>
              <a:lumOff val="11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Make comparisons effortless</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2">
            <a:hueOff val="-882249"/>
            <a:satOff val="995"/>
            <a:lumOff val="2353"/>
            <a:alphaOff val="0"/>
          </a:schemeClr>
        </a:solidFill>
        <a:ln w="15875" cap="flat" cmpd="sng" algn="ctr">
          <a:solidFill>
            <a:schemeClr val="accent2">
              <a:hueOff val="-882249"/>
              <a:satOff val="995"/>
              <a:lumOff val="235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Use effective visual encodings</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dirty="0"/>
            <a:t>03</a:t>
          </a:r>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2">
            <a:hueOff val="-1323373"/>
            <a:satOff val="1492"/>
            <a:lumOff val="3530"/>
            <a:alphaOff val="0"/>
          </a:schemeClr>
        </a:solidFill>
        <a:ln w="15875"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Design for readability &amp; accessibility</a:t>
          </a:r>
          <a:br>
            <a:rPr lang="en-US" sz="2600" kern="1200" baseline="0" dirty="0"/>
          </a:br>
          <a:endParaRPr lang="en-US" sz="2600" kern="1200" dirty="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Match visual to purpose &amp; data type</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01</a:t>
          </a:r>
          <a:endParaRPr lang="en-US" sz="6100" kern="1200" dirty="0"/>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2">
            <a:hueOff val="-441124"/>
            <a:satOff val="497"/>
            <a:lumOff val="1177"/>
            <a:alphaOff val="0"/>
          </a:schemeClr>
        </a:solidFill>
        <a:ln w="15875" cap="flat" cmpd="sng" algn="ctr">
          <a:solidFill>
            <a:schemeClr val="accent2">
              <a:hueOff val="-441124"/>
              <a:satOff val="497"/>
              <a:lumOff val="11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Make comparisons effortless</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2">
            <a:hueOff val="-882249"/>
            <a:satOff val="995"/>
            <a:lumOff val="2353"/>
            <a:alphaOff val="0"/>
          </a:schemeClr>
        </a:solidFill>
        <a:ln w="15875" cap="flat" cmpd="sng" algn="ctr">
          <a:solidFill>
            <a:schemeClr val="accent2">
              <a:hueOff val="-882249"/>
              <a:satOff val="995"/>
              <a:lumOff val="235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Use effective visual encodings</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03</a:t>
          </a:r>
          <a:endParaRPr lang="en-US" sz="6100" kern="1200" dirty="0"/>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2">
            <a:hueOff val="-1323373"/>
            <a:satOff val="1492"/>
            <a:lumOff val="3530"/>
            <a:alphaOff val="0"/>
          </a:schemeClr>
        </a:solidFill>
        <a:ln w="15875"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a:t>Design for readability &amp; accessibility</a:t>
          </a:r>
          <a:br>
            <a:rPr lang="en-US" sz="2600" kern="1200" baseline="0"/>
          </a:br>
          <a:endParaRPr lang="en-US" sz="2600" kern="120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10/3/26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google.com/search?sca_esv=6a2da25b2ac48ac6&amp;rlz=1C5GCEM_enUS1130US1130&amp;q=Leptokurtic&amp;sa=X&amp;ved=2ahUKEwi0lIKA7umPAxVG_skDHQuDBPgQxccNegUIjwMQAQ&amp;mstk=AUtExfBuwPi6JabWHo7Re9kO7rIq2zHnZYngqqC_2WiBnkM4CbMon8qncCRCeawjfUezAIg-UklwyXy1-LvihrcKuIvH9hxzoHXwUpCTryTeZXRPiPk6FEXwd2Nf1VjEKbe0EHIN-uxC3fI_--gOVCF_OcSdq2frUoBZdAqIVUClYvfj9W0&amp;csui=3"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www.google.com/search?sca_esv=6a2da25b2ac48ac6&amp;rlz=1C5GCEM_enUS1130US1130&amp;q=excess+kurtosis&amp;sa=X&amp;ved=2ahUKEwi0lIKA7umPAxVG_skDHQuDBPgQxccNegUIjwMQAg&amp;mstk=AUtExfBuwPi6JabWHo7Re9kO7rIq2zHnZYngqqC_2WiBnkM4CbMon8qncCRCeawjfUezAIg-UklwyXy1-LvihrcKuIvH9hxzoHXwUpCTryTeZXRPiPk6FEXwd2Nf1VjEKbe0EHIN-uxC3fI_--gOVCF_OcSdq2frUoBZdAqIVUClYvfj9W0&amp;csui=3"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2470B-4D48-16F8-4CE6-F7689975A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DF05A-4A77-4FF1-FC66-4AA4E93A8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4D6146-D5C3-9A6D-48B2-10B9A9EE7E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F7FE11-7600-6E95-8AB3-1B0DCFCF1C27}"/>
              </a:ext>
            </a:extLst>
          </p:cNvPr>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3483857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5766d32465_1_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g35766d32465_1_1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Shannon</a:t>
            </a:r>
            <a:endParaRPr dirty="0"/>
          </a:p>
          <a:p>
            <a:pPr marL="0" lvl="0" indent="0" algn="l" rtl="0">
              <a:lnSpc>
                <a:spcPct val="100000"/>
              </a:lnSpc>
              <a:spcBef>
                <a:spcPts val="0"/>
              </a:spcBef>
              <a:spcAft>
                <a:spcPts val="0"/>
              </a:spcAft>
              <a:buSzPts val="1400"/>
              <a:buNone/>
            </a:pPr>
            <a:r>
              <a:rPr lang="en-US" dirty="0"/>
              <a:t>Focus here is on communication and more specifically of quantitative information – is this true?? Case 2 Is more analysis focused, right?</a:t>
            </a:r>
          </a:p>
          <a:p>
            <a:pPr marL="0" lvl="0" indent="0" algn="l" rtl="0">
              <a:lnSpc>
                <a:spcPct val="100000"/>
              </a:lnSpc>
              <a:spcBef>
                <a:spcPts val="0"/>
              </a:spcBef>
              <a:spcAft>
                <a:spcPts val="0"/>
              </a:spcAft>
              <a:buSzPts val="1400"/>
              <a:buNone/>
            </a:pPr>
            <a:r>
              <a:rPr lang="en-US" dirty="0"/>
              <a:t>— provide transparency and understanding for monitoring, interventions, and outcomes</a:t>
            </a:r>
            <a:endParaRPr dirty="0"/>
          </a:p>
        </p:txBody>
      </p:sp>
      <p:sp>
        <p:nvSpPr>
          <p:cNvPr id="151" name="Google Shape;151;g35766d32465_1_1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A4BBA292-BC8A-15BB-8C6E-CA3700900BEE}"/>
            </a:ext>
          </a:extLst>
        </p:cNvPr>
        <p:cNvGrpSpPr/>
        <p:nvPr/>
      </p:nvGrpSpPr>
      <p:grpSpPr>
        <a:xfrm>
          <a:off x="0" y="0"/>
          <a:ext cx="0" cy="0"/>
          <a:chOff x="0" y="0"/>
          <a:chExt cx="0" cy="0"/>
        </a:xfrm>
      </p:grpSpPr>
      <p:sp>
        <p:nvSpPr>
          <p:cNvPr id="149" name="Google Shape;149;g35766d32465_1_142:notes">
            <a:extLst>
              <a:ext uri="{FF2B5EF4-FFF2-40B4-BE49-F238E27FC236}">
                <a16:creationId xmlns:a16="http://schemas.microsoft.com/office/drawing/2014/main" id="{E0A8CFEE-25C7-DD6F-8C9C-F236105831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g35766d32465_1_142:notes">
            <a:extLst>
              <a:ext uri="{FF2B5EF4-FFF2-40B4-BE49-F238E27FC236}">
                <a16:creationId xmlns:a16="http://schemas.microsoft.com/office/drawing/2014/main" id="{E012D20C-8905-8667-2583-314F80CB021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1" name="Google Shape;151;g35766d32465_1_142:notes">
            <a:extLst>
              <a:ext uri="{FF2B5EF4-FFF2-40B4-BE49-F238E27FC236}">
                <a16:creationId xmlns:a16="http://schemas.microsoft.com/office/drawing/2014/main" id="{A940B68A-796A-B530-E925-C86EBED1D621}"/>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2511965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676D2C7-3985-E226-C6FD-7D0D4575C268}"/>
            </a:ext>
          </a:extLst>
        </p:cNvPr>
        <p:cNvGrpSpPr/>
        <p:nvPr/>
      </p:nvGrpSpPr>
      <p:grpSpPr>
        <a:xfrm>
          <a:off x="0" y="0"/>
          <a:ext cx="0" cy="0"/>
          <a:chOff x="0" y="0"/>
          <a:chExt cx="0" cy="0"/>
        </a:xfrm>
      </p:grpSpPr>
      <p:sp>
        <p:nvSpPr>
          <p:cNvPr id="238" name="Google Shape;238;g35766d32465_2_2:notes">
            <a:extLst>
              <a:ext uri="{FF2B5EF4-FFF2-40B4-BE49-F238E27FC236}">
                <a16:creationId xmlns:a16="http://schemas.microsoft.com/office/drawing/2014/main" id="{0793B685-D246-4281-48B4-D0225D1F4C9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g35766d32465_2_2:notes">
            <a:extLst>
              <a:ext uri="{FF2B5EF4-FFF2-40B4-BE49-F238E27FC236}">
                <a16:creationId xmlns:a16="http://schemas.microsoft.com/office/drawing/2014/main" id="{C2CFA2AD-0B73-8418-6F6B-AF07A70BA9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0930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A52940EC-E00C-0634-C054-285C6876A0E7}"/>
            </a:ext>
          </a:extLst>
        </p:cNvPr>
        <p:cNvGrpSpPr/>
        <p:nvPr/>
      </p:nvGrpSpPr>
      <p:grpSpPr>
        <a:xfrm>
          <a:off x="0" y="0"/>
          <a:ext cx="0" cy="0"/>
          <a:chOff x="0" y="0"/>
          <a:chExt cx="0" cy="0"/>
        </a:xfrm>
      </p:grpSpPr>
      <p:sp>
        <p:nvSpPr>
          <p:cNvPr id="247" name="Google Shape;247;g35766d32465_2_10:notes">
            <a:extLst>
              <a:ext uri="{FF2B5EF4-FFF2-40B4-BE49-F238E27FC236}">
                <a16:creationId xmlns:a16="http://schemas.microsoft.com/office/drawing/2014/main" id="{AF658CE1-617C-29C4-F6B1-F642B9524C7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kern="1200" dirty="0">
                <a:solidFill>
                  <a:schemeClr val="tx1"/>
                </a:solidFill>
                <a:effectLst/>
                <a:latin typeface="+mn-lt"/>
                <a:ea typeface="+mn-ea"/>
                <a:cs typeface="+mn-cs"/>
              </a:rPr>
              <a:t>Dimension:</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Skewness describes a distribution's horizontal spread and balance, while kurtosis describes its vertical spread and the presence of outliers. </a:t>
            </a:r>
          </a:p>
          <a:p>
            <a:r>
              <a:rPr lang="en-US" sz="1200" b="1" i="0" kern="1200" dirty="0">
                <a:solidFill>
                  <a:schemeClr val="tx1"/>
                </a:solidFill>
                <a:effectLst/>
                <a:latin typeface="+mn-lt"/>
                <a:ea typeface="+mn-ea"/>
                <a:cs typeface="+mn-cs"/>
              </a:rPr>
              <a:t>Symmetry vs. Tails:</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Skewness tells you about the symmetry around the mean, while kurtosis tells you about the concentration of data in the tails. </a:t>
            </a:r>
          </a:p>
          <a:p>
            <a:r>
              <a:rPr lang="en-US" sz="1200" b="1" i="0" kern="1200" dirty="0">
                <a:solidFill>
                  <a:schemeClr val="tx1"/>
                </a:solidFill>
                <a:effectLst/>
                <a:latin typeface="+mn-lt"/>
                <a:ea typeface="+mn-ea"/>
                <a:cs typeface="+mn-cs"/>
              </a:rPr>
              <a:t>Comparison to Normal Distribution:</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A distribution close to normal has skewness near 0 and an excess kurtosis near 0. </a:t>
            </a:r>
          </a:p>
          <a:p>
            <a:r>
              <a:rPr lang="en-US" sz="1200" b="1" i="0" kern="1200" dirty="0">
                <a:solidFill>
                  <a:schemeClr val="tx1"/>
                </a:solidFill>
                <a:effectLst/>
                <a:latin typeface="+mn-lt"/>
                <a:ea typeface="+mn-ea"/>
                <a:cs typeface="+mn-cs"/>
                <a:hlinkClick r:id="rId3"/>
              </a:rPr>
              <a:t>Leptokurtic</a:t>
            </a:r>
            <a:r>
              <a:rPr lang="en-US" sz="1200" b="1" i="0" kern="1200" dirty="0">
                <a:solidFill>
                  <a:schemeClr val="tx1"/>
                </a:solidFill>
                <a:effectLst/>
                <a:latin typeface="+mn-lt"/>
                <a:ea typeface="+mn-ea"/>
                <a:cs typeface="+mn-cs"/>
              </a:rPr>
              <a:t> (positive </a:t>
            </a:r>
            <a:r>
              <a:rPr lang="en-US" sz="1200" b="1" i="0" kern="1200" dirty="0">
                <a:solidFill>
                  <a:schemeClr val="tx1"/>
                </a:solidFill>
                <a:effectLst/>
                <a:latin typeface="+mn-lt"/>
                <a:ea typeface="+mn-ea"/>
                <a:cs typeface="+mn-cs"/>
                <a:hlinkClick r:id="rId4"/>
              </a:rPr>
              <a:t>excess kurtosis</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 higher, sharper peak and fatter tails than a normal distribution, indicating a higher concentration of data around the mean and more extreme values</a:t>
            </a:r>
          </a:p>
        </p:txBody>
      </p:sp>
      <p:sp>
        <p:nvSpPr>
          <p:cNvPr id="248" name="Google Shape;248;g35766d32465_2_10:notes">
            <a:extLst>
              <a:ext uri="{FF2B5EF4-FFF2-40B4-BE49-F238E27FC236}">
                <a16:creationId xmlns:a16="http://schemas.microsoft.com/office/drawing/2014/main" id="{6933AF9C-6553-B380-4B1E-0E3BC1E1BC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743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77F1EBA3-BC26-5AD3-E566-6B508A3D3E3A}"/>
            </a:ext>
          </a:extLst>
        </p:cNvPr>
        <p:cNvGrpSpPr/>
        <p:nvPr/>
      </p:nvGrpSpPr>
      <p:grpSpPr>
        <a:xfrm>
          <a:off x="0" y="0"/>
          <a:ext cx="0" cy="0"/>
          <a:chOff x="0" y="0"/>
          <a:chExt cx="0" cy="0"/>
        </a:xfrm>
      </p:grpSpPr>
      <p:sp>
        <p:nvSpPr>
          <p:cNvPr id="267" name="Google Shape;267;g35766d32465_2_29:notes">
            <a:extLst>
              <a:ext uri="{FF2B5EF4-FFF2-40B4-BE49-F238E27FC236}">
                <a16:creationId xmlns:a16="http://schemas.microsoft.com/office/drawing/2014/main" id="{BCAD2731-4DE0-7545-6086-B46925E611D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g35766d32465_2_29:notes">
            <a:extLst>
              <a:ext uri="{FF2B5EF4-FFF2-40B4-BE49-F238E27FC236}">
                <a16:creationId xmlns:a16="http://schemas.microsoft.com/office/drawing/2014/main" id="{8F29B1B7-5435-7CDD-4F04-11A7D5AA8F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9199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a:extLst>
            <a:ext uri="{FF2B5EF4-FFF2-40B4-BE49-F238E27FC236}">
              <a16:creationId xmlns:a16="http://schemas.microsoft.com/office/drawing/2014/main" id="{391B9E2E-92DB-CDD2-71EE-65493A6EC323}"/>
            </a:ext>
          </a:extLst>
        </p:cNvPr>
        <p:cNvGrpSpPr/>
        <p:nvPr/>
      </p:nvGrpSpPr>
      <p:grpSpPr>
        <a:xfrm>
          <a:off x="0" y="0"/>
          <a:ext cx="0" cy="0"/>
          <a:chOff x="0" y="0"/>
          <a:chExt cx="0" cy="0"/>
        </a:xfrm>
      </p:grpSpPr>
      <p:sp>
        <p:nvSpPr>
          <p:cNvPr id="276" name="Google Shape;276;g35766d32465_2_37:notes">
            <a:extLst>
              <a:ext uri="{FF2B5EF4-FFF2-40B4-BE49-F238E27FC236}">
                <a16:creationId xmlns:a16="http://schemas.microsoft.com/office/drawing/2014/main" id="{7CCEDFDB-1AF7-30C7-EAC6-5A66BAE8CA5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7" name="Google Shape;277;g35766d32465_2_37:notes">
            <a:extLst>
              <a:ext uri="{FF2B5EF4-FFF2-40B4-BE49-F238E27FC236}">
                <a16:creationId xmlns:a16="http://schemas.microsoft.com/office/drawing/2014/main" id="{B704B5A2-D804-9CC9-D844-AD9E1EE33A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9970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E3826AD6-8D83-5665-B281-B01D3799C231}"/>
            </a:ext>
          </a:extLst>
        </p:cNvPr>
        <p:cNvGrpSpPr/>
        <p:nvPr/>
      </p:nvGrpSpPr>
      <p:grpSpPr>
        <a:xfrm>
          <a:off x="0" y="0"/>
          <a:ext cx="0" cy="0"/>
          <a:chOff x="0" y="0"/>
          <a:chExt cx="0" cy="0"/>
        </a:xfrm>
      </p:grpSpPr>
      <p:sp>
        <p:nvSpPr>
          <p:cNvPr id="311" name="Google Shape;311;g35766d32465_2_71:notes">
            <a:extLst>
              <a:ext uri="{FF2B5EF4-FFF2-40B4-BE49-F238E27FC236}">
                <a16:creationId xmlns:a16="http://schemas.microsoft.com/office/drawing/2014/main" id="{C0905B52-38B6-B70C-13D6-B15CE6262F9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g35766d32465_2_71:notes">
            <a:extLst>
              <a:ext uri="{FF2B5EF4-FFF2-40B4-BE49-F238E27FC236}">
                <a16:creationId xmlns:a16="http://schemas.microsoft.com/office/drawing/2014/main" id="{32EF344E-DB8F-36FF-AC45-2232AFDFF7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3993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5766d32465_2_1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Series of graphs or charts using the same scale and axes to support easy comparison</a:t>
            </a:r>
            <a:endParaRPr/>
          </a:p>
        </p:txBody>
      </p:sp>
      <p:sp>
        <p:nvSpPr>
          <p:cNvPr id="378" name="Google Shape;378;g35766d32465_2_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8616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recap. To make any kind of graph, you start with the template and…</a:t>
            </a:r>
          </a:p>
          <a:p>
            <a:endParaRPr lang="en-US" b="0" baseline="0" dirty="0"/>
          </a:p>
          <a:p>
            <a:r>
              <a:rPr lang="en-US" b="0" baseline="0" dirty="0"/>
              <a:t>** Pick a tidy data frame (this contains the data you want to plot),</a:t>
            </a:r>
          </a:p>
          <a:p>
            <a:r>
              <a:rPr lang="en-US" b="0" baseline="0" dirty="0"/>
              <a:t>** Pick a </a:t>
            </a:r>
            <a:r>
              <a:rPr lang="en-US" b="0" baseline="0" dirty="0" err="1"/>
              <a:t>geom</a:t>
            </a:r>
            <a:r>
              <a:rPr lang="en-US" b="0" baseline="0" dirty="0"/>
              <a:t> function (this is the type of plot you want to create), and </a:t>
            </a:r>
          </a:p>
          <a:p>
            <a:r>
              <a:rPr lang="en-US" b="0" baseline="0" dirty="0"/>
              <a:t>** Write aesthetic mappings (this is where you map data elements to x/y position, color, and possibly other graphical features)</a:t>
            </a:r>
          </a:p>
          <a:p>
            <a:endParaRPr lang="en-US" b="0"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16</a:t>
            </a:fld>
            <a:endParaRPr lang="en-US"/>
          </a:p>
        </p:txBody>
      </p:sp>
    </p:spTree>
    <p:extLst>
      <p:ext uri="{BB962C8B-B14F-4D97-AF65-F5344CB8AC3E}">
        <p14:creationId xmlns:p14="http://schemas.microsoft.com/office/powerpoint/2010/main" val="4121026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data and examining relationships</a:t>
            </a:r>
          </a:p>
        </p:txBody>
      </p:sp>
      <p:sp>
        <p:nvSpPr>
          <p:cNvPr id="4" name="Slide Number Placeholder 3"/>
          <p:cNvSpPr>
            <a:spLocks noGrp="1"/>
          </p:cNvSpPr>
          <p:nvPr>
            <p:ph type="sldNum" sz="quarter" idx="5"/>
          </p:nvPr>
        </p:nvSpPr>
        <p:spPr/>
        <p:txBody>
          <a:bodyPr/>
          <a:lstStyle/>
          <a:p>
            <a:fld id="{15564E20-9EA2-8947-B25E-DCABC392F652}" type="slidenum">
              <a:rPr lang="en-US" smtClean="0"/>
              <a:t>18</a:t>
            </a:fld>
            <a:endParaRPr lang="en-US"/>
          </a:p>
        </p:txBody>
      </p:sp>
    </p:spTree>
    <p:extLst>
      <p:ext uri="{BB962C8B-B14F-4D97-AF65-F5344CB8AC3E}">
        <p14:creationId xmlns:p14="http://schemas.microsoft.com/office/powerpoint/2010/main" val="38744669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 time are special types of numeric? Or their own? See Patrick’s slides</a:t>
            </a:r>
          </a:p>
        </p:txBody>
      </p:sp>
      <p:sp>
        <p:nvSpPr>
          <p:cNvPr id="4" name="Slide Number Placeholder 3"/>
          <p:cNvSpPr>
            <a:spLocks noGrp="1"/>
          </p:cNvSpPr>
          <p:nvPr>
            <p:ph type="sldNum" sz="quarter" idx="5"/>
          </p:nvPr>
        </p:nvSpPr>
        <p:spPr/>
        <p:txBody>
          <a:bodyPr/>
          <a:lstStyle/>
          <a:p>
            <a:fld id="{15564E20-9EA2-8947-B25E-DCABC392F652}" type="slidenum">
              <a:rPr lang="en-US" smtClean="0"/>
              <a:t>19</a:t>
            </a:fld>
            <a:endParaRPr lang="en-US"/>
          </a:p>
        </p:txBody>
      </p:sp>
    </p:spTree>
    <p:extLst>
      <p:ext uri="{BB962C8B-B14F-4D97-AF65-F5344CB8AC3E}">
        <p14:creationId xmlns:p14="http://schemas.microsoft.com/office/powerpoint/2010/main" val="41841447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en-US" dirty="0"/>
              <a:t>Each prompt assumes the student attaches </a:t>
            </a:r>
            <a:r>
              <a:rPr lang="en-US" sz="1200" kern="1200" dirty="0" err="1">
                <a:solidFill>
                  <a:schemeClr val="tx1"/>
                </a:solidFill>
                <a:latin typeface="+mn-lt"/>
                <a:ea typeface="+mn-ea"/>
                <a:cs typeface="+mn-cs"/>
              </a:rPr>
              <a:t>chem_subset.csv</a:t>
            </a:r>
            <a:r>
              <a:rPr lang="en-US" dirty="0"/>
              <a:t>.</a:t>
            </a:r>
          </a:p>
          <a:p>
            <a:pPr rtl="0"/>
            <a:r>
              <a:rPr lang="en-US" b="1" dirty="0"/>
              <a:t>Variation 1: Minimal.</a:t>
            </a:r>
            <a:r>
              <a:rPr lang="en-US" dirty="0"/>
              <a:t> This is the weakest version, but it is what many novices will type.</a:t>
            </a:r>
          </a:p>
          <a:p>
            <a:pPr rtl="0"/>
            <a:r>
              <a:rPr lang="en-US" dirty="0"/>
              <a:t>I'm new to R. I attached a CSV. Use </a:t>
            </a:r>
            <a:r>
              <a:rPr lang="en-US" dirty="0" err="1"/>
              <a:t>ggplot</a:t>
            </a:r>
            <a:r>
              <a:rPr lang="en-US" dirty="0"/>
              <a:t> to plot creatinine by age and creatinine by gender. Keep the code short and comment every line.</a:t>
            </a:r>
          </a:p>
          <a:p>
            <a:pPr rtl="0"/>
            <a:r>
              <a:rPr lang="en-US" b="1" dirty="0"/>
              <a:t>Variation 2: Specific.</a:t>
            </a:r>
            <a:r>
              <a:rPr lang="en-US" dirty="0"/>
              <a:t> It names the columns and the data layout, which prevents most errors.</a:t>
            </a:r>
          </a:p>
          <a:p>
            <a:pPr rtl="0"/>
            <a:r>
              <a:rPr lang="en-US" dirty="0"/>
              <a:t>I'm new to R and have </a:t>
            </a:r>
            <a:r>
              <a:rPr lang="en-US" dirty="0" err="1"/>
              <a:t>tidyverse</a:t>
            </a:r>
            <a:r>
              <a:rPr lang="en-US" dirty="0"/>
              <a:t> installed. The attached CSV has one row per test per patient. The </a:t>
            </a:r>
            <a:r>
              <a:rPr lang="en-US" sz="1200" kern="1200" dirty="0">
                <a:solidFill>
                  <a:schemeClr val="tx1"/>
                </a:solidFill>
                <a:latin typeface="+mn-lt"/>
                <a:ea typeface="+mn-ea"/>
                <a:cs typeface="+mn-cs"/>
              </a:rPr>
              <a:t>test</a:t>
            </a:r>
            <a:r>
              <a:rPr lang="en-US" dirty="0"/>
              <a:t> column holds the test name, </a:t>
            </a:r>
            <a:r>
              <a:rPr lang="en-US" sz="1200" kern="1200" dirty="0">
                <a:solidFill>
                  <a:schemeClr val="tx1"/>
                </a:solidFill>
                <a:latin typeface="+mn-lt"/>
                <a:ea typeface="+mn-ea"/>
                <a:cs typeface="+mn-cs"/>
              </a:rPr>
              <a:t>value</a:t>
            </a:r>
            <a:r>
              <a:rPr lang="en-US" dirty="0"/>
              <a:t> holds the result, </a:t>
            </a:r>
            <a:r>
              <a:rPr lang="en-US" sz="1200" kern="1200" dirty="0">
                <a:solidFill>
                  <a:schemeClr val="tx1"/>
                </a:solidFill>
                <a:latin typeface="+mn-lt"/>
                <a:ea typeface="+mn-ea"/>
                <a:cs typeface="+mn-cs"/>
              </a:rPr>
              <a:t>age</a:t>
            </a:r>
            <a:r>
              <a:rPr lang="en-US" dirty="0"/>
              <a:t> is a number, and </a:t>
            </a:r>
            <a:r>
              <a:rPr lang="en-US" sz="1200" kern="1200" dirty="0">
                <a:solidFill>
                  <a:schemeClr val="tx1"/>
                </a:solidFill>
                <a:latin typeface="+mn-lt"/>
                <a:ea typeface="+mn-ea"/>
                <a:cs typeface="+mn-cs"/>
              </a:rPr>
              <a:t>gender</a:t>
            </a:r>
            <a:r>
              <a:rPr lang="en-US" dirty="0"/>
              <a:t> is text. Using only creatinine rows and dropping missing values, write short </a:t>
            </a:r>
            <a:r>
              <a:rPr lang="en-US" dirty="0" err="1"/>
              <a:t>ggplot</a:t>
            </a:r>
            <a:r>
              <a:rPr lang="en-US" dirty="0"/>
              <a:t> code for two plots. Plot 1: creatinine versus age. Plot 2: creatinine by gender. Put a comment on every step. List any assumptions you made.</a:t>
            </a:r>
          </a:p>
          <a:p>
            <a:pPr rtl="0"/>
            <a:r>
              <a:rPr lang="en-US" b="1" dirty="0"/>
              <a:t>Variation 3: Teaching.</a:t>
            </a:r>
            <a:r>
              <a:rPr lang="en-US" dirty="0"/>
              <a:t> It asks Claude to explain the plot choice, so students learn why.</a:t>
            </a:r>
          </a:p>
          <a:p>
            <a:pPr rtl="0"/>
            <a:r>
              <a:rPr lang="en-US" dirty="0"/>
              <a:t>I'm a beginner in R. Attached is a lab data CSV in long format, with one row per test. Filter to creatinine and remove missing values. Then choose the best </a:t>
            </a:r>
            <a:r>
              <a:rPr lang="en-US" dirty="0" err="1"/>
              <a:t>ggplot</a:t>
            </a:r>
            <a:r>
              <a:rPr lang="en-US" dirty="0"/>
              <a:t> plot type for creatinine versus age and for creatinine by gender, and say in one sentence why you chose each. Keep the code short, comment every step, and tell me what I need to change to run it on my own computer.</a:t>
            </a:r>
          </a:p>
          <a:p>
            <a:pPr marL="457200" marR="0" lvl="0" indent="-228600" algn="l" rtl="0">
              <a:lnSpc>
                <a:spcPct val="100000"/>
              </a:lnSpc>
              <a:spcBef>
                <a:spcPts val="0"/>
              </a:spcBef>
              <a:spcAft>
                <a:spcPts val="0"/>
              </a:spcAft>
              <a:buSzPts val="1400"/>
              <a:buNone/>
            </a:pPr>
            <a:endParaRPr dirty="0"/>
          </a:p>
        </p:txBody>
      </p:sp>
      <p:sp>
        <p:nvSpPr>
          <p:cNvPr id="186" name="Google Shape;18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20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Notice that a table was an option in all of the examples on the previous slide. One of the first questions to consider in data visualization is should you use a table to display data</a:t>
            </a:r>
            <a:endParaRPr/>
          </a:p>
        </p:txBody>
      </p:sp>
      <p:sp>
        <p:nvSpPr>
          <p:cNvPr id="215" name="Google Shape;21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25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9A526763-7DF3-B83A-2769-53AC51F7A3E3}"/>
            </a:ext>
          </a:extLst>
        </p:cNvPr>
        <p:cNvGrpSpPr/>
        <p:nvPr/>
      </p:nvGrpSpPr>
      <p:grpSpPr>
        <a:xfrm>
          <a:off x="0" y="0"/>
          <a:ext cx="0" cy="0"/>
          <a:chOff x="0" y="0"/>
          <a:chExt cx="0" cy="0"/>
        </a:xfrm>
      </p:grpSpPr>
      <p:sp>
        <p:nvSpPr>
          <p:cNvPr id="213" name="Google Shape;213;p5:notes">
            <a:extLst>
              <a:ext uri="{FF2B5EF4-FFF2-40B4-BE49-F238E27FC236}">
                <a16:creationId xmlns:a16="http://schemas.microsoft.com/office/drawing/2014/main" id="{FD1DF651-14F8-7C6F-C21E-3EAE445501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5:notes">
            <a:extLst>
              <a:ext uri="{FF2B5EF4-FFF2-40B4-BE49-F238E27FC236}">
                <a16:creationId xmlns:a16="http://schemas.microsoft.com/office/drawing/2014/main" id="{7E2ECD95-EEEC-D046-44C0-0CA20ADD54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Notice that a table was an option in all of the examples on the previous slide. One of the first questions to consider in data visualization is should you use a table to display data</a:t>
            </a:r>
            <a:endParaRPr/>
          </a:p>
        </p:txBody>
      </p:sp>
      <p:sp>
        <p:nvSpPr>
          <p:cNvPr id="215" name="Google Shape;215;p5:notes">
            <a:extLst>
              <a:ext uri="{FF2B5EF4-FFF2-40B4-BE49-F238E27FC236}">
                <a16:creationId xmlns:a16="http://schemas.microsoft.com/office/drawing/2014/main" id="{7FE9EE2C-0C2B-5716-4607-AC820D73F80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457200" rtl="0" eaLnBrk="1" fontAlgn="auto" latinLnBrk="0" hangingPunct="1">
              <a:lnSpc>
                <a:spcPct val="100000"/>
              </a:lnSpc>
              <a:spcBef>
                <a:spcPts val="0"/>
              </a:spcBef>
              <a:spcAft>
                <a:spcPts val="0"/>
              </a:spcAft>
              <a:buClrTx/>
              <a:buSzPts val="1200"/>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Calibri"/>
                <a:ea typeface="Calibri"/>
                <a:cs typeface="Calibri"/>
                <a:sym typeface="Calibri"/>
              </a:rPr>
              <a:pPr marL="0" marR="0" lvl="0" indent="0" algn="r" defTabSz="457200" rtl="0" eaLnBrk="1" fontAlgn="auto" latinLnBrk="0" hangingPunct="1">
                <a:lnSpc>
                  <a:spcPct val="100000"/>
                </a:lnSpc>
                <a:spcBef>
                  <a:spcPts val="0"/>
                </a:spcBef>
                <a:spcAft>
                  <a:spcPts val="0"/>
                </a:spcAft>
                <a:buClrTx/>
                <a:buSzPts val="1200"/>
                <a:buFontTx/>
                <a:buNone/>
                <a:tabLst/>
                <a:defRPr/>
              </a:pPr>
              <a:t>27</a:t>
            </a:fld>
            <a:endParaRPr kumimoji="0" sz="1200" b="0" i="0" u="none" strike="noStrike" kern="1200" cap="none" spc="0" normalizeH="0" baseline="0" noProof="0">
              <a:ln>
                <a:noFill/>
              </a:ln>
              <a:solidFill>
                <a:prstClr val="black"/>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235780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p:cNvSpPr>
            <a:spLocks noGrp="1"/>
          </p:cNvSpPr>
          <p:nvPr>
            <p:ph type="sldNum" sz="quarter" idx="5"/>
          </p:nvPr>
        </p:nvSpPr>
        <p:spPr/>
        <p:txBody>
          <a:bodyPr/>
          <a:lstStyle/>
          <a:p>
            <a:fld id="{15564E20-9EA2-8947-B25E-DCABC392F652}" type="slidenum">
              <a:rPr lang="en-US" smtClean="0"/>
              <a:t>29</a:t>
            </a:fld>
            <a:endParaRPr lang="en-US"/>
          </a:p>
        </p:txBody>
      </p:sp>
    </p:spTree>
    <p:extLst>
      <p:ext uri="{BB962C8B-B14F-4D97-AF65-F5344CB8AC3E}">
        <p14:creationId xmlns:p14="http://schemas.microsoft.com/office/powerpoint/2010/main" val="1416295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24" name="Google Shape;2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5766d32465_1_3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5766d32465_1_3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35766d32465_1_3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31</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show stat (count) or actual value</a:t>
            </a:r>
          </a:p>
        </p:txBody>
      </p:sp>
      <p:sp>
        <p:nvSpPr>
          <p:cNvPr id="4" name="Slide Number Placeholder 3"/>
          <p:cNvSpPr>
            <a:spLocks noGrp="1"/>
          </p:cNvSpPr>
          <p:nvPr>
            <p:ph type="sldNum" sz="quarter" idx="5"/>
          </p:nvPr>
        </p:nvSpPr>
        <p:spPr/>
        <p:txBody>
          <a:bodyPr/>
          <a:lstStyle/>
          <a:p>
            <a:fld id="{15564E20-9EA2-8947-B25E-DCABC392F652}" type="slidenum">
              <a:rPr lang="en-US" smtClean="0"/>
              <a:t>33</a:t>
            </a:fld>
            <a:endParaRPr lang="en-US"/>
          </a:p>
        </p:txBody>
      </p:sp>
    </p:spTree>
    <p:extLst>
      <p:ext uri="{BB962C8B-B14F-4D97-AF65-F5344CB8AC3E}">
        <p14:creationId xmlns:p14="http://schemas.microsoft.com/office/powerpoint/2010/main" val="27916807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9D31F-0BC5-3157-3753-A777304B3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EC563F-A26F-24BA-22EF-9D1B2E5996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1255FD-A1C3-B864-A9B2-21F3207E4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C8A751-8C42-814D-17A8-ADBA06EA9FF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6512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5766d32465_2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g35766d32465_2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5766d32465_2_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g35766d32465_2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AD5220D2-DD23-964A-DF6F-9B476C46A287}"/>
            </a:ext>
          </a:extLst>
        </p:cNvPr>
        <p:cNvGrpSpPr/>
        <p:nvPr/>
      </p:nvGrpSpPr>
      <p:grpSpPr>
        <a:xfrm>
          <a:off x="0" y="0"/>
          <a:ext cx="0" cy="0"/>
          <a:chOff x="0" y="0"/>
          <a:chExt cx="0" cy="0"/>
        </a:xfrm>
      </p:grpSpPr>
      <p:sp>
        <p:nvSpPr>
          <p:cNvPr id="184" name="Google Shape;184;p2:notes">
            <a:extLst>
              <a:ext uri="{FF2B5EF4-FFF2-40B4-BE49-F238E27FC236}">
                <a16:creationId xmlns:a16="http://schemas.microsoft.com/office/drawing/2014/main" id="{596B0CBE-5C42-361A-B454-3619C191F3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2:notes">
            <a:extLst>
              <a:ext uri="{FF2B5EF4-FFF2-40B4-BE49-F238E27FC236}">
                <a16:creationId xmlns:a16="http://schemas.microsoft.com/office/drawing/2014/main" id="{81519A99-3E66-2D96-A39B-23504493FE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en-US" dirty="0"/>
              <a:t>Each prompt assumes the student attaches </a:t>
            </a:r>
            <a:r>
              <a:rPr lang="en-US" sz="1200" kern="1200" dirty="0" err="1">
                <a:solidFill>
                  <a:schemeClr val="tx1"/>
                </a:solidFill>
                <a:latin typeface="+mn-lt"/>
                <a:ea typeface="+mn-ea"/>
                <a:cs typeface="+mn-cs"/>
              </a:rPr>
              <a:t>chem_subset.csv</a:t>
            </a:r>
            <a:r>
              <a:rPr lang="en-US" dirty="0"/>
              <a:t>.</a:t>
            </a:r>
          </a:p>
          <a:p>
            <a:pPr rtl="0"/>
            <a:r>
              <a:rPr lang="en-US" b="1" dirty="0"/>
              <a:t>Variation 1: Minimal.</a:t>
            </a:r>
            <a:r>
              <a:rPr lang="en-US" dirty="0"/>
              <a:t> This is the weakest version, but it is what many novices will type.</a:t>
            </a:r>
          </a:p>
          <a:p>
            <a:pPr rtl="0"/>
            <a:r>
              <a:rPr lang="en-US" dirty="0"/>
              <a:t>I'm new to R. I attached a CSV. Use </a:t>
            </a:r>
            <a:r>
              <a:rPr lang="en-US" dirty="0" err="1"/>
              <a:t>ggplot</a:t>
            </a:r>
            <a:r>
              <a:rPr lang="en-US" dirty="0"/>
              <a:t> to plot creatinine by age and creatinine by gender. Keep the code short and comment every line.</a:t>
            </a:r>
          </a:p>
          <a:p>
            <a:pPr rtl="0"/>
            <a:r>
              <a:rPr lang="en-US" b="1" dirty="0"/>
              <a:t>Variation 2: Specific.</a:t>
            </a:r>
            <a:r>
              <a:rPr lang="en-US" dirty="0"/>
              <a:t> It names the columns and the data layout, which prevents most errors.</a:t>
            </a:r>
          </a:p>
          <a:p>
            <a:pPr rtl="0"/>
            <a:r>
              <a:rPr lang="en-US" dirty="0"/>
              <a:t>I'm new to R and have </a:t>
            </a:r>
            <a:r>
              <a:rPr lang="en-US" dirty="0" err="1"/>
              <a:t>tidyverse</a:t>
            </a:r>
            <a:r>
              <a:rPr lang="en-US" dirty="0"/>
              <a:t> installed. The attached CSV has one row per test per patient. The </a:t>
            </a:r>
            <a:r>
              <a:rPr lang="en-US" sz="1200" kern="1200" dirty="0">
                <a:solidFill>
                  <a:schemeClr val="tx1"/>
                </a:solidFill>
                <a:latin typeface="+mn-lt"/>
                <a:ea typeface="+mn-ea"/>
                <a:cs typeface="+mn-cs"/>
              </a:rPr>
              <a:t>test</a:t>
            </a:r>
            <a:r>
              <a:rPr lang="en-US" dirty="0"/>
              <a:t> column holds the test name, </a:t>
            </a:r>
            <a:r>
              <a:rPr lang="en-US" sz="1200" kern="1200" dirty="0">
                <a:solidFill>
                  <a:schemeClr val="tx1"/>
                </a:solidFill>
                <a:latin typeface="+mn-lt"/>
                <a:ea typeface="+mn-ea"/>
                <a:cs typeface="+mn-cs"/>
              </a:rPr>
              <a:t>value</a:t>
            </a:r>
            <a:r>
              <a:rPr lang="en-US" dirty="0"/>
              <a:t> holds the result, </a:t>
            </a:r>
            <a:r>
              <a:rPr lang="en-US" sz="1200" kern="1200" dirty="0">
                <a:solidFill>
                  <a:schemeClr val="tx1"/>
                </a:solidFill>
                <a:latin typeface="+mn-lt"/>
                <a:ea typeface="+mn-ea"/>
                <a:cs typeface="+mn-cs"/>
              </a:rPr>
              <a:t>age</a:t>
            </a:r>
            <a:r>
              <a:rPr lang="en-US" dirty="0"/>
              <a:t> is a number, and </a:t>
            </a:r>
            <a:r>
              <a:rPr lang="en-US" sz="1200" kern="1200" dirty="0">
                <a:solidFill>
                  <a:schemeClr val="tx1"/>
                </a:solidFill>
                <a:latin typeface="+mn-lt"/>
                <a:ea typeface="+mn-ea"/>
                <a:cs typeface="+mn-cs"/>
              </a:rPr>
              <a:t>gender</a:t>
            </a:r>
            <a:r>
              <a:rPr lang="en-US" dirty="0"/>
              <a:t> is text. Using only creatinine rows and dropping missing values, write short </a:t>
            </a:r>
            <a:r>
              <a:rPr lang="en-US" dirty="0" err="1"/>
              <a:t>ggplot</a:t>
            </a:r>
            <a:r>
              <a:rPr lang="en-US" dirty="0"/>
              <a:t> code for two plots. Plot 1: creatinine versus age. Plot 2: creatinine by gender. Put a comment on every step. List any assumptions you made.</a:t>
            </a:r>
          </a:p>
          <a:p>
            <a:pPr rtl="0"/>
            <a:r>
              <a:rPr lang="en-US" b="1" dirty="0"/>
              <a:t>Variation 3: Teaching.</a:t>
            </a:r>
            <a:r>
              <a:rPr lang="en-US" dirty="0"/>
              <a:t> It asks Claude to explain the plot choice, so students learn why.</a:t>
            </a:r>
          </a:p>
          <a:p>
            <a:pPr rtl="0"/>
            <a:r>
              <a:rPr lang="en-US" dirty="0"/>
              <a:t>I'm a beginner in R. Attached is a lab data CSV in long format, with one row per test. Filter to creatinine and remove missing values. Then choose the best </a:t>
            </a:r>
            <a:r>
              <a:rPr lang="en-US" dirty="0" err="1"/>
              <a:t>ggplot</a:t>
            </a:r>
            <a:r>
              <a:rPr lang="en-US" dirty="0"/>
              <a:t> plot type for creatinine versus age and for creatinine by gender, and say in one sentence why you chose each. Keep the code short, comment every step, and tell me what I need to change to run it on my own computer.</a:t>
            </a:r>
          </a:p>
          <a:p>
            <a:pPr marL="457200" marR="0" lvl="0" indent="-228600" algn="l" rtl="0">
              <a:lnSpc>
                <a:spcPct val="100000"/>
              </a:lnSpc>
              <a:spcBef>
                <a:spcPts val="0"/>
              </a:spcBef>
              <a:spcAft>
                <a:spcPts val="0"/>
              </a:spcAft>
              <a:buSzPts val="1400"/>
              <a:buNone/>
            </a:pPr>
            <a:endParaRPr dirty="0"/>
          </a:p>
        </p:txBody>
      </p:sp>
      <p:sp>
        <p:nvSpPr>
          <p:cNvPr id="186" name="Google Shape;186;p2:notes">
            <a:extLst>
              <a:ext uri="{FF2B5EF4-FFF2-40B4-BE49-F238E27FC236}">
                <a16:creationId xmlns:a16="http://schemas.microsoft.com/office/drawing/2014/main" id="{A0B31FFD-3FAB-24FA-6D4A-4592BABB27F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37</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800059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5766d32465_2_1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g35766d32465_2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5766d32465_2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r>
              <a:rPr lang="en-US" dirty="0">
                <a:solidFill>
                  <a:srgbClr val="FF0000"/>
                </a:solidFill>
              </a:rPr>
              <a:t>Call out that line shows progression</a:t>
            </a:r>
          </a:p>
        </p:txBody>
      </p:sp>
      <p:sp>
        <p:nvSpPr>
          <p:cNvPr id="361" name="Google Shape;361;g35766d32465_2_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Make comparisons effortless</a:t>
            </a:r>
            <a:br>
              <a:rPr lang="en-US" sz="2000" dirty="0"/>
            </a:br>
            <a:r>
              <a:rPr lang="en-US" sz="2000" dirty="0"/>
              <a:t>Sort categories, align/standardize axes across panels, use small multiples, and </a:t>
            </a:r>
            <a:r>
              <a:rPr lang="en-US" sz="2000" b="1" dirty="0"/>
              <a:t>direct labels</a:t>
            </a:r>
            <a:r>
              <a:rPr lang="en-US" sz="2000" dirty="0"/>
              <a:t> instead of hard-to-scan legends. Always show denominators.</a:t>
            </a:r>
            <a:br>
              <a:rPr lang="en-US" sz="2000" dirty="0"/>
            </a:br>
            <a:r>
              <a:rPr lang="en-US" sz="2000" i="1" dirty="0"/>
              <a:t>Ex:</a:t>
            </a:r>
            <a:r>
              <a:rPr lang="en-US" sz="2000" dirty="0"/>
              <a:t> 100% stacked bars of positivity by service, sorted </a:t>
            </a:r>
            <a:r>
              <a:rPr lang="en-US" sz="2000" dirty="0" err="1"/>
              <a:t>high→low</a:t>
            </a:r>
            <a:r>
              <a:rPr lang="en-US" sz="2000" dirty="0"/>
              <a:t> with percent labels.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rPr>
              <a:t>Answers: sort or add color, add labels directly, rotate</a:t>
            </a:r>
          </a:p>
        </p:txBody>
      </p:sp>
      <p:sp>
        <p:nvSpPr>
          <p:cNvPr id="4" name="Slide Number Placeholder 3"/>
          <p:cNvSpPr>
            <a:spLocks noGrp="1"/>
          </p:cNvSpPr>
          <p:nvPr>
            <p:ph type="sldNum" sz="quarter" idx="5"/>
          </p:nvPr>
        </p:nvSpPr>
        <p:spPr/>
        <p:txBody>
          <a:bodyPr/>
          <a:lstStyle/>
          <a:p>
            <a:fld id="{15564E20-9EA2-8947-B25E-DCABC392F652}" type="slidenum">
              <a:rPr lang="en-US" smtClean="0"/>
              <a:t>41</a:t>
            </a:fld>
            <a:endParaRPr lang="en-US"/>
          </a:p>
        </p:txBody>
      </p:sp>
    </p:spTree>
    <p:extLst>
      <p:ext uri="{BB962C8B-B14F-4D97-AF65-F5344CB8AC3E}">
        <p14:creationId xmlns:p14="http://schemas.microsoft.com/office/powerpoint/2010/main" val="26217182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B3AD2-6282-9C4C-E84D-BDB9AAAF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7EED0-B103-3896-357E-F1EC080D6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C379B-6167-C26D-2315-30CF6681CD96}"/>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12F62427-3FEF-A399-0FB0-87C4CCC06CE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20075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70FBD-44B7-DFEE-D853-260876336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DAACB-F5CC-F75F-427A-969386165C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A2D84-A108-A89D-10D0-71BC87C4125F}"/>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4FF73B8B-687D-BA09-4078-CB26ABEC6705}"/>
              </a:ext>
            </a:extLst>
          </p:cNvPr>
          <p:cNvSpPr>
            <a:spLocks noGrp="1"/>
          </p:cNvSpPr>
          <p:nvPr>
            <p:ph type="sldNum" sz="quarter" idx="5"/>
          </p:nvPr>
        </p:nvSpPr>
        <p:spPr/>
        <p:txBody>
          <a:bodyPr/>
          <a:lstStyle/>
          <a:p>
            <a:fld id="{15564E20-9EA2-8947-B25E-DCABC392F652}" type="slidenum">
              <a:rPr lang="en-US" smtClean="0"/>
              <a:t>43</a:t>
            </a:fld>
            <a:endParaRPr lang="en-US"/>
          </a:p>
        </p:txBody>
      </p:sp>
    </p:spTree>
    <p:extLst>
      <p:ext uri="{BB962C8B-B14F-4D97-AF65-F5344CB8AC3E}">
        <p14:creationId xmlns:p14="http://schemas.microsoft.com/office/powerpoint/2010/main" val="18662912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Start bar charts at zero, avoid dual y-axes and 3D, choose sensible binning/smoothing, and keep aspect ratios that don’t distort trends.</a:t>
            </a:r>
            <a:br>
              <a:rPr lang="en-US" dirty="0"/>
            </a:br>
            <a:r>
              <a:rPr lang="en-US" i="1" dirty="0"/>
              <a:t>Ex:</a:t>
            </a:r>
            <a:r>
              <a:rPr lang="en-US" dirty="0"/>
              <a:t> QC run charts with consistent y-limits across instruments/lots.</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45</a:t>
            </a:fld>
            <a:endParaRPr lang="en-US"/>
          </a:p>
        </p:txBody>
      </p:sp>
    </p:spTree>
    <p:extLst>
      <p:ext uri="{BB962C8B-B14F-4D97-AF65-F5344CB8AC3E}">
        <p14:creationId xmlns:p14="http://schemas.microsoft.com/office/powerpoint/2010/main" val="18308703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B5FE6-6997-42CC-4A82-EE3F66186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EDA06-7BB7-873C-19A4-9D2E9D34C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7F1B3E-6102-DC2C-1305-F1853531DA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Start bar charts at zero, avoid dual y-axes and 3D, choose sensible binning/smoothing, and keep aspect ratios that don’t distort trends.</a:t>
            </a:r>
            <a:br>
              <a:rPr lang="en-US" dirty="0"/>
            </a:br>
            <a:r>
              <a:rPr lang="en-US" i="1" dirty="0"/>
              <a:t>Ex:</a:t>
            </a:r>
            <a:r>
              <a:rPr lang="en-US" dirty="0"/>
              <a:t> QC run charts with consistent y-limits across instruments/lots.</a:t>
            </a:r>
          </a:p>
          <a:p>
            <a:r>
              <a:rPr lang="en-US" dirty="0" err="1"/>
              <a:t>akj</a:t>
            </a:r>
            <a:endParaRPr lang="en-US" dirty="0"/>
          </a:p>
        </p:txBody>
      </p:sp>
      <p:sp>
        <p:nvSpPr>
          <p:cNvPr id="4" name="Slide Number Placeholder 3">
            <a:extLst>
              <a:ext uri="{FF2B5EF4-FFF2-40B4-BE49-F238E27FC236}">
                <a16:creationId xmlns:a16="http://schemas.microsoft.com/office/drawing/2014/main" id="{F6DCFDE0-ABD1-4E6B-5C8E-FFD6E599FB5F}"/>
              </a:ext>
            </a:extLst>
          </p:cNvPr>
          <p:cNvSpPr>
            <a:spLocks noGrp="1"/>
          </p:cNvSpPr>
          <p:nvPr>
            <p:ph type="sldNum" sz="quarter" idx="5"/>
          </p:nvPr>
        </p:nvSpPr>
        <p:spPr/>
        <p:txBody>
          <a:bodyPr/>
          <a:lstStyle/>
          <a:p>
            <a:fld id="{15564E20-9EA2-8947-B25E-DCABC392F652}" type="slidenum">
              <a:rPr lang="en-US" smtClean="0"/>
              <a:t>46</a:t>
            </a:fld>
            <a:endParaRPr lang="en-US"/>
          </a:p>
        </p:txBody>
      </p:sp>
    </p:spTree>
    <p:extLst>
      <p:ext uri="{BB962C8B-B14F-4D97-AF65-F5344CB8AC3E}">
        <p14:creationId xmlns:p14="http://schemas.microsoft.com/office/powerpoint/2010/main" val="23183688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options are side-by-side, stacked with reference, and index plots</a:t>
            </a:r>
          </a:p>
        </p:txBody>
      </p:sp>
      <p:sp>
        <p:nvSpPr>
          <p:cNvPr id="4" name="Slide Number Placeholder 3"/>
          <p:cNvSpPr>
            <a:spLocks noGrp="1"/>
          </p:cNvSpPr>
          <p:nvPr>
            <p:ph type="sldNum" sz="quarter" idx="5"/>
          </p:nvPr>
        </p:nvSpPr>
        <p:spPr/>
        <p:txBody>
          <a:bodyPr/>
          <a:lstStyle/>
          <a:p>
            <a:fld id="{15564E20-9EA2-8947-B25E-DCABC392F652}" type="slidenum">
              <a:rPr lang="en-US" smtClean="0"/>
              <a:t>47</a:t>
            </a:fld>
            <a:endParaRPr lang="en-US"/>
          </a:p>
        </p:txBody>
      </p:sp>
    </p:spTree>
    <p:extLst>
      <p:ext uri="{BB962C8B-B14F-4D97-AF65-F5344CB8AC3E}">
        <p14:creationId xmlns:p14="http://schemas.microsoft.com/office/powerpoint/2010/main" val="35300299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CA1C8-D54F-5C1B-809C-2AED480F6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A3037-E9BA-3A82-020B-184ECA3296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7314C4-E083-3FBB-FDED-3D1EFD3E47D8}"/>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811B77DB-564C-7043-E839-D10CD41DC8D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47539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0EBB9-7BCA-3494-C53F-A2BC6E0C2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795F15-2CE0-677C-08EB-D8E24930D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A446-C614-ABEB-482D-B196BDB14158}"/>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51DDB62A-A148-E802-6F1F-0AC37E18B42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11256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is 12 </a:t>
            </a:r>
            <a:r>
              <a:rPr lang="en-US" dirty="0" err="1"/>
              <a:t>i</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56</a:t>
            </a:fld>
            <a:endParaRPr lang="en-US"/>
          </a:p>
        </p:txBody>
      </p:sp>
    </p:spTree>
    <p:extLst>
      <p:ext uri="{BB962C8B-B14F-4D97-AF65-F5344CB8AC3E}">
        <p14:creationId xmlns:p14="http://schemas.microsoft.com/office/powerpoint/2010/main" val="7650932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5766d32465_1_2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3" name="Google Shape;423;g35766d32465_1_2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Cleveland &amp; McGill’s hierarchy of graphical perception</a:t>
            </a:r>
            <a:endParaRPr dirty="0"/>
          </a:p>
        </p:txBody>
      </p:sp>
      <p:sp>
        <p:nvSpPr>
          <p:cNvPr id="424" name="Google Shape;424;g35766d32465_1_2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57</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5766d32465_1_2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0" name="Google Shape;430;g35766d32465_1_2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Shannon</a:t>
            </a:r>
            <a:endParaRPr/>
          </a:p>
        </p:txBody>
      </p:sp>
      <p:sp>
        <p:nvSpPr>
          <p:cNvPr id="431" name="Google Shape;431;g35766d32465_1_2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61</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67C75-4C3D-17C7-42F5-AF882CE1C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421DA-0975-A75A-D0DB-0A1C2EBE9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46D4C-0709-38BE-398E-95F981B11558}"/>
              </a:ext>
            </a:extLst>
          </p:cNvPr>
          <p:cNvSpPr>
            <a:spLocks noGrp="1"/>
          </p:cNvSpPr>
          <p:nvPr>
            <p:ph type="body" idx="1"/>
          </p:nvPr>
        </p:nvSpPr>
        <p:spPr/>
        <p:txBody>
          <a:bodyPr/>
          <a:lstStyle/>
          <a:p>
            <a:r>
              <a:rPr lang="en-US" sz="1200" b="0" i="0" kern="1200" dirty="0">
                <a:solidFill>
                  <a:schemeClr val="accent2"/>
                </a:solidFill>
                <a:effectLst/>
                <a:latin typeface="+mn-lt"/>
                <a:ea typeface="+mn-ea"/>
                <a:cs typeface="+mn-cs"/>
              </a:rPr>
              <a:t>The rectangles in this image are all the exact same shade of gray but look vastly different depending on the color that surrounds them. This phenomenon, known as simultaneous contrast, can cause readers to misinterpret the values represented by colors on a graphic.</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From </a:t>
            </a:r>
          </a:p>
          <a:p>
            <a:br>
              <a:rPr lang="en-US" dirty="0"/>
            </a:br>
            <a:endParaRPr lang="en-US" dirty="0"/>
          </a:p>
        </p:txBody>
      </p:sp>
      <p:sp>
        <p:nvSpPr>
          <p:cNvPr id="4" name="Slide Number Placeholder 3">
            <a:extLst>
              <a:ext uri="{FF2B5EF4-FFF2-40B4-BE49-F238E27FC236}">
                <a16:creationId xmlns:a16="http://schemas.microsoft.com/office/drawing/2014/main" id="{093326C9-8701-41C4-9DCE-003929242949}"/>
              </a:ext>
            </a:extLst>
          </p:cNvPr>
          <p:cNvSpPr>
            <a:spLocks noGrp="1"/>
          </p:cNvSpPr>
          <p:nvPr>
            <p:ph type="sldNum" sz="quarter" idx="5"/>
          </p:nvPr>
        </p:nvSpPr>
        <p:spPr/>
        <p:txBody>
          <a:bodyPr/>
          <a:lstStyle/>
          <a:p>
            <a:fld id="{15564E20-9EA2-8947-B25E-DCABC392F652}" type="slidenum">
              <a:rPr lang="en-US" smtClean="0"/>
              <a:t>62</a:t>
            </a:fld>
            <a:endParaRPr lang="en-US"/>
          </a:p>
        </p:txBody>
      </p:sp>
    </p:spTree>
    <p:extLst>
      <p:ext uri="{BB962C8B-B14F-4D97-AF65-F5344CB8AC3E}">
        <p14:creationId xmlns:p14="http://schemas.microsoft.com/office/powerpoint/2010/main" val="18928523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5766d32465_1_2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0" name="Google Shape;440;g35766d32465_1_2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Optical Illusions above – same star shades and greyscale shades</a:t>
            </a:r>
            <a:endParaRPr/>
          </a:p>
          <a:p>
            <a:pPr marL="0" lvl="0" indent="0" algn="l" rtl="0">
              <a:lnSpc>
                <a:spcPct val="100000"/>
              </a:lnSpc>
              <a:spcBef>
                <a:spcPts val="0"/>
              </a:spcBef>
              <a:spcAft>
                <a:spcPts val="0"/>
              </a:spcAft>
              <a:buSzPts val="1400"/>
              <a:buNone/>
            </a:pPr>
            <a:r>
              <a:rPr lang="en-US"/>
              <a:t>How much darker is the rectangle on the left vs on the right??? Neither – same color.</a:t>
            </a:r>
            <a:endParaRPr/>
          </a:p>
        </p:txBody>
      </p:sp>
      <p:sp>
        <p:nvSpPr>
          <p:cNvPr id="441" name="Google Shape;441;g35766d32465_1_2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63</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about uploading data files! This is synthetic data so we can do it here.</a:t>
            </a:r>
          </a:p>
        </p:txBody>
      </p:sp>
      <p:sp>
        <p:nvSpPr>
          <p:cNvPr id="4" name="Slide Number Placeholder 3"/>
          <p:cNvSpPr>
            <a:spLocks noGrp="1"/>
          </p:cNvSpPr>
          <p:nvPr>
            <p:ph type="sldNum" sz="quarter" idx="5"/>
          </p:nvPr>
        </p:nvSpPr>
        <p:spPr/>
        <p:txBody>
          <a:bodyPr/>
          <a:lstStyle/>
          <a:p>
            <a:fld id="{15564E20-9EA2-8947-B25E-DCABC392F652}" type="slidenum">
              <a:rPr lang="en-US" smtClean="0"/>
              <a:t>68</a:t>
            </a:fld>
            <a:endParaRPr lang="en-US"/>
          </a:p>
        </p:txBody>
      </p:sp>
    </p:spTree>
    <p:extLst>
      <p:ext uri="{BB962C8B-B14F-4D97-AF65-F5344CB8AC3E}">
        <p14:creationId xmlns:p14="http://schemas.microsoft.com/office/powerpoint/2010/main" val="30751669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7B930-F663-299E-04AD-F0B7D2F6D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84640-51B5-4F62-E437-C2C7F3186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CBD7B1-033A-0A29-A80C-EF8FBA5835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62908C-6330-387E-5BF8-BCE616B78D00}"/>
              </a:ext>
            </a:extLst>
          </p:cNvPr>
          <p:cNvSpPr>
            <a:spLocks noGrp="1"/>
          </p:cNvSpPr>
          <p:nvPr>
            <p:ph type="sldNum" sz="quarter" idx="10"/>
          </p:nvPr>
        </p:nvSpPr>
        <p:spPr/>
        <p:txBody>
          <a:bodyPr/>
          <a:lstStyle/>
          <a:p>
            <a:fld id="{0A193586-FEB5-7C43-8F44-7EFAE4EECA28}" type="slidenum">
              <a:rPr lang="en-US" smtClean="0"/>
              <a:t>74</a:t>
            </a:fld>
            <a:endParaRPr lang="en-US"/>
          </a:p>
        </p:txBody>
      </p:sp>
    </p:spTree>
    <p:extLst>
      <p:ext uri="{BB962C8B-B14F-4D97-AF65-F5344CB8AC3E}">
        <p14:creationId xmlns:p14="http://schemas.microsoft.com/office/powerpoint/2010/main" val="2605869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10/3/26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10/3/26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10/3/26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10/3/26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33"/>
        <p:cNvGrpSpPr/>
        <p:nvPr/>
      </p:nvGrpSpPr>
      <p:grpSpPr>
        <a:xfrm>
          <a:off x="0" y="0"/>
          <a:ext cx="0" cy="0"/>
          <a:chOff x="0" y="0"/>
          <a:chExt cx="0" cy="0"/>
        </a:xfrm>
      </p:grpSpPr>
      <p:pic>
        <p:nvPicPr>
          <p:cNvPr id="34" name="Google Shape;34;p16" descr="Icon&#10;&#10;Description automatically generated with low confidence"/>
          <p:cNvPicPr preferRelativeResize="0"/>
          <p:nvPr/>
        </p:nvPicPr>
        <p:blipFill rotWithShape="1">
          <a:blip r:embed="rId2" cstate="screen">
            <a:alphaModFix amt="5000"/>
            <a:extLst>
              <a:ext uri="{28A0092B-C50C-407E-A947-70E740481C1C}">
                <a14:useLocalDpi xmlns:a14="http://schemas.microsoft.com/office/drawing/2010/main"/>
              </a:ext>
            </a:extLst>
          </a:blip>
          <a:srcRect/>
          <a:stretch/>
        </p:blipFill>
        <p:spPr>
          <a:xfrm>
            <a:off x="6735337" y="646771"/>
            <a:ext cx="5456664" cy="6211229"/>
          </a:xfrm>
          <a:prstGeom prst="rect">
            <a:avLst/>
          </a:prstGeom>
          <a:noFill/>
          <a:ln>
            <a:noFill/>
          </a:ln>
        </p:spPr>
      </p:pic>
      <p:sp>
        <p:nvSpPr>
          <p:cNvPr id="35" name="Google Shape;35;p16"/>
          <p:cNvSpPr txBox="1">
            <a:spLocks noGrp="1"/>
          </p:cNvSpPr>
          <p:nvPr>
            <p:ph type="body" idx="1"/>
          </p:nvPr>
        </p:nvSpPr>
        <p:spPr>
          <a:xfrm>
            <a:off x="838200" y="1825625"/>
            <a:ext cx="10515599"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6"/>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00714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tandard Content + Picture">
  <p:cSld name="Standard Content + Picture">
    <p:spTree>
      <p:nvGrpSpPr>
        <p:cNvPr id="1" name="Shape 39"/>
        <p:cNvGrpSpPr/>
        <p:nvPr/>
      </p:nvGrpSpPr>
      <p:grpSpPr>
        <a:xfrm>
          <a:off x="0" y="0"/>
          <a:ext cx="0" cy="0"/>
          <a:chOff x="0" y="0"/>
          <a:chExt cx="0" cy="0"/>
        </a:xfrm>
      </p:grpSpPr>
      <p:pic>
        <p:nvPicPr>
          <p:cNvPr id="40" name="Google Shape;40;p19" descr="Icon&#10;&#10;Description automatically generated with low confidence"/>
          <p:cNvPicPr preferRelativeResize="0"/>
          <p:nvPr/>
        </p:nvPicPr>
        <p:blipFill rotWithShape="1">
          <a:blip r:embed="rId2" cstate="screen">
            <a:alphaModFix amt="5000"/>
            <a:extLst>
              <a:ext uri="{28A0092B-C50C-407E-A947-70E740481C1C}">
                <a14:useLocalDpi xmlns:a14="http://schemas.microsoft.com/office/drawing/2010/main"/>
              </a:ext>
            </a:extLst>
          </a:blip>
          <a:srcRect/>
          <a:stretch/>
        </p:blipFill>
        <p:spPr>
          <a:xfrm>
            <a:off x="6735337" y="646771"/>
            <a:ext cx="5456664" cy="6211229"/>
          </a:xfrm>
          <a:prstGeom prst="rect">
            <a:avLst/>
          </a:prstGeom>
          <a:noFill/>
          <a:ln>
            <a:noFill/>
          </a:ln>
        </p:spPr>
      </p:pic>
      <p:sp>
        <p:nvSpPr>
          <p:cNvPr id="41" name="Google Shape;41;p19"/>
          <p:cNvSpPr>
            <a:spLocks noGrp="1"/>
          </p:cNvSpPr>
          <p:nvPr>
            <p:ph type="pic" idx="2"/>
          </p:nvPr>
        </p:nvSpPr>
        <p:spPr>
          <a:xfrm flipH="1">
            <a:off x="6816435" y="1839479"/>
            <a:ext cx="4537759" cy="3937864"/>
          </a:xfrm>
          <a:prstGeom prst="rect">
            <a:avLst/>
          </a:prstGeom>
          <a:noFill/>
          <a:ln>
            <a:noFill/>
          </a:ln>
        </p:spPr>
        <p:txBody>
          <a:bodyPr/>
          <a:lstStyle/>
          <a:p>
            <a:endParaRPr lang="en-US"/>
          </a:p>
        </p:txBody>
      </p:sp>
      <p:sp>
        <p:nvSpPr>
          <p:cNvPr id="42" name="Google Shape;42;p19"/>
          <p:cNvSpPr txBox="1">
            <a:spLocks noGrp="1"/>
          </p:cNvSpPr>
          <p:nvPr>
            <p:ph type="body" idx="1"/>
          </p:nvPr>
        </p:nvSpPr>
        <p:spPr>
          <a:xfrm>
            <a:off x="838201" y="1825625"/>
            <a:ext cx="5675334"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SzPts val="1800"/>
              <a:buChar char="•"/>
              <a:defRPr/>
            </a:lvl2pPr>
            <a:lvl3pPr marL="1371600" lvl="2" indent="-342900" algn="l">
              <a:lnSpc>
                <a:spcPct val="122222"/>
              </a:lnSpc>
              <a:spcBef>
                <a:spcPts val="500"/>
              </a:spcBef>
              <a:spcAft>
                <a:spcPts val="0"/>
              </a:spcAft>
              <a:buSzPts val="1800"/>
              <a:buChar char="•"/>
              <a:defRPr/>
            </a:lvl3pPr>
            <a:lvl4pPr marL="1828800" lvl="3" indent="-342900" algn="l">
              <a:lnSpc>
                <a:spcPct val="122222"/>
              </a:lnSpc>
              <a:spcBef>
                <a:spcPts val="500"/>
              </a:spcBef>
              <a:spcAft>
                <a:spcPts val="0"/>
              </a:spcAft>
              <a:buSzPts val="1800"/>
              <a:buChar char="•"/>
              <a:defRPr/>
            </a:lvl4pPr>
            <a:lvl5pPr marL="2286000" lvl="4" indent="-342900" algn="l">
              <a:lnSpc>
                <a:spcPct val="122222"/>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9"/>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26599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46"/>
        <p:cNvGrpSpPr/>
        <p:nvPr/>
      </p:nvGrpSpPr>
      <p:grpSpPr>
        <a:xfrm>
          <a:off x="0" y="0"/>
          <a:ext cx="0" cy="0"/>
          <a:chOff x="0" y="0"/>
          <a:chExt cx="0" cy="0"/>
        </a:xfrm>
      </p:grpSpPr>
      <p:pic>
        <p:nvPicPr>
          <p:cNvPr id="47" name="Google Shape;47;p22" descr="Icon&#10;&#10;Description automatically generated with low confidence"/>
          <p:cNvPicPr preferRelativeResize="0"/>
          <p:nvPr/>
        </p:nvPicPr>
        <p:blipFill rotWithShape="1">
          <a:blip r:embed="rId2" cstate="screen">
            <a:alphaModFix amt="5000"/>
            <a:extLst>
              <a:ext uri="{28A0092B-C50C-407E-A947-70E740481C1C}">
                <a14:useLocalDpi xmlns:a14="http://schemas.microsoft.com/office/drawing/2010/main"/>
              </a:ext>
            </a:extLst>
          </a:blip>
          <a:srcRect/>
          <a:stretch/>
        </p:blipFill>
        <p:spPr>
          <a:xfrm>
            <a:off x="6735337" y="646771"/>
            <a:ext cx="5456664" cy="6211229"/>
          </a:xfrm>
          <a:prstGeom prst="rect">
            <a:avLst/>
          </a:prstGeom>
          <a:noFill/>
          <a:ln>
            <a:noFill/>
          </a:ln>
        </p:spPr>
      </p:pic>
      <p:sp>
        <p:nvSpPr>
          <p:cNvPr id="48" name="Google Shape;48;p22"/>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a:spLocks noGrp="1"/>
          </p:cNvSpPr>
          <p:nvPr>
            <p:ph type="chart" idx="2"/>
          </p:nvPr>
        </p:nvSpPr>
        <p:spPr>
          <a:xfrm>
            <a:off x="838200" y="2600596"/>
            <a:ext cx="7857567" cy="2980596"/>
          </a:xfrm>
          <a:prstGeom prst="rect">
            <a:avLst/>
          </a:prstGeom>
          <a:noFill/>
          <a:ln>
            <a:noFill/>
          </a:ln>
        </p:spPr>
        <p:txBody>
          <a:bodyPr spcFirstLastPara="1" wrap="square" lIns="91425" tIns="45700" rIns="91425" bIns="45700" anchor="t" anchorCtr="0">
            <a:normAutofit/>
          </a:bodyPr>
          <a:lstStyle>
            <a:lvl1pPr marR="0" lvl="0" algn="l" rtl="0">
              <a:lnSpc>
                <a:spcPct val="122222"/>
              </a:lnSpc>
              <a:spcBef>
                <a:spcPts val="1000"/>
              </a:spcBef>
              <a:spcAft>
                <a:spcPts val="0"/>
              </a:spcAft>
              <a:buClr>
                <a:srgbClr val="B01F24"/>
              </a:buClr>
              <a:buSzPts val="1800"/>
              <a:buFont typeface="Arial"/>
              <a:buNone/>
              <a:defRPr sz="1800" b="0" i="0" u="none" strike="noStrike" cap="none">
                <a:solidFill>
                  <a:srgbClr val="58595B"/>
                </a:solidFill>
                <a:latin typeface="Arial"/>
                <a:ea typeface="Arial"/>
                <a:cs typeface="Arial"/>
                <a:sym typeface="Arial"/>
              </a:defRPr>
            </a:lvl1pPr>
            <a:lvl2pPr marR="0" lvl="1"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2pPr>
            <a:lvl3pPr marR="0" lvl="2"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3pPr>
            <a:lvl4pPr marR="0" lvl="3"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4pPr>
            <a:lvl5pPr marR="0" lvl="4"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22"/>
          <p:cNvSpPr txBox="1">
            <a:spLocks noGrp="1"/>
          </p:cNvSpPr>
          <p:nvPr>
            <p:ph type="body" idx="1"/>
          </p:nvPr>
        </p:nvSpPr>
        <p:spPr>
          <a:xfrm>
            <a:off x="838200" y="1828800"/>
            <a:ext cx="10515600" cy="745958"/>
          </a:xfrm>
          <a:prstGeom prst="rect">
            <a:avLst/>
          </a:prstGeom>
          <a:noFill/>
          <a:ln>
            <a:noFill/>
          </a:ln>
        </p:spPr>
        <p:txBody>
          <a:bodyPr spcFirstLastPara="1" wrap="square" lIns="91425" tIns="45700" rIns="91425" bIns="45700" anchor="t" anchorCtr="0">
            <a:normAutofit/>
          </a:bodyPr>
          <a:lstStyle>
            <a:lvl1pPr marL="457200" lvl="0" indent="-228600" algn="l">
              <a:lnSpc>
                <a:spcPct val="122222"/>
              </a:lnSpc>
              <a:spcBef>
                <a:spcPts val="1000"/>
              </a:spcBef>
              <a:spcAft>
                <a:spcPts val="0"/>
              </a:spcAft>
              <a:buSzPts val="1800"/>
              <a:buFont typeface="Arial"/>
              <a:buNone/>
              <a:defRPr/>
            </a:lvl1pPr>
            <a:lvl2pPr marL="914400" lvl="1" indent="-228600" algn="l">
              <a:lnSpc>
                <a:spcPct val="122222"/>
              </a:lnSpc>
              <a:spcBef>
                <a:spcPts val="500"/>
              </a:spcBef>
              <a:spcAft>
                <a:spcPts val="0"/>
              </a:spcAft>
              <a:buSzPts val="1800"/>
              <a:buFont typeface="Arial"/>
              <a:buNone/>
              <a:defRPr/>
            </a:lvl2pPr>
            <a:lvl3pPr marL="1371600" lvl="2" indent="-228600" algn="l">
              <a:lnSpc>
                <a:spcPct val="122222"/>
              </a:lnSpc>
              <a:spcBef>
                <a:spcPts val="500"/>
              </a:spcBef>
              <a:spcAft>
                <a:spcPts val="0"/>
              </a:spcAft>
              <a:buSzPts val="1800"/>
              <a:buFont typeface="Arial"/>
              <a:buNone/>
              <a:defRPr/>
            </a:lvl3pPr>
            <a:lvl4pPr marL="1828800" lvl="3" indent="-228600" algn="l">
              <a:lnSpc>
                <a:spcPct val="122222"/>
              </a:lnSpc>
              <a:spcBef>
                <a:spcPts val="500"/>
              </a:spcBef>
              <a:spcAft>
                <a:spcPts val="0"/>
              </a:spcAft>
              <a:buSzPts val="1800"/>
              <a:buFont typeface="Arial"/>
              <a:buNone/>
              <a:defRPr/>
            </a:lvl4pPr>
            <a:lvl5pPr marL="2286000" lvl="4" indent="-228600" algn="l">
              <a:lnSpc>
                <a:spcPct val="122222"/>
              </a:lnSpc>
              <a:spcBef>
                <a:spcPts val="500"/>
              </a:spcBef>
              <a:spcAft>
                <a:spcPts val="0"/>
              </a:spcAft>
              <a:buSzPts val="18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22"/>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2"/>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80687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10/3/26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r-charts.com/" TargetMode="External"/><Relationship Id="rId2" Type="http://schemas.openxmlformats.org/officeDocument/2006/relationships/hyperlink" Target="https://r-graph-gallery.com/" TargetMode="External"/><Relationship Id="rId1" Type="http://schemas.openxmlformats.org/officeDocument/2006/relationships/slideLayout" Target="../slideLayouts/slideLayout2.xml"/><Relationship Id="rId4" Type="http://schemas.openxmlformats.org/officeDocument/2006/relationships/hyperlink" Target="https://www.data-to-viz.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29.jpeg"/></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Data Visualization Principles</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Shannon Haymond</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1DAB4-F320-95FE-1049-9C53F485F4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A7B638-5CDD-F0AC-11FC-90247537ED12}"/>
              </a:ext>
            </a:extLst>
          </p:cNvPr>
          <p:cNvSpPr txBox="1"/>
          <p:nvPr/>
        </p:nvSpPr>
        <p:spPr>
          <a:xfrm>
            <a:off x="626225" y="201578"/>
            <a:ext cx="10939550" cy="5042855"/>
          </a:xfrm>
          <a:prstGeom prst="rect">
            <a:avLst/>
          </a:prstGeom>
          <a:noFill/>
        </p:spPr>
        <p:txBody>
          <a:bodyPr wrap="square" rtlCol="0">
            <a:spAutoFit/>
          </a:bodyPr>
          <a:lstStyle/>
          <a:p>
            <a:r>
              <a:rPr lang="en-US" sz="3600" dirty="0"/>
              <a:t>Lesson Goals</a:t>
            </a:r>
          </a:p>
          <a:p>
            <a:pPr marL="514350" marR="0" lvl="0" indent="-51435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Identify types of common data visualizations that are most appropriate given the types of data available and the goal of the analysis</a:t>
            </a:r>
          </a:p>
          <a:p>
            <a:pPr marR="0" lvl="0" rtl="0">
              <a:lnSpc>
                <a:spcPct val="107000"/>
              </a:lnSpc>
              <a:spcBef>
                <a:spcPts val="0"/>
              </a:spcBef>
              <a:spcAft>
                <a:spcPts val="0"/>
              </a:spcAft>
            </a:pPr>
            <a:endParaRPr lang="en-US" dirty="0"/>
          </a:p>
          <a:p>
            <a:pPr marR="0" lvl="0" rtl="0">
              <a:lnSpc>
                <a:spcPct val="107000"/>
              </a:lnSpc>
              <a:spcBef>
                <a:spcPts val="0"/>
              </a:spcBef>
              <a:spcAft>
                <a:spcPts val="0"/>
              </a:spcAft>
            </a:pPr>
            <a:r>
              <a:rPr lang="en-US" sz="3600" dirty="0"/>
              <a:t>Lesson Objectives</a:t>
            </a:r>
          </a:p>
          <a:p>
            <a:pPr marL="514350" indent="-514350">
              <a:buFontTx/>
              <a:buAutoNum type="arabicPeriod"/>
            </a:pPr>
            <a:r>
              <a:rPr lang="en-US" sz="2800" dirty="0"/>
              <a:t>Describe at least 2 scenarios in which a plot is more effective than a table in demonstrating relationships between variables in a data set</a:t>
            </a:r>
          </a:p>
          <a:p>
            <a:pPr marL="514350" indent="-514350">
              <a:buFontTx/>
              <a:buAutoNum type="arabicPeriod"/>
            </a:pPr>
            <a:r>
              <a:rPr lang="en-US" sz="2800" dirty="0"/>
              <a:t>For each possible combination of data types, identify a type of plot that will effectively illustrate the relationship between two variables</a:t>
            </a:r>
          </a:p>
          <a:p>
            <a:pPr marL="514350" indent="-514350">
              <a:buFontTx/>
              <a:buAutoNum type="arabicPeriod"/>
            </a:pPr>
            <a:r>
              <a:rPr lang="en-US" sz="2800" dirty="0"/>
              <a:t>List 2 types of plots that can illustrate statistical uncertainty when comparing numeric values between groups.</a:t>
            </a:r>
          </a:p>
        </p:txBody>
      </p:sp>
    </p:spTree>
    <p:extLst>
      <p:ext uri="{BB962C8B-B14F-4D97-AF65-F5344CB8AC3E}">
        <p14:creationId xmlns:p14="http://schemas.microsoft.com/office/powerpoint/2010/main" val="1377360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5766d32465_1_14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dirty="0"/>
              <a:t>Purpose of Visualizations</a:t>
            </a:r>
            <a:endParaRPr dirty="0"/>
          </a:p>
        </p:txBody>
      </p:sp>
      <p:sp>
        <p:nvSpPr>
          <p:cNvPr id="154" name="Google Shape;154;g35766d32465_1_14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14287" indent="0">
              <a:buNone/>
            </a:pPr>
            <a:r>
              <a:rPr lang="en-US" b="1" dirty="0"/>
              <a:t>Communicate </a:t>
            </a:r>
            <a:r>
              <a:rPr lang="en-US" dirty="0"/>
              <a:t>— tell a clear story that can be more inclusive</a:t>
            </a:r>
          </a:p>
          <a:p>
            <a:pPr marL="285750" indent="-271463"/>
            <a:r>
              <a:rPr lang="en-US" b="1" dirty="0"/>
              <a:t>Discover</a:t>
            </a:r>
            <a:r>
              <a:rPr lang="en-US" dirty="0"/>
              <a:t> — fast exploration of assumptions, surface patterns, outliers, and data-quality issues </a:t>
            </a:r>
          </a:p>
          <a:p>
            <a:pPr marL="241300" indent="-241300"/>
            <a:r>
              <a:rPr lang="en-US" b="1" dirty="0"/>
              <a:t>Compare &amp; Relate</a:t>
            </a:r>
            <a:r>
              <a:rPr lang="en-US" dirty="0"/>
              <a:t> — show differences, trends over time, and relationships between variables</a:t>
            </a:r>
          </a:p>
          <a:p>
            <a:pPr marL="285750" indent="-285750"/>
            <a:endParaRPr lang="en-US" b="1" dirty="0"/>
          </a:p>
          <a:p>
            <a:pPr marL="0" indent="0">
              <a:buNone/>
            </a:pPr>
            <a:r>
              <a:rPr lang="en-US" dirty="0">
                <a:solidFill>
                  <a:schemeClr val="accent1"/>
                </a:solidFill>
              </a:rPr>
              <a:t>If done well, visualization can build trust and drive 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619A7AA0-BF18-6B42-4C0E-049BD762D4BB}"/>
            </a:ext>
          </a:extLst>
        </p:cNvPr>
        <p:cNvGrpSpPr/>
        <p:nvPr/>
      </p:nvGrpSpPr>
      <p:grpSpPr>
        <a:xfrm>
          <a:off x="0" y="0"/>
          <a:ext cx="0" cy="0"/>
          <a:chOff x="0" y="0"/>
          <a:chExt cx="0" cy="0"/>
        </a:xfrm>
      </p:grpSpPr>
      <p:sp>
        <p:nvSpPr>
          <p:cNvPr id="153" name="Google Shape;153;g35766d32465_1_142">
            <a:extLst>
              <a:ext uri="{FF2B5EF4-FFF2-40B4-BE49-F238E27FC236}">
                <a16:creationId xmlns:a16="http://schemas.microsoft.com/office/drawing/2014/main" id="{231A2DCB-9F60-A74E-9CBF-1F225E07D54B}"/>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dirty="0"/>
              <a:t>But when done wrong, can be harmful</a:t>
            </a:r>
            <a:endParaRPr dirty="0"/>
          </a:p>
        </p:txBody>
      </p:sp>
      <p:sp>
        <p:nvSpPr>
          <p:cNvPr id="154" name="Google Shape;154;g35766d32465_1_142">
            <a:extLst>
              <a:ext uri="{FF2B5EF4-FFF2-40B4-BE49-F238E27FC236}">
                <a16:creationId xmlns:a16="http://schemas.microsoft.com/office/drawing/2014/main" id="{BFA4F089-0D6B-E4D9-F0D3-758281711C3F}"/>
              </a:ext>
            </a:extLst>
          </p:cNvPr>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rmAutofit fontScale="92500" lnSpcReduction="10000"/>
          </a:bodyPr>
          <a:lstStyle/>
          <a:p>
            <a:pPr marL="0" lvl="0" indent="0">
              <a:lnSpc>
                <a:spcPct val="70000"/>
              </a:lnSpc>
              <a:spcBef>
                <a:spcPts val="0"/>
              </a:spcBef>
              <a:spcAft>
                <a:spcPts val="0"/>
              </a:spcAft>
              <a:buClr>
                <a:schemeClr val="dk1"/>
              </a:buClr>
              <a:buSzPts val="3800"/>
              <a:buNone/>
            </a:pPr>
            <a:r>
              <a:rPr lang="en-US" dirty="0"/>
              <a:t>Common mistakes:</a:t>
            </a:r>
          </a:p>
          <a:p>
            <a:pPr marL="228600" lvl="0" indent="-228600">
              <a:lnSpc>
                <a:spcPct val="70000"/>
              </a:lnSpc>
              <a:spcBef>
                <a:spcPts val="1400"/>
              </a:spcBef>
              <a:spcAft>
                <a:spcPts val="0"/>
              </a:spcAft>
              <a:buClr>
                <a:schemeClr val="dk1"/>
              </a:buClr>
              <a:buSzPts val="3800"/>
            </a:pPr>
            <a:r>
              <a:rPr lang="en-US" dirty="0"/>
              <a:t>Data misrepresentation or quality issues</a:t>
            </a:r>
          </a:p>
          <a:p>
            <a:pPr marL="228600" lvl="0" indent="-228600">
              <a:lnSpc>
                <a:spcPct val="70000"/>
              </a:lnSpc>
              <a:spcBef>
                <a:spcPts val="1400"/>
              </a:spcBef>
              <a:spcAft>
                <a:spcPts val="0"/>
              </a:spcAft>
              <a:buClr>
                <a:schemeClr val="dk1"/>
              </a:buClr>
              <a:buSzPts val="3800"/>
            </a:pPr>
            <a:r>
              <a:rPr lang="en-US" dirty="0"/>
              <a:t>Misusing and overcomplicating charts</a:t>
            </a:r>
          </a:p>
          <a:p>
            <a:pPr marL="228600" lvl="0" indent="-228600">
              <a:lnSpc>
                <a:spcPct val="70000"/>
              </a:lnSpc>
              <a:spcBef>
                <a:spcPts val="1400"/>
              </a:spcBef>
              <a:spcAft>
                <a:spcPts val="0"/>
              </a:spcAft>
              <a:buClr>
                <a:schemeClr val="dk1"/>
              </a:buClr>
              <a:buSzPts val="3800"/>
            </a:pPr>
            <a:r>
              <a:rPr lang="en-US" dirty="0"/>
              <a:t>Misleading color, elements, axes, and scales</a:t>
            </a:r>
          </a:p>
          <a:p>
            <a:pPr marL="0" lvl="0" indent="0">
              <a:lnSpc>
                <a:spcPct val="70000"/>
              </a:lnSpc>
              <a:spcBef>
                <a:spcPts val="1400"/>
              </a:spcBef>
              <a:spcAft>
                <a:spcPts val="0"/>
              </a:spcAft>
              <a:buClr>
                <a:schemeClr val="dk1"/>
              </a:buClr>
              <a:buSzPts val="3800"/>
              <a:buNone/>
            </a:pPr>
            <a:endParaRPr lang="en-US" dirty="0"/>
          </a:p>
          <a:p>
            <a:pPr marL="0" lvl="0" indent="0">
              <a:lnSpc>
                <a:spcPct val="70000"/>
              </a:lnSpc>
              <a:spcBef>
                <a:spcPts val="1400"/>
              </a:spcBef>
              <a:spcAft>
                <a:spcPts val="0"/>
              </a:spcAft>
              <a:buClr>
                <a:schemeClr val="dk1"/>
              </a:buClr>
              <a:buSzPts val="3800"/>
              <a:buNone/>
            </a:pPr>
            <a:endParaRPr lang="en-US" dirty="0"/>
          </a:p>
          <a:p>
            <a:pPr marL="0" lvl="0" indent="0">
              <a:lnSpc>
                <a:spcPct val="70000"/>
              </a:lnSpc>
              <a:spcBef>
                <a:spcPts val="1400"/>
              </a:spcBef>
              <a:spcAft>
                <a:spcPts val="0"/>
              </a:spcAft>
              <a:buClr>
                <a:schemeClr val="dk1"/>
              </a:buClr>
              <a:buSzPts val="3800"/>
              <a:buNone/>
            </a:pPr>
            <a:endParaRPr lang="en-US" dirty="0"/>
          </a:p>
          <a:p>
            <a:pPr marL="0" lvl="0" indent="0">
              <a:lnSpc>
                <a:spcPct val="70000"/>
              </a:lnSpc>
              <a:spcBef>
                <a:spcPts val="1400"/>
              </a:spcBef>
              <a:spcAft>
                <a:spcPts val="0"/>
              </a:spcAft>
              <a:buClr>
                <a:schemeClr val="dk1"/>
              </a:buClr>
              <a:buSzPts val="3800"/>
              <a:buNone/>
            </a:pPr>
            <a:r>
              <a:rPr lang="en-US" dirty="0"/>
              <a:t>Bad outcomes:</a:t>
            </a:r>
          </a:p>
          <a:p>
            <a:pPr marL="0" lvl="0" indent="0">
              <a:lnSpc>
                <a:spcPct val="70000"/>
              </a:lnSpc>
              <a:spcBef>
                <a:spcPts val="1400"/>
              </a:spcBef>
              <a:spcAft>
                <a:spcPts val="0"/>
              </a:spcAft>
              <a:buClr>
                <a:schemeClr val="dk1"/>
              </a:buClr>
              <a:buSzPts val="3800"/>
              <a:buNone/>
            </a:pPr>
            <a:r>
              <a:rPr lang="en-US" dirty="0"/>
              <a:t>False conclusions lead to bad decisions</a:t>
            </a:r>
          </a:p>
          <a:p>
            <a:pPr marL="0" lvl="0" indent="0">
              <a:lnSpc>
                <a:spcPct val="70000"/>
              </a:lnSpc>
              <a:spcBef>
                <a:spcPts val="1400"/>
              </a:spcBef>
              <a:spcAft>
                <a:spcPts val="0"/>
              </a:spcAft>
              <a:buClr>
                <a:schemeClr val="dk1"/>
              </a:buClr>
              <a:buSzPts val="3800"/>
              <a:buNone/>
            </a:pPr>
            <a:r>
              <a:rPr lang="en-US" dirty="0"/>
              <a:t>Reduced clarity erodes understanding and raises skepticism</a:t>
            </a:r>
          </a:p>
        </p:txBody>
      </p:sp>
      <p:pic>
        <p:nvPicPr>
          <p:cNvPr id="2" name="Google Shape;174;g35766d32465_1_30">
            <a:extLst>
              <a:ext uri="{FF2B5EF4-FFF2-40B4-BE49-F238E27FC236}">
                <a16:creationId xmlns:a16="http://schemas.microsoft.com/office/drawing/2014/main" id="{74665574-FA6C-4984-F0EE-7EA55DCB103F}"/>
              </a:ext>
            </a:extLst>
          </p:cNvPr>
          <p:cNvPicPr preferRelativeResize="0"/>
          <p:nvPr/>
        </p:nvPicPr>
        <p:blipFill rotWithShape="1">
          <a:blip r:embed="rId3">
            <a:alphaModFix/>
          </a:blip>
          <a:srcRect/>
          <a:stretch/>
        </p:blipFill>
        <p:spPr>
          <a:xfrm rot="-2404893">
            <a:off x="7152500" y="1787755"/>
            <a:ext cx="4931439" cy="3282489"/>
          </a:xfrm>
          <a:prstGeom prst="rect">
            <a:avLst/>
          </a:prstGeom>
          <a:noFill/>
          <a:ln>
            <a:noFill/>
          </a:ln>
        </p:spPr>
      </p:pic>
    </p:spTree>
    <p:extLst>
      <p:ext uri="{BB962C8B-B14F-4D97-AF65-F5344CB8AC3E}">
        <p14:creationId xmlns:p14="http://schemas.microsoft.com/office/powerpoint/2010/main" val="2798346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2C7D8-E059-3B74-5232-568AB6CE2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EF070-EE0D-79FB-FF32-1D404F860D7F}"/>
              </a:ext>
            </a:extLst>
          </p:cNvPr>
          <p:cNvSpPr>
            <a:spLocks noGrp="1"/>
          </p:cNvSpPr>
          <p:nvPr>
            <p:ph type="title"/>
          </p:nvPr>
        </p:nvSpPr>
        <p:spPr/>
        <p:txBody>
          <a:bodyPr/>
          <a:lstStyle/>
          <a:p>
            <a:r>
              <a:rPr lang="en-US" dirty="0"/>
              <a:t>Data visualization best practices</a:t>
            </a:r>
          </a:p>
        </p:txBody>
      </p:sp>
      <p:graphicFrame>
        <p:nvGraphicFramePr>
          <p:cNvPr id="4" name="Content Placeholder 2">
            <a:extLst>
              <a:ext uri="{FF2B5EF4-FFF2-40B4-BE49-F238E27FC236}">
                <a16:creationId xmlns:a16="http://schemas.microsoft.com/office/drawing/2014/main" id="{20E45551-04E4-8F5B-AB56-CF4225A5F72C}"/>
              </a:ext>
            </a:extLst>
          </p:cNvPr>
          <p:cNvGraphicFramePr>
            <a:graphicFrameLocks/>
          </p:cNvGraphicFramePr>
          <p:nvPr>
            <p:extLst>
              <p:ext uri="{D42A27DB-BD31-4B8C-83A1-F6EECF244321}">
                <p14:modId xmlns:p14="http://schemas.microsoft.com/office/powerpoint/2010/main" val="143569770"/>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742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5DB03A2-705D-D216-BC21-ADF6A4D9993C}"/>
              </a:ext>
            </a:extLst>
          </p:cNvPr>
          <p:cNvSpPr>
            <a:spLocks noGrp="1"/>
          </p:cNvSpPr>
          <p:nvPr>
            <p:ph idx="1"/>
          </p:nvPr>
        </p:nvSpPr>
        <p:spPr>
          <a:xfrm>
            <a:off x="4999330" y="804333"/>
            <a:ext cx="7040265" cy="5249334"/>
          </a:xfrm>
        </p:spPr>
        <p:txBody>
          <a:bodyPr anchor="ctr">
            <a:normAutofit/>
          </a:bodyPr>
          <a:lstStyle/>
          <a:p>
            <a:pPr marL="0" indent="0">
              <a:buNone/>
            </a:pPr>
            <a:r>
              <a:rPr lang="en-US" dirty="0"/>
              <a:t>What is the purpose of the visualization?</a:t>
            </a:r>
          </a:p>
          <a:p>
            <a:pPr marL="688086" lvl="1" indent="-514350">
              <a:buFont typeface="+mj-lt"/>
              <a:buAutoNum type="alphaUcPeriod"/>
            </a:pPr>
            <a:r>
              <a:rPr lang="en-US" dirty="0"/>
              <a:t>High level exploration and discovery</a:t>
            </a:r>
          </a:p>
          <a:p>
            <a:pPr marL="688086" lvl="1" indent="-514350">
              <a:buFont typeface="+mj-lt"/>
              <a:buAutoNum type="alphaUcPeriod"/>
            </a:pPr>
            <a:r>
              <a:rPr lang="en-US" dirty="0"/>
              <a:t>Deeper level of comparison and understanding relationships</a:t>
            </a:r>
          </a:p>
          <a:p>
            <a:pPr marL="228600" indent="-228600"/>
            <a:endParaRPr lang="en-US" dirty="0"/>
          </a:p>
          <a:p>
            <a:pPr marL="0" indent="0">
              <a:buNone/>
            </a:pPr>
            <a:r>
              <a:rPr lang="en-US" dirty="0"/>
              <a:t>What type(s) of data will be visualized?</a:t>
            </a:r>
          </a:p>
          <a:p>
            <a:pPr marL="402336" lvl="1" indent="-228600"/>
            <a:r>
              <a:rPr lang="en-US" dirty="0"/>
              <a:t>Quantitative vs qualitative</a:t>
            </a:r>
          </a:p>
        </p:txBody>
      </p:sp>
      <p:pic>
        <p:nvPicPr>
          <p:cNvPr id="12" name="Picture 11">
            <a:extLst>
              <a:ext uri="{FF2B5EF4-FFF2-40B4-BE49-F238E27FC236}">
                <a16:creationId xmlns:a16="http://schemas.microsoft.com/office/drawing/2014/main" id="{3844C7DF-F9C4-9C1D-44E6-F7B8B9B1C4DD}"/>
              </a:ext>
            </a:extLst>
          </p:cNvPr>
          <p:cNvPicPr>
            <a:picLocks noChangeAspect="1"/>
          </p:cNvPicPr>
          <p:nvPr/>
        </p:nvPicPr>
        <p:blipFill>
          <a:blip r:embed="rId2"/>
          <a:stretch>
            <a:fillRect/>
          </a:stretch>
        </p:blipFill>
        <p:spPr>
          <a:xfrm>
            <a:off x="1155700" y="1714500"/>
            <a:ext cx="2945423" cy="3429000"/>
          </a:xfrm>
          <a:prstGeom prst="rect">
            <a:avLst/>
          </a:prstGeom>
        </p:spPr>
      </p:pic>
    </p:spTree>
    <p:extLst>
      <p:ext uri="{BB962C8B-B14F-4D97-AF65-F5344CB8AC3E}">
        <p14:creationId xmlns:p14="http://schemas.microsoft.com/office/powerpoint/2010/main" val="3813368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5D2A5-3362-125B-B089-4922D7C96179}"/>
              </a:ext>
            </a:extLst>
          </p:cNvPr>
          <p:cNvSpPr>
            <a:spLocks noGrp="1"/>
          </p:cNvSpPr>
          <p:nvPr>
            <p:ph type="title"/>
          </p:nvPr>
        </p:nvSpPr>
        <p:spPr/>
        <p:txBody>
          <a:bodyPr/>
          <a:lstStyle/>
          <a:p>
            <a:r>
              <a:rPr lang="en-US" dirty="0"/>
              <a:t>Discover: Exploratory Data analysis</a:t>
            </a:r>
          </a:p>
        </p:txBody>
      </p:sp>
      <p:sp>
        <p:nvSpPr>
          <p:cNvPr id="3" name="Content Placeholder 2">
            <a:extLst>
              <a:ext uri="{FF2B5EF4-FFF2-40B4-BE49-F238E27FC236}">
                <a16:creationId xmlns:a16="http://schemas.microsoft.com/office/drawing/2014/main" id="{B1253AD2-723E-4047-753E-3BAD132DAFA0}"/>
              </a:ext>
            </a:extLst>
          </p:cNvPr>
          <p:cNvSpPr>
            <a:spLocks noGrp="1"/>
          </p:cNvSpPr>
          <p:nvPr>
            <p:ph idx="1"/>
          </p:nvPr>
        </p:nvSpPr>
        <p:spPr/>
        <p:txBody>
          <a:bodyPr>
            <a:normAutofit lnSpcReduction="10000"/>
          </a:bodyPr>
          <a:lstStyle/>
          <a:p>
            <a:pPr marL="0" indent="0">
              <a:buNone/>
            </a:pPr>
            <a:r>
              <a:rPr lang="en-US" dirty="0">
                <a:solidFill>
                  <a:schemeClr val="accent1"/>
                </a:solidFill>
              </a:rPr>
              <a:t>Goal is to show shape and distribution of data with obvious patterns and data quality issues</a:t>
            </a:r>
          </a:p>
          <a:p>
            <a:pPr marL="293688" indent="-293688"/>
            <a:endParaRPr lang="en-US" dirty="0"/>
          </a:p>
          <a:p>
            <a:pPr marL="293688" indent="-293688"/>
            <a:r>
              <a:rPr lang="en-US" dirty="0"/>
              <a:t>Insight into spread of data, outliers, general shape and distribution</a:t>
            </a:r>
          </a:p>
          <a:p>
            <a:pPr marL="293688" indent="-293688"/>
            <a:r>
              <a:rPr lang="en-US" dirty="0"/>
              <a:t>Investigate single columns of data, maybe some basic relationships</a:t>
            </a:r>
          </a:p>
          <a:p>
            <a:pPr marL="293688" indent="-293688"/>
            <a:r>
              <a:rPr lang="en-US" dirty="0"/>
              <a:t>Do your assumptions hold? Are there data quality issues?</a:t>
            </a:r>
          </a:p>
          <a:p>
            <a:endParaRPr lang="en-US" dirty="0"/>
          </a:p>
          <a:p>
            <a:endParaRPr lang="en-US" dirty="0"/>
          </a:p>
        </p:txBody>
      </p:sp>
    </p:spTree>
    <p:extLst>
      <p:ext uri="{BB962C8B-B14F-4D97-AF65-F5344CB8AC3E}">
        <p14:creationId xmlns:p14="http://schemas.microsoft.com/office/powerpoint/2010/main" val="3301213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7" name="Straight Connector 26">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070784CE-9DD4-4C2D-88B9-D219730A4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74"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C48CA3-D8B0-B2D4-2212-01408DD8E753}"/>
              </a:ext>
            </a:extLst>
          </p:cNvPr>
          <p:cNvSpPr>
            <a:spLocks noGrp="1"/>
          </p:cNvSpPr>
          <p:nvPr>
            <p:ph type="title"/>
          </p:nvPr>
        </p:nvSpPr>
        <p:spPr>
          <a:xfrm>
            <a:off x="5258134" y="640080"/>
            <a:ext cx="6293689" cy="3652405"/>
          </a:xfrm>
        </p:spPr>
        <p:txBody>
          <a:bodyPr vert="horz" lIns="91440" tIns="45720" rIns="91440" bIns="45720" rtlCol="0" anchor="b">
            <a:normAutofit/>
          </a:bodyPr>
          <a:lstStyle/>
          <a:p>
            <a:pPr algn="l"/>
            <a:r>
              <a:rPr lang="en-US" sz="4400" kern="1200" cap="all" spc="200" baseline="0">
                <a:solidFill>
                  <a:schemeClr val="tx1">
                    <a:lumMod val="85000"/>
                    <a:lumOff val="15000"/>
                  </a:schemeClr>
                </a:solidFill>
                <a:latin typeface="+mj-lt"/>
                <a:ea typeface="+mj-ea"/>
                <a:cs typeface="+mj-cs"/>
              </a:rPr>
              <a:t>What types of visualizations show data distributions?</a:t>
            </a:r>
          </a:p>
        </p:txBody>
      </p:sp>
      <p:pic>
        <p:nvPicPr>
          <p:cNvPr id="6" name="Graphic 5" descr="Questions with solid fill">
            <a:extLst>
              <a:ext uri="{FF2B5EF4-FFF2-40B4-BE49-F238E27FC236}">
                <a16:creationId xmlns:a16="http://schemas.microsoft.com/office/drawing/2014/main" id="{6FD77B39-FA3D-2365-A317-973E097E139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999" y="1422615"/>
            <a:ext cx="3993942" cy="3993942"/>
          </a:xfrm>
          <a:prstGeom prst="rect">
            <a:avLst/>
          </a:prstGeom>
        </p:spPr>
      </p:pic>
      <p:cxnSp>
        <p:nvCxnSpPr>
          <p:cNvPr id="31" name="Straight Connector 30">
            <a:extLst>
              <a:ext uri="{FF2B5EF4-FFF2-40B4-BE49-F238E27FC236}">
                <a16:creationId xmlns:a16="http://schemas.microsoft.com/office/drawing/2014/main" id="{640A410A-1838-4131-95A6-2BE4F8D412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09640" y="4388141"/>
            <a:ext cx="58521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1DE54ED-495A-2219-6F33-8123C53F60A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3829026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240">
          <a:extLst>
            <a:ext uri="{FF2B5EF4-FFF2-40B4-BE49-F238E27FC236}">
              <a16:creationId xmlns:a16="http://schemas.microsoft.com/office/drawing/2014/main" id="{90CAC441-2811-7D49-28A1-21A95F05DC74}"/>
            </a:ext>
          </a:extLst>
        </p:cNvPr>
        <p:cNvGrpSpPr/>
        <p:nvPr/>
      </p:nvGrpSpPr>
      <p:grpSpPr>
        <a:xfrm>
          <a:off x="0" y="0"/>
          <a:ext cx="0" cy="0"/>
          <a:chOff x="0" y="0"/>
          <a:chExt cx="0" cy="0"/>
        </a:xfrm>
      </p:grpSpPr>
      <p:sp>
        <p:nvSpPr>
          <p:cNvPr id="241" name="Google Shape;241;g35766d32465_2_2">
            <a:extLst>
              <a:ext uri="{FF2B5EF4-FFF2-40B4-BE49-F238E27FC236}">
                <a16:creationId xmlns:a16="http://schemas.microsoft.com/office/drawing/2014/main" id="{E9F61203-40B7-43B5-53E1-755084E87FC6}"/>
              </a:ext>
            </a:extLst>
          </p:cNvPr>
          <p:cNvSpPr txBox="1">
            <a:spLocks noGrp="1"/>
          </p:cNvSpPr>
          <p:nvPr>
            <p:ph type="body" idx="1"/>
          </p:nvPr>
        </p:nvSpPr>
        <p:spPr>
          <a:xfrm>
            <a:off x="4800625" y="1494550"/>
            <a:ext cx="6976200" cy="4498200"/>
          </a:xfrm>
          <a:prstGeom prst="rect">
            <a:avLst/>
          </a:prstGeom>
          <a:noFill/>
          <a:ln>
            <a:noFill/>
          </a:ln>
        </p:spPr>
        <p:txBody>
          <a:bodyPr spcFirstLastPara="1" wrap="square" lIns="91425" tIns="45700" rIns="91425" bIns="45700" anchor="t" anchorCtr="0">
            <a:noAutofit/>
          </a:bodyPr>
          <a:lstStyle/>
          <a:p>
            <a:pPr indent="-457200">
              <a:lnSpc>
                <a:spcPct val="100000"/>
              </a:lnSpc>
              <a:spcBef>
                <a:spcPts val="0"/>
              </a:spcBef>
              <a:buClr>
                <a:schemeClr val="accent1"/>
              </a:buClr>
              <a:buSzPts val="4200"/>
            </a:pPr>
            <a:endParaRPr lang="en-US" sz="3000" dirty="0"/>
          </a:p>
          <a:p>
            <a:pPr indent="-457200">
              <a:lnSpc>
                <a:spcPct val="100000"/>
              </a:lnSpc>
              <a:spcBef>
                <a:spcPts val="0"/>
              </a:spcBef>
              <a:buClr>
                <a:schemeClr val="accent1"/>
              </a:buClr>
              <a:buSzPts val="4200"/>
            </a:pPr>
            <a:endParaRPr lang="en-US" sz="3000" dirty="0"/>
          </a:p>
          <a:p>
            <a:pPr indent="-457200">
              <a:lnSpc>
                <a:spcPct val="100000"/>
              </a:lnSpc>
              <a:spcBef>
                <a:spcPts val="0"/>
              </a:spcBef>
              <a:buClr>
                <a:schemeClr val="accent1"/>
              </a:buClr>
              <a:buSzPts val="4200"/>
            </a:pPr>
            <a:r>
              <a:rPr lang="en-US" sz="3000" dirty="0"/>
              <a:t>Type of bar chart used to visualize distribution of quantitative data</a:t>
            </a:r>
            <a:endParaRPr sz="3000" dirty="0"/>
          </a:p>
          <a:p>
            <a:pPr indent="-457200">
              <a:lnSpc>
                <a:spcPct val="100000"/>
              </a:lnSpc>
              <a:spcBef>
                <a:spcPts val="0"/>
              </a:spcBef>
              <a:buClr>
                <a:schemeClr val="accent1"/>
              </a:buClr>
              <a:buSzPts val="4200"/>
            </a:pPr>
            <a:r>
              <a:rPr lang="en-US" sz="3000" dirty="0"/>
              <a:t>Typically focuses on a single variable</a:t>
            </a:r>
            <a:endParaRPr sz="3000" dirty="0"/>
          </a:p>
          <a:p>
            <a:pPr indent="-457200">
              <a:lnSpc>
                <a:spcPct val="100000"/>
              </a:lnSpc>
              <a:spcBef>
                <a:spcPts val="0"/>
              </a:spcBef>
              <a:buClr>
                <a:schemeClr val="accent1"/>
              </a:buClr>
              <a:buSzPts val="4200"/>
            </a:pPr>
            <a:r>
              <a:rPr lang="en-US" sz="3000" dirty="0"/>
              <a:t>Requirement: define bins for x-axis</a:t>
            </a:r>
            <a:endParaRPr sz="3000" dirty="0"/>
          </a:p>
          <a:p>
            <a:pPr indent="-457200">
              <a:lnSpc>
                <a:spcPct val="100000"/>
              </a:lnSpc>
              <a:spcBef>
                <a:spcPts val="0"/>
              </a:spcBef>
              <a:buClr>
                <a:schemeClr val="accent1"/>
              </a:buClr>
              <a:buSzPts val="4200"/>
            </a:pPr>
            <a:r>
              <a:rPr lang="en-US" sz="3000" dirty="0"/>
              <a:t>Y-axis represents the count or frequency within the bin</a:t>
            </a:r>
            <a:endParaRPr sz="3000" dirty="0"/>
          </a:p>
        </p:txBody>
      </p:sp>
      <p:sp>
        <p:nvSpPr>
          <p:cNvPr id="242" name="Google Shape;242;g35766d32465_2_2">
            <a:extLst>
              <a:ext uri="{FF2B5EF4-FFF2-40B4-BE49-F238E27FC236}">
                <a16:creationId xmlns:a16="http://schemas.microsoft.com/office/drawing/2014/main" id="{B0E6735D-D4F3-2E2D-CF4A-D0DEA0C17DFA}"/>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dirty="0"/>
              <a:t>Histograms provide insight into distribution</a:t>
            </a:r>
            <a:endParaRPr dirty="0"/>
          </a:p>
        </p:txBody>
      </p:sp>
      <p:sp>
        <p:nvSpPr>
          <p:cNvPr id="243" name="Google Shape;243;g35766d32465_2_2">
            <a:extLst>
              <a:ext uri="{FF2B5EF4-FFF2-40B4-BE49-F238E27FC236}">
                <a16:creationId xmlns:a16="http://schemas.microsoft.com/office/drawing/2014/main" id="{8BD582F9-B98B-9DEB-6004-822CD85FDF8A}"/>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44" name="Google Shape;244;g35766d32465_2_2">
            <a:extLst>
              <a:ext uri="{FF2B5EF4-FFF2-40B4-BE49-F238E27FC236}">
                <a16:creationId xmlns:a16="http://schemas.microsoft.com/office/drawing/2014/main" id="{B0478E13-3863-9481-6098-005B6A16B924}"/>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9</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45" name="Google Shape;245;g35766d32465_2_2">
            <a:extLst>
              <a:ext uri="{FF2B5EF4-FFF2-40B4-BE49-F238E27FC236}">
                <a16:creationId xmlns:a16="http://schemas.microsoft.com/office/drawing/2014/main" id="{A2C50971-B7DC-5377-7126-55866C55889D}"/>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37200" y="2261175"/>
            <a:ext cx="3773974" cy="2335650"/>
          </a:xfrm>
          <a:prstGeom prst="rect">
            <a:avLst/>
          </a:prstGeom>
          <a:noFill/>
          <a:ln>
            <a:noFill/>
          </a:ln>
        </p:spPr>
      </p:pic>
    </p:spTree>
    <p:extLst>
      <p:ext uri="{BB962C8B-B14F-4D97-AF65-F5344CB8AC3E}">
        <p14:creationId xmlns:p14="http://schemas.microsoft.com/office/powerpoint/2010/main" val="2288602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49">
          <a:extLst>
            <a:ext uri="{FF2B5EF4-FFF2-40B4-BE49-F238E27FC236}">
              <a16:creationId xmlns:a16="http://schemas.microsoft.com/office/drawing/2014/main" id="{1062DB4D-F94F-797C-9F15-34AD2674626E}"/>
            </a:ext>
          </a:extLst>
        </p:cNvPr>
        <p:cNvGrpSpPr/>
        <p:nvPr/>
      </p:nvGrpSpPr>
      <p:grpSpPr>
        <a:xfrm>
          <a:off x="0" y="0"/>
          <a:ext cx="0" cy="0"/>
          <a:chOff x="0" y="0"/>
          <a:chExt cx="0" cy="0"/>
        </a:xfrm>
      </p:grpSpPr>
      <p:pic>
        <p:nvPicPr>
          <p:cNvPr id="250" name="Google Shape;250;g35766d32465_2_10" descr="A graph of iron values&#10;&#10;AI-generated content may be incorrect.">
            <a:extLst>
              <a:ext uri="{FF2B5EF4-FFF2-40B4-BE49-F238E27FC236}">
                <a16:creationId xmlns:a16="http://schemas.microsoft.com/office/drawing/2014/main" id="{0230CADE-9295-B4E3-F0A5-CB95CB517176}"/>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494405" y="1454874"/>
            <a:ext cx="7203189" cy="4445796"/>
          </a:xfrm>
          <a:prstGeom prst="rect">
            <a:avLst/>
          </a:prstGeom>
          <a:noFill/>
          <a:ln>
            <a:noFill/>
          </a:ln>
        </p:spPr>
      </p:pic>
      <p:grpSp>
        <p:nvGrpSpPr>
          <p:cNvPr id="251" name="Google Shape;251;g35766d32465_2_10">
            <a:extLst>
              <a:ext uri="{FF2B5EF4-FFF2-40B4-BE49-F238E27FC236}">
                <a16:creationId xmlns:a16="http://schemas.microsoft.com/office/drawing/2014/main" id="{AC91B41E-F417-C325-B2EB-2F4509EE5D48}"/>
              </a:ext>
            </a:extLst>
          </p:cNvPr>
          <p:cNvGrpSpPr/>
          <p:nvPr/>
        </p:nvGrpSpPr>
        <p:grpSpPr>
          <a:xfrm>
            <a:off x="5576637" y="4075077"/>
            <a:ext cx="3737400" cy="995433"/>
            <a:chOff x="5576637" y="4075077"/>
            <a:chExt cx="3737400" cy="995433"/>
          </a:xfrm>
        </p:grpSpPr>
        <p:cxnSp>
          <p:nvCxnSpPr>
            <p:cNvPr id="252" name="Google Shape;252;g35766d32465_2_10">
              <a:extLst>
                <a:ext uri="{FF2B5EF4-FFF2-40B4-BE49-F238E27FC236}">
                  <a16:creationId xmlns:a16="http://schemas.microsoft.com/office/drawing/2014/main" id="{D3BF0189-B4AB-A55B-2780-11EA723380D2}"/>
                </a:ext>
              </a:extLst>
            </p:cNvPr>
            <p:cNvCxnSpPr/>
            <p:nvPr/>
          </p:nvCxnSpPr>
          <p:spPr>
            <a:xfrm flipH="1">
              <a:off x="5576637" y="4391610"/>
              <a:ext cx="1685400" cy="678900"/>
            </a:xfrm>
            <a:prstGeom prst="straightConnector1">
              <a:avLst/>
            </a:prstGeom>
            <a:noFill/>
            <a:ln w="38100" cap="flat" cmpd="sng">
              <a:solidFill>
                <a:schemeClr val="accent1"/>
              </a:solidFill>
              <a:prstDash val="solid"/>
              <a:miter lim="800000"/>
              <a:headEnd type="none" w="sm" len="sm"/>
              <a:tailEnd type="triangle" w="med" len="med"/>
            </a:ln>
          </p:spPr>
        </p:cxnSp>
        <p:sp>
          <p:nvSpPr>
            <p:cNvPr id="253" name="Google Shape;253;g35766d32465_2_10">
              <a:extLst>
                <a:ext uri="{FF2B5EF4-FFF2-40B4-BE49-F238E27FC236}">
                  <a16:creationId xmlns:a16="http://schemas.microsoft.com/office/drawing/2014/main" id="{C87BE23F-FD50-9342-11B6-74969084FCF4}"/>
                </a:ext>
              </a:extLst>
            </p:cNvPr>
            <p:cNvSpPr txBox="1"/>
            <p:nvPr/>
          </p:nvSpPr>
          <p:spPr>
            <a:xfrm>
              <a:off x="7262037" y="4075077"/>
              <a:ext cx="20520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dirty="0">
                  <a:ln>
                    <a:noFill/>
                  </a:ln>
                  <a:solidFill>
                    <a:prstClr val="black"/>
                  </a:solidFill>
                  <a:effectLst/>
                  <a:uLnTx/>
                  <a:uFillTx/>
                  <a:latin typeface="Calibri"/>
                  <a:ea typeface="Calibri"/>
                  <a:cs typeface="Calibri"/>
                  <a:sym typeface="Calibri"/>
                </a:rPr>
                <a:t>Positive skew</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254" name="Google Shape;254;g35766d32465_2_10">
            <a:extLst>
              <a:ext uri="{FF2B5EF4-FFF2-40B4-BE49-F238E27FC236}">
                <a16:creationId xmlns:a16="http://schemas.microsoft.com/office/drawing/2014/main" id="{B5160791-B133-8423-35D6-1F9310DA674A}"/>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US"/>
              <a:t>Example: histogram of iron values</a:t>
            </a:r>
            <a:endParaRPr/>
          </a:p>
        </p:txBody>
      </p:sp>
      <p:sp>
        <p:nvSpPr>
          <p:cNvPr id="255" name="Google Shape;255;g35766d32465_2_10">
            <a:extLst>
              <a:ext uri="{FF2B5EF4-FFF2-40B4-BE49-F238E27FC236}">
                <a16:creationId xmlns:a16="http://schemas.microsoft.com/office/drawing/2014/main" id="{7FD790C5-E87B-5107-3AE2-D29B17CA6CB7}"/>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56" name="Google Shape;256;g35766d32465_2_10">
            <a:extLst>
              <a:ext uri="{FF2B5EF4-FFF2-40B4-BE49-F238E27FC236}">
                <a16:creationId xmlns:a16="http://schemas.microsoft.com/office/drawing/2014/main" id="{A5075057-ECCF-BF85-C2A5-D5D270780D94}"/>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10</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grpSp>
        <p:nvGrpSpPr>
          <p:cNvPr id="257" name="Google Shape;257;g35766d32465_2_10">
            <a:extLst>
              <a:ext uri="{FF2B5EF4-FFF2-40B4-BE49-F238E27FC236}">
                <a16:creationId xmlns:a16="http://schemas.microsoft.com/office/drawing/2014/main" id="{5561BC14-1AA7-9B07-37C8-4CB98D5C00B7}"/>
              </a:ext>
            </a:extLst>
          </p:cNvPr>
          <p:cNvGrpSpPr/>
          <p:nvPr/>
        </p:nvGrpSpPr>
        <p:grpSpPr>
          <a:xfrm>
            <a:off x="892352" y="3286587"/>
            <a:ext cx="1882853" cy="646500"/>
            <a:chOff x="892352" y="3286587"/>
            <a:chExt cx="1882853" cy="646500"/>
          </a:xfrm>
        </p:grpSpPr>
        <p:sp>
          <p:nvSpPr>
            <p:cNvPr id="258" name="Google Shape;258;g35766d32465_2_10">
              <a:extLst>
                <a:ext uri="{FF2B5EF4-FFF2-40B4-BE49-F238E27FC236}">
                  <a16:creationId xmlns:a16="http://schemas.microsoft.com/office/drawing/2014/main" id="{7150E1E5-DEDA-CE4B-A844-5805B483E3C6}"/>
                </a:ext>
              </a:extLst>
            </p:cNvPr>
            <p:cNvSpPr txBox="1"/>
            <p:nvPr/>
          </p:nvSpPr>
          <p:spPr>
            <a:xfrm>
              <a:off x="892352" y="3286587"/>
              <a:ext cx="1424700" cy="6465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Number of observations</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59" name="Google Shape;259;g35766d32465_2_10">
              <a:extLst>
                <a:ext uri="{FF2B5EF4-FFF2-40B4-BE49-F238E27FC236}">
                  <a16:creationId xmlns:a16="http://schemas.microsoft.com/office/drawing/2014/main" id="{8AE78F78-A5A2-5809-24F5-B58208CA1A6F}"/>
                </a:ext>
              </a:extLst>
            </p:cNvPr>
            <p:cNvSpPr/>
            <p:nvPr/>
          </p:nvSpPr>
          <p:spPr>
            <a:xfrm>
              <a:off x="2494405" y="3317358"/>
              <a:ext cx="280800" cy="5847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grpSp>
      <p:grpSp>
        <p:nvGrpSpPr>
          <p:cNvPr id="260" name="Google Shape;260;g35766d32465_2_10">
            <a:extLst>
              <a:ext uri="{FF2B5EF4-FFF2-40B4-BE49-F238E27FC236}">
                <a16:creationId xmlns:a16="http://schemas.microsoft.com/office/drawing/2014/main" id="{09BFCE94-B788-CA94-273C-34ACD3202299}"/>
              </a:ext>
            </a:extLst>
          </p:cNvPr>
          <p:cNvGrpSpPr/>
          <p:nvPr/>
        </p:nvGrpSpPr>
        <p:grpSpPr>
          <a:xfrm>
            <a:off x="4645097" y="5592726"/>
            <a:ext cx="3415800" cy="714702"/>
            <a:chOff x="4645097" y="5592726"/>
            <a:chExt cx="3415800" cy="714702"/>
          </a:xfrm>
        </p:grpSpPr>
        <p:sp>
          <p:nvSpPr>
            <p:cNvPr id="261" name="Google Shape;261;g35766d32465_2_10">
              <a:extLst>
                <a:ext uri="{FF2B5EF4-FFF2-40B4-BE49-F238E27FC236}">
                  <a16:creationId xmlns:a16="http://schemas.microsoft.com/office/drawing/2014/main" id="{7A012756-63F3-8847-7A0C-3B35E99E2EBE}"/>
                </a:ext>
              </a:extLst>
            </p:cNvPr>
            <p:cNvSpPr/>
            <p:nvPr/>
          </p:nvSpPr>
          <p:spPr>
            <a:xfrm>
              <a:off x="5826642" y="5592726"/>
              <a:ext cx="1052700" cy="307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262" name="Google Shape;262;g35766d32465_2_10">
              <a:extLst>
                <a:ext uri="{FF2B5EF4-FFF2-40B4-BE49-F238E27FC236}">
                  <a16:creationId xmlns:a16="http://schemas.microsoft.com/office/drawing/2014/main" id="{6A0083A8-65DE-0FD7-ADAB-5050D6837B3F}"/>
                </a:ext>
              </a:extLst>
            </p:cNvPr>
            <p:cNvSpPr txBox="1"/>
            <p:nvPr/>
          </p:nvSpPr>
          <p:spPr>
            <a:xfrm>
              <a:off x="4645097" y="5938128"/>
              <a:ext cx="3415800" cy="3693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Numeric variable of interest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63" name="Google Shape;263;g35766d32465_2_10">
            <a:extLst>
              <a:ext uri="{FF2B5EF4-FFF2-40B4-BE49-F238E27FC236}">
                <a16:creationId xmlns:a16="http://schemas.microsoft.com/office/drawing/2014/main" id="{A5127E2E-FE95-0516-F5F3-0D6E7850EF33}"/>
              </a:ext>
            </a:extLst>
          </p:cNvPr>
          <p:cNvGrpSpPr/>
          <p:nvPr/>
        </p:nvGrpSpPr>
        <p:grpSpPr>
          <a:xfrm>
            <a:off x="5082349" y="2917255"/>
            <a:ext cx="3713385" cy="1527203"/>
            <a:chOff x="5082349" y="2917255"/>
            <a:chExt cx="3713385" cy="1527203"/>
          </a:xfrm>
        </p:grpSpPr>
        <p:cxnSp>
          <p:nvCxnSpPr>
            <p:cNvPr id="264" name="Google Shape;264;g35766d32465_2_10">
              <a:extLst>
                <a:ext uri="{FF2B5EF4-FFF2-40B4-BE49-F238E27FC236}">
                  <a16:creationId xmlns:a16="http://schemas.microsoft.com/office/drawing/2014/main" id="{DFB5CE76-6ACE-310D-78B7-A85A3C9F81AA}"/>
                </a:ext>
              </a:extLst>
            </p:cNvPr>
            <p:cNvCxnSpPr/>
            <p:nvPr/>
          </p:nvCxnSpPr>
          <p:spPr>
            <a:xfrm flipH="1">
              <a:off x="5082349" y="3317358"/>
              <a:ext cx="1105800" cy="1127100"/>
            </a:xfrm>
            <a:prstGeom prst="straightConnector1">
              <a:avLst/>
            </a:prstGeom>
            <a:noFill/>
            <a:ln w="38100" cap="flat" cmpd="sng">
              <a:solidFill>
                <a:schemeClr val="accent1"/>
              </a:solidFill>
              <a:prstDash val="solid"/>
              <a:miter lim="800000"/>
              <a:headEnd type="none" w="sm" len="sm"/>
              <a:tailEnd type="triangle" w="med" len="med"/>
            </a:ln>
          </p:spPr>
        </p:cxnSp>
        <p:sp>
          <p:nvSpPr>
            <p:cNvPr id="265" name="Google Shape;265;g35766d32465_2_10">
              <a:extLst>
                <a:ext uri="{FF2B5EF4-FFF2-40B4-BE49-F238E27FC236}">
                  <a16:creationId xmlns:a16="http://schemas.microsoft.com/office/drawing/2014/main" id="{4EDACE83-0D55-8B9A-DE42-3ECCAB5166F2}"/>
                </a:ext>
              </a:extLst>
            </p:cNvPr>
            <p:cNvSpPr txBox="1"/>
            <p:nvPr/>
          </p:nvSpPr>
          <p:spPr>
            <a:xfrm>
              <a:off x="6265234" y="2917255"/>
              <a:ext cx="25305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Bins 10 mcg/dL wide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 name="Google Shape;251;g35766d32465_2_10">
            <a:extLst>
              <a:ext uri="{FF2B5EF4-FFF2-40B4-BE49-F238E27FC236}">
                <a16:creationId xmlns:a16="http://schemas.microsoft.com/office/drawing/2014/main" id="{B5285E08-7EE8-2562-AB45-162BE817BCD7}"/>
              </a:ext>
            </a:extLst>
          </p:cNvPr>
          <p:cNvGrpSpPr/>
          <p:nvPr/>
        </p:nvGrpSpPr>
        <p:grpSpPr>
          <a:xfrm>
            <a:off x="4645097" y="1287537"/>
            <a:ext cx="3737400" cy="995433"/>
            <a:chOff x="5576637" y="4075077"/>
            <a:chExt cx="3737400" cy="995433"/>
          </a:xfrm>
        </p:grpSpPr>
        <p:cxnSp>
          <p:nvCxnSpPr>
            <p:cNvPr id="4" name="Google Shape;252;g35766d32465_2_10">
              <a:extLst>
                <a:ext uri="{FF2B5EF4-FFF2-40B4-BE49-F238E27FC236}">
                  <a16:creationId xmlns:a16="http://schemas.microsoft.com/office/drawing/2014/main" id="{415EF949-4BB6-F731-7A4A-D07D10318055}"/>
                </a:ext>
              </a:extLst>
            </p:cNvPr>
            <p:cNvCxnSpPr/>
            <p:nvPr/>
          </p:nvCxnSpPr>
          <p:spPr>
            <a:xfrm flipH="1">
              <a:off x="5576637" y="4391610"/>
              <a:ext cx="1685400" cy="678900"/>
            </a:xfrm>
            <a:prstGeom prst="straightConnector1">
              <a:avLst/>
            </a:prstGeom>
            <a:noFill/>
            <a:ln w="38100" cap="flat" cmpd="sng">
              <a:solidFill>
                <a:schemeClr val="accent1"/>
              </a:solidFill>
              <a:prstDash val="solid"/>
              <a:miter lim="800000"/>
              <a:headEnd type="none" w="sm" len="sm"/>
              <a:tailEnd type="triangle" w="med" len="med"/>
            </a:ln>
          </p:spPr>
        </p:cxnSp>
        <p:sp>
          <p:nvSpPr>
            <p:cNvPr id="5" name="Google Shape;253;g35766d32465_2_10">
              <a:extLst>
                <a:ext uri="{FF2B5EF4-FFF2-40B4-BE49-F238E27FC236}">
                  <a16:creationId xmlns:a16="http://schemas.microsoft.com/office/drawing/2014/main" id="{167ADF0E-97F9-54DE-8F00-33C940CE37FD}"/>
                </a:ext>
              </a:extLst>
            </p:cNvPr>
            <p:cNvSpPr txBox="1"/>
            <p:nvPr/>
          </p:nvSpPr>
          <p:spPr>
            <a:xfrm>
              <a:off x="7262037" y="4075077"/>
              <a:ext cx="20520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dirty="0">
                  <a:ln>
                    <a:noFill/>
                  </a:ln>
                  <a:solidFill>
                    <a:prstClr val="black"/>
                  </a:solidFill>
                  <a:effectLst/>
                  <a:uLnTx/>
                  <a:uFillTx/>
                  <a:latin typeface="Calibri"/>
                  <a:ea typeface="Calibri"/>
                  <a:cs typeface="Calibri"/>
                  <a:sym typeface="Calibri"/>
                </a:rPr>
                <a:t>Positive </a:t>
              </a:r>
              <a:r>
                <a:rPr lang="en-US" dirty="0">
                  <a:solidFill>
                    <a:prstClr val="black"/>
                  </a:solidFill>
                  <a:latin typeface="Calibri"/>
                  <a:ea typeface="Calibri"/>
                  <a:cs typeface="Calibri"/>
                  <a:sym typeface="Calibri"/>
                </a:rPr>
                <a:t>kurtosis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1352344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1B0CC6-3C13-2811-EF1A-F3DDE6471D4F}"/>
              </a:ext>
            </a:extLst>
          </p:cNvPr>
          <p:cNvSpPr>
            <a:spLocks noGrp="1"/>
          </p:cNvSpPr>
          <p:nvPr>
            <p:ph type="title"/>
          </p:nvPr>
        </p:nvSpPr>
        <p:spPr>
          <a:xfrm>
            <a:off x="1024127" y="585216"/>
            <a:ext cx="10429935" cy="1499616"/>
          </a:xfrm>
        </p:spPr>
        <p:txBody>
          <a:bodyPr/>
          <a:lstStyle/>
          <a:p>
            <a:r>
              <a:rPr lang="en-US" dirty="0"/>
              <a:t>Strip plots show every point in a distribution</a:t>
            </a:r>
          </a:p>
        </p:txBody>
      </p:sp>
      <p:pic>
        <p:nvPicPr>
          <p:cNvPr id="6" name="Picture 5">
            <a:extLst>
              <a:ext uri="{FF2B5EF4-FFF2-40B4-BE49-F238E27FC236}">
                <a16:creationId xmlns:a16="http://schemas.microsoft.com/office/drawing/2014/main" id="{05FCE104-8457-1B24-2537-C93312C2F1D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45894" y="1840265"/>
            <a:ext cx="7122695" cy="4405313"/>
          </a:xfrm>
          <a:prstGeom prst="rect">
            <a:avLst/>
          </a:prstGeom>
        </p:spPr>
      </p:pic>
      <p:grpSp>
        <p:nvGrpSpPr>
          <p:cNvPr id="7" name="Google Shape;341;g35766d32465_2_86">
            <a:extLst>
              <a:ext uri="{FF2B5EF4-FFF2-40B4-BE49-F238E27FC236}">
                <a16:creationId xmlns:a16="http://schemas.microsoft.com/office/drawing/2014/main" id="{AF2859C8-5529-6296-45AD-93C32E8C1F6F}"/>
              </a:ext>
            </a:extLst>
          </p:cNvPr>
          <p:cNvGrpSpPr/>
          <p:nvPr/>
        </p:nvGrpSpPr>
        <p:grpSpPr>
          <a:xfrm>
            <a:off x="9078211" y="2973856"/>
            <a:ext cx="2495376" cy="1010132"/>
            <a:chOff x="6933394" y="2739236"/>
            <a:chExt cx="2495376" cy="1010132"/>
          </a:xfrm>
        </p:grpSpPr>
        <p:cxnSp>
          <p:nvCxnSpPr>
            <p:cNvPr id="8" name="Google Shape;342;g35766d32465_2_86">
              <a:extLst>
                <a:ext uri="{FF2B5EF4-FFF2-40B4-BE49-F238E27FC236}">
                  <a16:creationId xmlns:a16="http://schemas.microsoft.com/office/drawing/2014/main" id="{A045A291-3A93-0CB6-4D93-D6F61DBF7914}"/>
                </a:ext>
              </a:extLst>
            </p:cNvPr>
            <p:cNvCxnSpPr/>
            <p:nvPr/>
          </p:nvCxnSpPr>
          <p:spPr>
            <a:xfrm flipH="1">
              <a:off x="6933394" y="3108568"/>
              <a:ext cx="516600" cy="640800"/>
            </a:xfrm>
            <a:prstGeom prst="straightConnector1">
              <a:avLst/>
            </a:prstGeom>
            <a:noFill/>
            <a:ln w="38100" cap="flat" cmpd="sng">
              <a:solidFill>
                <a:schemeClr val="tx1">
                  <a:lumMod val="75000"/>
                  <a:lumOff val="25000"/>
                </a:schemeClr>
              </a:solidFill>
              <a:prstDash val="solid"/>
              <a:miter lim="800000"/>
              <a:headEnd type="none" w="sm" len="sm"/>
              <a:tailEnd type="triangle" w="med" len="med"/>
            </a:ln>
          </p:spPr>
        </p:cxnSp>
        <p:sp>
          <p:nvSpPr>
            <p:cNvPr id="9" name="Google Shape;343;g35766d32465_2_86">
              <a:extLst>
                <a:ext uri="{FF2B5EF4-FFF2-40B4-BE49-F238E27FC236}">
                  <a16:creationId xmlns:a16="http://schemas.microsoft.com/office/drawing/2014/main" id="{F54D99B5-A3D6-4051-6A5E-CD1A57AE5E77}"/>
                </a:ext>
              </a:extLst>
            </p:cNvPr>
            <p:cNvSpPr txBox="1"/>
            <p:nvPr/>
          </p:nvSpPr>
          <p:spPr>
            <a:xfrm>
              <a:off x="7487770" y="2739236"/>
              <a:ext cx="1941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Single observation</a:t>
              </a:r>
              <a:endParaRPr sz="1400" b="0" i="0" u="none" strike="noStrike" cap="none">
                <a:solidFill>
                  <a:srgbClr val="000000"/>
                </a:solidFill>
                <a:latin typeface="Arial"/>
                <a:ea typeface="Arial"/>
                <a:cs typeface="Arial"/>
                <a:sym typeface="Arial"/>
              </a:endParaRPr>
            </a:p>
          </p:txBody>
        </p:sp>
      </p:grpSp>
      <p:grpSp>
        <p:nvGrpSpPr>
          <p:cNvPr id="10" name="Google Shape;344;g35766d32465_2_86">
            <a:extLst>
              <a:ext uri="{FF2B5EF4-FFF2-40B4-BE49-F238E27FC236}">
                <a16:creationId xmlns:a16="http://schemas.microsoft.com/office/drawing/2014/main" id="{FFE8A8A5-CD1D-82CC-EDD4-F8CBA14B0218}"/>
              </a:ext>
            </a:extLst>
          </p:cNvPr>
          <p:cNvGrpSpPr/>
          <p:nvPr/>
        </p:nvGrpSpPr>
        <p:grpSpPr>
          <a:xfrm>
            <a:off x="586329" y="2889289"/>
            <a:ext cx="2260349" cy="1126885"/>
            <a:chOff x="3580930" y="2866150"/>
            <a:chExt cx="2260349" cy="1126885"/>
          </a:xfrm>
        </p:grpSpPr>
        <p:cxnSp>
          <p:nvCxnSpPr>
            <p:cNvPr id="11" name="Google Shape;345;g35766d32465_2_86">
              <a:extLst>
                <a:ext uri="{FF2B5EF4-FFF2-40B4-BE49-F238E27FC236}">
                  <a16:creationId xmlns:a16="http://schemas.microsoft.com/office/drawing/2014/main" id="{4B5C766D-638F-800F-827A-F8E993012313}"/>
                </a:ext>
              </a:extLst>
            </p:cNvPr>
            <p:cNvCxnSpPr>
              <a:cxnSpLocks/>
            </p:cNvCxnSpPr>
            <p:nvPr/>
          </p:nvCxnSpPr>
          <p:spPr>
            <a:xfrm>
              <a:off x="4996645" y="3661522"/>
              <a:ext cx="844634" cy="331513"/>
            </a:xfrm>
            <a:prstGeom prst="straightConnector1">
              <a:avLst/>
            </a:prstGeom>
            <a:noFill/>
            <a:ln w="38100" cap="flat" cmpd="sng">
              <a:solidFill>
                <a:schemeClr val="tx1">
                  <a:lumMod val="75000"/>
                  <a:lumOff val="25000"/>
                </a:schemeClr>
              </a:solidFill>
              <a:prstDash val="solid"/>
              <a:miter lim="800000"/>
              <a:headEnd type="none" w="sm" len="sm"/>
              <a:tailEnd type="triangle" w="med" len="med"/>
            </a:ln>
          </p:spPr>
        </p:cxnSp>
        <p:sp>
          <p:nvSpPr>
            <p:cNvPr id="12" name="Google Shape;346;g35766d32465_2_86">
              <a:extLst>
                <a:ext uri="{FF2B5EF4-FFF2-40B4-BE49-F238E27FC236}">
                  <a16:creationId xmlns:a16="http://schemas.microsoft.com/office/drawing/2014/main" id="{64D50ACA-8030-8275-B1FB-5C44CE06D1F7}"/>
                </a:ext>
              </a:extLst>
            </p:cNvPr>
            <p:cNvSpPr txBox="1"/>
            <p:nvPr/>
          </p:nvSpPr>
          <p:spPr>
            <a:xfrm>
              <a:off x="3580930" y="2866150"/>
              <a:ext cx="2057400" cy="923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High density may obscure number of observations</a:t>
              </a:r>
              <a:endParaRPr sz="1400" b="0" i="0" u="none" strike="noStrike" cap="none" dirty="0">
                <a:solidFill>
                  <a:srgbClr val="000000"/>
                </a:solidFill>
                <a:latin typeface="Arial"/>
                <a:ea typeface="Arial"/>
                <a:cs typeface="Arial"/>
                <a:sym typeface="Arial"/>
              </a:endParaRPr>
            </a:p>
          </p:txBody>
        </p:sp>
      </p:grpSp>
      <p:grpSp>
        <p:nvGrpSpPr>
          <p:cNvPr id="15" name="Google Shape;260;g35766d32465_2_10">
            <a:extLst>
              <a:ext uri="{FF2B5EF4-FFF2-40B4-BE49-F238E27FC236}">
                <a16:creationId xmlns:a16="http://schemas.microsoft.com/office/drawing/2014/main" id="{E05B8115-4804-FBD5-5417-F9E3F79F3504}"/>
              </a:ext>
            </a:extLst>
          </p:cNvPr>
          <p:cNvGrpSpPr/>
          <p:nvPr/>
        </p:nvGrpSpPr>
        <p:grpSpPr>
          <a:xfrm>
            <a:off x="4211960" y="5947517"/>
            <a:ext cx="3415800" cy="714702"/>
            <a:chOff x="4645097" y="5592726"/>
            <a:chExt cx="3415800" cy="714702"/>
          </a:xfrm>
        </p:grpSpPr>
        <p:sp>
          <p:nvSpPr>
            <p:cNvPr id="16" name="Google Shape;261;g35766d32465_2_10">
              <a:extLst>
                <a:ext uri="{FF2B5EF4-FFF2-40B4-BE49-F238E27FC236}">
                  <a16:creationId xmlns:a16="http://schemas.microsoft.com/office/drawing/2014/main" id="{0CFF3B40-A823-3C44-882B-DBDAD7A41050}"/>
                </a:ext>
              </a:extLst>
            </p:cNvPr>
            <p:cNvSpPr/>
            <p:nvPr/>
          </p:nvSpPr>
          <p:spPr>
            <a:xfrm>
              <a:off x="5826642" y="5592726"/>
              <a:ext cx="1052700" cy="307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17" name="Google Shape;262;g35766d32465_2_10">
              <a:extLst>
                <a:ext uri="{FF2B5EF4-FFF2-40B4-BE49-F238E27FC236}">
                  <a16:creationId xmlns:a16="http://schemas.microsoft.com/office/drawing/2014/main" id="{4C0F19DF-9FE8-804F-5473-F454241F76A1}"/>
                </a:ext>
              </a:extLst>
            </p:cNvPr>
            <p:cNvSpPr txBox="1"/>
            <p:nvPr/>
          </p:nvSpPr>
          <p:spPr>
            <a:xfrm>
              <a:off x="4645097" y="5938128"/>
              <a:ext cx="3415800" cy="3693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dirty="0">
                  <a:ln>
                    <a:noFill/>
                  </a:ln>
                  <a:solidFill>
                    <a:prstClr val="black"/>
                  </a:solidFill>
                  <a:effectLst/>
                  <a:uLnTx/>
                  <a:uFillTx/>
                  <a:latin typeface="Calibri"/>
                  <a:ea typeface="Calibri"/>
                  <a:cs typeface="Calibri"/>
                  <a:sym typeface="Calibri"/>
                </a:rPr>
                <a:t>Numeric variable of interest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3662567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269">
          <a:extLst>
            <a:ext uri="{FF2B5EF4-FFF2-40B4-BE49-F238E27FC236}">
              <a16:creationId xmlns:a16="http://schemas.microsoft.com/office/drawing/2014/main" id="{ABC10996-F679-7F88-1F1C-491F2C7FD54F}"/>
            </a:ext>
          </a:extLst>
        </p:cNvPr>
        <p:cNvGrpSpPr/>
        <p:nvPr/>
      </p:nvGrpSpPr>
      <p:grpSpPr>
        <a:xfrm>
          <a:off x="0" y="0"/>
          <a:ext cx="0" cy="0"/>
          <a:chOff x="0" y="0"/>
          <a:chExt cx="0" cy="0"/>
        </a:xfrm>
      </p:grpSpPr>
      <p:sp>
        <p:nvSpPr>
          <p:cNvPr id="270" name="Google Shape;270;g35766d32465_2_29">
            <a:extLst>
              <a:ext uri="{FF2B5EF4-FFF2-40B4-BE49-F238E27FC236}">
                <a16:creationId xmlns:a16="http://schemas.microsoft.com/office/drawing/2014/main" id="{74A47435-FAF7-5E9F-B1FE-CAF448DFFEDD}"/>
              </a:ext>
            </a:extLst>
          </p:cNvPr>
          <p:cNvSpPr txBox="1">
            <a:spLocks noGrp="1"/>
          </p:cNvSpPr>
          <p:nvPr>
            <p:ph type="body" idx="1"/>
          </p:nvPr>
        </p:nvSpPr>
        <p:spPr>
          <a:xfrm>
            <a:off x="4717825" y="1825625"/>
            <a:ext cx="6976500" cy="4216500"/>
          </a:xfrm>
          <a:prstGeom prst="rect">
            <a:avLst/>
          </a:prstGeom>
          <a:noFill/>
          <a:ln>
            <a:noFill/>
          </a:ln>
        </p:spPr>
        <p:txBody>
          <a:bodyPr spcFirstLastPara="1" wrap="square" lIns="91425" tIns="45700" rIns="91425" bIns="45700" anchor="t" anchorCtr="0">
            <a:normAutofit/>
          </a:bodyPr>
          <a:lstStyle/>
          <a:p>
            <a:pPr marL="349250" lvl="0" indent="-349250" algn="l" rtl="0">
              <a:lnSpc>
                <a:spcPct val="100000"/>
              </a:lnSpc>
              <a:spcBef>
                <a:spcPts val="0"/>
              </a:spcBef>
              <a:spcAft>
                <a:spcPts val="0"/>
              </a:spcAft>
              <a:buClr>
                <a:schemeClr val="accent1"/>
              </a:buClr>
              <a:buSzPts val="4200"/>
              <a:buChar char="•"/>
            </a:pPr>
            <a:r>
              <a:rPr lang="en-US" sz="3000" dirty="0"/>
              <a:t>Subset a continuous (numeric) variable by a qualitative variable</a:t>
            </a:r>
            <a:endParaRPr sz="3000" dirty="0"/>
          </a:p>
          <a:p>
            <a:pPr marL="349250" lvl="0" indent="-349250" algn="l" rtl="0">
              <a:lnSpc>
                <a:spcPct val="100000"/>
              </a:lnSpc>
              <a:spcBef>
                <a:spcPts val="1000"/>
              </a:spcBef>
              <a:spcAft>
                <a:spcPts val="0"/>
              </a:spcAft>
              <a:buClr>
                <a:schemeClr val="accent1"/>
              </a:buClr>
              <a:buSzPts val="4200"/>
              <a:buChar char="•"/>
            </a:pPr>
            <a:r>
              <a:rPr lang="en-US" sz="3000" dirty="0"/>
              <a:t>Incorporates a statistical summary of data, though distribution may be “abstracted” by box plot</a:t>
            </a:r>
          </a:p>
          <a:p>
            <a:pPr marL="349250" lvl="0" indent="-349250" algn="l" rtl="0">
              <a:lnSpc>
                <a:spcPct val="100000"/>
              </a:lnSpc>
              <a:spcBef>
                <a:spcPts val="1000"/>
              </a:spcBef>
              <a:spcAft>
                <a:spcPts val="0"/>
              </a:spcAft>
              <a:buClr>
                <a:schemeClr val="accent1"/>
              </a:buClr>
              <a:buSzPts val="4200"/>
              <a:buChar char="•"/>
            </a:pPr>
            <a:r>
              <a:rPr lang="en-US" sz="3000" dirty="0"/>
              <a:t>Useful for comparing across groups</a:t>
            </a:r>
            <a:endParaRPr sz="3000" dirty="0"/>
          </a:p>
        </p:txBody>
      </p:sp>
      <p:sp>
        <p:nvSpPr>
          <p:cNvPr id="271" name="Google Shape;271;g35766d32465_2_29">
            <a:extLst>
              <a:ext uri="{FF2B5EF4-FFF2-40B4-BE49-F238E27FC236}">
                <a16:creationId xmlns:a16="http://schemas.microsoft.com/office/drawing/2014/main" id="{FC0D22FD-BFF5-09BD-5C25-1CFAB0011716}"/>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dirty="0"/>
              <a:t>Boxplots also a way to visualize distributions</a:t>
            </a:r>
            <a:endParaRPr dirty="0"/>
          </a:p>
        </p:txBody>
      </p:sp>
      <p:sp>
        <p:nvSpPr>
          <p:cNvPr id="272" name="Google Shape;272;g35766d32465_2_29">
            <a:extLst>
              <a:ext uri="{FF2B5EF4-FFF2-40B4-BE49-F238E27FC236}">
                <a16:creationId xmlns:a16="http://schemas.microsoft.com/office/drawing/2014/main" id="{3192D185-DDEC-562A-95EC-3E71ED0B9041}"/>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73" name="Google Shape;273;g35766d32465_2_29">
            <a:extLst>
              <a:ext uri="{FF2B5EF4-FFF2-40B4-BE49-F238E27FC236}">
                <a16:creationId xmlns:a16="http://schemas.microsoft.com/office/drawing/2014/main" id="{D40BC932-032D-DA3A-D73B-C82BD84A039C}"/>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12</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74" name="Google Shape;274;g35766d32465_2_29">
            <a:extLst>
              <a:ext uri="{FF2B5EF4-FFF2-40B4-BE49-F238E27FC236}">
                <a16:creationId xmlns:a16="http://schemas.microsoft.com/office/drawing/2014/main" id="{F2D3F990-88E3-632B-8231-CDF135170375}"/>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19949" y="2537200"/>
            <a:ext cx="3606325" cy="2281125"/>
          </a:xfrm>
          <a:prstGeom prst="rect">
            <a:avLst/>
          </a:prstGeom>
          <a:noFill/>
          <a:ln>
            <a:noFill/>
          </a:ln>
        </p:spPr>
      </p:pic>
    </p:spTree>
    <p:extLst>
      <p:ext uri="{BB962C8B-B14F-4D97-AF65-F5344CB8AC3E}">
        <p14:creationId xmlns:p14="http://schemas.microsoft.com/office/powerpoint/2010/main" val="2469440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278">
          <a:extLst>
            <a:ext uri="{FF2B5EF4-FFF2-40B4-BE49-F238E27FC236}">
              <a16:creationId xmlns:a16="http://schemas.microsoft.com/office/drawing/2014/main" id="{0E18333B-1A02-3F8F-162D-6ABEEF58564C}"/>
            </a:ext>
          </a:extLst>
        </p:cNvPr>
        <p:cNvGrpSpPr/>
        <p:nvPr/>
      </p:nvGrpSpPr>
      <p:grpSpPr>
        <a:xfrm>
          <a:off x="0" y="0"/>
          <a:ext cx="0" cy="0"/>
          <a:chOff x="0" y="0"/>
          <a:chExt cx="0" cy="0"/>
        </a:xfrm>
      </p:grpSpPr>
      <p:sp>
        <p:nvSpPr>
          <p:cNvPr id="279" name="Google Shape;279;g35766d32465_2_37">
            <a:extLst>
              <a:ext uri="{FF2B5EF4-FFF2-40B4-BE49-F238E27FC236}">
                <a16:creationId xmlns:a16="http://schemas.microsoft.com/office/drawing/2014/main" id="{22536ABB-C2FD-2327-AA25-9D7ED129D5AF}"/>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US"/>
              <a:t>Example: sodium values by location</a:t>
            </a:r>
            <a:endParaRPr/>
          </a:p>
        </p:txBody>
      </p:sp>
      <p:sp>
        <p:nvSpPr>
          <p:cNvPr id="280" name="Google Shape;280;g35766d32465_2_37">
            <a:extLst>
              <a:ext uri="{FF2B5EF4-FFF2-40B4-BE49-F238E27FC236}">
                <a16:creationId xmlns:a16="http://schemas.microsoft.com/office/drawing/2014/main" id="{2D4B83CC-AB1A-D1F2-BA97-2C1D4418615B}"/>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81" name="Google Shape;281;g35766d32465_2_37">
            <a:extLst>
              <a:ext uri="{FF2B5EF4-FFF2-40B4-BE49-F238E27FC236}">
                <a16:creationId xmlns:a16="http://schemas.microsoft.com/office/drawing/2014/main" id="{C0CBFB68-C167-99B7-0666-FEA6B4866835}"/>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13</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82" name="Google Shape;282;g35766d32465_2_37" descr="A graph with black and white lines&#10;&#10;AI-generated content may be incorrect.">
            <a:extLst>
              <a:ext uri="{FF2B5EF4-FFF2-40B4-BE49-F238E27FC236}">
                <a16:creationId xmlns:a16="http://schemas.microsoft.com/office/drawing/2014/main" id="{E4C30738-C4A3-0425-99B6-D34CECEC5AAF}"/>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486847" y="1519131"/>
            <a:ext cx="7772398" cy="4797113"/>
          </a:xfrm>
          <a:prstGeom prst="rect">
            <a:avLst/>
          </a:prstGeom>
          <a:noFill/>
          <a:ln>
            <a:noFill/>
          </a:ln>
        </p:spPr>
      </p:pic>
      <p:grpSp>
        <p:nvGrpSpPr>
          <p:cNvPr id="283" name="Google Shape;283;g35766d32465_2_37">
            <a:extLst>
              <a:ext uri="{FF2B5EF4-FFF2-40B4-BE49-F238E27FC236}">
                <a16:creationId xmlns:a16="http://schemas.microsoft.com/office/drawing/2014/main" id="{9403F570-3A08-96EF-B23C-CDE181FFBCEC}"/>
              </a:ext>
            </a:extLst>
          </p:cNvPr>
          <p:cNvGrpSpPr/>
          <p:nvPr/>
        </p:nvGrpSpPr>
        <p:grpSpPr>
          <a:xfrm>
            <a:off x="2825790" y="5951118"/>
            <a:ext cx="5595300" cy="656950"/>
            <a:chOff x="2825790" y="5951118"/>
            <a:chExt cx="5595300" cy="656950"/>
          </a:xfrm>
        </p:grpSpPr>
        <p:sp>
          <p:nvSpPr>
            <p:cNvPr id="284" name="Google Shape;284;g35766d32465_2_37">
              <a:extLst>
                <a:ext uri="{FF2B5EF4-FFF2-40B4-BE49-F238E27FC236}">
                  <a16:creationId xmlns:a16="http://schemas.microsoft.com/office/drawing/2014/main" id="{13375047-54C7-7A6E-1597-A948076C6A72}"/>
                </a:ext>
              </a:extLst>
            </p:cNvPr>
            <p:cNvSpPr/>
            <p:nvPr/>
          </p:nvSpPr>
          <p:spPr>
            <a:xfrm>
              <a:off x="4981161" y="5951118"/>
              <a:ext cx="1284600" cy="3651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285" name="Google Shape;285;g35766d32465_2_37">
              <a:extLst>
                <a:ext uri="{FF2B5EF4-FFF2-40B4-BE49-F238E27FC236}">
                  <a16:creationId xmlns:a16="http://schemas.microsoft.com/office/drawing/2014/main" id="{D540F02F-02B5-E820-8827-5DE25510532D}"/>
                </a:ext>
              </a:extLst>
            </p:cNvPr>
            <p:cNvSpPr txBox="1"/>
            <p:nvPr/>
          </p:nvSpPr>
          <p:spPr>
            <a:xfrm>
              <a:off x="2825790" y="6238768"/>
              <a:ext cx="5595300" cy="3693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Qualitative variable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6" name="Google Shape;286;g35766d32465_2_37">
            <a:extLst>
              <a:ext uri="{FF2B5EF4-FFF2-40B4-BE49-F238E27FC236}">
                <a16:creationId xmlns:a16="http://schemas.microsoft.com/office/drawing/2014/main" id="{A972E905-280B-C54E-0D01-B52BCCCA0CB2}"/>
              </a:ext>
            </a:extLst>
          </p:cNvPr>
          <p:cNvGrpSpPr/>
          <p:nvPr/>
        </p:nvGrpSpPr>
        <p:grpSpPr>
          <a:xfrm>
            <a:off x="115247" y="2830286"/>
            <a:ext cx="1763614" cy="2013900"/>
            <a:chOff x="115247" y="2830286"/>
            <a:chExt cx="1763614" cy="2013900"/>
          </a:xfrm>
        </p:grpSpPr>
        <p:sp>
          <p:nvSpPr>
            <p:cNvPr id="287" name="Google Shape;287;g35766d32465_2_37">
              <a:extLst>
                <a:ext uri="{FF2B5EF4-FFF2-40B4-BE49-F238E27FC236}">
                  <a16:creationId xmlns:a16="http://schemas.microsoft.com/office/drawing/2014/main" id="{EED898B1-8BAB-622D-80B4-A67C75E62117}"/>
                </a:ext>
              </a:extLst>
            </p:cNvPr>
            <p:cNvSpPr/>
            <p:nvPr/>
          </p:nvSpPr>
          <p:spPr>
            <a:xfrm>
              <a:off x="1399761" y="2830286"/>
              <a:ext cx="479100" cy="20139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288" name="Google Shape;288;g35766d32465_2_37">
              <a:extLst>
                <a:ext uri="{FF2B5EF4-FFF2-40B4-BE49-F238E27FC236}">
                  <a16:creationId xmlns:a16="http://schemas.microsoft.com/office/drawing/2014/main" id="{B5282512-A780-2D54-20C0-EFD424304808}"/>
                </a:ext>
              </a:extLst>
            </p:cNvPr>
            <p:cNvSpPr txBox="1"/>
            <p:nvPr/>
          </p:nvSpPr>
          <p:spPr>
            <a:xfrm>
              <a:off x="115247" y="3364741"/>
              <a:ext cx="1230000" cy="9234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Numeric variable of interest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9" name="Google Shape;289;g35766d32465_2_37">
            <a:extLst>
              <a:ext uri="{FF2B5EF4-FFF2-40B4-BE49-F238E27FC236}">
                <a16:creationId xmlns:a16="http://schemas.microsoft.com/office/drawing/2014/main" id="{A0837FA7-50F5-74E4-1012-24BFF51A113E}"/>
              </a:ext>
            </a:extLst>
          </p:cNvPr>
          <p:cNvGrpSpPr/>
          <p:nvPr/>
        </p:nvGrpSpPr>
        <p:grpSpPr>
          <a:xfrm>
            <a:off x="8997904" y="3733021"/>
            <a:ext cx="1600200" cy="369300"/>
            <a:chOff x="8997904" y="3733021"/>
            <a:chExt cx="1600200" cy="369300"/>
          </a:xfrm>
        </p:grpSpPr>
        <p:cxnSp>
          <p:nvCxnSpPr>
            <p:cNvPr id="290" name="Google Shape;290;g35766d32465_2_37">
              <a:extLst>
                <a:ext uri="{FF2B5EF4-FFF2-40B4-BE49-F238E27FC236}">
                  <a16:creationId xmlns:a16="http://schemas.microsoft.com/office/drawing/2014/main" id="{F68EA61B-ED1C-29D0-0042-C49961F21735}"/>
                </a:ext>
              </a:extLst>
            </p:cNvPr>
            <p:cNvCxnSpPr/>
            <p:nvPr/>
          </p:nvCxnSpPr>
          <p:spPr>
            <a:xfrm rot="10800000">
              <a:off x="8997904" y="3917687"/>
              <a:ext cx="598800" cy="0"/>
            </a:xfrm>
            <a:prstGeom prst="straightConnector1">
              <a:avLst/>
            </a:prstGeom>
            <a:noFill/>
            <a:ln w="38100" cap="flat" cmpd="sng">
              <a:solidFill>
                <a:schemeClr val="accent1"/>
              </a:solidFill>
              <a:prstDash val="solid"/>
              <a:miter lim="800000"/>
              <a:headEnd type="none" w="sm" len="sm"/>
              <a:tailEnd type="triangle" w="med" len="med"/>
            </a:ln>
          </p:spPr>
        </p:cxnSp>
        <p:sp>
          <p:nvSpPr>
            <p:cNvPr id="291" name="Google Shape;291;g35766d32465_2_37">
              <a:extLst>
                <a:ext uri="{FF2B5EF4-FFF2-40B4-BE49-F238E27FC236}">
                  <a16:creationId xmlns:a16="http://schemas.microsoft.com/office/drawing/2014/main" id="{7E4B737A-E294-2068-386F-35F7C9285282}"/>
                </a:ext>
              </a:extLst>
            </p:cNvPr>
            <p:cNvSpPr txBox="1"/>
            <p:nvPr/>
          </p:nvSpPr>
          <p:spPr>
            <a:xfrm>
              <a:off x="9596704" y="3733021"/>
              <a:ext cx="10014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Median</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92" name="Google Shape;292;g35766d32465_2_37">
            <a:extLst>
              <a:ext uri="{FF2B5EF4-FFF2-40B4-BE49-F238E27FC236}">
                <a16:creationId xmlns:a16="http://schemas.microsoft.com/office/drawing/2014/main" id="{6DAF1092-90D3-D568-ADA9-880DBF68884D}"/>
              </a:ext>
            </a:extLst>
          </p:cNvPr>
          <p:cNvGrpSpPr/>
          <p:nvPr/>
        </p:nvGrpSpPr>
        <p:grpSpPr>
          <a:xfrm>
            <a:off x="8997904" y="4102415"/>
            <a:ext cx="2133600" cy="511924"/>
            <a:chOff x="8997904" y="4102415"/>
            <a:chExt cx="2133600" cy="511924"/>
          </a:xfrm>
        </p:grpSpPr>
        <p:cxnSp>
          <p:nvCxnSpPr>
            <p:cNvPr id="293" name="Google Shape;293;g35766d32465_2_37">
              <a:extLst>
                <a:ext uri="{FF2B5EF4-FFF2-40B4-BE49-F238E27FC236}">
                  <a16:creationId xmlns:a16="http://schemas.microsoft.com/office/drawing/2014/main" id="{B345E671-DDCE-3981-7F93-C7718C189009}"/>
                </a:ext>
              </a:extLst>
            </p:cNvPr>
            <p:cNvCxnSpPr/>
            <p:nvPr/>
          </p:nvCxnSpPr>
          <p:spPr>
            <a:xfrm rot="10800000">
              <a:off x="8997904" y="4102415"/>
              <a:ext cx="598800" cy="306300"/>
            </a:xfrm>
            <a:prstGeom prst="straightConnector1">
              <a:avLst/>
            </a:prstGeom>
            <a:noFill/>
            <a:ln w="38100" cap="flat" cmpd="sng">
              <a:solidFill>
                <a:schemeClr val="accent1"/>
              </a:solidFill>
              <a:prstDash val="solid"/>
              <a:miter lim="800000"/>
              <a:headEnd type="none" w="sm" len="sm"/>
              <a:tailEnd type="triangle" w="med" len="med"/>
            </a:ln>
          </p:spPr>
        </p:cxnSp>
        <p:sp>
          <p:nvSpPr>
            <p:cNvPr id="294" name="Google Shape;294;g35766d32465_2_37">
              <a:extLst>
                <a:ext uri="{FF2B5EF4-FFF2-40B4-BE49-F238E27FC236}">
                  <a16:creationId xmlns:a16="http://schemas.microsoft.com/office/drawing/2014/main" id="{E05D8E6F-85E7-355D-739A-1938E33F8E11}"/>
                </a:ext>
              </a:extLst>
            </p:cNvPr>
            <p:cNvSpPr txBox="1"/>
            <p:nvPr/>
          </p:nvSpPr>
          <p:spPr>
            <a:xfrm>
              <a:off x="9596704" y="4245039"/>
              <a:ext cx="15348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First quartile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295" name="Google Shape;295;g35766d32465_2_37">
            <a:extLst>
              <a:ext uri="{FF2B5EF4-FFF2-40B4-BE49-F238E27FC236}">
                <a16:creationId xmlns:a16="http://schemas.microsoft.com/office/drawing/2014/main" id="{681A91C8-8061-018E-594B-29022C116BEE}"/>
              </a:ext>
            </a:extLst>
          </p:cNvPr>
          <p:cNvSpPr txBox="1"/>
          <p:nvPr/>
        </p:nvSpPr>
        <p:spPr>
          <a:xfrm>
            <a:off x="9596703" y="2229634"/>
            <a:ext cx="1534800" cy="9234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(25% of data points above this value)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296" name="Google Shape;296;g35766d32465_2_37">
            <a:extLst>
              <a:ext uri="{FF2B5EF4-FFF2-40B4-BE49-F238E27FC236}">
                <a16:creationId xmlns:a16="http://schemas.microsoft.com/office/drawing/2014/main" id="{8EB1EDD1-2628-0AA1-BB3B-AD7937B5FDF3}"/>
              </a:ext>
            </a:extLst>
          </p:cNvPr>
          <p:cNvGrpSpPr/>
          <p:nvPr/>
        </p:nvGrpSpPr>
        <p:grpSpPr>
          <a:xfrm>
            <a:off x="8997904" y="3155261"/>
            <a:ext cx="2133599" cy="577880"/>
            <a:chOff x="8997904" y="3155261"/>
            <a:chExt cx="2133599" cy="577880"/>
          </a:xfrm>
        </p:grpSpPr>
        <p:cxnSp>
          <p:nvCxnSpPr>
            <p:cNvPr id="297" name="Google Shape;297;g35766d32465_2_37">
              <a:extLst>
                <a:ext uri="{FF2B5EF4-FFF2-40B4-BE49-F238E27FC236}">
                  <a16:creationId xmlns:a16="http://schemas.microsoft.com/office/drawing/2014/main" id="{BD6A4F69-A89B-BFA2-72D5-4FE52F7E5270}"/>
                </a:ext>
              </a:extLst>
            </p:cNvPr>
            <p:cNvCxnSpPr/>
            <p:nvPr/>
          </p:nvCxnSpPr>
          <p:spPr>
            <a:xfrm flipH="1">
              <a:off x="8997904" y="3364741"/>
              <a:ext cx="598800" cy="368400"/>
            </a:xfrm>
            <a:prstGeom prst="straightConnector1">
              <a:avLst/>
            </a:prstGeom>
            <a:noFill/>
            <a:ln w="38100" cap="flat" cmpd="sng">
              <a:solidFill>
                <a:schemeClr val="accent1"/>
              </a:solidFill>
              <a:prstDash val="solid"/>
              <a:miter lim="800000"/>
              <a:headEnd type="none" w="sm" len="sm"/>
              <a:tailEnd type="triangle" w="med" len="med"/>
            </a:ln>
          </p:spPr>
        </p:cxnSp>
        <p:sp>
          <p:nvSpPr>
            <p:cNvPr id="298" name="Google Shape;298;g35766d32465_2_37">
              <a:extLst>
                <a:ext uri="{FF2B5EF4-FFF2-40B4-BE49-F238E27FC236}">
                  <a16:creationId xmlns:a16="http://schemas.microsoft.com/office/drawing/2014/main" id="{2105E852-AED4-C4D7-BB2F-BC1796D19F57}"/>
                </a:ext>
              </a:extLst>
            </p:cNvPr>
            <p:cNvSpPr txBox="1"/>
            <p:nvPr/>
          </p:nvSpPr>
          <p:spPr>
            <a:xfrm>
              <a:off x="9596703" y="3155261"/>
              <a:ext cx="15348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Third quartile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299" name="Google Shape;299;g35766d32465_2_37">
            <a:extLst>
              <a:ext uri="{FF2B5EF4-FFF2-40B4-BE49-F238E27FC236}">
                <a16:creationId xmlns:a16="http://schemas.microsoft.com/office/drawing/2014/main" id="{D507F9DE-A444-A128-273B-CFC6B126C468}"/>
              </a:ext>
            </a:extLst>
          </p:cNvPr>
          <p:cNvSpPr txBox="1"/>
          <p:nvPr/>
        </p:nvSpPr>
        <p:spPr>
          <a:xfrm>
            <a:off x="9596703" y="4614371"/>
            <a:ext cx="1611000" cy="9234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(25% of data points below this value)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300" name="Google Shape;300;g35766d32465_2_37">
            <a:extLst>
              <a:ext uri="{FF2B5EF4-FFF2-40B4-BE49-F238E27FC236}">
                <a16:creationId xmlns:a16="http://schemas.microsoft.com/office/drawing/2014/main" id="{CCF5473B-D483-16B1-CCDF-ACF84CDE0238}"/>
              </a:ext>
            </a:extLst>
          </p:cNvPr>
          <p:cNvGrpSpPr/>
          <p:nvPr/>
        </p:nvGrpSpPr>
        <p:grpSpPr>
          <a:xfrm>
            <a:off x="10702668" y="3514098"/>
            <a:ext cx="1593559" cy="741300"/>
            <a:chOff x="10702668" y="3514098"/>
            <a:chExt cx="1593559" cy="741300"/>
          </a:xfrm>
        </p:grpSpPr>
        <p:sp>
          <p:nvSpPr>
            <p:cNvPr id="301" name="Google Shape;301;g35766d32465_2_37">
              <a:extLst>
                <a:ext uri="{FF2B5EF4-FFF2-40B4-BE49-F238E27FC236}">
                  <a16:creationId xmlns:a16="http://schemas.microsoft.com/office/drawing/2014/main" id="{CCE0E399-01E0-6509-4C28-CB528953C019}"/>
                </a:ext>
              </a:extLst>
            </p:cNvPr>
            <p:cNvSpPr/>
            <p:nvPr/>
          </p:nvSpPr>
          <p:spPr>
            <a:xfrm flipH="1">
              <a:off x="10702668" y="3514098"/>
              <a:ext cx="45600" cy="741300"/>
            </a:xfrm>
            <a:prstGeom prst="upDownArrow">
              <a:avLst>
                <a:gd name="adj1" fmla="val 50000"/>
                <a:gd name="adj2" fmla="val 50000"/>
              </a:avLst>
            </a:prstGeom>
            <a:solidFill>
              <a:schemeClr val="accent1"/>
            </a:solid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302" name="Google Shape;302;g35766d32465_2_37">
              <a:extLst>
                <a:ext uri="{FF2B5EF4-FFF2-40B4-BE49-F238E27FC236}">
                  <a16:creationId xmlns:a16="http://schemas.microsoft.com/office/drawing/2014/main" id="{0300DF1E-D807-2A47-9505-6E3211B089A0}"/>
                </a:ext>
              </a:extLst>
            </p:cNvPr>
            <p:cNvSpPr txBox="1"/>
            <p:nvPr/>
          </p:nvSpPr>
          <p:spPr>
            <a:xfrm>
              <a:off x="10852627" y="3570759"/>
              <a:ext cx="1443600" cy="6465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Interquartile range (IQR)</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03" name="Google Shape;303;g35766d32465_2_37">
            <a:extLst>
              <a:ext uri="{FF2B5EF4-FFF2-40B4-BE49-F238E27FC236}">
                <a16:creationId xmlns:a16="http://schemas.microsoft.com/office/drawing/2014/main" id="{1FB5327F-345D-6BFE-5791-936818433CC1}"/>
              </a:ext>
            </a:extLst>
          </p:cNvPr>
          <p:cNvGrpSpPr/>
          <p:nvPr/>
        </p:nvGrpSpPr>
        <p:grpSpPr>
          <a:xfrm>
            <a:off x="6265591" y="2133600"/>
            <a:ext cx="2628080" cy="2061015"/>
            <a:chOff x="6265591" y="2133600"/>
            <a:chExt cx="2628080" cy="2061015"/>
          </a:xfrm>
        </p:grpSpPr>
        <p:cxnSp>
          <p:nvCxnSpPr>
            <p:cNvPr id="304" name="Google Shape;304;g35766d32465_2_37">
              <a:extLst>
                <a:ext uri="{FF2B5EF4-FFF2-40B4-BE49-F238E27FC236}">
                  <a16:creationId xmlns:a16="http://schemas.microsoft.com/office/drawing/2014/main" id="{0483C7E4-6D8A-A658-578D-38FC5C839E98}"/>
                </a:ext>
              </a:extLst>
            </p:cNvPr>
            <p:cNvCxnSpPr/>
            <p:nvPr/>
          </p:nvCxnSpPr>
          <p:spPr>
            <a:xfrm flipH="1">
              <a:off x="6265591" y="2537427"/>
              <a:ext cx="598800" cy="368400"/>
            </a:xfrm>
            <a:prstGeom prst="straightConnector1">
              <a:avLst/>
            </a:prstGeom>
            <a:noFill/>
            <a:ln w="38100" cap="flat" cmpd="sng">
              <a:solidFill>
                <a:schemeClr val="accent1"/>
              </a:solidFill>
              <a:prstDash val="solid"/>
              <a:miter lim="800000"/>
              <a:headEnd type="none" w="sm" len="sm"/>
              <a:tailEnd type="triangle" w="med" len="med"/>
            </a:ln>
          </p:spPr>
        </p:cxnSp>
        <p:cxnSp>
          <p:nvCxnSpPr>
            <p:cNvPr id="305" name="Google Shape;305;g35766d32465_2_37">
              <a:extLst>
                <a:ext uri="{FF2B5EF4-FFF2-40B4-BE49-F238E27FC236}">
                  <a16:creationId xmlns:a16="http://schemas.microsoft.com/office/drawing/2014/main" id="{E776640D-8457-32BF-38E4-6A6ECD24863F}"/>
                </a:ext>
              </a:extLst>
            </p:cNvPr>
            <p:cNvCxnSpPr/>
            <p:nvPr/>
          </p:nvCxnSpPr>
          <p:spPr>
            <a:xfrm flipH="1">
              <a:off x="6265671" y="2571315"/>
              <a:ext cx="690300" cy="1623300"/>
            </a:xfrm>
            <a:prstGeom prst="straightConnector1">
              <a:avLst/>
            </a:prstGeom>
            <a:noFill/>
            <a:ln w="38100" cap="flat" cmpd="sng">
              <a:solidFill>
                <a:schemeClr val="accent1"/>
              </a:solidFill>
              <a:prstDash val="solid"/>
              <a:miter lim="800000"/>
              <a:headEnd type="none" w="sm" len="sm"/>
              <a:tailEnd type="triangle" w="med" len="med"/>
            </a:ln>
          </p:spPr>
        </p:cxnSp>
        <p:sp>
          <p:nvSpPr>
            <p:cNvPr id="306" name="Google Shape;306;g35766d32465_2_37">
              <a:extLst>
                <a:ext uri="{FF2B5EF4-FFF2-40B4-BE49-F238E27FC236}">
                  <a16:creationId xmlns:a16="http://schemas.microsoft.com/office/drawing/2014/main" id="{4A6C942E-B0DE-50DE-DDDD-EEE261550630}"/>
                </a:ext>
              </a:extLst>
            </p:cNvPr>
            <p:cNvSpPr txBox="1"/>
            <p:nvPr/>
          </p:nvSpPr>
          <p:spPr>
            <a:xfrm>
              <a:off x="6955971" y="2133600"/>
              <a:ext cx="1937700" cy="6465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Whisker length of 1.5 IQR (default)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07" name="Google Shape;307;g35766d32465_2_37">
            <a:extLst>
              <a:ext uri="{FF2B5EF4-FFF2-40B4-BE49-F238E27FC236}">
                <a16:creationId xmlns:a16="http://schemas.microsoft.com/office/drawing/2014/main" id="{92149A70-0DE8-AB82-E90C-3B028F140F42}"/>
              </a:ext>
            </a:extLst>
          </p:cNvPr>
          <p:cNvGrpSpPr/>
          <p:nvPr/>
        </p:nvGrpSpPr>
        <p:grpSpPr>
          <a:xfrm>
            <a:off x="5087747" y="2124521"/>
            <a:ext cx="1731151" cy="934944"/>
            <a:chOff x="5087747" y="2124521"/>
            <a:chExt cx="1731151" cy="934944"/>
          </a:xfrm>
        </p:grpSpPr>
        <p:cxnSp>
          <p:nvCxnSpPr>
            <p:cNvPr id="308" name="Google Shape;308;g35766d32465_2_37">
              <a:extLst>
                <a:ext uri="{FF2B5EF4-FFF2-40B4-BE49-F238E27FC236}">
                  <a16:creationId xmlns:a16="http://schemas.microsoft.com/office/drawing/2014/main" id="{C86A5B9F-4B68-84FC-6851-1830FBE16DB4}"/>
                </a:ext>
              </a:extLst>
            </p:cNvPr>
            <p:cNvCxnSpPr/>
            <p:nvPr/>
          </p:nvCxnSpPr>
          <p:spPr>
            <a:xfrm flipH="1">
              <a:off x="5087747" y="2456765"/>
              <a:ext cx="285300" cy="602700"/>
            </a:xfrm>
            <a:prstGeom prst="straightConnector1">
              <a:avLst/>
            </a:prstGeom>
            <a:noFill/>
            <a:ln w="38100" cap="flat" cmpd="sng">
              <a:solidFill>
                <a:schemeClr val="accent1"/>
              </a:solidFill>
              <a:prstDash val="solid"/>
              <a:miter lim="800000"/>
              <a:headEnd type="none" w="sm" len="sm"/>
              <a:tailEnd type="triangle" w="med" len="med"/>
            </a:ln>
          </p:spPr>
        </p:cxnSp>
        <p:sp>
          <p:nvSpPr>
            <p:cNvPr id="309" name="Google Shape;309;g35766d32465_2_37">
              <a:extLst>
                <a:ext uri="{FF2B5EF4-FFF2-40B4-BE49-F238E27FC236}">
                  <a16:creationId xmlns:a16="http://schemas.microsoft.com/office/drawing/2014/main" id="{A8731A46-A026-83B9-9572-605A937E07EF}"/>
                </a:ext>
              </a:extLst>
            </p:cNvPr>
            <p:cNvSpPr txBox="1"/>
            <p:nvPr/>
          </p:nvSpPr>
          <p:spPr>
            <a:xfrm>
              <a:off x="5284098" y="2124521"/>
              <a:ext cx="15348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Outlier</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378421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DCF959EB-E3A3-40DD-3D34-6D71A94BB424}"/>
            </a:ext>
          </a:extLst>
        </p:cNvPr>
        <p:cNvGrpSpPr/>
        <p:nvPr/>
      </p:nvGrpSpPr>
      <p:grpSpPr>
        <a:xfrm>
          <a:off x="0" y="0"/>
          <a:ext cx="0" cy="0"/>
          <a:chOff x="0" y="0"/>
          <a:chExt cx="0" cy="0"/>
        </a:xfrm>
      </p:grpSpPr>
      <p:sp>
        <p:nvSpPr>
          <p:cNvPr id="314" name="Google Shape;314;g35766d32465_2_71">
            <a:extLst>
              <a:ext uri="{FF2B5EF4-FFF2-40B4-BE49-F238E27FC236}">
                <a16:creationId xmlns:a16="http://schemas.microsoft.com/office/drawing/2014/main" id="{B83879C6-B940-9D93-46A0-5DB7EEA556E0}"/>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B01F24"/>
              </a:buClr>
              <a:buSzPct val="100000"/>
              <a:buFont typeface="Arial"/>
              <a:buNone/>
            </a:pPr>
            <a:r>
              <a:rPr lang="en-US"/>
              <a:t>Violin plots better represent the underlying density distribution</a:t>
            </a:r>
            <a:endParaRPr/>
          </a:p>
        </p:txBody>
      </p:sp>
      <p:sp>
        <p:nvSpPr>
          <p:cNvPr id="315" name="Google Shape;315;g35766d32465_2_71">
            <a:extLst>
              <a:ext uri="{FF2B5EF4-FFF2-40B4-BE49-F238E27FC236}">
                <a16:creationId xmlns:a16="http://schemas.microsoft.com/office/drawing/2014/main" id="{F5164EA3-DF54-DEFB-C6FA-A12D91B046C1}"/>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316" name="Google Shape;316;g35766d32465_2_71">
            <a:extLst>
              <a:ext uri="{FF2B5EF4-FFF2-40B4-BE49-F238E27FC236}">
                <a16:creationId xmlns:a16="http://schemas.microsoft.com/office/drawing/2014/main" id="{D64B5D67-6738-2CE1-F749-D9CA5D2704CA}"/>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14</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317" name="Google Shape;317;g35766d32465_2_71" descr="A graph showing different values&#10;&#10;AI-generated content may be incorrect.">
            <a:extLst>
              <a:ext uri="{FF2B5EF4-FFF2-40B4-BE49-F238E27FC236}">
                <a16:creationId xmlns:a16="http://schemas.microsoft.com/office/drawing/2014/main" id="{D37C98B3-D3B7-A812-C8E7-B84003215B6B}"/>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945353" y="1508245"/>
            <a:ext cx="7772398" cy="4797113"/>
          </a:xfrm>
          <a:prstGeom prst="rect">
            <a:avLst/>
          </a:prstGeom>
          <a:noFill/>
          <a:ln>
            <a:noFill/>
          </a:ln>
        </p:spPr>
      </p:pic>
    </p:spTree>
    <p:extLst>
      <p:ext uri="{BB962C8B-B14F-4D97-AF65-F5344CB8AC3E}">
        <p14:creationId xmlns:p14="http://schemas.microsoft.com/office/powerpoint/2010/main" val="3939428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379"/>
        <p:cNvGrpSpPr/>
        <p:nvPr/>
      </p:nvGrpSpPr>
      <p:grpSpPr>
        <a:xfrm>
          <a:off x="0" y="0"/>
          <a:ext cx="0" cy="0"/>
          <a:chOff x="0" y="0"/>
          <a:chExt cx="0" cy="0"/>
        </a:xfrm>
      </p:grpSpPr>
      <p:sp>
        <p:nvSpPr>
          <p:cNvPr id="380" name="Google Shape;380;g35766d32465_2_129"/>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B01F24"/>
              </a:buClr>
              <a:buSzPct val="100000"/>
              <a:buFont typeface="Arial"/>
              <a:buNone/>
            </a:pPr>
            <a:r>
              <a:rPr lang="en-US"/>
              <a:t>A small multiple can be invaluable in exploratory data analysis</a:t>
            </a:r>
            <a:endParaRPr/>
          </a:p>
        </p:txBody>
      </p:sp>
      <p:sp>
        <p:nvSpPr>
          <p:cNvPr id="381" name="Google Shape;381;g35766d32465_2_129"/>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82" name="Google Shape;382;g35766d32465_2_129"/>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15</a:t>
            </a:fld>
            <a:endParaRPr/>
          </a:p>
        </p:txBody>
      </p:sp>
      <p:pic>
        <p:nvPicPr>
          <p:cNvPr id="383" name="Google Shape;383;g35766d32465_2_129" descr="A graph of positive positivity&#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983921" y="1688928"/>
            <a:ext cx="7772401" cy="4798993"/>
          </a:xfrm>
          <a:prstGeom prst="rect">
            <a:avLst/>
          </a:prstGeom>
          <a:noFill/>
          <a:ln>
            <a:noFill/>
          </a:ln>
        </p:spPr>
      </p:pic>
    </p:spTree>
    <p:extLst>
      <p:ext uri="{BB962C8B-B14F-4D97-AF65-F5344CB8AC3E}">
        <p14:creationId xmlns:p14="http://schemas.microsoft.com/office/powerpoint/2010/main" val="48785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Facet functions create subplots of a data frame based on one or more variables</a:t>
            </a:r>
          </a:p>
        </p:txBody>
      </p:sp>
      <p:pic>
        <p:nvPicPr>
          <p:cNvPr id="3" name="Picture 2"/>
          <p:cNvPicPr>
            <a:picLocks noChangeAspect="1"/>
          </p:cNvPicPr>
          <p:nvPr/>
        </p:nvPicPr>
        <p:blipFill>
          <a:blip r:embed="rId3"/>
          <a:stretch>
            <a:fillRect/>
          </a:stretch>
        </p:blipFill>
        <p:spPr>
          <a:xfrm>
            <a:off x="10939019" y="5629923"/>
            <a:ext cx="867253" cy="1006205"/>
          </a:xfrm>
          <a:prstGeom prst="rect">
            <a:avLst/>
          </a:prstGeom>
        </p:spPr>
      </p:pic>
      <p:grpSp>
        <p:nvGrpSpPr>
          <p:cNvPr id="4" name="Group 3"/>
          <p:cNvGrpSpPr/>
          <p:nvPr/>
        </p:nvGrpSpPr>
        <p:grpSpPr>
          <a:xfrm>
            <a:off x="1082282" y="2614040"/>
            <a:ext cx="9856737" cy="1629919"/>
            <a:chOff x="2080825" y="3162925"/>
            <a:chExt cx="8090002" cy="655320"/>
          </a:xfrm>
        </p:grpSpPr>
        <p:sp>
          <p:nvSpPr>
            <p:cNvPr id="5" name="Rectangle 4"/>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2080825" y="3235065"/>
              <a:ext cx="8090002" cy="438430"/>
            </a:xfrm>
            <a:prstGeom prst="rect">
              <a:avLst/>
            </a:prstGeom>
            <a:noFill/>
          </p:spPr>
          <p:txBody>
            <a:bodyPr wrap="square" rtlCol="0">
              <a:spAutoFit/>
            </a:bodyPr>
            <a:lstStyle/>
            <a:p>
              <a:r>
                <a:rPr lang="en-US" sz="2800" dirty="0" err="1">
                  <a:latin typeface="Consolas" panose="020B0609020204030204" pitchFamily="49" charset="0"/>
                  <a:ea typeface="Monaco" charset="0"/>
                  <a:cs typeface="Consolas" panose="020B0609020204030204" pitchFamily="49" charset="0"/>
                </a:rPr>
                <a:t>ggplot</a:t>
              </a:r>
              <a:r>
                <a:rPr lang="en-US" sz="2800" dirty="0">
                  <a:latin typeface="Consolas" panose="020B0609020204030204" pitchFamily="49" charset="0"/>
                  <a:ea typeface="Monaco" charset="0"/>
                  <a:cs typeface="Consolas" panose="020B0609020204030204" pitchFamily="49" charset="0"/>
                </a:rPr>
                <a:t>(data = </a:t>
              </a:r>
              <a:r>
                <a:rPr lang="en-US" sz="2800" dirty="0" err="1">
                  <a:solidFill>
                    <a:srgbClr val="0070C0"/>
                  </a:solidFill>
                  <a:latin typeface="Consolas" panose="020B0609020204030204" pitchFamily="49" charset="0"/>
                  <a:ea typeface="Monaco" charset="0"/>
                  <a:cs typeface="Consolas" panose="020B0609020204030204" pitchFamily="49" charset="0"/>
                </a:rPr>
                <a:t>data_frame</a:t>
              </a:r>
              <a:r>
                <a:rPr lang="en-US" sz="2800" dirty="0">
                  <a:latin typeface="Consolas" panose="020B0609020204030204" pitchFamily="49" charset="0"/>
                  <a:ea typeface="Monaco" charset="0"/>
                  <a:cs typeface="Consolas" panose="020B0609020204030204" pitchFamily="49" charset="0"/>
                </a:rPr>
                <a:t>) +</a:t>
              </a:r>
            </a:p>
            <a:p>
              <a:r>
                <a:rPr lang="en-US" sz="2800" dirty="0">
                  <a:solidFill>
                    <a:srgbClr val="0070C0"/>
                  </a:solidFill>
                  <a:latin typeface="Consolas" panose="020B0609020204030204" pitchFamily="49" charset="0"/>
                  <a:ea typeface="Monaco" charset="0"/>
                  <a:cs typeface="Consolas" panose="020B0609020204030204" pitchFamily="49" charset="0"/>
                </a:rPr>
                <a:t>  </a:t>
              </a:r>
              <a:r>
                <a:rPr lang="en-US" sz="2800" dirty="0" err="1">
                  <a:solidFill>
                    <a:srgbClr val="0070C0"/>
                  </a:solidFill>
                  <a:latin typeface="Consolas" panose="020B0609020204030204" pitchFamily="49" charset="0"/>
                  <a:ea typeface="Monaco" charset="0"/>
                  <a:cs typeface="Consolas" panose="020B0609020204030204" pitchFamily="49" charset="0"/>
                </a:rPr>
                <a:t>geom_function</a:t>
              </a:r>
              <a:r>
                <a:rPr lang="en-US" sz="2800" dirty="0">
                  <a:latin typeface="Consolas" panose="020B0609020204030204" pitchFamily="49" charset="0"/>
                  <a:ea typeface="Monaco" charset="0"/>
                  <a:cs typeface="Consolas" panose="020B0609020204030204" pitchFamily="49" charset="0"/>
                </a:rPr>
                <a:t>(mapping = </a:t>
              </a:r>
              <a:r>
                <a:rPr lang="en-US" sz="2800" dirty="0" err="1">
                  <a:latin typeface="Consolas" panose="020B0609020204030204" pitchFamily="49" charset="0"/>
                  <a:ea typeface="Monaco" charset="0"/>
                  <a:cs typeface="Consolas" panose="020B0609020204030204" pitchFamily="49" charset="0"/>
                </a:rPr>
                <a:t>aes</a:t>
              </a:r>
              <a:r>
                <a:rPr lang="en-US" sz="2800" dirty="0">
                  <a:latin typeface="Consolas" panose="020B0609020204030204" pitchFamily="49" charset="0"/>
                  <a:ea typeface="Monaco" charset="0"/>
                  <a:cs typeface="Consolas" panose="020B0609020204030204" pitchFamily="49" charset="0"/>
                </a:rPr>
                <a:t>(</a:t>
              </a:r>
              <a:r>
                <a:rPr lang="en-US" sz="2800" dirty="0">
                  <a:solidFill>
                    <a:srgbClr val="0070C0"/>
                  </a:solidFill>
                  <a:latin typeface="Consolas" panose="020B0609020204030204" pitchFamily="49" charset="0"/>
                  <a:ea typeface="Monaco" charset="0"/>
                  <a:cs typeface="Consolas" panose="020B0609020204030204" pitchFamily="49" charset="0"/>
                </a:rPr>
                <a:t>mappings</a:t>
              </a:r>
              <a:r>
                <a:rPr lang="en-US" sz="2800" dirty="0">
                  <a:latin typeface="Consolas" panose="020B0609020204030204" pitchFamily="49" charset="0"/>
                  <a:ea typeface="Monaco" charset="0"/>
                  <a:cs typeface="Consolas" panose="020B0609020204030204" pitchFamily="49" charset="0"/>
                </a:rPr>
                <a:t>)) +</a:t>
              </a:r>
            </a:p>
            <a:p>
              <a:r>
                <a:rPr lang="en-US" sz="2800" dirty="0">
                  <a:latin typeface="Consolas" panose="020B0609020204030204" pitchFamily="49" charset="0"/>
                  <a:ea typeface="Monaco" charset="0"/>
                  <a:cs typeface="Consolas" panose="020B0609020204030204" pitchFamily="49" charset="0"/>
                </a:rPr>
                <a:t>  </a:t>
              </a:r>
              <a:r>
                <a:rPr lang="en-US" sz="2800" dirty="0" err="1">
                  <a:solidFill>
                    <a:schemeClr val="accent2"/>
                  </a:solidFill>
                  <a:latin typeface="Consolas" panose="020B0609020204030204" pitchFamily="49" charset="0"/>
                  <a:ea typeface="Monaco" charset="0"/>
                  <a:cs typeface="Consolas" panose="020B0609020204030204" pitchFamily="49" charset="0"/>
                </a:rPr>
                <a:t>facet_grid</a:t>
              </a:r>
              <a:r>
                <a:rPr lang="en-US" sz="2800" dirty="0">
                  <a:latin typeface="Consolas" panose="020B0609020204030204" pitchFamily="49" charset="0"/>
                  <a:ea typeface="Monaco" charset="0"/>
                  <a:cs typeface="Consolas" panose="020B0609020204030204" pitchFamily="49" charset="0"/>
                </a:rPr>
                <a:t>(rows = vars(</a:t>
              </a:r>
              <a:r>
                <a:rPr lang="en-US" sz="2800" dirty="0">
                  <a:solidFill>
                    <a:schemeClr val="accent2"/>
                  </a:solidFill>
                  <a:latin typeface="Consolas" panose="020B0609020204030204" pitchFamily="49" charset="0"/>
                  <a:ea typeface="Monaco" charset="0"/>
                  <a:cs typeface="Consolas" panose="020B0609020204030204" pitchFamily="49" charset="0"/>
                </a:rPr>
                <a:t>variable</a:t>
              </a:r>
              <a:r>
                <a:rPr lang="en-US" sz="2800" dirty="0">
                  <a:latin typeface="Consolas" panose="020B0609020204030204" pitchFamily="49" charset="0"/>
                  <a:ea typeface="Monaco" charset="0"/>
                  <a:cs typeface="Consolas" panose="020B0609020204030204" pitchFamily="49" charset="0"/>
                </a:rPr>
                <a:t>), …)</a:t>
              </a:r>
            </a:p>
          </p:txBody>
        </p:sp>
      </p:grpSp>
      <p:grpSp>
        <p:nvGrpSpPr>
          <p:cNvPr id="10" name="Group 9"/>
          <p:cNvGrpSpPr/>
          <p:nvPr/>
        </p:nvGrpSpPr>
        <p:grpSpPr>
          <a:xfrm>
            <a:off x="2534366" y="4619830"/>
            <a:ext cx="3082490" cy="1508105"/>
            <a:chOff x="896764" y="1596230"/>
            <a:chExt cx="2365216" cy="1508105"/>
          </a:xfrm>
        </p:grpSpPr>
        <p:sp>
          <p:nvSpPr>
            <p:cNvPr id="11" name="Rounded Rectangular Callout 10"/>
            <p:cNvSpPr/>
            <p:nvPr/>
          </p:nvSpPr>
          <p:spPr>
            <a:xfrm>
              <a:off x="896764" y="1732048"/>
              <a:ext cx="2365216" cy="1246648"/>
            </a:xfrm>
            <a:prstGeom prst="wedgeRoundRectCallout">
              <a:avLst>
                <a:gd name="adj1" fmla="val -713"/>
                <a:gd name="adj2" fmla="val -95756"/>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TextBox 11"/>
            <p:cNvSpPr txBox="1"/>
            <p:nvPr/>
          </p:nvSpPr>
          <p:spPr>
            <a:xfrm>
              <a:off x="896764" y="1596230"/>
              <a:ext cx="2365216"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ea typeface="Monaco" charset="0"/>
                  <a:cs typeface="Consolas" panose="020B0609020204030204" pitchFamily="49" charset="0"/>
                </a:rPr>
                <a:t>Create subplots based on variable</a:t>
              </a:r>
            </a:p>
            <a:p>
              <a:pPr algn="ctr"/>
              <a:endParaRPr lang="en-US" dirty="0">
                <a:solidFill>
                  <a:schemeClr val="bg1"/>
                </a:solidFill>
              </a:endParaRPr>
            </a:p>
          </p:txBody>
        </p:sp>
      </p:grpSp>
      <p:grpSp>
        <p:nvGrpSpPr>
          <p:cNvPr id="13" name="Group 12"/>
          <p:cNvGrpSpPr/>
          <p:nvPr/>
        </p:nvGrpSpPr>
        <p:grpSpPr>
          <a:xfrm>
            <a:off x="6436437" y="4606731"/>
            <a:ext cx="3683000" cy="1246648"/>
            <a:chOff x="896764" y="1732048"/>
            <a:chExt cx="2365216" cy="1246648"/>
          </a:xfrm>
        </p:grpSpPr>
        <p:sp>
          <p:nvSpPr>
            <p:cNvPr id="14" name="Rounded Rectangular Callout 13"/>
            <p:cNvSpPr/>
            <p:nvPr/>
          </p:nvSpPr>
          <p:spPr>
            <a:xfrm>
              <a:off x="896764" y="1732048"/>
              <a:ext cx="2365216" cy="1246648"/>
            </a:xfrm>
            <a:prstGeom prst="wedgeRoundRectCallout">
              <a:avLst>
                <a:gd name="adj1" fmla="val 1986"/>
                <a:gd name="adj2" fmla="val -96553"/>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5" name="TextBox 14"/>
            <p:cNvSpPr txBox="1"/>
            <p:nvPr/>
          </p:nvSpPr>
          <p:spPr>
            <a:xfrm>
              <a:off x="896764" y="1873229"/>
              <a:ext cx="2365216" cy="954107"/>
            </a:xfrm>
            <a:prstGeom prst="rect">
              <a:avLst/>
            </a:prstGeom>
            <a:noFill/>
          </p:spPr>
          <p:txBody>
            <a:bodyPr wrap="square" rtlCol="0" anchor="ctr">
              <a:spAutoFit/>
            </a:bodyPr>
            <a:lstStyle/>
            <a:p>
              <a:pPr algn="ctr"/>
              <a:r>
                <a:rPr lang="en-US" sz="2800" dirty="0">
                  <a:solidFill>
                    <a:schemeClr val="bg1"/>
                  </a:solidFill>
                </a:rPr>
                <a:t>Can alter scales or labels</a:t>
              </a:r>
              <a:endParaRPr lang="en-US" sz="2800" dirty="0">
                <a:solidFill>
                  <a:schemeClr val="bg1"/>
                </a:solidFill>
                <a:latin typeface="Consolas" panose="020B0609020204030204" pitchFamily="49" charset="0"/>
                <a:ea typeface="Monaco" charset="0"/>
                <a:cs typeface="Consolas" panose="020B0609020204030204" pitchFamily="49" charset="0"/>
              </a:endParaRPr>
            </a:p>
          </p:txBody>
        </p:sp>
      </p:grpSp>
    </p:spTree>
    <p:extLst>
      <p:ext uri="{BB962C8B-B14F-4D97-AF65-F5344CB8AC3E}">
        <p14:creationId xmlns:p14="http://schemas.microsoft.com/office/powerpoint/2010/main" val="1477685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FDCE7AB-3908-A846-9550-0B62C2EDD8C3}"/>
              </a:ext>
            </a:extLst>
          </p:cNvPr>
          <p:cNvGrpSpPr/>
          <p:nvPr/>
        </p:nvGrpSpPr>
        <p:grpSpPr>
          <a:xfrm>
            <a:off x="1167631" y="3837940"/>
            <a:ext cx="9856737" cy="2400300"/>
            <a:chOff x="2080825" y="3162925"/>
            <a:chExt cx="8090002" cy="655320"/>
          </a:xfrm>
        </p:grpSpPr>
        <p:sp>
          <p:nvSpPr>
            <p:cNvPr id="3" name="Rectangle 2">
              <a:extLst>
                <a:ext uri="{FF2B5EF4-FFF2-40B4-BE49-F238E27FC236}">
                  <a16:creationId xmlns:a16="http://schemas.microsoft.com/office/drawing/2014/main" id="{45A1F85B-FD33-58F9-2900-B357ABF14AEE}"/>
                </a:ext>
              </a:extLst>
            </p:cNvPr>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8FE1191-6CB6-8C33-125A-CD1B5AC55B57}"/>
                </a:ext>
              </a:extLst>
            </p:cNvPr>
            <p:cNvSpPr txBox="1"/>
            <p:nvPr/>
          </p:nvSpPr>
          <p:spPr>
            <a:xfrm>
              <a:off x="2080825" y="3203859"/>
              <a:ext cx="8090002" cy="613404"/>
            </a:xfrm>
            <a:prstGeom prst="rect">
              <a:avLst/>
            </a:prstGeom>
            <a:noFill/>
          </p:spPr>
          <p:txBody>
            <a:bodyPr wrap="square" rtlCol="0">
              <a:spAutoFit/>
            </a:bodyPr>
            <a:lstStyle/>
            <a:p>
              <a:r>
                <a:rPr lang="en-US" sz="2800" dirty="0" err="1">
                  <a:latin typeface="Consolas" panose="020B0609020204030204" pitchFamily="49" charset="0"/>
                  <a:ea typeface="Monaco" charset="0"/>
                  <a:cs typeface="Consolas" panose="020B0609020204030204" pitchFamily="49" charset="0"/>
                </a:rPr>
                <a:t>ggplot</a:t>
              </a:r>
              <a:r>
                <a:rPr lang="en-US" sz="2800" dirty="0">
                  <a:latin typeface="Consolas" panose="020B0609020204030204" pitchFamily="49" charset="0"/>
                  <a:ea typeface="Monaco" charset="0"/>
                  <a:cs typeface="Consolas" panose="020B0609020204030204" pitchFamily="49" charset="0"/>
                </a:rPr>
                <a:t>(data = </a:t>
              </a:r>
              <a:r>
                <a:rPr lang="en-US" sz="2800" dirty="0" err="1">
                  <a:solidFill>
                    <a:srgbClr val="0070C0"/>
                  </a:solidFill>
                  <a:latin typeface="Consolas" panose="020B0609020204030204" pitchFamily="49" charset="0"/>
                  <a:ea typeface="Monaco" charset="0"/>
                  <a:cs typeface="Consolas" panose="020B0609020204030204" pitchFamily="49" charset="0"/>
                </a:rPr>
                <a:t>k_data</a:t>
              </a:r>
              <a:r>
                <a:rPr lang="en-US" sz="2800" dirty="0">
                  <a:latin typeface="Consolas" panose="020B0609020204030204" pitchFamily="49" charset="0"/>
                  <a:ea typeface="Monaco" charset="0"/>
                  <a:cs typeface="Consolas" panose="020B0609020204030204" pitchFamily="49" charset="0"/>
                </a:rPr>
                <a:t>) +</a:t>
              </a:r>
            </a:p>
            <a:p>
              <a:r>
                <a:rPr lang="en-US" sz="2800" dirty="0">
                  <a:solidFill>
                    <a:srgbClr val="0070C0"/>
                  </a:solidFill>
                  <a:latin typeface="Consolas" panose="020B0609020204030204" pitchFamily="49" charset="0"/>
                  <a:ea typeface="Monaco" charset="0"/>
                  <a:cs typeface="Consolas" panose="020B0609020204030204" pitchFamily="49" charset="0"/>
                </a:rPr>
                <a:t>  </a:t>
              </a:r>
              <a:r>
                <a:rPr lang="en-US" sz="2800" dirty="0" err="1">
                  <a:solidFill>
                    <a:srgbClr val="0070C0"/>
                  </a:solidFill>
                  <a:latin typeface="Consolas" panose="020B0609020204030204" pitchFamily="49" charset="0"/>
                  <a:ea typeface="Monaco" charset="0"/>
                  <a:cs typeface="Consolas" panose="020B0609020204030204" pitchFamily="49" charset="0"/>
                </a:rPr>
                <a:t>geom_histogram</a:t>
              </a:r>
              <a:r>
                <a:rPr lang="en-US" sz="2800" dirty="0">
                  <a:latin typeface="Consolas" panose="020B0609020204030204" pitchFamily="49" charset="0"/>
                  <a:ea typeface="Monaco" charset="0"/>
                  <a:cs typeface="Consolas" panose="020B0609020204030204" pitchFamily="49" charset="0"/>
                </a:rPr>
                <a:t>(mapping = </a:t>
              </a:r>
              <a:r>
                <a:rPr lang="en-US" sz="2800" dirty="0" err="1">
                  <a:latin typeface="Consolas" panose="020B0609020204030204" pitchFamily="49" charset="0"/>
                  <a:ea typeface="Monaco" charset="0"/>
                  <a:cs typeface="Consolas" panose="020B0609020204030204" pitchFamily="49" charset="0"/>
                </a:rPr>
                <a:t>aes</a:t>
              </a:r>
              <a:r>
                <a:rPr lang="en-US" sz="2800" dirty="0">
                  <a:latin typeface="Consolas" panose="020B0609020204030204" pitchFamily="49" charset="0"/>
                  <a:ea typeface="Monaco" charset="0"/>
                  <a:cs typeface="Consolas" panose="020B0609020204030204" pitchFamily="49" charset="0"/>
                </a:rPr>
                <a:t>(</a:t>
              </a:r>
              <a:r>
                <a:rPr lang="en-US" sz="2800" dirty="0">
                  <a:solidFill>
                    <a:srgbClr val="0070C0"/>
                  </a:solidFill>
                  <a:latin typeface="Consolas" panose="020B0609020204030204" pitchFamily="49" charset="0"/>
                  <a:ea typeface="Monaco" charset="0"/>
                  <a:cs typeface="Consolas" panose="020B0609020204030204" pitchFamily="49" charset="0"/>
                </a:rPr>
                <a:t>x = value</a:t>
              </a:r>
              <a:r>
                <a:rPr lang="en-US" sz="2800" dirty="0">
                  <a:latin typeface="Consolas" panose="020B0609020204030204" pitchFamily="49" charset="0"/>
                  <a:ea typeface="Monaco" charset="0"/>
                  <a:cs typeface="Consolas" panose="020B0609020204030204" pitchFamily="49" charset="0"/>
                </a:rPr>
                <a:t>),</a:t>
              </a:r>
            </a:p>
            <a:p>
              <a:r>
                <a:rPr lang="en-US" sz="2800" dirty="0">
                  <a:latin typeface="Consolas" panose="020B0609020204030204" pitchFamily="49" charset="0"/>
                  <a:ea typeface="Monaco" charset="0"/>
                  <a:cs typeface="Consolas" panose="020B0609020204030204" pitchFamily="49" charset="0"/>
                </a:rPr>
                <a:t>							 </a:t>
              </a:r>
              <a:r>
                <a:rPr lang="en-US" sz="2800" dirty="0" err="1">
                  <a:latin typeface="Consolas" panose="020B0609020204030204" pitchFamily="49" charset="0"/>
                  <a:ea typeface="Monaco" charset="0"/>
                  <a:cs typeface="Consolas" panose="020B0609020204030204" pitchFamily="49" charset="0"/>
                </a:rPr>
                <a:t>binwidth</a:t>
              </a:r>
              <a:r>
                <a:rPr lang="en-US" sz="2800" dirty="0">
                  <a:latin typeface="Consolas" panose="020B0609020204030204" pitchFamily="49" charset="0"/>
                  <a:ea typeface="Monaco" charset="0"/>
                  <a:cs typeface="Consolas" panose="020B0609020204030204" pitchFamily="49" charset="0"/>
                </a:rPr>
                <a:t> = 0.1) +</a:t>
              </a:r>
            </a:p>
            <a:p>
              <a:r>
                <a:rPr lang="en-US" sz="2800" dirty="0">
                  <a:latin typeface="Consolas" panose="020B0609020204030204" pitchFamily="49" charset="0"/>
                  <a:ea typeface="Monaco" charset="0"/>
                  <a:cs typeface="Consolas" panose="020B0609020204030204" pitchFamily="49" charset="0"/>
                </a:rPr>
                <a:t>  </a:t>
              </a:r>
              <a:r>
                <a:rPr lang="en-US" sz="2800" dirty="0" err="1">
                  <a:solidFill>
                    <a:schemeClr val="accent2"/>
                  </a:solidFill>
                  <a:latin typeface="Consolas" panose="020B0609020204030204" pitchFamily="49" charset="0"/>
                  <a:ea typeface="Monaco" charset="0"/>
                  <a:cs typeface="Consolas" panose="020B0609020204030204" pitchFamily="49" charset="0"/>
                </a:rPr>
                <a:t>facet_grid</a:t>
              </a:r>
              <a:r>
                <a:rPr lang="en-US" sz="2800" dirty="0">
                  <a:latin typeface="Consolas" panose="020B0609020204030204" pitchFamily="49" charset="0"/>
                  <a:ea typeface="Monaco" charset="0"/>
                  <a:cs typeface="Consolas" panose="020B0609020204030204" pitchFamily="49" charset="0"/>
                </a:rPr>
                <a:t>(cols = vars(</a:t>
              </a:r>
              <a:r>
                <a:rPr lang="en-US" sz="2800" dirty="0" err="1">
                  <a:solidFill>
                    <a:schemeClr val="accent2"/>
                  </a:solidFill>
                  <a:latin typeface="Consolas" panose="020B0609020204030204" pitchFamily="49" charset="0"/>
                  <a:ea typeface="Monaco" charset="0"/>
                  <a:cs typeface="Consolas" panose="020B0609020204030204" pitchFamily="49" charset="0"/>
                </a:rPr>
                <a:t>pat_type</a:t>
              </a:r>
              <a:r>
                <a:rPr lang="en-US" sz="2800" dirty="0">
                  <a:latin typeface="Consolas" panose="020B0609020204030204" pitchFamily="49" charset="0"/>
                  <a:ea typeface="Monaco" charset="0"/>
                  <a:cs typeface="Consolas" panose="020B0609020204030204" pitchFamily="49" charset="0"/>
                </a:rPr>
                <a:t>),</a:t>
              </a:r>
            </a:p>
            <a:p>
              <a:r>
                <a:rPr lang="en-US" sz="2800" dirty="0">
                  <a:latin typeface="Consolas" panose="020B0609020204030204" pitchFamily="49" charset="0"/>
                  <a:ea typeface="Monaco" charset="0"/>
                  <a:cs typeface="Consolas" panose="020B0609020204030204" pitchFamily="49" charset="0"/>
                </a:rPr>
                <a:t>		   scales = “free”)</a:t>
              </a:r>
            </a:p>
          </p:txBody>
        </p:sp>
      </p:grpSp>
      <p:pic>
        <p:nvPicPr>
          <p:cNvPr id="7" name="Picture 6">
            <a:extLst>
              <a:ext uri="{FF2B5EF4-FFF2-40B4-BE49-F238E27FC236}">
                <a16:creationId xmlns:a16="http://schemas.microsoft.com/office/drawing/2014/main" id="{E13ABC56-2977-439D-537B-B718BE10DD0B}"/>
              </a:ext>
            </a:extLst>
          </p:cNvPr>
          <p:cNvPicPr>
            <a:picLocks noChangeAspect="1"/>
          </p:cNvPicPr>
          <p:nvPr/>
        </p:nvPicPr>
        <p:blipFill>
          <a:blip r:embed="rId2"/>
          <a:stretch>
            <a:fillRect/>
          </a:stretch>
        </p:blipFill>
        <p:spPr>
          <a:xfrm>
            <a:off x="352142" y="214264"/>
            <a:ext cx="11119830" cy="3214736"/>
          </a:xfrm>
          <a:prstGeom prst="rect">
            <a:avLst/>
          </a:prstGeom>
        </p:spPr>
      </p:pic>
    </p:spTree>
    <p:extLst>
      <p:ext uri="{BB962C8B-B14F-4D97-AF65-F5344CB8AC3E}">
        <p14:creationId xmlns:p14="http://schemas.microsoft.com/office/powerpoint/2010/main" val="2611027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2EDF1-1F99-03CE-6D51-BDB33B2026BC}"/>
              </a:ext>
            </a:extLst>
          </p:cNvPr>
          <p:cNvSpPr>
            <a:spLocks noGrp="1"/>
          </p:cNvSpPr>
          <p:nvPr>
            <p:ph type="title"/>
          </p:nvPr>
        </p:nvSpPr>
        <p:spPr/>
        <p:txBody>
          <a:bodyPr/>
          <a:lstStyle/>
          <a:p>
            <a:r>
              <a:rPr lang="en-US" dirty="0"/>
              <a:t>Compare &amp; relate</a:t>
            </a:r>
          </a:p>
        </p:txBody>
      </p:sp>
      <p:sp>
        <p:nvSpPr>
          <p:cNvPr id="3" name="Content Placeholder 2">
            <a:extLst>
              <a:ext uri="{FF2B5EF4-FFF2-40B4-BE49-F238E27FC236}">
                <a16:creationId xmlns:a16="http://schemas.microsoft.com/office/drawing/2014/main" id="{19934077-E679-02DC-8355-6D90CC986C07}"/>
              </a:ext>
            </a:extLst>
          </p:cNvPr>
          <p:cNvSpPr>
            <a:spLocks noGrp="1"/>
          </p:cNvSpPr>
          <p:nvPr>
            <p:ph idx="1"/>
          </p:nvPr>
        </p:nvSpPr>
        <p:spPr/>
        <p:txBody>
          <a:bodyPr/>
          <a:lstStyle/>
          <a:p>
            <a:pPr marL="0" indent="0">
              <a:buNone/>
            </a:pPr>
            <a:r>
              <a:rPr lang="en-US" dirty="0">
                <a:solidFill>
                  <a:schemeClr val="accent1"/>
                </a:solidFill>
              </a:rPr>
              <a:t>Goal is to show differences, trends over time, relationships between variables, and uncertainty, identify patterns</a:t>
            </a:r>
          </a:p>
          <a:p>
            <a:pPr marL="0" indent="0">
              <a:buNone/>
            </a:pPr>
            <a:endParaRPr lang="en-US" dirty="0"/>
          </a:p>
          <a:p>
            <a:pPr marL="239713" indent="-239713"/>
            <a:r>
              <a:rPr lang="en-US" dirty="0"/>
              <a:t>Consider different data types and their relationships</a:t>
            </a:r>
          </a:p>
          <a:p>
            <a:pPr marL="239713" indent="-239713"/>
            <a:r>
              <a:rPr lang="en-US" dirty="0"/>
              <a:t>Choose visualization that most effectively displays the desired comparison or pattern</a:t>
            </a:r>
          </a:p>
        </p:txBody>
      </p:sp>
    </p:spTree>
    <p:extLst>
      <p:ext uri="{BB962C8B-B14F-4D97-AF65-F5344CB8AC3E}">
        <p14:creationId xmlns:p14="http://schemas.microsoft.com/office/powerpoint/2010/main" val="913893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082B8-0A98-1E6B-2C9F-E4A10E79BC43}"/>
              </a:ext>
            </a:extLst>
          </p:cNvPr>
          <p:cNvSpPr>
            <a:spLocks noGrp="1"/>
          </p:cNvSpPr>
          <p:nvPr>
            <p:ph type="title"/>
          </p:nvPr>
        </p:nvSpPr>
        <p:spPr>
          <a:xfrm>
            <a:off x="5951728" y="585216"/>
            <a:ext cx="5740739" cy="1499616"/>
          </a:xfrm>
        </p:spPr>
        <p:txBody>
          <a:bodyPr>
            <a:normAutofit/>
          </a:bodyPr>
          <a:lstStyle/>
          <a:p>
            <a:r>
              <a:rPr lang="en-US" dirty="0"/>
              <a:t>consider types of data</a:t>
            </a:r>
          </a:p>
        </p:txBody>
      </p:sp>
      <p:pic>
        <p:nvPicPr>
          <p:cNvPr id="9" name="Picture 8" descr="Close-up of assorted color chalk">
            <a:extLst>
              <a:ext uri="{FF2B5EF4-FFF2-40B4-BE49-F238E27FC236}">
                <a16:creationId xmlns:a16="http://schemas.microsoft.com/office/drawing/2014/main" id="{08C1938A-3233-7E76-0A72-327C2C17F29D}"/>
              </a:ext>
            </a:extLst>
          </p:cNvPr>
          <p:cNvPicPr>
            <a:picLocks noChangeAspect="1"/>
          </p:cNvPicPr>
          <p:nvPr/>
        </p:nvPicPr>
        <p:blipFill>
          <a:blip r:embed="rId3" cstate="screen">
            <a:extLst>
              <a:ext uri="{28A0092B-C50C-407E-A947-70E740481C1C}">
                <a14:useLocalDpi xmlns:a14="http://schemas.microsoft.com/office/drawing/2010/main"/>
              </a:ext>
            </a:extLst>
          </a:blip>
          <a:srcRect b="-4"/>
          <a:stretch>
            <a:fillRect/>
          </a:stretch>
        </p:blipFill>
        <p:spPr>
          <a:xfrm>
            <a:off x="484635" y="484632"/>
            <a:ext cx="3248521" cy="3511948"/>
          </a:xfrm>
          <a:prstGeom prst="rect">
            <a:avLst/>
          </a:prstGeom>
        </p:spPr>
      </p:pic>
      <p:sp>
        <p:nvSpPr>
          <p:cNvPr id="14" name="Rectangle 13">
            <a:extLst>
              <a:ext uri="{FF2B5EF4-FFF2-40B4-BE49-F238E27FC236}">
                <a16:creationId xmlns:a16="http://schemas.microsoft.com/office/drawing/2014/main" id="{50F78CF7-743D-4F97-AEAF-6D872AEF4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7745" y="484632"/>
            <a:ext cx="1082693" cy="3511948"/>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A7DCBFCC-8C5F-4A93-997F-0A2BB3F0DF7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896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Picture 4" descr="A pile of 3D yellow numbers">
            <a:extLst>
              <a:ext uri="{FF2B5EF4-FFF2-40B4-BE49-F238E27FC236}">
                <a16:creationId xmlns:a16="http://schemas.microsoft.com/office/drawing/2014/main" id="{0E9A07E4-B110-E276-E455-13D9A2F08509}"/>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84633" y="4150596"/>
            <a:ext cx="4495802" cy="2231808"/>
          </a:xfrm>
          <a:prstGeom prst="rect">
            <a:avLst/>
          </a:prstGeom>
        </p:spPr>
      </p:pic>
      <p:sp>
        <p:nvSpPr>
          <p:cNvPr id="3" name="Content Placeholder 2">
            <a:extLst>
              <a:ext uri="{FF2B5EF4-FFF2-40B4-BE49-F238E27FC236}">
                <a16:creationId xmlns:a16="http://schemas.microsoft.com/office/drawing/2014/main" id="{70169298-EC27-5B43-1672-1BE666DD556F}"/>
              </a:ext>
            </a:extLst>
          </p:cNvPr>
          <p:cNvSpPr>
            <a:spLocks noGrp="1"/>
          </p:cNvSpPr>
          <p:nvPr>
            <p:ph idx="1"/>
          </p:nvPr>
        </p:nvSpPr>
        <p:spPr>
          <a:xfrm>
            <a:off x="5951728" y="2286000"/>
            <a:ext cx="5740739" cy="4023360"/>
          </a:xfrm>
        </p:spPr>
        <p:txBody>
          <a:bodyPr>
            <a:normAutofit/>
          </a:bodyPr>
          <a:lstStyle/>
          <a:p>
            <a:r>
              <a:rPr lang="en-US" dirty="0"/>
              <a:t> Quantitative (numeric)</a:t>
            </a:r>
          </a:p>
          <a:p>
            <a:r>
              <a:rPr lang="en-US" dirty="0"/>
              <a:t> Qualitative (categorical)</a:t>
            </a:r>
          </a:p>
          <a:p>
            <a:pPr marL="310896" lvl="2" indent="0">
              <a:buNone/>
            </a:pPr>
            <a:r>
              <a:rPr lang="en-US" dirty="0"/>
              <a:t>- Ordered vs not</a:t>
            </a:r>
          </a:p>
        </p:txBody>
      </p:sp>
    </p:spTree>
    <p:extLst>
      <p:ext uri="{BB962C8B-B14F-4D97-AF65-F5344CB8AC3E}">
        <p14:creationId xmlns:p14="http://schemas.microsoft.com/office/powerpoint/2010/main" val="2195064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dirty="0"/>
              <a:t>Small Multiples for Comparisons</a:t>
            </a:r>
            <a:endParaRPr dirty="0"/>
          </a:p>
        </p:txBody>
      </p:sp>
      <p:sp>
        <p:nvSpPr>
          <p:cNvPr id="189" name="Google Shape;189;p2"/>
          <p:cNvSpPr txBox="1">
            <a:spLocks noGrp="1"/>
          </p:cNvSpPr>
          <p:nvPr>
            <p:ph idx="1"/>
          </p:nvPr>
        </p:nvSpPr>
        <p:spPr>
          <a:xfrm>
            <a:off x="644785" y="2249424"/>
            <a:ext cx="10192548" cy="4023360"/>
          </a:xfrm>
          <a:prstGeom prst="rect">
            <a:avLst/>
          </a:prstGeom>
          <a:noFill/>
          <a:ln>
            <a:noFill/>
          </a:ln>
        </p:spPr>
        <p:txBody>
          <a:bodyPr spcFirstLastPara="1" wrap="square" lIns="91425" tIns="45700" rIns="91425" bIns="45700" anchor="t" anchorCtr="0">
            <a:noAutofit/>
          </a:bodyPr>
          <a:lstStyle/>
          <a:p>
            <a:pPr marL="22860" indent="0">
              <a:spcBef>
                <a:spcPts val="500"/>
              </a:spcBef>
              <a:buSzPts val="1800"/>
              <a:buNone/>
            </a:pPr>
            <a:r>
              <a:rPr lang="en-US" sz="2800" dirty="0"/>
              <a:t>Return to the </a:t>
            </a:r>
            <a:r>
              <a:rPr lang="en-US" sz="2800" dirty="0">
                <a:solidFill>
                  <a:srgbClr val="0070C0"/>
                </a:solidFill>
              </a:rPr>
              <a:t>Module 3 Exercises</a:t>
            </a:r>
            <a:r>
              <a:rPr lang="en-US" sz="2800" dirty="0"/>
              <a:t> Quarto file in RStudio and complete the Small Multiples for Comparisons section. </a:t>
            </a:r>
          </a:p>
          <a:p>
            <a:pPr marL="22860" indent="0">
              <a:spcBef>
                <a:spcPts val="500"/>
              </a:spcBef>
              <a:buSzPts val="1800"/>
              <a:buNone/>
            </a:pPr>
            <a:endParaRPr lang="en-US" sz="2800" dirty="0"/>
          </a:p>
          <a:p>
            <a:pPr marL="22860" indent="0">
              <a:spcBef>
                <a:spcPts val="500"/>
              </a:spcBef>
              <a:buSzPts val="1800"/>
              <a:buNone/>
            </a:pPr>
            <a:r>
              <a:rPr lang="en-US" sz="2800" dirty="0"/>
              <a:t>Review the example for how to create a faceted plot with </a:t>
            </a:r>
            <a:r>
              <a:rPr lang="en-US" sz="2800" dirty="0" err="1"/>
              <a:t>ggplot</a:t>
            </a:r>
            <a:r>
              <a:rPr lang="en-US" sz="2800" dirty="0"/>
              <a:t> and then build a plot with 2 qualitative variables to better understand the underlying data.</a:t>
            </a:r>
          </a:p>
          <a:p>
            <a:pPr marL="22860" indent="0">
              <a:spcBef>
                <a:spcPts val="500"/>
              </a:spcBef>
              <a:buSzPts val="1800"/>
              <a:buNone/>
            </a:pPr>
            <a:endParaRPr lang="en-US" sz="2800" dirty="0"/>
          </a:p>
          <a:p>
            <a:pPr marL="22860" indent="0">
              <a:spcBef>
                <a:spcPts val="500"/>
              </a:spcBef>
              <a:buSzPts val="1800"/>
              <a:buNone/>
            </a:pPr>
            <a:r>
              <a:rPr lang="en-US" sz="2800" dirty="0"/>
              <a:t>Stop where it says </a:t>
            </a:r>
            <a:r>
              <a:rPr lang="en-US" sz="2800" b="1" dirty="0"/>
              <a:t>Stop Here.</a:t>
            </a:r>
          </a:p>
        </p:txBody>
      </p:sp>
      <p:sp>
        <p:nvSpPr>
          <p:cNvPr id="190" name="Google Shape;190;p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20</a:t>
            </a:fld>
            <a:endParaRPr/>
          </a:p>
        </p:txBody>
      </p:sp>
      <p:sp>
        <p:nvSpPr>
          <p:cNvPr id="6" name="TextBox 5">
            <a:extLst>
              <a:ext uri="{FF2B5EF4-FFF2-40B4-BE49-F238E27FC236}">
                <a16:creationId xmlns:a16="http://schemas.microsoft.com/office/drawing/2014/main" id="{6DA78A3A-7D11-ACA6-2F8A-7FD2772C8190}"/>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EE8F87-05FB-5749-1A21-624493EDE74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ADAE507-5429-2F8A-090E-66492640C1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Oval 5">
            <a:extLst>
              <a:ext uri="{FF2B5EF4-FFF2-40B4-BE49-F238E27FC236}">
                <a16:creationId xmlns:a16="http://schemas.microsoft.com/office/drawing/2014/main" id="{C2A8D4A5-330C-CF29-7079-5FC7B33418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4" name="Straight Connector 13">
            <a:extLst>
              <a:ext uri="{FF2B5EF4-FFF2-40B4-BE49-F238E27FC236}">
                <a16:creationId xmlns:a16="http://schemas.microsoft.com/office/drawing/2014/main" id="{967544B6-1663-459D-6B44-4DE26D043E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9BADD2F7-25BB-77A3-A4FB-9E62A7A74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8" name="Freeform 16">
            <a:extLst>
              <a:ext uri="{FF2B5EF4-FFF2-40B4-BE49-F238E27FC236}">
                <a16:creationId xmlns:a16="http://schemas.microsoft.com/office/drawing/2014/main" id="{DB2F8497-8B9F-DA4A-B618-14CA969C9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0" name="Rectangle 19">
            <a:extLst>
              <a:ext uri="{FF2B5EF4-FFF2-40B4-BE49-F238E27FC236}">
                <a16:creationId xmlns:a16="http://schemas.microsoft.com/office/drawing/2014/main" id="{82710222-7DB2-9913-500B-C032785DBE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0AD88C04-5D7F-45CD-6113-C007CBEC4401}"/>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543D5B2F-71E5-A99D-43D1-D08617567004}"/>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8038518D-D594-C93A-3089-024E50FAD3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61142036-D46B-826D-2DC3-909F395FBE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2221883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3E177-F441-9BF2-B246-492BB7528F8D}"/>
              </a:ext>
            </a:extLst>
          </p:cNvPr>
          <p:cNvSpPr>
            <a:spLocks noGrp="1"/>
          </p:cNvSpPr>
          <p:nvPr>
            <p:ph type="title"/>
          </p:nvPr>
        </p:nvSpPr>
        <p:spPr/>
        <p:txBody>
          <a:bodyPr/>
          <a:lstStyle/>
          <a:p>
            <a:r>
              <a:rPr lang="en-US" dirty="0"/>
              <a:t>Plotting in r – resources with code</a:t>
            </a:r>
          </a:p>
        </p:txBody>
      </p:sp>
      <p:sp>
        <p:nvSpPr>
          <p:cNvPr id="4" name="Content Placeholder 3">
            <a:extLst>
              <a:ext uri="{FF2B5EF4-FFF2-40B4-BE49-F238E27FC236}">
                <a16:creationId xmlns:a16="http://schemas.microsoft.com/office/drawing/2014/main" id="{E3306ED1-8371-0160-58E9-BA31AF80DAB6}"/>
              </a:ext>
            </a:extLst>
          </p:cNvPr>
          <p:cNvSpPr>
            <a:spLocks noGrp="1"/>
          </p:cNvSpPr>
          <p:nvPr>
            <p:ph idx="1"/>
          </p:nvPr>
        </p:nvSpPr>
        <p:spPr/>
        <p:txBody>
          <a:bodyPr/>
          <a:lstStyle/>
          <a:p>
            <a:r>
              <a:rPr lang="en-US" dirty="0"/>
              <a:t>  </a:t>
            </a:r>
            <a:r>
              <a:rPr lang="en-US" dirty="0">
                <a:hlinkClick r:id="rId2"/>
              </a:rPr>
              <a:t>https://r-graph-gallery.com/</a:t>
            </a:r>
            <a:endParaRPr lang="en-US" dirty="0"/>
          </a:p>
          <a:p>
            <a:r>
              <a:rPr lang="en-US" dirty="0"/>
              <a:t>  </a:t>
            </a:r>
            <a:r>
              <a:rPr lang="en-US" dirty="0">
                <a:hlinkClick r:id="rId3"/>
              </a:rPr>
              <a:t>https://r-charts.com/</a:t>
            </a:r>
            <a:endParaRPr lang="en-US" dirty="0"/>
          </a:p>
          <a:p>
            <a:r>
              <a:rPr lang="en-US" dirty="0"/>
              <a:t>  </a:t>
            </a:r>
            <a:r>
              <a:rPr lang="en-US" dirty="0">
                <a:hlinkClick r:id="rId4"/>
              </a:rPr>
              <a:t>https://www.data-to-viz.com/</a:t>
            </a:r>
            <a:endParaRPr lang="en-US" dirty="0"/>
          </a:p>
          <a:p>
            <a:endParaRPr lang="en-US" dirty="0"/>
          </a:p>
        </p:txBody>
      </p:sp>
    </p:spTree>
    <p:extLst>
      <p:ext uri="{BB962C8B-B14F-4D97-AF65-F5344CB8AC3E}">
        <p14:creationId xmlns:p14="http://schemas.microsoft.com/office/powerpoint/2010/main" val="1790960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B821C225-5C4D-4168-90AF-3D263D72C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77CCFC4-58C0-4ED7-C55C-E612738C9585}"/>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Types of Comparisons</a:t>
            </a:r>
          </a:p>
        </p:txBody>
      </p:sp>
      <p:cxnSp>
        <p:nvCxnSpPr>
          <p:cNvPr id="22" name="Straight Connector 21">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5E21231-25B1-09BF-D4A8-3D14502A3B6C}"/>
              </a:ext>
            </a:extLst>
          </p:cNvPr>
          <p:cNvSpPr>
            <a:spLocks noGrp="1"/>
          </p:cNvSpPr>
          <p:nvPr>
            <p:ph sz="half" idx="1"/>
          </p:nvPr>
        </p:nvSpPr>
        <p:spPr>
          <a:xfrm>
            <a:off x="4999330" y="804332"/>
            <a:ext cx="6608468" cy="5532967"/>
          </a:xfrm>
        </p:spPr>
        <p:txBody>
          <a:bodyPr vert="horz" lIns="45720" tIns="45720" rIns="45720" bIns="45720" rtlCol="0" anchor="ctr">
            <a:noAutofit/>
          </a:bodyPr>
          <a:lstStyle/>
          <a:p>
            <a:r>
              <a:rPr lang="en-US" sz="2000" b="1" dirty="0"/>
              <a:t>Change over time (trends)</a:t>
            </a:r>
            <a:endParaRPr lang="en-US" sz="2000" dirty="0"/>
          </a:p>
          <a:p>
            <a:pPr lvl="1"/>
            <a:r>
              <a:rPr lang="en-US" dirty="0"/>
              <a:t>Point/line/run chart, ribbons for CIs, bar plot, table</a:t>
            </a:r>
          </a:p>
          <a:p>
            <a:pPr lvl="1"/>
            <a:r>
              <a:rPr lang="en-US" i="1" dirty="0"/>
              <a:t>Use when:</a:t>
            </a:r>
            <a:r>
              <a:rPr lang="en-US" dirty="0"/>
              <a:t> tracking levels, seasonality, shifts, interventions</a:t>
            </a:r>
            <a:endParaRPr lang="en-US" b="1" dirty="0"/>
          </a:p>
          <a:p>
            <a:pPr>
              <a:spcBef>
                <a:spcPts val="1800"/>
              </a:spcBef>
            </a:pPr>
            <a:r>
              <a:rPr lang="en-US" sz="2000" b="1" dirty="0"/>
              <a:t>Ranked or ordered values</a:t>
            </a:r>
            <a:endParaRPr lang="en-US" sz="2000" dirty="0"/>
          </a:p>
          <a:p>
            <a:pPr lvl="1"/>
            <a:r>
              <a:rPr lang="en-US" dirty="0"/>
              <a:t>Bar plot, lollipop/dot plots, Pareto charts, table</a:t>
            </a:r>
          </a:p>
          <a:p>
            <a:pPr lvl="1"/>
            <a:r>
              <a:rPr lang="en-US" i="1" dirty="0"/>
              <a:t>Use when:</a:t>
            </a:r>
            <a:r>
              <a:rPr lang="en-US" dirty="0"/>
              <a:t> highlighting “top/bottom” contributors and order</a:t>
            </a:r>
            <a:endParaRPr lang="en-US" b="1" dirty="0"/>
          </a:p>
          <a:p>
            <a:pPr>
              <a:spcBef>
                <a:spcPts val="1800"/>
              </a:spcBef>
            </a:pPr>
            <a:r>
              <a:rPr lang="en-US" sz="2000" b="1" dirty="0"/>
              <a:t>Comparisons across categories</a:t>
            </a:r>
            <a:endParaRPr lang="en-US" sz="2000" dirty="0"/>
          </a:p>
          <a:p>
            <a:pPr lvl="1"/>
            <a:r>
              <a:rPr lang="en-US" dirty="0"/>
              <a:t>Dot-whisker, box/violin + jitter, bar with CIs, bar plot, table</a:t>
            </a:r>
          </a:p>
          <a:p>
            <a:pPr lvl="1"/>
            <a:r>
              <a:rPr lang="en-US" i="1" dirty="0"/>
              <a:t>Use when:</a:t>
            </a:r>
            <a:r>
              <a:rPr lang="en-US" dirty="0"/>
              <a:t> displaying differences by groups</a:t>
            </a:r>
            <a:endParaRPr lang="en-US" b="1" dirty="0"/>
          </a:p>
          <a:p>
            <a:pPr>
              <a:spcBef>
                <a:spcPts val="1800"/>
              </a:spcBef>
            </a:pPr>
            <a:r>
              <a:rPr lang="en-US" sz="2000" b="1" dirty="0"/>
              <a:t>Proportions and rates (part-to-whole or success/failure)</a:t>
            </a:r>
            <a:endParaRPr lang="en-US" sz="2000" dirty="0"/>
          </a:p>
          <a:p>
            <a:pPr lvl="1"/>
            <a:r>
              <a:rPr lang="en-US" dirty="0"/>
              <a:t>100% stacked bars, bar plot, pie chart, donut chart, table</a:t>
            </a:r>
          </a:p>
          <a:p>
            <a:pPr lvl="1"/>
            <a:r>
              <a:rPr lang="en-US" i="1" dirty="0"/>
              <a:t>Use when:</a:t>
            </a:r>
            <a:r>
              <a:rPr lang="en-US" dirty="0"/>
              <a:t> evaluating contributions of each part or progress to goal</a:t>
            </a:r>
            <a:endParaRPr lang="en-US" b="1" dirty="0"/>
          </a:p>
          <a:p>
            <a:pPr>
              <a:spcBef>
                <a:spcPts val="1800"/>
              </a:spcBef>
            </a:pPr>
            <a:r>
              <a:rPr lang="en-US" sz="2000" b="1" dirty="0"/>
              <a:t>Paired/pre–post or matched observations</a:t>
            </a:r>
            <a:endParaRPr lang="en-US" sz="2000" dirty="0"/>
          </a:p>
          <a:p>
            <a:pPr lvl="1"/>
            <a:r>
              <a:rPr lang="en-US" i="1" dirty="0"/>
              <a:t>S</a:t>
            </a:r>
            <a:r>
              <a:rPr lang="en-US" dirty="0"/>
              <a:t>lope or paired estimation plot, dumbbell plot, spaghetti plot, table</a:t>
            </a:r>
          </a:p>
          <a:p>
            <a:pPr lvl="1"/>
            <a:r>
              <a:rPr lang="en-US" i="1" dirty="0"/>
              <a:t>Use when:</a:t>
            </a:r>
            <a:r>
              <a:rPr lang="en-US" dirty="0"/>
              <a:t> showing individual changes and the overall effect</a:t>
            </a:r>
          </a:p>
        </p:txBody>
      </p:sp>
    </p:spTree>
    <p:extLst>
      <p:ext uri="{BB962C8B-B14F-4D97-AF65-F5344CB8AC3E}">
        <p14:creationId xmlns:p14="http://schemas.microsoft.com/office/powerpoint/2010/main" val="3248600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6DBC0E-5905-0C98-B310-6E2A16F59363}"/>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B821C225-5C4D-4168-90AF-3D263D72C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39597DE-8E6E-BAB8-F3F2-FB376F5F3486}"/>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Types of Relationships</a:t>
            </a:r>
          </a:p>
        </p:txBody>
      </p:sp>
      <p:cxnSp>
        <p:nvCxnSpPr>
          <p:cNvPr id="14" name="Straight Connector 13">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0859779B-8FA1-912E-BC04-C411DE74468A}"/>
              </a:ext>
            </a:extLst>
          </p:cNvPr>
          <p:cNvSpPr>
            <a:spLocks noGrp="1"/>
          </p:cNvSpPr>
          <p:nvPr>
            <p:ph sz="half" idx="2"/>
          </p:nvPr>
        </p:nvSpPr>
        <p:spPr>
          <a:xfrm>
            <a:off x="4999330" y="804333"/>
            <a:ext cx="6257721" cy="5249334"/>
          </a:xfrm>
        </p:spPr>
        <p:txBody>
          <a:bodyPr vert="horz" lIns="45720" tIns="45720" rIns="45720" bIns="45720" rtlCol="0" anchor="ctr">
            <a:normAutofit/>
          </a:bodyPr>
          <a:lstStyle/>
          <a:p>
            <a:r>
              <a:rPr lang="en-US" b="1" dirty="0"/>
              <a:t>Correlation or deviation between two quantitative variables</a:t>
            </a:r>
            <a:endParaRPr lang="en-US" dirty="0"/>
          </a:p>
          <a:p>
            <a:pPr lvl="1"/>
            <a:r>
              <a:rPr lang="en-US" i="1" dirty="0"/>
              <a:t>S</a:t>
            </a:r>
            <a:r>
              <a:rPr lang="en-US" dirty="0"/>
              <a:t>catter (with fit), difference plot</a:t>
            </a:r>
          </a:p>
          <a:p>
            <a:pPr lvl="1"/>
            <a:r>
              <a:rPr lang="en-US" i="1" dirty="0"/>
              <a:t>Use when:</a:t>
            </a:r>
            <a:r>
              <a:rPr lang="en-US" dirty="0"/>
              <a:t> assessing correlation, fit function, or bias</a:t>
            </a:r>
            <a:endParaRPr lang="en-US" b="1" dirty="0"/>
          </a:p>
          <a:p>
            <a:pPr>
              <a:spcBef>
                <a:spcPts val="1800"/>
              </a:spcBef>
            </a:pPr>
            <a:r>
              <a:rPr lang="en-US" b="1" dirty="0"/>
              <a:t>Spatial relationships</a:t>
            </a:r>
            <a:endParaRPr lang="en-US" dirty="0"/>
          </a:p>
          <a:p>
            <a:pPr lvl="1"/>
            <a:r>
              <a:rPr lang="en-US" i="1" dirty="0"/>
              <a:t>C</a:t>
            </a:r>
            <a:r>
              <a:rPr lang="en-US" dirty="0"/>
              <a:t>horopleth, symbol/heat maps</a:t>
            </a:r>
          </a:p>
          <a:p>
            <a:pPr lvl="1"/>
            <a:r>
              <a:rPr lang="en-US" i="1" dirty="0"/>
              <a:t>Use when:</a:t>
            </a:r>
            <a:r>
              <a:rPr lang="en-US" dirty="0"/>
              <a:t> values are tied to locations or regions</a:t>
            </a:r>
            <a:endParaRPr lang="en-US" b="1" dirty="0"/>
          </a:p>
          <a:p>
            <a:pPr>
              <a:spcBef>
                <a:spcPts val="1800"/>
              </a:spcBef>
            </a:pPr>
            <a:r>
              <a:rPr lang="en-US" b="1" dirty="0"/>
              <a:t>Multivariate patterns</a:t>
            </a:r>
            <a:endParaRPr lang="en-US" dirty="0"/>
          </a:p>
          <a:p>
            <a:pPr lvl="1"/>
            <a:r>
              <a:rPr lang="en-US" dirty="0"/>
              <a:t>Heatmaps, correlation matrices, small multiples</a:t>
            </a:r>
          </a:p>
          <a:p>
            <a:pPr lvl="1"/>
            <a:r>
              <a:rPr lang="en-US" i="1" dirty="0"/>
              <a:t>Use when:</a:t>
            </a:r>
            <a:r>
              <a:rPr lang="en-US" dirty="0"/>
              <a:t> scanning many variables or facets at once</a:t>
            </a:r>
          </a:p>
          <a:p>
            <a:pPr>
              <a:spcBef>
                <a:spcPts val="1800"/>
              </a:spcBef>
            </a:pPr>
            <a:r>
              <a:rPr lang="en-US" b="1" dirty="0"/>
              <a:t>Hierarchies / taxonomies </a:t>
            </a:r>
            <a:endParaRPr lang="en-US" dirty="0"/>
          </a:p>
          <a:p>
            <a:pPr lvl="1"/>
            <a:r>
              <a:rPr lang="en-US" dirty="0"/>
              <a:t>Dendrogram/tree graph, radial charts, </a:t>
            </a:r>
            <a:r>
              <a:rPr lang="en-US" dirty="0" err="1"/>
              <a:t>treemaps</a:t>
            </a:r>
            <a:endParaRPr lang="en-US" dirty="0"/>
          </a:p>
          <a:p>
            <a:pPr lvl="1"/>
            <a:r>
              <a:rPr lang="en-US" i="1" dirty="0"/>
              <a:t>Use when:</a:t>
            </a:r>
            <a:r>
              <a:rPr lang="en-US" dirty="0"/>
              <a:t> representing qualitative-qualitative associations</a:t>
            </a:r>
          </a:p>
        </p:txBody>
      </p:sp>
    </p:spTree>
    <p:extLst>
      <p:ext uri="{BB962C8B-B14F-4D97-AF65-F5344CB8AC3E}">
        <p14:creationId xmlns:p14="http://schemas.microsoft.com/office/powerpoint/2010/main" val="1186037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216"/>
        <p:cNvGrpSpPr/>
        <p:nvPr/>
      </p:nvGrpSpPr>
      <p:grpSpPr>
        <a:xfrm>
          <a:off x="0" y="0"/>
          <a:ext cx="0" cy="0"/>
          <a:chOff x="0" y="0"/>
          <a:chExt cx="0" cy="0"/>
        </a:xfrm>
      </p:grpSpPr>
      <p:sp>
        <p:nvSpPr>
          <p:cNvPr id="217" name="Google Shape;217;p5"/>
          <p:cNvSpPr txBox="1">
            <a:spLocks noGrp="1"/>
          </p:cNvSpPr>
          <p:nvPr>
            <p:ph type="body" idx="1"/>
          </p:nvPr>
        </p:nvSpPr>
        <p:spPr>
          <a:xfrm>
            <a:off x="838201" y="1569720"/>
            <a:ext cx="4480560" cy="4918201"/>
          </a:xfrm>
          <a:prstGeom prst="rect">
            <a:avLst/>
          </a:prstGeom>
          <a:noFill/>
          <a:ln>
            <a:noFill/>
          </a:ln>
        </p:spPr>
        <p:txBody>
          <a:bodyPr spcFirstLastPara="1" wrap="square" lIns="91425" tIns="45700" rIns="91425" bIns="45700" anchor="t" anchorCtr="0">
            <a:normAutofit/>
          </a:bodyPr>
          <a:lstStyle/>
          <a:p>
            <a:pPr marL="114300" lvl="0" indent="0" algn="l" rtl="0">
              <a:lnSpc>
                <a:spcPct val="122222"/>
              </a:lnSpc>
              <a:spcBef>
                <a:spcPts val="1000"/>
              </a:spcBef>
              <a:spcAft>
                <a:spcPts val="0"/>
              </a:spcAft>
              <a:buClr>
                <a:srgbClr val="B01F24"/>
              </a:buClr>
              <a:buSzPts val="1800"/>
              <a:buNone/>
            </a:pPr>
            <a:r>
              <a:rPr lang="en-US" sz="2800" dirty="0"/>
              <a:t>Which lab spends least on supplies?</a:t>
            </a:r>
          </a:p>
          <a:p>
            <a:pPr marL="114300" lvl="0" indent="0" algn="l" rtl="0">
              <a:lnSpc>
                <a:spcPct val="122222"/>
              </a:lnSpc>
              <a:spcBef>
                <a:spcPts val="1000"/>
              </a:spcBef>
              <a:spcAft>
                <a:spcPts val="0"/>
              </a:spcAft>
              <a:buClr>
                <a:srgbClr val="B01F24"/>
              </a:buClr>
              <a:buSzPts val="1800"/>
              <a:buNone/>
            </a:pPr>
            <a:endParaRPr lang="en-US" sz="2800" dirty="0"/>
          </a:p>
          <a:p>
            <a:pPr marL="114300" lvl="0" indent="0">
              <a:buNone/>
            </a:pPr>
            <a:r>
              <a:rPr lang="en-US" sz="2800" dirty="0"/>
              <a:t>How much more does Micro spend on equipment than Blood Bank?</a:t>
            </a:r>
            <a:endParaRPr lang="en-US" sz="2400" dirty="0"/>
          </a:p>
        </p:txBody>
      </p:sp>
      <p:sp>
        <p:nvSpPr>
          <p:cNvPr id="218" name="Google Shape;218;p5"/>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1800"/>
              <a:buNone/>
            </a:pPr>
            <a:r>
              <a:rPr lang="en-US" dirty="0"/>
              <a:t>Which is better: Table vs plot?</a:t>
            </a:r>
            <a:endParaRPr dirty="0"/>
          </a:p>
        </p:txBody>
      </p:sp>
      <p:sp>
        <p:nvSpPr>
          <p:cNvPr id="219" name="Google Shape;219;p5"/>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25</a:t>
            </a:fld>
            <a:endParaRPr/>
          </a:p>
        </p:txBody>
      </p:sp>
      <p:pic>
        <p:nvPicPr>
          <p:cNvPr id="221" name="Google Shape;221;p5" descr="A graph of a bar chart&#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478181" y="1569720"/>
            <a:ext cx="6713819" cy="4143757"/>
          </a:xfrm>
          <a:prstGeom prst="rect">
            <a:avLst/>
          </a:prstGeom>
          <a:noFill/>
          <a:ln>
            <a:noFill/>
          </a:ln>
        </p:spPr>
      </p:pic>
      <p:sp>
        <p:nvSpPr>
          <p:cNvPr id="2" name="TextBox 1">
            <a:extLst>
              <a:ext uri="{FF2B5EF4-FFF2-40B4-BE49-F238E27FC236}">
                <a16:creationId xmlns:a16="http://schemas.microsoft.com/office/drawing/2014/main" id="{87B38B73-1384-8CB6-8BB2-02AAD9450A7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093104D-439E-A90F-8341-6EFF0A28DBF4}"/>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1182E00B-F9CF-1E0A-C650-8ACB743C831A}"/>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0046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216">
          <a:extLst>
            <a:ext uri="{FF2B5EF4-FFF2-40B4-BE49-F238E27FC236}">
              <a16:creationId xmlns:a16="http://schemas.microsoft.com/office/drawing/2014/main" id="{F30807C1-E074-4ACB-872A-A95733722EB4}"/>
            </a:ext>
          </a:extLst>
        </p:cNvPr>
        <p:cNvGrpSpPr/>
        <p:nvPr/>
      </p:nvGrpSpPr>
      <p:grpSpPr>
        <a:xfrm>
          <a:off x="0" y="0"/>
          <a:ext cx="0" cy="0"/>
          <a:chOff x="0" y="0"/>
          <a:chExt cx="0" cy="0"/>
        </a:xfrm>
      </p:grpSpPr>
      <p:sp>
        <p:nvSpPr>
          <p:cNvPr id="218" name="Google Shape;218;p5">
            <a:extLst>
              <a:ext uri="{FF2B5EF4-FFF2-40B4-BE49-F238E27FC236}">
                <a16:creationId xmlns:a16="http://schemas.microsoft.com/office/drawing/2014/main" id="{887D2F12-5F69-0810-F8AD-5EE8D99A4143}"/>
              </a:ext>
            </a:extLst>
          </p:cNvPr>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1800"/>
              <a:buNone/>
            </a:pPr>
            <a:r>
              <a:rPr lang="en-US" dirty="0"/>
              <a:t>Which is better: Table vs plot?</a:t>
            </a:r>
            <a:endParaRPr dirty="0"/>
          </a:p>
        </p:txBody>
      </p:sp>
      <p:sp>
        <p:nvSpPr>
          <p:cNvPr id="219" name="Google Shape;219;p5">
            <a:extLst>
              <a:ext uri="{FF2B5EF4-FFF2-40B4-BE49-F238E27FC236}">
                <a16:creationId xmlns:a16="http://schemas.microsoft.com/office/drawing/2014/main" id="{8957AE85-6112-B9FD-0B01-9B3E27B23EF8}"/>
              </a:ext>
            </a:extLst>
          </p:cNvPr>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27</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20" name="Google Shape;220;p5" descr="A screenshot of a table&#10;&#10;AI-generated content may be incorrect.">
            <a:extLst>
              <a:ext uri="{FF2B5EF4-FFF2-40B4-BE49-F238E27FC236}">
                <a16:creationId xmlns:a16="http://schemas.microsoft.com/office/drawing/2014/main" id="{4C4DEF56-544A-034A-F5AE-F27BEED063B5}"/>
              </a:ext>
            </a:extLst>
          </p:cNvPr>
          <p:cNvPicPr preferRelativeResize="0"/>
          <p:nvPr/>
        </p:nvPicPr>
        <p:blipFill rotWithShape="1">
          <a:blip r:embed="rId3">
            <a:alphaModFix/>
          </a:blip>
          <a:srcRect/>
          <a:stretch/>
        </p:blipFill>
        <p:spPr>
          <a:xfrm>
            <a:off x="5506527" y="1719652"/>
            <a:ext cx="6461759" cy="3418695"/>
          </a:xfrm>
          <a:prstGeom prst="rect">
            <a:avLst/>
          </a:prstGeom>
          <a:noFill/>
          <a:ln>
            <a:noFill/>
          </a:ln>
        </p:spPr>
      </p:pic>
      <p:sp>
        <p:nvSpPr>
          <p:cNvPr id="2" name="Google Shape;217;p5">
            <a:extLst>
              <a:ext uri="{FF2B5EF4-FFF2-40B4-BE49-F238E27FC236}">
                <a16:creationId xmlns:a16="http://schemas.microsoft.com/office/drawing/2014/main" id="{6F7C0396-189D-FE8D-DCF5-7D1DA0DD2232}"/>
              </a:ext>
            </a:extLst>
          </p:cNvPr>
          <p:cNvSpPr txBox="1">
            <a:spLocks/>
          </p:cNvSpPr>
          <p:nvPr/>
        </p:nvSpPr>
        <p:spPr>
          <a:xfrm>
            <a:off x="838201" y="1569720"/>
            <a:ext cx="4480560" cy="4918201"/>
          </a:xfrm>
          <a:prstGeom prst="rect">
            <a:avLst/>
          </a:prstGeom>
          <a:noFill/>
          <a:ln>
            <a:noFill/>
          </a:ln>
        </p:spPr>
        <p:txBody>
          <a:bodyPr spcFirstLastPara="1" vert="horz" wrap="square" lIns="91425" tIns="45700" rIns="91425" bIns="45700" rtlCol="0" anchor="t" anchorCtr="0">
            <a:normAutofit/>
          </a:bodyPr>
          <a:lstStyle>
            <a:lvl1pPr marL="457200" lvl="0" indent="-342900" algn="l" defTabSz="914400" rtl="0" eaLnBrk="1" latinLnBrk="0" hangingPunct="1">
              <a:lnSpc>
                <a:spcPct val="122222"/>
              </a:lnSpc>
              <a:spcBef>
                <a:spcPts val="1000"/>
              </a:spcBef>
              <a:spcAft>
                <a:spcPts val="0"/>
              </a:spcAft>
              <a:buClr>
                <a:srgbClr val="B01F24"/>
              </a:buClr>
              <a:buSzPts val="1800"/>
              <a:buFont typeface="Tw Cen MT" panose="020B0602020104020603" pitchFamily="34" charset="0"/>
              <a:buChar char="•"/>
              <a:defRPr sz="2200" kern="1200">
                <a:solidFill>
                  <a:schemeClr val="tx1"/>
                </a:solidFill>
                <a:latin typeface="+mn-lt"/>
                <a:ea typeface="+mn-ea"/>
                <a:cs typeface="+mn-cs"/>
              </a:defRPr>
            </a:lvl1pPr>
            <a:lvl2pPr marL="914400" lvl="1"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800" kern="1200">
                <a:solidFill>
                  <a:schemeClr val="tx1"/>
                </a:solidFill>
                <a:latin typeface="+mn-lt"/>
                <a:ea typeface="+mn-ea"/>
                <a:cs typeface="+mn-cs"/>
              </a:defRPr>
            </a:lvl2pPr>
            <a:lvl3pPr marL="1371600" lvl="2"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400" kern="1200">
                <a:solidFill>
                  <a:schemeClr val="tx1"/>
                </a:solidFill>
                <a:latin typeface="+mn-lt"/>
                <a:ea typeface="+mn-ea"/>
                <a:cs typeface="+mn-cs"/>
              </a:defRPr>
            </a:lvl3pPr>
            <a:lvl4pPr marL="1828800" lvl="3"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400" kern="1200">
                <a:solidFill>
                  <a:schemeClr val="tx1"/>
                </a:solidFill>
                <a:latin typeface="+mn-lt"/>
                <a:ea typeface="+mn-ea"/>
                <a:cs typeface="+mn-cs"/>
              </a:defRPr>
            </a:lvl4pPr>
            <a:lvl5pPr marL="2286000" lvl="4"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4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9pPr>
          </a:lstStyle>
          <a:p>
            <a:pPr marL="114300" indent="0">
              <a:buFont typeface="Tw Cen MT" panose="020B0602020104020603" pitchFamily="34" charset="0"/>
              <a:buNone/>
            </a:pPr>
            <a:r>
              <a:rPr lang="en-US" sz="2800" dirty="0"/>
              <a:t>Which lab spends least on supplies?</a:t>
            </a:r>
          </a:p>
          <a:p>
            <a:pPr marL="114300" indent="0">
              <a:buFont typeface="Tw Cen MT" panose="020B0602020104020603" pitchFamily="34" charset="0"/>
              <a:buNone/>
            </a:pPr>
            <a:endParaRPr lang="en-US" sz="2800" dirty="0"/>
          </a:p>
          <a:p>
            <a:pPr marL="114300" lvl="0" indent="0">
              <a:buNone/>
            </a:pPr>
            <a:r>
              <a:rPr lang="en-US" sz="2800" dirty="0"/>
              <a:t>How much more does Micro spend on equipment than Blood Bank?</a:t>
            </a:r>
            <a:endParaRPr lang="en-US" sz="2400" dirty="0"/>
          </a:p>
        </p:txBody>
      </p:sp>
      <p:sp>
        <p:nvSpPr>
          <p:cNvPr id="5" name="TextBox 4">
            <a:extLst>
              <a:ext uri="{FF2B5EF4-FFF2-40B4-BE49-F238E27FC236}">
                <a16:creationId xmlns:a16="http://schemas.microsoft.com/office/drawing/2014/main" id="{7831D89A-5CFA-FA92-53C6-8A0F9F0A80B0}"/>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1711331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74BDF4-562F-836A-DC79-203883A46CD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1AD6CB6-146B-7397-6721-C572C7A2D94E}"/>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619E7460-2FAF-6A29-D46E-1E9F81E4E480}"/>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9944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23416DF-B283-4D9F-A625-146552CA9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a:extLst>
              <a:ext uri="{FF2B5EF4-FFF2-40B4-BE49-F238E27FC236}">
                <a16:creationId xmlns:a16="http://schemas.microsoft.com/office/drawing/2014/main" id="{73834904-4D9B-41F7-8DA6-0709FD9F7E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C00D1207-ECAF-48E9-8834-2CE4D21982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9A3FD3A-4B27-4028-BA57-0810F205B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0461F8B-A17E-4AE4-92BC-BA2E49E1A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661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3E1BB93-77AE-5DC0-AA0D-2BE9C16BEA30}"/>
              </a:ext>
            </a:extLst>
          </p:cNvPr>
          <p:cNvSpPr>
            <a:spLocks noGrp="1"/>
          </p:cNvSpPr>
          <p:nvPr>
            <p:ph type="title"/>
          </p:nvPr>
        </p:nvSpPr>
        <p:spPr>
          <a:xfrm>
            <a:off x="457200" y="640080"/>
            <a:ext cx="3185917" cy="3034857"/>
          </a:xfrm>
        </p:spPr>
        <p:txBody>
          <a:bodyPr vert="horz" lIns="91440" tIns="45720" rIns="91440" bIns="45720" rtlCol="0" anchor="b">
            <a:normAutofit/>
          </a:bodyPr>
          <a:lstStyle/>
          <a:p>
            <a:pPr algn="r"/>
            <a:r>
              <a:rPr lang="en-US" sz="4400" spc="200" dirty="0">
                <a:solidFill>
                  <a:srgbClr val="FFFFFF"/>
                </a:solidFill>
              </a:rPr>
              <a:t>Which is better?</a:t>
            </a:r>
          </a:p>
        </p:txBody>
      </p:sp>
      <p:cxnSp>
        <p:nvCxnSpPr>
          <p:cNvPr id="21" name="Straight Connector 20">
            <a:extLst>
              <a:ext uri="{FF2B5EF4-FFF2-40B4-BE49-F238E27FC236}">
                <a16:creationId xmlns:a16="http://schemas.microsoft.com/office/drawing/2014/main" id="{5E450F13-FCAB-474F-93BB-7046901397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749" y="3765314"/>
            <a:ext cx="2834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6" name="Google Shape;220;p5" descr="A screenshot of a table&#10;&#10;AI-generated content may be incorrect.">
            <a:extLst>
              <a:ext uri="{FF2B5EF4-FFF2-40B4-BE49-F238E27FC236}">
                <a16:creationId xmlns:a16="http://schemas.microsoft.com/office/drawing/2014/main" id="{20983C2E-F815-12EF-3CA0-2DE3F5D07C29}"/>
              </a:ext>
            </a:extLst>
          </p:cNvPr>
          <p:cNvPicPr preferRelativeResize="0"/>
          <p:nvPr/>
        </p:nvPicPr>
        <p:blipFill rotWithShape="1">
          <a:blip r:embed="rId3"/>
          <a:stretch/>
        </p:blipFill>
        <p:spPr>
          <a:xfrm>
            <a:off x="8312373" y="2458328"/>
            <a:ext cx="3659111" cy="2012511"/>
          </a:xfrm>
          <a:prstGeom prst="rect">
            <a:avLst/>
          </a:prstGeom>
          <a:noFill/>
        </p:spPr>
      </p:pic>
      <p:cxnSp>
        <p:nvCxnSpPr>
          <p:cNvPr id="23" name="Straight Connector 22">
            <a:extLst>
              <a:ext uri="{FF2B5EF4-FFF2-40B4-BE49-F238E27FC236}">
                <a16:creationId xmlns:a16="http://schemas.microsoft.com/office/drawing/2014/main" id="{00E7859C-56C8-49DC-ABF5-6C538427CD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5130" y="1963779"/>
            <a:ext cx="0" cy="29260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Google Shape;221;p5" descr="A graph of a bar chart&#10;&#10;AI-generated content may be incorrect.">
            <a:extLst>
              <a:ext uri="{FF2B5EF4-FFF2-40B4-BE49-F238E27FC236}">
                <a16:creationId xmlns:a16="http://schemas.microsoft.com/office/drawing/2014/main" id="{0AD2FB8F-7FC7-CF73-28F7-4A569CFC3FEC}"/>
              </a:ext>
            </a:extLst>
          </p:cNvPr>
          <p:cNvPicPr preferRelativeResize="0"/>
          <p:nvPr/>
        </p:nvPicPr>
        <p:blipFill rotWithShape="1">
          <a:blip r:embed="rId4" cstate="screen">
            <a:extLst>
              <a:ext uri="{28A0092B-C50C-407E-A947-70E740481C1C}">
                <a14:useLocalDpi xmlns:a14="http://schemas.microsoft.com/office/drawing/2010/main"/>
              </a:ext>
            </a:extLst>
          </a:blip>
          <a:stretch/>
        </p:blipFill>
        <p:spPr>
          <a:xfrm>
            <a:off x="4233488" y="2339375"/>
            <a:ext cx="3644400" cy="2250417"/>
          </a:xfrm>
          <a:prstGeom prst="rect">
            <a:avLst/>
          </a:prstGeom>
          <a:noFill/>
        </p:spPr>
      </p:pic>
    </p:spTree>
    <p:extLst>
      <p:ext uri="{BB962C8B-B14F-4D97-AF65-F5344CB8AC3E}">
        <p14:creationId xmlns:p14="http://schemas.microsoft.com/office/powerpoint/2010/main" val="3384347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225"/>
        <p:cNvGrpSpPr/>
        <p:nvPr/>
      </p:nvGrpSpPr>
      <p:grpSpPr>
        <a:xfrm>
          <a:off x="0" y="0"/>
          <a:ext cx="0" cy="0"/>
          <a:chOff x="0" y="0"/>
          <a:chExt cx="0" cy="0"/>
        </a:xfrm>
      </p:grpSpPr>
      <p:sp>
        <p:nvSpPr>
          <p:cNvPr id="226" name="Google Shape;226;p6"/>
          <p:cNvSpPr txBox="1">
            <a:spLocks noGrp="1"/>
          </p:cNvSpPr>
          <p:nvPr>
            <p:ph type="body" idx="1"/>
          </p:nvPr>
        </p:nvSpPr>
        <p:spPr>
          <a:xfrm>
            <a:off x="838200" y="1825624"/>
            <a:ext cx="10698480" cy="4438015"/>
          </a:xfrm>
          <a:prstGeom prst="rect">
            <a:avLst/>
          </a:prstGeom>
          <a:noFill/>
          <a:ln>
            <a:noFill/>
          </a:ln>
        </p:spPr>
        <p:txBody>
          <a:bodyPr spcFirstLastPara="1" wrap="square" lIns="91425" tIns="45700" rIns="91425" bIns="45700" anchor="t" anchorCtr="0">
            <a:noAutofit/>
          </a:bodyPr>
          <a:lstStyle/>
          <a:p>
            <a:pPr marL="114300" lvl="0" indent="0" algn="l" rtl="0">
              <a:lnSpc>
                <a:spcPct val="122222"/>
              </a:lnSpc>
              <a:spcBef>
                <a:spcPts val="1000"/>
              </a:spcBef>
              <a:spcAft>
                <a:spcPts val="0"/>
              </a:spcAft>
              <a:buSzPts val="1800"/>
              <a:buNone/>
            </a:pPr>
            <a:r>
              <a:rPr lang="en-US" sz="3200" b="1" dirty="0"/>
              <a:t>If one or more of the following are true, use a table:</a:t>
            </a:r>
            <a:endParaRPr sz="3200" b="1" dirty="0"/>
          </a:p>
          <a:p>
            <a:pPr marL="457200" lvl="0" indent="-342900" algn="l" rtl="0">
              <a:lnSpc>
                <a:spcPct val="122222"/>
              </a:lnSpc>
              <a:spcBef>
                <a:spcPts val="600"/>
              </a:spcBef>
              <a:spcAft>
                <a:spcPts val="0"/>
              </a:spcAft>
              <a:buClr>
                <a:schemeClr val="accent1"/>
              </a:buClr>
              <a:buSzPts val="1800"/>
              <a:buChar char="•"/>
            </a:pPr>
            <a:r>
              <a:rPr lang="en-US" sz="2600" dirty="0"/>
              <a:t>Users will look up one or more individual values</a:t>
            </a:r>
            <a:endParaRPr sz="2600" dirty="0"/>
          </a:p>
          <a:p>
            <a:pPr marL="457200" lvl="0" indent="-342900" algn="l" rtl="0">
              <a:lnSpc>
                <a:spcPct val="122222"/>
              </a:lnSpc>
              <a:spcBef>
                <a:spcPts val="600"/>
              </a:spcBef>
              <a:spcAft>
                <a:spcPts val="0"/>
              </a:spcAft>
              <a:buClr>
                <a:schemeClr val="accent1"/>
              </a:buClr>
              <a:buSzPts val="1800"/>
              <a:buChar char="•"/>
            </a:pPr>
            <a:r>
              <a:rPr lang="en-US" sz="2600" dirty="0"/>
              <a:t>Purpose is for one-to-one comparisons vs focused on finding patterns in data</a:t>
            </a:r>
            <a:endParaRPr sz="2600" dirty="0"/>
          </a:p>
          <a:p>
            <a:pPr marL="457200" lvl="0" indent="-342900" algn="l" rtl="0">
              <a:lnSpc>
                <a:spcPct val="122222"/>
              </a:lnSpc>
              <a:spcBef>
                <a:spcPts val="600"/>
              </a:spcBef>
              <a:spcAft>
                <a:spcPts val="0"/>
              </a:spcAft>
              <a:buClr>
                <a:schemeClr val="accent1"/>
              </a:buClr>
              <a:buSzPts val="1800"/>
              <a:buChar char="•"/>
            </a:pPr>
            <a:r>
              <a:rPr lang="en-US" sz="2600" dirty="0"/>
              <a:t>Precise values are required (i.e., show multiple decimal places)</a:t>
            </a:r>
            <a:endParaRPr sz="2600" dirty="0"/>
          </a:p>
          <a:p>
            <a:pPr marL="457200" lvl="0" indent="-342900" algn="l" rtl="0">
              <a:lnSpc>
                <a:spcPct val="122222"/>
              </a:lnSpc>
              <a:spcBef>
                <a:spcPts val="600"/>
              </a:spcBef>
              <a:spcAft>
                <a:spcPts val="0"/>
              </a:spcAft>
              <a:buClr>
                <a:schemeClr val="accent1"/>
              </a:buClr>
              <a:buSzPts val="1800"/>
              <a:buChar char="•"/>
            </a:pPr>
            <a:r>
              <a:rPr lang="en-US" sz="2600" dirty="0"/>
              <a:t>The display includes quantitative values with more than one unit of measure</a:t>
            </a:r>
            <a:endParaRPr sz="2600" dirty="0"/>
          </a:p>
          <a:p>
            <a:pPr marL="457200" lvl="0" indent="-342900" algn="l" rtl="0">
              <a:lnSpc>
                <a:spcPct val="122222"/>
              </a:lnSpc>
              <a:spcBef>
                <a:spcPts val="600"/>
              </a:spcBef>
              <a:spcAft>
                <a:spcPts val="0"/>
              </a:spcAft>
              <a:buClr>
                <a:schemeClr val="accent1"/>
              </a:buClr>
              <a:buSzPts val="1800"/>
              <a:buChar char="•"/>
            </a:pPr>
            <a:r>
              <a:rPr lang="en-US" sz="2600" dirty="0"/>
              <a:t>Users require summary and detailed values in the same display</a:t>
            </a:r>
          </a:p>
          <a:p>
            <a:pPr marL="457200" lvl="0" indent="-342900" algn="l" rtl="0">
              <a:lnSpc>
                <a:spcPct val="122222"/>
              </a:lnSpc>
              <a:spcBef>
                <a:spcPts val="600"/>
              </a:spcBef>
              <a:spcAft>
                <a:spcPts val="0"/>
              </a:spcAft>
              <a:buClr>
                <a:schemeClr val="accent1"/>
              </a:buClr>
              <a:buSzPts val="1800"/>
              <a:buChar char="•"/>
            </a:pPr>
            <a:r>
              <a:rPr lang="en-US" sz="2600" dirty="0"/>
              <a:t>The dataset being displayed is sparse (e.g., 5-10 values)</a:t>
            </a:r>
            <a:endParaRPr sz="2600" dirty="0"/>
          </a:p>
        </p:txBody>
      </p:sp>
      <p:sp>
        <p:nvSpPr>
          <p:cNvPr id="227" name="Google Shape;227;p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1800"/>
              <a:buNone/>
            </a:pPr>
            <a:r>
              <a:rPr lang="en-US"/>
              <a:t>When to display data in a table?</a:t>
            </a:r>
            <a:endParaRPr/>
          </a:p>
        </p:txBody>
      </p:sp>
      <p:sp>
        <p:nvSpPr>
          <p:cNvPr id="228" name="Google Shape;228;p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33"/>
        <p:cNvGrpSpPr/>
        <p:nvPr/>
      </p:nvGrpSpPr>
      <p:grpSpPr>
        <a:xfrm>
          <a:off x="0" y="0"/>
          <a:ext cx="0" cy="0"/>
          <a:chOff x="0" y="0"/>
          <a:chExt cx="0" cy="0"/>
        </a:xfrm>
      </p:grpSpPr>
      <p:sp>
        <p:nvSpPr>
          <p:cNvPr id="234" name="Google Shape;234;g35766d32465_1_3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When to Choose a Plot?</a:t>
            </a:r>
            <a:endParaRPr/>
          </a:p>
        </p:txBody>
      </p:sp>
      <p:sp>
        <p:nvSpPr>
          <p:cNvPr id="235" name="Google Shape;235;g35766d32465_1_3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ct val="108108"/>
              <a:buChar char="•"/>
            </a:pPr>
            <a:r>
              <a:rPr lang="en-US" sz="3200" dirty="0"/>
              <a:t>Visualizing trends, relationships, distributions, uncertainty, and patterns in data sets</a:t>
            </a:r>
            <a:endParaRPr sz="3200" dirty="0"/>
          </a:p>
          <a:p>
            <a:pPr marL="482600" lvl="1" indent="0" algn="l" rtl="0">
              <a:lnSpc>
                <a:spcPct val="90000"/>
              </a:lnSpc>
              <a:spcBef>
                <a:spcPts val="0"/>
              </a:spcBef>
              <a:spcAft>
                <a:spcPts val="0"/>
              </a:spcAft>
              <a:buSzPct val="108108"/>
              <a:buNone/>
            </a:pPr>
            <a:r>
              <a:rPr lang="en-US" dirty="0"/>
              <a:t>Particularly when working with 2 or more variables</a:t>
            </a:r>
            <a:endParaRPr dirty="0"/>
          </a:p>
          <a:p>
            <a:pPr marL="0" lvl="0" indent="0" algn="l" rtl="0">
              <a:lnSpc>
                <a:spcPct val="90000"/>
              </a:lnSpc>
              <a:spcBef>
                <a:spcPts val="1000"/>
              </a:spcBef>
              <a:spcAft>
                <a:spcPts val="0"/>
              </a:spcAft>
              <a:buSzPct val="60810"/>
              <a:buNone/>
            </a:pPr>
            <a:endParaRPr sz="3200" dirty="0"/>
          </a:p>
          <a:p>
            <a:pPr marL="457200" lvl="0" indent="-431800" algn="l" rtl="0">
              <a:lnSpc>
                <a:spcPct val="90000"/>
              </a:lnSpc>
              <a:spcBef>
                <a:spcPts val="1000"/>
              </a:spcBef>
              <a:spcAft>
                <a:spcPts val="0"/>
              </a:spcAft>
              <a:buSzPct val="108108"/>
              <a:buChar char="•"/>
            </a:pPr>
            <a:r>
              <a:rPr lang="en-US" sz="3200" dirty="0"/>
              <a:t>Conveying a high-level overview of data for quick insights</a:t>
            </a:r>
            <a:endParaRPr sz="3200" dirty="0"/>
          </a:p>
          <a:p>
            <a:pPr marL="0" lvl="0" indent="0" algn="l" rtl="0">
              <a:lnSpc>
                <a:spcPct val="90000"/>
              </a:lnSpc>
              <a:spcBef>
                <a:spcPts val="1000"/>
              </a:spcBef>
              <a:spcAft>
                <a:spcPts val="0"/>
              </a:spcAft>
              <a:buSzPct val="60810"/>
              <a:buNone/>
            </a:pPr>
            <a:endParaRPr sz="3200" dirty="0"/>
          </a:p>
          <a:p>
            <a:pPr marL="457200" lvl="0" indent="-431800" algn="l" rtl="0">
              <a:lnSpc>
                <a:spcPct val="90000"/>
              </a:lnSpc>
              <a:spcBef>
                <a:spcPts val="1000"/>
              </a:spcBef>
              <a:spcAft>
                <a:spcPts val="0"/>
              </a:spcAft>
              <a:buSzPct val="108108"/>
              <a:buChar char="•"/>
            </a:pPr>
            <a:r>
              <a:rPr lang="en-US" sz="3200" dirty="0"/>
              <a:t>Visualizing large datasets</a:t>
            </a:r>
            <a:endParaRPr sz="3200" dirty="0"/>
          </a:p>
        </p:txBody>
      </p:sp>
      <p:sp>
        <p:nvSpPr>
          <p:cNvPr id="236" name="Google Shape;236;g35766d32465_1_3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C1EBE4FF-37D1-8B70-AE89-D52A4474591A}"/>
              </a:ext>
            </a:extLst>
          </p:cNvPr>
          <p:cNvSpPr>
            <a:spLocks noGrp="1"/>
          </p:cNvSpPr>
          <p:nvPr>
            <p:ph type="pic" idx="2"/>
          </p:nvPr>
        </p:nvSpPr>
        <p:spPr/>
        <p:txBody>
          <a:bodyPr/>
          <a:lstStyle/>
          <a:p>
            <a:endParaRPr lang="en-US"/>
          </a:p>
        </p:txBody>
      </p:sp>
      <p:sp>
        <p:nvSpPr>
          <p:cNvPr id="8" name="Content Placeholder 7">
            <a:extLst>
              <a:ext uri="{FF2B5EF4-FFF2-40B4-BE49-F238E27FC236}">
                <a16:creationId xmlns:a16="http://schemas.microsoft.com/office/drawing/2014/main" id="{2B117873-3B47-0852-0B49-49F12DB7991E}"/>
              </a:ext>
            </a:extLst>
          </p:cNvPr>
          <p:cNvSpPr>
            <a:spLocks noGrp="1"/>
          </p:cNvSpPr>
          <p:nvPr>
            <p:ph type="body" idx="1"/>
          </p:nvPr>
        </p:nvSpPr>
        <p:spPr/>
        <p:txBody>
          <a:bodyPr>
            <a:noAutofit/>
          </a:bodyPr>
          <a:lstStyle/>
          <a:p>
            <a:pPr>
              <a:buClr>
                <a:schemeClr val="accent1"/>
              </a:buClr>
              <a:buSzPct val="140000"/>
            </a:pPr>
            <a:r>
              <a:rPr lang="en-US" sz="2600" dirty="0"/>
              <a:t>Bar represents quantity or statistic for a categorical variable</a:t>
            </a:r>
          </a:p>
          <a:p>
            <a:pPr>
              <a:buClr>
                <a:schemeClr val="accent1"/>
              </a:buClr>
              <a:buSzPct val="140000"/>
            </a:pPr>
            <a:r>
              <a:rPr lang="en-US" sz="2600" dirty="0"/>
              <a:t>Broadly applicable for visualizing individual values and for making comparisons by groups</a:t>
            </a:r>
          </a:p>
          <a:p>
            <a:pPr>
              <a:buClr>
                <a:schemeClr val="accent1"/>
              </a:buClr>
              <a:buSzPct val="140000"/>
            </a:pPr>
            <a:r>
              <a:rPr lang="en-US" sz="2600" dirty="0"/>
              <a:t>Many variations available</a:t>
            </a:r>
          </a:p>
          <a:p>
            <a:pPr>
              <a:buClr>
                <a:schemeClr val="accent1"/>
              </a:buClr>
              <a:buSzPct val="140000"/>
            </a:pPr>
            <a:r>
              <a:rPr lang="en-US" sz="2600" dirty="0"/>
              <a:t>Not best choice for continuous data</a:t>
            </a:r>
          </a:p>
        </p:txBody>
      </p:sp>
      <p:sp>
        <p:nvSpPr>
          <p:cNvPr id="7" name="Title 6">
            <a:extLst>
              <a:ext uri="{FF2B5EF4-FFF2-40B4-BE49-F238E27FC236}">
                <a16:creationId xmlns:a16="http://schemas.microsoft.com/office/drawing/2014/main" id="{16D1BDF1-D0E9-9178-60A2-703EDC9721CA}"/>
              </a:ext>
            </a:extLst>
          </p:cNvPr>
          <p:cNvSpPr>
            <a:spLocks noGrp="1"/>
          </p:cNvSpPr>
          <p:nvPr>
            <p:ph type="title"/>
          </p:nvPr>
        </p:nvSpPr>
        <p:spPr/>
        <p:txBody>
          <a:bodyPr/>
          <a:lstStyle/>
          <a:p>
            <a:r>
              <a:rPr lang="en-US" dirty="0">
                <a:solidFill>
                  <a:schemeClr val="tx1"/>
                </a:solidFill>
              </a:rPr>
              <a:t>Bar plots Compare values across categories</a:t>
            </a:r>
          </a:p>
        </p:txBody>
      </p:sp>
      <p:pic>
        <p:nvPicPr>
          <p:cNvPr id="3" name="Picture 2">
            <a:extLst>
              <a:ext uri="{FF2B5EF4-FFF2-40B4-BE49-F238E27FC236}">
                <a16:creationId xmlns:a16="http://schemas.microsoft.com/office/drawing/2014/main" id="{39FB25AD-FBFE-30F7-84FF-1E1AFCD687B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926453" y="2275784"/>
            <a:ext cx="4317722" cy="2665183"/>
          </a:xfrm>
          <a:prstGeom prst="rect">
            <a:avLst/>
          </a:prstGeom>
        </p:spPr>
      </p:pic>
    </p:spTree>
    <p:extLst>
      <p:ext uri="{BB962C8B-B14F-4D97-AF65-F5344CB8AC3E}">
        <p14:creationId xmlns:p14="http://schemas.microsoft.com/office/powerpoint/2010/main" val="2994105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61DD0-3BC4-E94C-2CA0-6BEBBD15ED3F}"/>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02EB06BE-75A0-0807-B2AD-A3E6D8A3508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02507" y="4434508"/>
            <a:ext cx="3840480" cy="2370598"/>
          </a:xfrm>
          <a:prstGeom prst="rect">
            <a:avLst/>
          </a:prstGeom>
        </p:spPr>
      </p:pic>
      <p:pic>
        <p:nvPicPr>
          <p:cNvPr id="14" name="Picture 13">
            <a:extLst>
              <a:ext uri="{FF2B5EF4-FFF2-40B4-BE49-F238E27FC236}">
                <a16:creationId xmlns:a16="http://schemas.microsoft.com/office/drawing/2014/main" id="{061A0E3D-0AC0-B79F-36F3-47AECDACCFE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857200" y="1744683"/>
            <a:ext cx="3840480" cy="2370598"/>
          </a:xfrm>
          <a:prstGeom prst="rect">
            <a:avLst/>
          </a:prstGeom>
        </p:spPr>
      </p:pic>
      <p:sp>
        <p:nvSpPr>
          <p:cNvPr id="7" name="Title 6">
            <a:extLst>
              <a:ext uri="{FF2B5EF4-FFF2-40B4-BE49-F238E27FC236}">
                <a16:creationId xmlns:a16="http://schemas.microsoft.com/office/drawing/2014/main" id="{8C8DF886-6976-CE84-F787-6906A788F667}"/>
              </a:ext>
            </a:extLst>
          </p:cNvPr>
          <p:cNvSpPr>
            <a:spLocks noGrp="1"/>
          </p:cNvSpPr>
          <p:nvPr>
            <p:ph type="title"/>
          </p:nvPr>
        </p:nvSpPr>
        <p:spPr/>
        <p:txBody>
          <a:bodyPr/>
          <a:lstStyle/>
          <a:p>
            <a:r>
              <a:rPr lang="en-US" dirty="0">
                <a:solidFill>
                  <a:schemeClr val="tx1"/>
                </a:solidFill>
              </a:rPr>
              <a:t>Examples: Lab costs by category</a:t>
            </a:r>
          </a:p>
        </p:txBody>
      </p:sp>
      <p:pic>
        <p:nvPicPr>
          <p:cNvPr id="4" name="Picture 3">
            <a:extLst>
              <a:ext uri="{FF2B5EF4-FFF2-40B4-BE49-F238E27FC236}">
                <a16:creationId xmlns:a16="http://schemas.microsoft.com/office/drawing/2014/main" id="{FEE2F0B2-72AB-E259-995A-05252093958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551885" y="1744683"/>
            <a:ext cx="3840480" cy="2370598"/>
          </a:xfrm>
          <a:prstGeom prst="rect">
            <a:avLst/>
          </a:prstGeom>
        </p:spPr>
      </p:pic>
      <p:pic>
        <p:nvPicPr>
          <p:cNvPr id="5" name="Picture 4">
            <a:extLst>
              <a:ext uri="{FF2B5EF4-FFF2-40B4-BE49-F238E27FC236}">
                <a16:creationId xmlns:a16="http://schemas.microsoft.com/office/drawing/2014/main" id="{D5B81866-4A0F-0081-D402-13F4B31ADFD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551885" y="4434508"/>
            <a:ext cx="3840480" cy="2370598"/>
          </a:xfrm>
          <a:prstGeom prst="rect">
            <a:avLst/>
          </a:prstGeom>
        </p:spPr>
      </p:pic>
      <p:grpSp>
        <p:nvGrpSpPr>
          <p:cNvPr id="6" name="Google Shape;338;g35766d32465_2_86">
            <a:extLst>
              <a:ext uri="{FF2B5EF4-FFF2-40B4-BE49-F238E27FC236}">
                <a16:creationId xmlns:a16="http://schemas.microsoft.com/office/drawing/2014/main" id="{DE60F658-0B19-33C4-B7EC-806A0E10AB91}"/>
              </a:ext>
            </a:extLst>
          </p:cNvPr>
          <p:cNvGrpSpPr/>
          <p:nvPr/>
        </p:nvGrpSpPr>
        <p:grpSpPr>
          <a:xfrm>
            <a:off x="344407" y="1633670"/>
            <a:ext cx="1871293" cy="2608800"/>
            <a:chOff x="697007" y="2511155"/>
            <a:chExt cx="1871293" cy="2608800"/>
          </a:xfrm>
        </p:grpSpPr>
        <p:sp>
          <p:nvSpPr>
            <p:cNvPr id="9" name="Google Shape;339;g35766d32465_2_86">
              <a:extLst>
                <a:ext uri="{FF2B5EF4-FFF2-40B4-BE49-F238E27FC236}">
                  <a16:creationId xmlns:a16="http://schemas.microsoft.com/office/drawing/2014/main" id="{1DD83E32-9E59-A99D-938A-C1E6AA3D0F64}"/>
                </a:ext>
              </a:extLst>
            </p:cNvPr>
            <p:cNvSpPr/>
            <p:nvPr/>
          </p:nvSpPr>
          <p:spPr>
            <a:xfrm>
              <a:off x="2209800" y="2511155"/>
              <a:ext cx="358500" cy="2608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 name="Google Shape;340;g35766d32465_2_86">
              <a:extLst>
                <a:ext uri="{FF2B5EF4-FFF2-40B4-BE49-F238E27FC236}">
                  <a16:creationId xmlns:a16="http://schemas.microsoft.com/office/drawing/2014/main" id="{2EB9764C-A80E-3955-DE7C-D00A3C045356}"/>
                </a:ext>
              </a:extLst>
            </p:cNvPr>
            <p:cNvSpPr txBox="1"/>
            <p:nvPr/>
          </p:nvSpPr>
          <p:spPr>
            <a:xfrm>
              <a:off x="697007" y="3353855"/>
              <a:ext cx="1358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Numeric variable of interest</a:t>
              </a:r>
              <a:endParaRPr sz="1400" b="0" i="0" u="none" strike="noStrike" cap="none" dirty="0">
                <a:solidFill>
                  <a:srgbClr val="000000"/>
                </a:solidFill>
                <a:latin typeface="Arial"/>
                <a:ea typeface="Arial"/>
                <a:cs typeface="Arial"/>
                <a:sym typeface="Arial"/>
              </a:endParaRPr>
            </a:p>
          </p:txBody>
        </p:sp>
      </p:grpSp>
      <p:grpSp>
        <p:nvGrpSpPr>
          <p:cNvPr id="11" name="Google Shape;335;g35766d32465_2_86">
            <a:extLst>
              <a:ext uri="{FF2B5EF4-FFF2-40B4-BE49-F238E27FC236}">
                <a16:creationId xmlns:a16="http://schemas.microsoft.com/office/drawing/2014/main" id="{B0E7DAFF-A975-B216-BA22-7D1625276CB2}"/>
              </a:ext>
            </a:extLst>
          </p:cNvPr>
          <p:cNvGrpSpPr/>
          <p:nvPr/>
        </p:nvGrpSpPr>
        <p:grpSpPr>
          <a:xfrm>
            <a:off x="856098" y="3730784"/>
            <a:ext cx="5822700" cy="732322"/>
            <a:chOff x="3402105" y="5940232"/>
            <a:chExt cx="5822700" cy="732322"/>
          </a:xfrm>
        </p:grpSpPr>
        <p:sp>
          <p:nvSpPr>
            <p:cNvPr id="12" name="Google Shape;336;g35766d32465_2_86">
              <a:extLst>
                <a:ext uri="{FF2B5EF4-FFF2-40B4-BE49-F238E27FC236}">
                  <a16:creationId xmlns:a16="http://schemas.microsoft.com/office/drawing/2014/main" id="{26007DA0-B4E8-469A-DB97-94863E4412FA}"/>
                </a:ext>
              </a:extLst>
            </p:cNvPr>
            <p:cNvSpPr/>
            <p:nvPr/>
          </p:nvSpPr>
          <p:spPr>
            <a:xfrm>
              <a:off x="4894730" y="5940232"/>
              <a:ext cx="2837400" cy="3651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337;g35766d32465_2_86">
              <a:extLst>
                <a:ext uri="{FF2B5EF4-FFF2-40B4-BE49-F238E27FC236}">
                  <a16:creationId xmlns:a16="http://schemas.microsoft.com/office/drawing/2014/main" id="{7E9520E9-C56E-5480-4EFF-D700C9FB7BED}"/>
                </a:ext>
              </a:extLst>
            </p:cNvPr>
            <p:cNvSpPr txBox="1"/>
            <p:nvPr/>
          </p:nvSpPr>
          <p:spPr>
            <a:xfrm>
              <a:off x="3402105" y="6303254"/>
              <a:ext cx="5822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dirty="0">
                  <a:solidFill>
                    <a:schemeClr val="dk1"/>
                  </a:solidFill>
                  <a:latin typeface="Calibri"/>
                  <a:ea typeface="Calibri"/>
                  <a:cs typeface="Calibri"/>
                  <a:sym typeface="Calibri"/>
                </a:rPr>
                <a:t>Categorical</a:t>
              </a:r>
              <a:r>
                <a:rPr lang="en-US" sz="1800" b="0" i="0" u="none" strike="noStrike" cap="none" dirty="0">
                  <a:solidFill>
                    <a:schemeClr val="dk1"/>
                  </a:solidFill>
                  <a:latin typeface="Calibri"/>
                  <a:ea typeface="Calibri"/>
                  <a:cs typeface="Calibri"/>
                  <a:sym typeface="Calibri"/>
                </a:rPr>
                <a:t> variable of interest</a:t>
              </a:r>
              <a:endParaRPr sz="1400" b="0" i="0" u="none" strike="noStrike" cap="none" dirty="0">
                <a:solidFill>
                  <a:srgbClr val="000000"/>
                </a:solidFill>
                <a:latin typeface="Arial"/>
                <a:ea typeface="Arial"/>
                <a:cs typeface="Arial"/>
                <a:sym typeface="Arial"/>
              </a:endParaRPr>
            </a:p>
          </p:txBody>
        </p:sp>
      </p:grpSp>
      <p:grpSp>
        <p:nvGrpSpPr>
          <p:cNvPr id="16" name="Google Shape;338;g35766d32465_2_86">
            <a:extLst>
              <a:ext uri="{FF2B5EF4-FFF2-40B4-BE49-F238E27FC236}">
                <a16:creationId xmlns:a16="http://schemas.microsoft.com/office/drawing/2014/main" id="{AC294A08-0484-ABED-B70D-FE4A88A65507}"/>
              </a:ext>
            </a:extLst>
          </p:cNvPr>
          <p:cNvGrpSpPr/>
          <p:nvPr/>
        </p:nvGrpSpPr>
        <p:grpSpPr>
          <a:xfrm>
            <a:off x="9721038" y="1748896"/>
            <a:ext cx="1906700" cy="2310154"/>
            <a:chOff x="1819137" y="2832427"/>
            <a:chExt cx="1906700" cy="2310154"/>
          </a:xfrm>
        </p:grpSpPr>
        <p:sp>
          <p:nvSpPr>
            <p:cNvPr id="17" name="Google Shape;339;g35766d32465_2_86">
              <a:extLst>
                <a:ext uri="{FF2B5EF4-FFF2-40B4-BE49-F238E27FC236}">
                  <a16:creationId xmlns:a16="http://schemas.microsoft.com/office/drawing/2014/main" id="{BE2FEE3C-95B0-C52C-CEE8-93A5FACC69E8}"/>
                </a:ext>
              </a:extLst>
            </p:cNvPr>
            <p:cNvSpPr/>
            <p:nvPr/>
          </p:nvSpPr>
          <p:spPr>
            <a:xfrm>
              <a:off x="1819137" y="2832427"/>
              <a:ext cx="609963" cy="2310154"/>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 name="Google Shape;340;g35766d32465_2_86">
              <a:extLst>
                <a:ext uri="{FF2B5EF4-FFF2-40B4-BE49-F238E27FC236}">
                  <a16:creationId xmlns:a16="http://schemas.microsoft.com/office/drawing/2014/main" id="{49A3F62E-D9BD-CDB5-98F5-F9164A2EF823}"/>
                </a:ext>
              </a:extLst>
            </p:cNvPr>
            <p:cNvSpPr txBox="1"/>
            <p:nvPr/>
          </p:nvSpPr>
          <p:spPr>
            <a:xfrm>
              <a:off x="2367737" y="3273927"/>
              <a:ext cx="1358100"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dirty="0">
                  <a:solidFill>
                    <a:schemeClr val="dk1"/>
                  </a:solidFill>
                  <a:latin typeface="Calibri"/>
                  <a:ea typeface="Calibri"/>
                  <a:cs typeface="Calibri"/>
                  <a:sym typeface="Calibri"/>
                </a:rPr>
                <a:t>Categorical</a:t>
              </a:r>
              <a:r>
                <a:rPr lang="en-US" sz="1800" b="0" i="0" u="none" strike="noStrike" cap="none" dirty="0">
                  <a:solidFill>
                    <a:schemeClr val="dk1"/>
                  </a:solidFill>
                  <a:latin typeface="Calibri"/>
                  <a:ea typeface="Calibri"/>
                  <a:cs typeface="Calibri"/>
                  <a:sym typeface="Calibri"/>
                </a:rPr>
                <a:t> variable of interest 2</a:t>
              </a:r>
              <a:endParaRPr sz="1400" b="0" i="0" u="none" strike="noStrike" cap="none"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48302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7C2F2-CC7D-DB40-7B56-78670EC629E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59EF2E-7BDE-A78F-C544-E11E0C5C4EE8}"/>
              </a:ext>
            </a:extLst>
          </p:cNvPr>
          <p:cNvSpPr>
            <a:spLocks noGrp="1"/>
          </p:cNvSpPr>
          <p:nvPr>
            <p:ph type="title"/>
          </p:nvPr>
        </p:nvSpPr>
        <p:spPr/>
        <p:txBody>
          <a:bodyPr>
            <a:normAutofit fontScale="90000"/>
          </a:bodyPr>
          <a:lstStyle/>
          <a:p>
            <a:r>
              <a:rPr lang="en-US" dirty="0"/>
              <a:t>Caution when using Bar plots for continuous data -- may mask important aspects</a:t>
            </a:r>
          </a:p>
        </p:txBody>
      </p:sp>
      <p:pic>
        <p:nvPicPr>
          <p:cNvPr id="7" name="Graphic 6">
            <a:extLst>
              <a:ext uri="{FF2B5EF4-FFF2-40B4-BE49-F238E27FC236}">
                <a16:creationId xmlns:a16="http://schemas.microsoft.com/office/drawing/2014/main" id="{F05515AC-D589-480D-9715-6EBA28DFD070}"/>
              </a:ext>
            </a:extLst>
          </p:cNvPr>
          <p:cNvPicPr>
            <a:picLocks noChangeAspect="1"/>
          </p:cNvPicPr>
          <p:nvPr/>
        </p:nvPicPr>
        <p:blipFill>
          <a:blip>
            <a:extLst>
              <a:ext uri="{96DAC541-7B7A-43D3-8B79-37D633B846F1}">
                <asvg:svgBlip xmlns:asvg="http://schemas.microsoft.com/office/drawing/2016/SVG/main" r:embed="rId3"/>
              </a:ext>
            </a:extLst>
          </a:blip>
          <a:srcRect t="28808"/>
          <a:stretch>
            <a:fillRect/>
          </a:stretch>
        </p:blipFill>
        <p:spPr>
          <a:xfrm>
            <a:off x="790270" y="2303318"/>
            <a:ext cx="10611460" cy="3726873"/>
          </a:xfrm>
          <a:prstGeom prst="rect">
            <a:avLst/>
          </a:prstGeom>
        </p:spPr>
      </p:pic>
      <p:sp>
        <p:nvSpPr>
          <p:cNvPr id="2" name="TextBox 1">
            <a:extLst>
              <a:ext uri="{FF2B5EF4-FFF2-40B4-BE49-F238E27FC236}">
                <a16:creationId xmlns:a16="http://schemas.microsoft.com/office/drawing/2014/main" id="{56BE031B-3C49-A777-9D34-ACBEC2F7C288}"/>
              </a:ext>
            </a:extLst>
          </p:cNvPr>
          <p:cNvSpPr txBox="1"/>
          <p:nvPr/>
        </p:nvSpPr>
        <p:spPr>
          <a:xfrm>
            <a:off x="2032580" y="6272784"/>
            <a:ext cx="8126840" cy="369332"/>
          </a:xfrm>
          <a:prstGeom prst="rect">
            <a:avLst/>
          </a:prstGeom>
          <a:noFill/>
        </p:spPr>
        <p:txBody>
          <a:bodyPr wrap="none" rtlCol="0">
            <a:spAutoFit/>
          </a:bodyPr>
          <a:lstStyle/>
          <a:p>
            <a:r>
              <a:rPr lang="en-US" dirty="0"/>
              <a:t>https://</a:t>
            </a:r>
            <a:r>
              <a:rPr lang="en-US" dirty="0" err="1"/>
              <a:t>knowablemagazine.org</a:t>
            </a:r>
            <a:r>
              <a:rPr lang="en-US" dirty="0"/>
              <a:t>/content/article/mind/2019/science-data-visualization</a:t>
            </a:r>
          </a:p>
        </p:txBody>
      </p:sp>
    </p:spTree>
    <p:extLst>
      <p:ext uri="{BB962C8B-B14F-4D97-AF65-F5344CB8AC3E}">
        <p14:creationId xmlns:p14="http://schemas.microsoft.com/office/powerpoint/2010/main" val="35557872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321"/>
        <p:cNvGrpSpPr/>
        <p:nvPr/>
      </p:nvGrpSpPr>
      <p:grpSpPr>
        <a:xfrm>
          <a:off x="0" y="0"/>
          <a:ext cx="0" cy="0"/>
          <a:chOff x="0" y="0"/>
          <a:chExt cx="0" cy="0"/>
        </a:xfrm>
      </p:grpSpPr>
      <p:sp>
        <p:nvSpPr>
          <p:cNvPr id="322" name="Google Shape;322;g35766d32465_2_78"/>
          <p:cNvSpPr txBox="1">
            <a:spLocks noGrp="1"/>
          </p:cNvSpPr>
          <p:nvPr>
            <p:ph type="body" idx="1"/>
          </p:nvPr>
        </p:nvSpPr>
        <p:spPr>
          <a:xfrm>
            <a:off x="5025250" y="1837450"/>
            <a:ext cx="6328500" cy="3937800"/>
          </a:xfrm>
          <a:prstGeom prst="rect">
            <a:avLst/>
          </a:prstGeom>
          <a:noFill/>
          <a:ln>
            <a:noFill/>
          </a:ln>
        </p:spPr>
        <p:txBody>
          <a:bodyPr spcFirstLastPara="1" wrap="square" lIns="91425" tIns="45700" rIns="91425" bIns="45700" anchor="t" anchorCtr="0">
            <a:normAutofit/>
          </a:bodyPr>
          <a:lstStyle/>
          <a:p>
            <a:pPr marL="342900" lvl="0" algn="l" rtl="0">
              <a:lnSpc>
                <a:spcPct val="100000"/>
              </a:lnSpc>
              <a:spcBef>
                <a:spcPts val="0"/>
              </a:spcBef>
              <a:spcAft>
                <a:spcPts val="0"/>
              </a:spcAft>
              <a:buClr>
                <a:schemeClr val="accent1"/>
              </a:buClr>
              <a:buSzPts val="4200"/>
              <a:buChar char="•"/>
            </a:pPr>
            <a:r>
              <a:rPr lang="en-US" sz="3000" dirty="0"/>
              <a:t>2 separate variables represented on x- and y-axes</a:t>
            </a:r>
            <a:endParaRPr sz="3000" dirty="0"/>
          </a:p>
          <a:p>
            <a:pPr marL="342900" lvl="0" algn="l" rtl="0">
              <a:lnSpc>
                <a:spcPct val="100000"/>
              </a:lnSpc>
              <a:spcBef>
                <a:spcPts val="0"/>
              </a:spcBef>
              <a:spcAft>
                <a:spcPts val="0"/>
              </a:spcAft>
              <a:buClr>
                <a:schemeClr val="accent1"/>
              </a:buClr>
              <a:buSzPts val="4200"/>
              <a:buChar char="•"/>
            </a:pPr>
            <a:r>
              <a:rPr lang="en-US" sz="3000" dirty="0"/>
              <a:t>Each dot represents a single data point or transaction</a:t>
            </a:r>
            <a:endParaRPr sz="3000" dirty="0"/>
          </a:p>
          <a:p>
            <a:pPr marL="342900" lvl="0" algn="l" rtl="0">
              <a:lnSpc>
                <a:spcPct val="100000"/>
              </a:lnSpc>
              <a:spcBef>
                <a:spcPts val="0"/>
              </a:spcBef>
              <a:spcAft>
                <a:spcPts val="0"/>
              </a:spcAft>
              <a:buClr>
                <a:schemeClr val="accent1"/>
              </a:buClr>
              <a:buSzPts val="4200"/>
              <a:buChar char="•"/>
            </a:pPr>
            <a:r>
              <a:rPr lang="en-US" sz="3000" dirty="0"/>
              <a:t>Lab context: each dot is a single sample with two variables (e.g. methods)</a:t>
            </a:r>
            <a:endParaRPr sz="3000" dirty="0"/>
          </a:p>
        </p:txBody>
      </p:sp>
      <p:sp>
        <p:nvSpPr>
          <p:cNvPr id="323" name="Google Shape;323;g35766d32465_2_78"/>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B01F24"/>
              </a:buClr>
              <a:buSzPct val="100000"/>
              <a:buFont typeface="Arial"/>
              <a:buNone/>
            </a:pPr>
            <a:r>
              <a:rPr lang="en-US" dirty="0"/>
              <a:t>Scatterplots show relationships between quantitative variables</a:t>
            </a:r>
            <a:endParaRPr dirty="0"/>
          </a:p>
        </p:txBody>
      </p:sp>
      <p:sp>
        <p:nvSpPr>
          <p:cNvPr id="324" name="Google Shape;324;g35766d32465_2_78"/>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25" name="Google Shape;325;g35766d32465_2_78"/>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35</a:t>
            </a:fld>
            <a:endParaRPr/>
          </a:p>
        </p:txBody>
      </p:sp>
      <p:pic>
        <p:nvPicPr>
          <p:cNvPr id="326" name="Google Shape;326;g35766d32465_2_7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6300" y="2471702"/>
            <a:ext cx="3897800" cy="25535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g35766d32465_2_86"/>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a:t>Example: correlation between liver enzymes</a:t>
            </a:r>
            <a:endParaRPr/>
          </a:p>
        </p:txBody>
      </p:sp>
      <p:sp>
        <p:nvSpPr>
          <p:cNvPr id="332" name="Google Shape;332;g35766d32465_2_86"/>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33" name="Google Shape;333;g35766d32465_2_86"/>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36</a:t>
            </a:fld>
            <a:endParaRPr/>
          </a:p>
        </p:txBody>
      </p:sp>
      <p:pic>
        <p:nvPicPr>
          <p:cNvPr id="334" name="Google Shape;334;g35766d32465_2_86" descr="A graph showing a number of dots&#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209800" y="1508245"/>
            <a:ext cx="7772398" cy="4797113"/>
          </a:xfrm>
          <a:prstGeom prst="rect">
            <a:avLst/>
          </a:prstGeom>
          <a:noFill/>
          <a:ln>
            <a:noFill/>
          </a:ln>
        </p:spPr>
      </p:pic>
      <p:grpSp>
        <p:nvGrpSpPr>
          <p:cNvPr id="335" name="Google Shape;335;g35766d32465_2_86"/>
          <p:cNvGrpSpPr/>
          <p:nvPr/>
        </p:nvGrpSpPr>
        <p:grpSpPr>
          <a:xfrm>
            <a:off x="3402105" y="5940232"/>
            <a:ext cx="5822700" cy="732322"/>
            <a:chOff x="3402105" y="5940232"/>
            <a:chExt cx="5822700" cy="732322"/>
          </a:xfrm>
        </p:grpSpPr>
        <p:sp>
          <p:nvSpPr>
            <p:cNvPr id="336" name="Google Shape;336;g35766d32465_2_86"/>
            <p:cNvSpPr/>
            <p:nvPr/>
          </p:nvSpPr>
          <p:spPr>
            <a:xfrm>
              <a:off x="4894730" y="5940232"/>
              <a:ext cx="2837400" cy="3651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 name="Google Shape;337;g35766d32465_2_86"/>
            <p:cNvSpPr txBox="1"/>
            <p:nvPr/>
          </p:nvSpPr>
          <p:spPr>
            <a:xfrm>
              <a:off x="3402105" y="6303254"/>
              <a:ext cx="5822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Numeric variable of interest 1</a:t>
              </a:r>
              <a:endParaRPr sz="1400" b="0" i="0" u="none" strike="noStrike" cap="none">
                <a:solidFill>
                  <a:srgbClr val="000000"/>
                </a:solidFill>
                <a:latin typeface="Arial"/>
                <a:ea typeface="Arial"/>
                <a:cs typeface="Arial"/>
                <a:sym typeface="Arial"/>
              </a:endParaRPr>
            </a:p>
          </p:txBody>
        </p:sp>
      </p:grpSp>
      <p:grpSp>
        <p:nvGrpSpPr>
          <p:cNvPr id="338" name="Google Shape;338;g35766d32465_2_86"/>
          <p:cNvGrpSpPr/>
          <p:nvPr/>
        </p:nvGrpSpPr>
        <p:grpSpPr>
          <a:xfrm>
            <a:off x="697007" y="2511155"/>
            <a:ext cx="1871293" cy="2608800"/>
            <a:chOff x="697007" y="2511155"/>
            <a:chExt cx="1871293" cy="2608800"/>
          </a:xfrm>
        </p:grpSpPr>
        <p:sp>
          <p:nvSpPr>
            <p:cNvPr id="339" name="Google Shape;339;g35766d32465_2_86"/>
            <p:cNvSpPr/>
            <p:nvPr/>
          </p:nvSpPr>
          <p:spPr>
            <a:xfrm>
              <a:off x="2209800" y="2511155"/>
              <a:ext cx="358500" cy="2608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0" name="Google Shape;340;g35766d32465_2_86"/>
            <p:cNvSpPr txBox="1"/>
            <p:nvPr/>
          </p:nvSpPr>
          <p:spPr>
            <a:xfrm>
              <a:off x="697007" y="3353855"/>
              <a:ext cx="1358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Numeric variable of interest 2</a:t>
              </a:r>
              <a:endParaRPr sz="1400" b="0" i="0" u="none" strike="noStrike" cap="none">
                <a:solidFill>
                  <a:srgbClr val="000000"/>
                </a:solidFill>
                <a:latin typeface="Arial"/>
                <a:ea typeface="Arial"/>
                <a:cs typeface="Arial"/>
                <a:sym typeface="Arial"/>
              </a:endParaRPr>
            </a:p>
          </p:txBody>
        </p:sp>
      </p:grpSp>
      <p:grpSp>
        <p:nvGrpSpPr>
          <p:cNvPr id="341" name="Google Shape;341;g35766d32465_2_86"/>
          <p:cNvGrpSpPr/>
          <p:nvPr/>
        </p:nvGrpSpPr>
        <p:grpSpPr>
          <a:xfrm>
            <a:off x="6933394" y="2739236"/>
            <a:ext cx="2495376" cy="1010132"/>
            <a:chOff x="6933394" y="2739236"/>
            <a:chExt cx="2495376" cy="1010132"/>
          </a:xfrm>
        </p:grpSpPr>
        <p:cxnSp>
          <p:nvCxnSpPr>
            <p:cNvPr id="342" name="Google Shape;342;g35766d32465_2_86"/>
            <p:cNvCxnSpPr/>
            <p:nvPr/>
          </p:nvCxnSpPr>
          <p:spPr>
            <a:xfrm flipH="1">
              <a:off x="6933394" y="3108568"/>
              <a:ext cx="516600" cy="640800"/>
            </a:xfrm>
            <a:prstGeom prst="straightConnector1">
              <a:avLst/>
            </a:prstGeom>
            <a:noFill/>
            <a:ln w="38100" cap="flat" cmpd="sng">
              <a:solidFill>
                <a:schemeClr val="accent1"/>
              </a:solidFill>
              <a:prstDash val="solid"/>
              <a:miter lim="800000"/>
              <a:headEnd type="none" w="sm" len="sm"/>
              <a:tailEnd type="triangle" w="med" len="med"/>
            </a:ln>
          </p:spPr>
        </p:cxnSp>
        <p:sp>
          <p:nvSpPr>
            <p:cNvPr id="343" name="Google Shape;343;g35766d32465_2_86"/>
            <p:cNvSpPr txBox="1"/>
            <p:nvPr/>
          </p:nvSpPr>
          <p:spPr>
            <a:xfrm>
              <a:off x="7487770" y="2739236"/>
              <a:ext cx="1941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Single observation</a:t>
              </a:r>
              <a:endParaRPr sz="1400" b="0" i="0" u="none" strike="noStrike" cap="none">
                <a:solidFill>
                  <a:srgbClr val="000000"/>
                </a:solidFill>
                <a:latin typeface="Arial"/>
                <a:ea typeface="Arial"/>
                <a:cs typeface="Arial"/>
                <a:sym typeface="Arial"/>
              </a:endParaRPr>
            </a:p>
          </p:txBody>
        </p:sp>
      </p:grpSp>
      <p:grpSp>
        <p:nvGrpSpPr>
          <p:cNvPr id="344" name="Google Shape;344;g35766d32465_2_86"/>
          <p:cNvGrpSpPr/>
          <p:nvPr/>
        </p:nvGrpSpPr>
        <p:grpSpPr>
          <a:xfrm>
            <a:off x="3402247" y="2866150"/>
            <a:ext cx="2236083" cy="2253770"/>
            <a:chOff x="3402247" y="2866150"/>
            <a:chExt cx="2236083" cy="2253770"/>
          </a:xfrm>
        </p:grpSpPr>
        <p:cxnSp>
          <p:nvCxnSpPr>
            <p:cNvPr id="345" name="Google Shape;345;g35766d32465_2_86"/>
            <p:cNvCxnSpPr/>
            <p:nvPr/>
          </p:nvCxnSpPr>
          <p:spPr>
            <a:xfrm flipH="1">
              <a:off x="3402247" y="3815520"/>
              <a:ext cx="268800" cy="1304400"/>
            </a:xfrm>
            <a:prstGeom prst="straightConnector1">
              <a:avLst/>
            </a:prstGeom>
            <a:noFill/>
            <a:ln w="38100" cap="flat" cmpd="sng">
              <a:solidFill>
                <a:schemeClr val="accent1"/>
              </a:solidFill>
              <a:prstDash val="solid"/>
              <a:miter lim="800000"/>
              <a:headEnd type="none" w="sm" len="sm"/>
              <a:tailEnd type="triangle" w="med" len="med"/>
            </a:ln>
          </p:spPr>
        </p:cxnSp>
        <p:sp>
          <p:nvSpPr>
            <p:cNvPr id="346" name="Google Shape;346;g35766d32465_2_86"/>
            <p:cNvSpPr txBox="1"/>
            <p:nvPr/>
          </p:nvSpPr>
          <p:spPr>
            <a:xfrm>
              <a:off x="3580930" y="2866150"/>
              <a:ext cx="2057400" cy="923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High density may obscure number of observations</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0F3CB29C-479A-4884-BCE9-F8A2FD6EED1F}"/>
            </a:ext>
          </a:extLst>
        </p:cNvPr>
        <p:cNvGrpSpPr/>
        <p:nvPr/>
      </p:nvGrpSpPr>
      <p:grpSpPr>
        <a:xfrm>
          <a:off x="0" y="0"/>
          <a:ext cx="0" cy="0"/>
          <a:chOff x="0" y="0"/>
          <a:chExt cx="0" cy="0"/>
        </a:xfrm>
      </p:grpSpPr>
      <p:sp>
        <p:nvSpPr>
          <p:cNvPr id="188" name="Google Shape;188;p2">
            <a:extLst>
              <a:ext uri="{FF2B5EF4-FFF2-40B4-BE49-F238E27FC236}">
                <a16:creationId xmlns:a16="http://schemas.microsoft.com/office/drawing/2014/main" id="{0DD5852C-B6D8-D5B8-37B0-B0559CAC569E}"/>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dirty="0"/>
              <a:t>quantitative relationships</a:t>
            </a:r>
            <a:endParaRPr dirty="0"/>
          </a:p>
        </p:txBody>
      </p:sp>
      <p:sp>
        <p:nvSpPr>
          <p:cNvPr id="189" name="Google Shape;189;p2">
            <a:extLst>
              <a:ext uri="{FF2B5EF4-FFF2-40B4-BE49-F238E27FC236}">
                <a16:creationId xmlns:a16="http://schemas.microsoft.com/office/drawing/2014/main" id="{932DACE1-E3BA-081F-903E-BBA6AD692F4A}"/>
              </a:ext>
            </a:extLst>
          </p:cNvPr>
          <p:cNvSpPr txBox="1">
            <a:spLocks noGrp="1"/>
          </p:cNvSpPr>
          <p:nvPr>
            <p:ph idx="1"/>
          </p:nvPr>
        </p:nvSpPr>
        <p:spPr>
          <a:xfrm>
            <a:off x="644785" y="2249424"/>
            <a:ext cx="10192548" cy="4023360"/>
          </a:xfrm>
          <a:prstGeom prst="rect">
            <a:avLst/>
          </a:prstGeom>
          <a:noFill/>
          <a:ln>
            <a:noFill/>
          </a:ln>
        </p:spPr>
        <p:txBody>
          <a:bodyPr spcFirstLastPara="1" wrap="square" lIns="91425" tIns="45700" rIns="91425" bIns="45700" anchor="t" anchorCtr="0">
            <a:noAutofit/>
          </a:bodyPr>
          <a:lstStyle/>
          <a:p>
            <a:pPr marL="22860" indent="0">
              <a:spcBef>
                <a:spcPts val="500"/>
              </a:spcBef>
              <a:buSzPts val="1800"/>
              <a:buNone/>
            </a:pPr>
            <a:r>
              <a:rPr lang="en-US" sz="2800" dirty="0"/>
              <a:t>Return to the </a:t>
            </a:r>
            <a:r>
              <a:rPr lang="en-US" sz="2800" dirty="0">
                <a:solidFill>
                  <a:srgbClr val="0070C0"/>
                </a:solidFill>
              </a:rPr>
              <a:t>Module 3 Exercises</a:t>
            </a:r>
            <a:r>
              <a:rPr lang="en-US" sz="2800" dirty="0"/>
              <a:t> Quarto file in RStudio and complete the Quantitative Relationships section. </a:t>
            </a:r>
          </a:p>
          <a:p>
            <a:pPr marL="22860" indent="0">
              <a:spcBef>
                <a:spcPts val="500"/>
              </a:spcBef>
              <a:buSzPts val="1800"/>
              <a:buNone/>
            </a:pPr>
            <a:endParaRPr lang="en-US" sz="2800" dirty="0"/>
          </a:p>
          <a:p>
            <a:pPr marL="22860" indent="0">
              <a:spcBef>
                <a:spcPts val="500"/>
              </a:spcBef>
              <a:buSzPts val="1800"/>
              <a:buNone/>
            </a:pPr>
            <a:r>
              <a:rPr lang="en-US" sz="2800" dirty="0"/>
              <a:t>Review the example for how to create a scatterplot with </a:t>
            </a:r>
            <a:r>
              <a:rPr lang="en-US" sz="2800" dirty="0" err="1"/>
              <a:t>ggplot</a:t>
            </a:r>
            <a:r>
              <a:rPr lang="en-US" sz="2800" dirty="0"/>
              <a:t> and then build your own comparing 2 quantitative variables. Add a third variable to the plot, with Claude’s assistance, if needed.</a:t>
            </a:r>
          </a:p>
          <a:p>
            <a:pPr marL="22860" indent="0">
              <a:spcBef>
                <a:spcPts val="500"/>
              </a:spcBef>
              <a:buSzPts val="1800"/>
              <a:buNone/>
            </a:pPr>
            <a:endParaRPr lang="en-US" sz="2800" dirty="0"/>
          </a:p>
          <a:p>
            <a:pPr marL="22860" indent="0">
              <a:spcBef>
                <a:spcPts val="500"/>
              </a:spcBef>
              <a:buSzPts val="1800"/>
              <a:buNone/>
            </a:pPr>
            <a:r>
              <a:rPr lang="en-US" sz="2800" dirty="0"/>
              <a:t>Stop where it says </a:t>
            </a:r>
            <a:r>
              <a:rPr lang="en-US" sz="2800" b="1" dirty="0"/>
              <a:t>Stop Here.</a:t>
            </a:r>
          </a:p>
        </p:txBody>
      </p:sp>
      <p:sp>
        <p:nvSpPr>
          <p:cNvPr id="190" name="Google Shape;190;p2">
            <a:extLst>
              <a:ext uri="{FF2B5EF4-FFF2-40B4-BE49-F238E27FC236}">
                <a16:creationId xmlns:a16="http://schemas.microsoft.com/office/drawing/2014/main" id="{042380F2-F696-EBD1-0274-BE2CA1CBCE8C}"/>
              </a:ext>
            </a:extLst>
          </p:cNvPr>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37</a:t>
            </a:fld>
            <a:endParaRPr/>
          </a:p>
        </p:txBody>
      </p:sp>
      <p:sp>
        <p:nvSpPr>
          <p:cNvPr id="6" name="TextBox 5">
            <a:extLst>
              <a:ext uri="{FF2B5EF4-FFF2-40B4-BE49-F238E27FC236}">
                <a16:creationId xmlns:a16="http://schemas.microsoft.com/office/drawing/2014/main" id="{196108E1-D126-A127-F23F-DADB5B5EDDE1}"/>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31557606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350"/>
        <p:cNvGrpSpPr/>
        <p:nvPr/>
      </p:nvGrpSpPr>
      <p:grpSpPr>
        <a:xfrm>
          <a:off x="0" y="0"/>
          <a:ext cx="0" cy="0"/>
          <a:chOff x="0" y="0"/>
          <a:chExt cx="0" cy="0"/>
        </a:xfrm>
      </p:grpSpPr>
      <p:sp>
        <p:nvSpPr>
          <p:cNvPr id="351" name="Google Shape;351;g35766d32465_2_105"/>
          <p:cNvSpPr txBox="1">
            <a:spLocks noGrp="1"/>
          </p:cNvSpPr>
          <p:nvPr>
            <p:ph type="body" idx="1"/>
          </p:nvPr>
        </p:nvSpPr>
        <p:spPr>
          <a:xfrm>
            <a:off x="5285400" y="1825625"/>
            <a:ext cx="6068400" cy="3937800"/>
          </a:xfrm>
          <a:prstGeom prst="rect">
            <a:avLst/>
          </a:prstGeom>
          <a:noFill/>
          <a:ln>
            <a:noFill/>
          </a:ln>
        </p:spPr>
        <p:txBody>
          <a:bodyPr spcFirstLastPara="1" wrap="square" lIns="91425" tIns="45700" rIns="91425" bIns="45700" anchor="t" anchorCtr="0">
            <a:noAutofit/>
          </a:bodyPr>
          <a:lstStyle/>
          <a:p>
            <a:pPr marL="279400" lvl="0" indent="-279400" algn="l" rtl="0">
              <a:lnSpc>
                <a:spcPct val="100000"/>
              </a:lnSpc>
              <a:spcBef>
                <a:spcPts val="0"/>
              </a:spcBef>
              <a:spcAft>
                <a:spcPts val="0"/>
              </a:spcAft>
              <a:buClr>
                <a:schemeClr val="accent1"/>
              </a:buClr>
              <a:buSzPts val="4200"/>
              <a:buChar char="•"/>
            </a:pPr>
            <a:r>
              <a:rPr lang="en-US" sz="3000" dirty="0"/>
              <a:t>Another representation of 2 separate variables, with one being ordered</a:t>
            </a:r>
            <a:endParaRPr sz="3000" dirty="0"/>
          </a:p>
          <a:p>
            <a:pPr marL="279400" lvl="0" indent="-279400" algn="l" rtl="0">
              <a:lnSpc>
                <a:spcPct val="100000"/>
              </a:lnSpc>
              <a:spcBef>
                <a:spcPts val="1000"/>
              </a:spcBef>
              <a:spcAft>
                <a:spcPts val="0"/>
              </a:spcAft>
              <a:buClr>
                <a:schemeClr val="accent1"/>
              </a:buClr>
              <a:buSzPts val="4200"/>
              <a:buChar char="•"/>
            </a:pPr>
            <a:r>
              <a:rPr lang="en-US" sz="3000" dirty="0"/>
              <a:t>Ordered variable most commonly = time</a:t>
            </a:r>
            <a:endParaRPr sz="3000" dirty="0"/>
          </a:p>
          <a:p>
            <a:pPr marL="279400" lvl="0" indent="-279400" algn="l" rtl="0">
              <a:lnSpc>
                <a:spcPct val="100000"/>
              </a:lnSpc>
              <a:spcBef>
                <a:spcPts val="1000"/>
              </a:spcBef>
              <a:spcAft>
                <a:spcPts val="0"/>
              </a:spcAft>
              <a:buClr>
                <a:schemeClr val="accent1"/>
              </a:buClr>
              <a:buSzPts val="4200"/>
              <a:buChar char="•"/>
            </a:pPr>
            <a:r>
              <a:rPr lang="en-US" sz="3000" dirty="0"/>
              <a:t>Data points connected to help visualize change across the ordered variable</a:t>
            </a:r>
            <a:endParaRPr sz="3000" dirty="0"/>
          </a:p>
        </p:txBody>
      </p:sp>
      <p:sp>
        <p:nvSpPr>
          <p:cNvPr id="352" name="Google Shape;352;g35766d32465_2_105"/>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dirty="0"/>
              <a:t>Line charts help visualize trends over time</a:t>
            </a:r>
            <a:endParaRPr dirty="0"/>
          </a:p>
        </p:txBody>
      </p:sp>
      <p:sp>
        <p:nvSpPr>
          <p:cNvPr id="353" name="Google Shape;353;g35766d32465_2_105"/>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54" name="Google Shape;354;g35766d32465_2_105"/>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38</a:t>
            </a:fld>
            <a:endParaRPr/>
          </a:p>
        </p:txBody>
      </p:sp>
      <p:pic>
        <p:nvPicPr>
          <p:cNvPr id="355" name="Google Shape;355;g35766d32465_2_10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01025" y="2529043"/>
            <a:ext cx="4804101" cy="2530972"/>
          </a:xfrm>
          <a:prstGeom prst="rect">
            <a:avLst/>
          </a:prstGeom>
          <a:noFill/>
          <a:ln>
            <a:noFill/>
          </a:ln>
        </p:spPr>
      </p:pic>
      <p:grpSp>
        <p:nvGrpSpPr>
          <p:cNvPr id="356" name="Google Shape;356;g35766d32465_2_105"/>
          <p:cNvGrpSpPr/>
          <p:nvPr/>
        </p:nvGrpSpPr>
        <p:grpSpPr>
          <a:xfrm>
            <a:off x="337080" y="2428022"/>
            <a:ext cx="4531990" cy="2798557"/>
            <a:chOff x="337080" y="2428022"/>
            <a:chExt cx="4531990" cy="2798557"/>
          </a:xfrm>
        </p:grpSpPr>
        <p:pic>
          <p:nvPicPr>
            <p:cNvPr id="357" name="Google Shape;357;g35766d32465_2_105" descr="A graph with a line and a line&#10;&#10;AI-generated content may be incorrect."/>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37080" y="2428022"/>
              <a:ext cx="4531990" cy="2235871"/>
            </a:xfrm>
            <a:prstGeom prst="rect">
              <a:avLst/>
            </a:prstGeom>
            <a:noFill/>
            <a:ln>
              <a:noFill/>
            </a:ln>
          </p:spPr>
        </p:pic>
        <p:sp>
          <p:nvSpPr>
            <p:cNvPr id="358" name="Google Shape;358;g35766d32465_2_105"/>
            <p:cNvSpPr txBox="1"/>
            <p:nvPr/>
          </p:nvSpPr>
          <p:spPr>
            <a:xfrm>
              <a:off x="387133" y="4764914"/>
              <a:ext cx="4431883"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400" b="0" i="0" u="none" strike="noStrike" cap="none">
                  <a:solidFill>
                    <a:srgbClr val="000000"/>
                  </a:solidFill>
                  <a:latin typeface="Arial"/>
                  <a:ea typeface="Arial"/>
                  <a:cs typeface="Arial"/>
                  <a:sym typeface="Arial"/>
                </a:rPr>
                <a:t>Levey-Jennings Chart</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362"/>
        <p:cNvGrpSpPr/>
        <p:nvPr/>
      </p:nvGrpSpPr>
      <p:grpSpPr>
        <a:xfrm>
          <a:off x="0" y="0"/>
          <a:ext cx="0" cy="0"/>
          <a:chOff x="0" y="0"/>
          <a:chExt cx="0" cy="0"/>
        </a:xfrm>
      </p:grpSpPr>
      <p:sp>
        <p:nvSpPr>
          <p:cNvPr id="363" name="Google Shape;363;g35766d32465_2_113"/>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a:t>Example: SARS-CoV 2 positivity rates over time</a:t>
            </a:r>
            <a:endParaRPr/>
          </a:p>
        </p:txBody>
      </p:sp>
      <p:sp>
        <p:nvSpPr>
          <p:cNvPr id="364" name="Google Shape;364;g35766d32465_2_113"/>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65" name="Google Shape;365;g35766d32465_2_113"/>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39</a:t>
            </a:fld>
            <a:endParaRPr/>
          </a:p>
        </p:txBody>
      </p:sp>
      <p:pic>
        <p:nvPicPr>
          <p:cNvPr id="366" name="Google Shape;366;g35766d32465_2_113" descr="A graph showing the percentage of positivity&#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209800" y="1506365"/>
            <a:ext cx="7772401" cy="4798993"/>
          </a:xfrm>
          <a:prstGeom prst="rect">
            <a:avLst/>
          </a:prstGeom>
          <a:noFill/>
          <a:ln>
            <a:noFill/>
          </a:ln>
        </p:spPr>
      </p:pic>
      <p:grpSp>
        <p:nvGrpSpPr>
          <p:cNvPr id="367" name="Google Shape;367;g35766d32465_2_113"/>
          <p:cNvGrpSpPr/>
          <p:nvPr/>
        </p:nvGrpSpPr>
        <p:grpSpPr>
          <a:xfrm>
            <a:off x="697007" y="2861186"/>
            <a:ext cx="1871293" cy="2035200"/>
            <a:chOff x="697007" y="2861186"/>
            <a:chExt cx="1871293" cy="2035200"/>
          </a:xfrm>
        </p:grpSpPr>
        <p:sp>
          <p:nvSpPr>
            <p:cNvPr id="368" name="Google Shape;368;g35766d32465_2_113"/>
            <p:cNvSpPr/>
            <p:nvPr/>
          </p:nvSpPr>
          <p:spPr>
            <a:xfrm>
              <a:off x="2209800" y="2861186"/>
              <a:ext cx="358500" cy="20352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 name="Google Shape;369;g35766d32465_2_113"/>
            <p:cNvSpPr txBox="1"/>
            <p:nvPr/>
          </p:nvSpPr>
          <p:spPr>
            <a:xfrm>
              <a:off x="697007" y="3353855"/>
              <a:ext cx="1358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Numeric variable of interest</a:t>
              </a:r>
              <a:endParaRPr sz="1400" b="0" i="0" u="none" strike="noStrike" cap="none">
                <a:solidFill>
                  <a:srgbClr val="000000"/>
                </a:solidFill>
                <a:latin typeface="Arial"/>
                <a:ea typeface="Arial"/>
                <a:cs typeface="Arial"/>
                <a:sym typeface="Arial"/>
              </a:endParaRPr>
            </a:p>
          </p:txBody>
        </p:sp>
      </p:grpSp>
      <p:grpSp>
        <p:nvGrpSpPr>
          <p:cNvPr id="370" name="Google Shape;370;g35766d32465_2_113"/>
          <p:cNvGrpSpPr/>
          <p:nvPr/>
        </p:nvGrpSpPr>
        <p:grpSpPr>
          <a:xfrm>
            <a:off x="3402105" y="6029639"/>
            <a:ext cx="5822700" cy="642915"/>
            <a:chOff x="3402105" y="6029639"/>
            <a:chExt cx="5822700" cy="642915"/>
          </a:xfrm>
        </p:grpSpPr>
        <p:sp>
          <p:nvSpPr>
            <p:cNvPr id="371" name="Google Shape;371;g35766d32465_2_113"/>
            <p:cNvSpPr/>
            <p:nvPr/>
          </p:nvSpPr>
          <p:spPr>
            <a:xfrm>
              <a:off x="5899355" y="6029639"/>
              <a:ext cx="943800" cy="2736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2" name="Google Shape;372;g35766d32465_2_113"/>
            <p:cNvSpPr txBox="1"/>
            <p:nvPr/>
          </p:nvSpPr>
          <p:spPr>
            <a:xfrm>
              <a:off x="3402105" y="6303254"/>
              <a:ext cx="5822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Time variable</a:t>
              </a:r>
              <a:endParaRPr sz="1400" b="0" i="0" u="none" strike="noStrike" cap="none">
                <a:solidFill>
                  <a:srgbClr val="000000"/>
                </a:solidFill>
                <a:latin typeface="Arial"/>
                <a:ea typeface="Arial"/>
                <a:cs typeface="Arial"/>
                <a:sym typeface="Arial"/>
              </a:endParaRPr>
            </a:p>
          </p:txBody>
        </p:sp>
      </p:grpSp>
      <p:grpSp>
        <p:nvGrpSpPr>
          <p:cNvPr id="373" name="Google Shape;373;g35766d32465_2_113"/>
          <p:cNvGrpSpPr/>
          <p:nvPr/>
        </p:nvGrpSpPr>
        <p:grpSpPr>
          <a:xfrm>
            <a:off x="7169369" y="2356088"/>
            <a:ext cx="2495376" cy="1010132"/>
            <a:chOff x="6933394" y="2739236"/>
            <a:chExt cx="2495376" cy="1010132"/>
          </a:xfrm>
        </p:grpSpPr>
        <p:cxnSp>
          <p:nvCxnSpPr>
            <p:cNvPr id="374" name="Google Shape;374;g35766d32465_2_113"/>
            <p:cNvCxnSpPr/>
            <p:nvPr/>
          </p:nvCxnSpPr>
          <p:spPr>
            <a:xfrm flipH="1">
              <a:off x="6933394" y="3108568"/>
              <a:ext cx="516600" cy="640800"/>
            </a:xfrm>
            <a:prstGeom prst="straightConnector1">
              <a:avLst/>
            </a:prstGeom>
            <a:noFill/>
            <a:ln w="38100" cap="flat" cmpd="sng">
              <a:solidFill>
                <a:schemeClr val="accent1"/>
              </a:solidFill>
              <a:prstDash val="solid"/>
              <a:miter lim="800000"/>
              <a:headEnd type="none" w="sm" len="sm"/>
              <a:tailEnd type="triangle" w="med" len="med"/>
            </a:ln>
          </p:spPr>
        </p:cxnSp>
        <p:sp>
          <p:nvSpPr>
            <p:cNvPr id="375" name="Google Shape;375;g35766d32465_2_113"/>
            <p:cNvSpPr txBox="1"/>
            <p:nvPr/>
          </p:nvSpPr>
          <p:spPr>
            <a:xfrm>
              <a:off x="7487770" y="2739236"/>
              <a:ext cx="1941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Single observation</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F50313-FFB5-ECE6-D431-FD3C9ABE77A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5C3EED2-1040-0197-9BED-7C244CCD5C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DF0AE79A-7866-A1C3-4C27-CD0E79AB0A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424A180-3237-2957-D758-47C807212915}"/>
              </a:ext>
            </a:extLst>
          </p:cNvPr>
          <p:cNvSpPr>
            <a:spLocks noGrp="1"/>
          </p:cNvSpPr>
          <p:nvPr>
            <p:ph idx="1"/>
          </p:nvPr>
        </p:nvSpPr>
        <p:spPr>
          <a:xfrm>
            <a:off x="4999330" y="804333"/>
            <a:ext cx="7040265" cy="5249334"/>
          </a:xfrm>
        </p:spPr>
        <p:txBody>
          <a:bodyPr anchor="ctr">
            <a:normAutofit/>
          </a:bodyPr>
          <a:lstStyle/>
          <a:p>
            <a:pPr marL="0" indent="0">
              <a:buNone/>
            </a:pPr>
            <a:r>
              <a:rPr lang="en-US" dirty="0"/>
              <a:t>What is the key message for the audience?</a:t>
            </a:r>
          </a:p>
          <a:p>
            <a:pPr marL="402336" lvl="1" indent="-228600"/>
            <a:r>
              <a:rPr lang="en-US" dirty="0"/>
              <a:t>Focus the content for this purpose</a:t>
            </a:r>
          </a:p>
          <a:p>
            <a:pPr marL="0" indent="0">
              <a:buNone/>
            </a:pPr>
            <a:endParaRPr lang="en-US" dirty="0"/>
          </a:p>
          <a:p>
            <a:pPr marL="0" indent="0">
              <a:buNone/>
            </a:pPr>
            <a:r>
              <a:rPr lang="en-US" dirty="0"/>
              <a:t>How can you make it more obvious?</a:t>
            </a:r>
          </a:p>
          <a:p>
            <a:pPr marL="402336" lvl="1" indent="-228600"/>
            <a:r>
              <a:rPr lang="en-US" dirty="0"/>
              <a:t>Refine graphic and display elements</a:t>
            </a:r>
          </a:p>
        </p:txBody>
      </p:sp>
      <p:grpSp>
        <p:nvGrpSpPr>
          <p:cNvPr id="7" name="Group 6">
            <a:extLst>
              <a:ext uri="{FF2B5EF4-FFF2-40B4-BE49-F238E27FC236}">
                <a16:creationId xmlns:a16="http://schemas.microsoft.com/office/drawing/2014/main" id="{62ED22CE-82BB-1937-917C-B578CE705803}"/>
              </a:ext>
            </a:extLst>
          </p:cNvPr>
          <p:cNvGrpSpPr/>
          <p:nvPr/>
        </p:nvGrpSpPr>
        <p:grpSpPr>
          <a:xfrm>
            <a:off x="1771956" y="2057818"/>
            <a:ext cx="2292425" cy="1100364"/>
            <a:chOff x="189" y="635907"/>
            <a:chExt cx="2292425" cy="1100364"/>
          </a:xfrm>
        </p:grpSpPr>
        <p:sp>
          <p:nvSpPr>
            <p:cNvPr id="9" name="Rectangle 8">
              <a:extLst>
                <a:ext uri="{FF2B5EF4-FFF2-40B4-BE49-F238E27FC236}">
                  <a16:creationId xmlns:a16="http://schemas.microsoft.com/office/drawing/2014/main" id="{5B38A0C4-6DF1-443A-D789-196D2ADA8C1E}"/>
                </a:ext>
              </a:extLst>
            </p:cNvPr>
            <p:cNvSpPr/>
            <p:nvPr/>
          </p:nvSpPr>
          <p:spPr>
            <a:xfrm>
              <a:off x="189" y="635907"/>
              <a:ext cx="2292425" cy="110036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81F2AB96-4CD9-A5B6-9BD1-36BDD7EC907B}"/>
                </a:ext>
              </a:extLst>
            </p:cNvPr>
            <p:cNvSpPr txBox="1"/>
            <p:nvPr/>
          </p:nvSpPr>
          <p:spPr>
            <a:xfrm>
              <a:off x="189" y="635907"/>
              <a:ext cx="2292425" cy="110036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6441" tIns="165100" rIns="226441" bIns="165100" numCol="1" spcCol="1270" anchor="ctr" anchorCtr="0">
              <a:noAutofit/>
            </a:bodyPr>
            <a:lstStyle/>
            <a:p>
              <a:pPr marL="0" marR="0" lvl="0" indent="0" algn="l" defTabSz="2711450" rtl="0" eaLnBrk="1" fontAlgn="auto" latinLnBrk="0" hangingPunct="1">
                <a:lnSpc>
                  <a:spcPct val="90000"/>
                </a:lnSpc>
                <a:spcBef>
                  <a:spcPct val="0"/>
                </a:spcBef>
                <a:spcAft>
                  <a:spcPct val="35000"/>
                </a:spcAft>
                <a:buClrTx/>
                <a:buSzTx/>
                <a:buFontTx/>
                <a:buNone/>
                <a:tabLst/>
                <a:defRPr/>
              </a:pPr>
              <a:r>
                <a:rPr kumimoji="0" lang="en-US" sz="6100" b="0" i="0" u="none" strike="noStrike" kern="1200" cap="none" spc="0" normalizeH="0" baseline="0" noProof="0">
                  <a:ln>
                    <a:noFill/>
                  </a:ln>
                  <a:solidFill>
                    <a:prstClr val="white"/>
                  </a:solidFill>
                  <a:effectLst/>
                  <a:uLnTx/>
                  <a:uFillTx/>
                  <a:latin typeface="Tw Cen MT" panose="020B0602020104020603"/>
                  <a:ea typeface="+mn-ea"/>
                  <a:cs typeface="+mn-cs"/>
                </a:rPr>
                <a:t>01</a:t>
              </a:r>
            </a:p>
          </p:txBody>
        </p:sp>
      </p:grpSp>
      <p:pic>
        <p:nvPicPr>
          <p:cNvPr id="13" name="Picture 12">
            <a:extLst>
              <a:ext uri="{FF2B5EF4-FFF2-40B4-BE49-F238E27FC236}">
                <a16:creationId xmlns:a16="http://schemas.microsoft.com/office/drawing/2014/main" id="{E679642A-C77E-F439-6EA3-EA0EF3082ED6}"/>
              </a:ext>
            </a:extLst>
          </p:cNvPr>
          <p:cNvPicPr>
            <a:picLocks noChangeAspect="1"/>
          </p:cNvPicPr>
          <p:nvPr/>
        </p:nvPicPr>
        <p:blipFill>
          <a:blip r:embed="rId2"/>
          <a:stretch>
            <a:fillRect/>
          </a:stretch>
        </p:blipFill>
        <p:spPr>
          <a:xfrm>
            <a:off x="1230671" y="1727663"/>
            <a:ext cx="2860134" cy="3429000"/>
          </a:xfrm>
          <a:prstGeom prst="rect">
            <a:avLst/>
          </a:prstGeom>
        </p:spPr>
      </p:pic>
    </p:spTree>
    <p:extLst>
      <p:ext uri="{BB962C8B-B14F-4D97-AF65-F5344CB8AC3E}">
        <p14:creationId xmlns:p14="http://schemas.microsoft.com/office/powerpoint/2010/main" val="38382414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0DE6-DE98-B35D-0F78-5E6E7E8ED1F9}"/>
              </a:ext>
            </a:extLst>
          </p:cNvPr>
          <p:cNvSpPr>
            <a:spLocks noGrp="1"/>
          </p:cNvSpPr>
          <p:nvPr>
            <p:ph type="title"/>
          </p:nvPr>
        </p:nvSpPr>
        <p:spPr/>
        <p:txBody>
          <a:bodyPr/>
          <a:lstStyle/>
          <a:p>
            <a:r>
              <a:rPr lang="en-US" dirty="0"/>
              <a:t>How to make comparisons effortless?</a:t>
            </a:r>
          </a:p>
        </p:txBody>
      </p:sp>
      <p:sp>
        <p:nvSpPr>
          <p:cNvPr id="3" name="Content Placeholder 2">
            <a:extLst>
              <a:ext uri="{FF2B5EF4-FFF2-40B4-BE49-F238E27FC236}">
                <a16:creationId xmlns:a16="http://schemas.microsoft.com/office/drawing/2014/main" id="{99D1644C-06CE-4283-80BA-1E827A919953}"/>
              </a:ext>
            </a:extLst>
          </p:cNvPr>
          <p:cNvSpPr>
            <a:spLocks noGrp="1"/>
          </p:cNvSpPr>
          <p:nvPr>
            <p:ph idx="1"/>
          </p:nvPr>
        </p:nvSpPr>
        <p:spPr>
          <a:xfrm>
            <a:off x="1024128" y="2286000"/>
            <a:ext cx="4520145" cy="4023360"/>
          </a:xfrm>
        </p:spPr>
        <p:txBody>
          <a:bodyPr>
            <a:normAutofit/>
          </a:bodyPr>
          <a:lstStyle/>
          <a:p>
            <a:pPr marL="0" indent="0">
              <a:buNone/>
            </a:pPr>
            <a:r>
              <a:rPr lang="en-US" dirty="0"/>
              <a:t>Which labs have the highest and lowest expenses?</a:t>
            </a:r>
          </a:p>
          <a:p>
            <a:pPr marL="0" indent="0">
              <a:buNone/>
            </a:pPr>
            <a:endParaRPr lang="en-US" dirty="0"/>
          </a:p>
          <a:p>
            <a:pPr marL="0" indent="0">
              <a:buNone/>
            </a:pPr>
            <a:r>
              <a:rPr lang="en-US" dirty="0"/>
              <a:t>What can we change to make comparisons easier for this bar plot?</a:t>
            </a:r>
          </a:p>
          <a:p>
            <a:endParaRPr lang="en-US" dirty="0">
              <a:solidFill>
                <a:srgbClr val="FF0000"/>
              </a:solidFill>
            </a:endParaRPr>
          </a:p>
        </p:txBody>
      </p:sp>
      <p:sp>
        <p:nvSpPr>
          <p:cNvPr id="4" name="TextBox 3">
            <a:extLst>
              <a:ext uri="{FF2B5EF4-FFF2-40B4-BE49-F238E27FC236}">
                <a16:creationId xmlns:a16="http://schemas.microsoft.com/office/drawing/2014/main" id="{6543F5A8-02CB-1F85-E214-ADEE74F6BE4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13" name="Picture 12">
            <a:extLst>
              <a:ext uri="{FF2B5EF4-FFF2-40B4-BE49-F238E27FC236}">
                <a16:creationId xmlns:a16="http://schemas.microsoft.com/office/drawing/2014/main" id="{2BBEFEE5-EA1D-5F29-88E7-DAFF8CF8B0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97781" y="2392735"/>
            <a:ext cx="6172200" cy="3809890"/>
          </a:xfrm>
          <a:prstGeom prst="rect">
            <a:avLst/>
          </a:prstGeom>
        </p:spPr>
      </p:pic>
    </p:spTree>
    <p:extLst>
      <p:ext uri="{BB962C8B-B14F-4D97-AF65-F5344CB8AC3E}">
        <p14:creationId xmlns:p14="http://schemas.microsoft.com/office/powerpoint/2010/main" val="24135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E6D591-456C-D644-B3CC-915B9FFC3E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22418A-E562-2468-222F-666741DC94E8}"/>
              </a:ext>
            </a:extLst>
          </p:cNvPr>
          <p:cNvSpPr>
            <a:spLocks noGrp="1"/>
          </p:cNvSpPr>
          <p:nvPr>
            <p:ph type="title"/>
          </p:nvPr>
        </p:nvSpPr>
        <p:spPr/>
        <p:txBody>
          <a:bodyPr vert="horz" lIns="91440" tIns="45720" rIns="91440" bIns="45720" rtlCol="0" anchor="ctr">
            <a:normAutofit/>
          </a:bodyPr>
          <a:lstStyle/>
          <a:p>
            <a:r>
              <a:rPr lang="en-US" sz="4400" spc="200" dirty="0">
                <a:solidFill>
                  <a:schemeClr val="tx1"/>
                </a:solidFill>
              </a:rPr>
              <a:t>Sorting categories by the metric is better</a:t>
            </a:r>
          </a:p>
        </p:txBody>
      </p:sp>
      <p:pic>
        <p:nvPicPr>
          <p:cNvPr id="2" name="Picture 1">
            <a:extLst>
              <a:ext uri="{FF2B5EF4-FFF2-40B4-BE49-F238E27FC236}">
                <a16:creationId xmlns:a16="http://schemas.microsoft.com/office/drawing/2014/main" id="{B2C16A93-4B8E-CE1C-F4BD-BC81DFA9001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2083410"/>
            <a:ext cx="5737371" cy="3541484"/>
          </a:xfrm>
          <a:prstGeom prst="rect">
            <a:avLst/>
          </a:prstGeom>
        </p:spPr>
      </p:pic>
      <p:pic>
        <p:nvPicPr>
          <p:cNvPr id="3" name="Picture 2">
            <a:extLst>
              <a:ext uri="{FF2B5EF4-FFF2-40B4-BE49-F238E27FC236}">
                <a16:creationId xmlns:a16="http://schemas.microsoft.com/office/drawing/2014/main" id="{E71F769E-CF93-22A7-9384-F77BDCC9985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13683" y="2083410"/>
            <a:ext cx="5735147" cy="3540113"/>
          </a:xfrm>
          <a:prstGeom prst="rect">
            <a:avLst/>
          </a:prstGeom>
        </p:spPr>
      </p:pic>
    </p:spTree>
    <p:extLst>
      <p:ext uri="{BB962C8B-B14F-4D97-AF65-F5344CB8AC3E}">
        <p14:creationId xmlns:p14="http://schemas.microsoft.com/office/powerpoint/2010/main" val="2170849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2C9FFF-9C90-CBBC-CFE6-E6AC1F73D65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FA5344-D4DB-5700-A4EC-9B752B908B3B}"/>
              </a:ext>
            </a:extLst>
          </p:cNvPr>
          <p:cNvSpPr>
            <a:spLocks noGrp="1"/>
          </p:cNvSpPr>
          <p:nvPr>
            <p:ph type="title"/>
          </p:nvPr>
        </p:nvSpPr>
        <p:spPr/>
        <p:txBody>
          <a:bodyPr vert="horz" lIns="91440" tIns="45720" rIns="91440" bIns="45720" rtlCol="0" anchor="ctr">
            <a:normAutofit/>
          </a:bodyPr>
          <a:lstStyle/>
          <a:p>
            <a:r>
              <a:rPr lang="en-US" spc="200" dirty="0">
                <a:solidFill>
                  <a:schemeClr val="tx1"/>
                </a:solidFill>
              </a:rPr>
              <a:t>Which is better?</a:t>
            </a:r>
          </a:p>
        </p:txBody>
      </p:sp>
      <p:sp>
        <p:nvSpPr>
          <p:cNvPr id="29" name="TextBox 28">
            <a:extLst>
              <a:ext uri="{FF2B5EF4-FFF2-40B4-BE49-F238E27FC236}">
                <a16:creationId xmlns:a16="http://schemas.microsoft.com/office/drawing/2014/main" id="{25341ECB-E083-0DC3-6FFC-5561EB96EBA7}"/>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34" name="Picture 33">
            <a:extLst>
              <a:ext uri="{FF2B5EF4-FFF2-40B4-BE49-F238E27FC236}">
                <a16:creationId xmlns:a16="http://schemas.microsoft.com/office/drawing/2014/main" id="{42DDDFB0-24E5-4399-A61D-0585C48E493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2657" y="2084832"/>
            <a:ext cx="5303520" cy="3273683"/>
          </a:xfrm>
          <a:prstGeom prst="rect">
            <a:avLst/>
          </a:prstGeom>
        </p:spPr>
      </p:pic>
      <p:pic>
        <p:nvPicPr>
          <p:cNvPr id="37" name="Picture 36">
            <a:extLst>
              <a:ext uri="{FF2B5EF4-FFF2-40B4-BE49-F238E27FC236}">
                <a16:creationId xmlns:a16="http://schemas.microsoft.com/office/drawing/2014/main" id="{ED1972FE-9C53-CAB8-ACE7-12286CC822DC}"/>
              </a:ext>
            </a:extLst>
          </p:cNvPr>
          <p:cNvPicPr>
            <a:picLocks noChangeAspect="1"/>
          </p:cNvPicPr>
          <p:nvPr/>
        </p:nvPicPr>
        <p:blipFill>
          <a:blip r:embed="rId4"/>
          <a:stretch>
            <a:fillRect/>
          </a:stretch>
        </p:blipFill>
        <p:spPr>
          <a:xfrm>
            <a:off x="6377940" y="2082811"/>
            <a:ext cx="5303520" cy="3275704"/>
          </a:xfrm>
          <a:prstGeom prst="rect">
            <a:avLst/>
          </a:prstGeom>
        </p:spPr>
      </p:pic>
      <p:cxnSp>
        <p:nvCxnSpPr>
          <p:cNvPr id="38" name="Straight Connector 37">
            <a:extLst>
              <a:ext uri="{FF2B5EF4-FFF2-40B4-BE49-F238E27FC236}">
                <a16:creationId xmlns:a16="http://schemas.microsoft.com/office/drawing/2014/main" id="{2B6511E0-F9FB-D9AB-7CC7-1072744E04E6}"/>
              </a:ext>
            </a:extLst>
          </p:cNvPr>
          <p:cNvCxnSpPr/>
          <p:nvPr/>
        </p:nvCxnSpPr>
        <p:spPr>
          <a:xfrm>
            <a:off x="6082145" y="2438399"/>
            <a:ext cx="0" cy="22860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88263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A64D9F-F17B-A84F-4CA3-1A4C6231DD50}"/>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B47D9493-B6CD-91AA-9798-FE9F277910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E8848416-7ED0-0762-E818-034955E83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CC13EC06-5D86-C71D-0126-35041F8A1EAE}"/>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Use </a:t>
            </a:r>
            <a:r>
              <a:rPr lang="en-US" dirty="0" err="1"/>
              <a:t>LAYOUt</a:t>
            </a:r>
            <a:r>
              <a:rPr lang="en-US" dirty="0"/>
              <a:t> &amp; scales effectively</a:t>
            </a:r>
          </a:p>
        </p:txBody>
      </p:sp>
      <p:cxnSp>
        <p:nvCxnSpPr>
          <p:cNvPr id="22" name="Straight Connector 21">
            <a:extLst>
              <a:ext uri="{FF2B5EF4-FFF2-40B4-BE49-F238E27FC236}">
                <a16:creationId xmlns:a16="http://schemas.microsoft.com/office/drawing/2014/main" id="{D8990074-5D96-C421-BACB-DE2BB6BB2D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E337205-3ACF-9061-EDF5-13A9580585C6}"/>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Sort categories by the metric (e.g., </a:t>
            </a:r>
            <a:r>
              <a:rPr lang="en-US" sz="2400" dirty="0" err="1"/>
              <a:t>high→low</a:t>
            </a:r>
            <a:r>
              <a:rPr lang="en-US" sz="2400" dirty="0"/>
              <a:t>) and keep the same order across panels</a:t>
            </a:r>
          </a:p>
          <a:p>
            <a:pPr marL="176213" indent="-176213">
              <a:buFont typeface="Arial" panose="020B0604020202020204" pitchFamily="34" charset="0"/>
              <a:buChar char="•"/>
            </a:pPr>
            <a:r>
              <a:rPr lang="en-US" sz="2400" dirty="0"/>
              <a:t>Use consistent axes across small multiples; align zero baselines</a:t>
            </a:r>
          </a:p>
          <a:p>
            <a:pPr marL="176213" indent="-176213">
              <a:buFont typeface="Arial" panose="020B0604020202020204" pitchFamily="34" charset="0"/>
              <a:buChar char="•"/>
            </a:pPr>
            <a:r>
              <a:rPr lang="en-US" sz="2400" dirty="0"/>
              <a:t>Keep aspect ratios that don’t exaggerate slopes; avoid dual y-axes and 3D</a:t>
            </a:r>
          </a:p>
        </p:txBody>
      </p:sp>
    </p:spTree>
    <p:extLst>
      <p:ext uri="{BB962C8B-B14F-4D97-AF65-F5344CB8AC3E}">
        <p14:creationId xmlns:p14="http://schemas.microsoft.com/office/powerpoint/2010/main" val="26163164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6A11F-098E-6CB2-4143-394546897B14}"/>
              </a:ext>
            </a:extLst>
          </p:cNvPr>
          <p:cNvSpPr>
            <a:spLocks noGrp="1"/>
          </p:cNvSpPr>
          <p:nvPr>
            <p:ph type="title"/>
          </p:nvPr>
        </p:nvSpPr>
        <p:spPr/>
        <p:txBody>
          <a:bodyPr/>
          <a:lstStyle/>
          <a:p>
            <a:r>
              <a:rPr lang="en-US" dirty="0"/>
              <a:t>Truncated SCALES can be misleading</a:t>
            </a:r>
          </a:p>
        </p:txBody>
      </p:sp>
      <p:pic>
        <p:nvPicPr>
          <p:cNvPr id="5" name="Picture 4" descr="A graph of a number of blue squares&#10;&#10;AI-generated content may be incorrect.">
            <a:extLst>
              <a:ext uri="{FF2B5EF4-FFF2-40B4-BE49-F238E27FC236}">
                <a16:creationId xmlns:a16="http://schemas.microsoft.com/office/drawing/2014/main" id="{213C4868-8BE6-B4EC-7052-B365532C8B6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26049" y="2233675"/>
            <a:ext cx="4471851" cy="3106993"/>
          </a:xfrm>
          <a:prstGeom prst="rect">
            <a:avLst/>
          </a:prstGeom>
        </p:spPr>
      </p:pic>
      <p:pic>
        <p:nvPicPr>
          <p:cNvPr id="7" name="Picture 6" descr="A graph with a bar chart&#10;&#10;AI-generated content may be incorrect.">
            <a:extLst>
              <a:ext uri="{FF2B5EF4-FFF2-40B4-BE49-F238E27FC236}">
                <a16:creationId xmlns:a16="http://schemas.microsoft.com/office/drawing/2014/main" id="{A23BC398-7940-7004-F486-176CEC44825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94100" y="2233675"/>
            <a:ext cx="4793647" cy="3106993"/>
          </a:xfrm>
          <a:prstGeom prst="rect">
            <a:avLst/>
          </a:prstGeom>
        </p:spPr>
      </p:pic>
      <p:sp>
        <p:nvSpPr>
          <p:cNvPr id="3" name="TextBox 2">
            <a:extLst>
              <a:ext uri="{FF2B5EF4-FFF2-40B4-BE49-F238E27FC236}">
                <a16:creationId xmlns:a16="http://schemas.microsoft.com/office/drawing/2014/main" id="{98619EA9-2DE8-66F2-C221-1F2CEB4E8E41}"/>
              </a:ext>
            </a:extLst>
          </p:cNvPr>
          <p:cNvSpPr txBox="1"/>
          <p:nvPr/>
        </p:nvSpPr>
        <p:spPr>
          <a:xfrm>
            <a:off x="1485900" y="2808239"/>
            <a:ext cx="3214278" cy="369332"/>
          </a:xfrm>
          <a:prstGeom prst="rect">
            <a:avLst/>
          </a:prstGeom>
          <a:solidFill>
            <a:schemeClr val="bg1"/>
          </a:solidFill>
        </p:spPr>
        <p:txBody>
          <a:bodyPr wrap="none" rtlCol="0">
            <a:spAutoFit/>
          </a:bodyPr>
          <a:lstStyle/>
          <a:p>
            <a:r>
              <a:rPr lang="en-US" dirty="0"/>
              <a:t>The mean TAT difference is 2 min</a:t>
            </a:r>
          </a:p>
        </p:txBody>
      </p:sp>
      <p:sp>
        <p:nvSpPr>
          <p:cNvPr id="4" name="TextBox 3">
            <a:extLst>
              <a:ext uri="{FF2B5EF4-FFF2-40B4-BE49-F238E27FC236}">
                <a16:creationId xmlns:a16="http://schemas.microsoft.com/office/drawing/2014/main" id="{225BBFB4-F6AB-8B8A-5304-AD540163A98B}"/>
              </a:ext>
            </a:extLst>
          </p:cNvPr>
          <p:cNvSpPr txBox="1"/>
          <p:nvPr/>
        </p:nvSpPr>
        <p:spPr>
          <a:xfrm>
            <a:off x="362399" y="2123915"/>
            <a:ext cx="5894499" cy="369332"/>
          </a:xfrm>
          <a:prstGeom prst="rect">
            <a:avLst/>
          </a:prstGeom>
          <a:solidFill>
            <a:schemeClr val="bg1"/>
          </a:solidFill>
        </p:spPr>
        <p:txBody>
          <a:bodyPr wrap="none" rtlCol="0">
            <a:spAutoFit/>
          </a:bodyPr>
          <a:lstStyle/>
          <a:p>
            <a:r>
              <a:rPr lang="en-US" dirty="0"/>
              <a:t>Better: Truncated axis but direct label avoids wrong conclusion</a:t>
            </a:r>
          </a:p>
        </p:txBody>
      </p:sp>
    </p:spTree>
    <p:extLst>
      <p:ext uri="{BB962C8B-B14F-4D97-AF65-F5344CB8AC3E}">
        <p14:creationId xmlns:p14="http://schemas.microsoft.com/office/powerpoint/2010/main" val="41742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90B05-D49F-C52B-7FCA-E76AE9FFB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4E3A2-BED6-DE7D-7216-D950080C9B6F}"/>
              </a:ext>
            </a:extLst>
          </p:cNvPr>
          <p:cNvSpPr>
            <a:spLocks noGrp="1"/>
          </p:cNvSpPr>
          <p:nvPr>
            <p:ph type="title"/>
          </p:nvPr>
        </p:nvSpPr>
        <p:spPr/>
        <p:txBody>
          <a:bodyPr/>
          <a:lstStyle/>
          <a:p>
            <a:r>
              <a:rPr lang="en-US" dirty="0"/>
              <a:t>Always avoid Dual y axes</a:t>
            </a:r>
          </a:p>
        </p:txBody>
      </p:sp>
      <p:sp>
        <p:nvSpPr>
          <p:cNvPr id="6" name="TextBox 5">
            <a:extLst>
              <a:ext uri="{FF2B5EF4-FFF2-40B4-BE49-F238E27FC236}">
                <a16:creationId xmlns:a16="http://schemas.microsoft.com/office/drawing/2014/main" id="{69AFE4E1-82B9-30A9-56FA-8A3A7DF7AE2D}"/>
              </a:ext>
            </a:extLst>
          </p:cNvPr>
          <p:cNvSpPr txBox="1"/>
          <p:nvPr/>
        </p:nvSpPr>
        <p:spPr>
          <a:xfrm>
            <a:off x="692727" y="2084832"/>
            <a:ext cx="5501072" cy="3693319"/>
          </a:xfrm>
          <a:prstGeom prst="rect">
            <a:avLst/>
          </a:prstGeom>
          <a:noFill/>
        </p:spPr>
        <p:txBody>
          <a:bodyPr wrap="square" rtlCol="0">
            <a:spAutoFit/>
          </a:bodyPr>
          <a:lstStyle/>
          <a:p>
            <a:r>
              <a:rPr lang="en-US" sz="2400" b="1" dirty="0"/>
              <a:t>Why do this?</a:t>
            </a:r>
          </a:p>
          <a:p>
            <a:pPr marL="285750" indent="-285750">
              <a:buClr>
                <a:schemeClr val="accent1"/>
              </a:buClr>
              <a:buFont typeface="Arial" panose="020B0604020202020204" pitchFamily="34" charset="0"/>
              <a:buChar char="•"/>
            </a:pPr>
            <a:r>
              <a:rPr lang="en-US" sz="2400" dirty="0"/>
              <a:t>Same units but different magnitude</a:t>
            </a:r>
          </a:p>
          <a:p>
            <a:pPr marL="285750" indent="-285750">
              <a:buClr>
                <a:schemeClr val="accent1"/>
              </a:buClr>
              <a:buFont typeface="Arial" panose="020B0604020202020204" pitchFamily="34" charset="0"/>
              <a:buChar char="•"/>
            </a:pPr>
            <a:r>
              <a:rPr lang="en-US" sz="2400" dirty="0"/>
              <a:t>Different units</a:t>
            </a:r>
          </a:p>
          <a:p>
            <a:endParaRPr lang="en-US" sz="2400" b="1" dirty="0"/>
          </a:p>
          <a:p>
            <a:r>
              <a:rPr lang="en-US" sz="2400" b="1" dirty="0"/>
              <a:t>Problems:</a:t>
            </a:r>
          </a:p>
          <a:p>
            <a:pPr marL="354013" indent="-354013">
              <a:buFont typeface="+mj-lt"/>
              <a:buAutoNum type="arabicPeriod"/>
            </a:pPr>
            <a:r>
              <a:rPr lang="en-US" sz="2400" dirty="0"/>
              <a:t>Data to axis match is often not clear</a:t>
            </a:r>
          </a:p>
          <a:p>
            <a:pPr marL="354013" indent="-354013">
              <a:buFont typeface="+mj-lt"/>
              <a:buAutoNum type="arabicPeriod"/>
            </a:pPr>
            <a:r>
              <a:rPr lang="en-US" sz="2400" dirty="0"/>
              <a:t>Crossing lines and changes can be misleading</a:t>
            </a:r>
          </a:p>
          <a:p>
            <a:pPr marL="354013" indent="-354013">
              <a:buFont typeface="+mj-lt"/>
              <a:buAutoNum type="arabicPeriod"/>
            </a:pPr>
            <a:r>
              <a:rPr lang="en-US" sz="2400" dirty="0"/>
              <a:t>Changing scales may alter interpretation</a:t>
            </a:r>
          </a:p>
          <a:p>
            <a:endParaRPr lang="en-US" dirty="0"/>
          </a:p>
        </p:txBody>
      </p:sp>
      <p:pic>
        <p:nvPicPr>
          <p:cNvPr id="7" name="Picture 6">
            <a:extLst>
              <a:ext uri="{FF2B5EF4-FFF2-40B4-BE49-F238E27FC236}">
                <a16:creationId xmlns:a16="http://schemas.microsoft.com/office/drawing/2014/main" id="{4BBE7217-60EC-6AC2-3BC8-4CA00AB5F979}"/>
              </a:ext>
            </a:extLst>
          </p:cNvPr>
          <p:cNvPicPr>
            <a:picLocks noChangeAspect="1"/>
          </p:cNvPicPr>
          <p:nvPr/>
        </p:nvPicPr>
        <p:blipFill>
          <a:blip r:embed="rId3" cstate="screen">
            <a:extLst>
              <a:ext uri="{28A0092B-C50C-407E-A947-70E740481C1C}">
                <a14:useLocalDpi xmlns:a14="http://schemas.microsoft.com/office/drawing/2010/main"/>
              </a:ext>
            </a:extLst>
          </a:blip>
          <a:srcRect b="36387"/>
          <a:stretch>
            <a:fillRect/>
          </a:stretch>
        </p:blipFill>
        <p:spPr>
          <a:xfrm>
            <a:off x="6406199" y="1943099"/>
            <a:ext cx="5486400" cy="2810538"/>
          </a:xfrm>
          <a:prstGeom prst="rect">
            <a:avLst/>
          </a:prstGeom>
          <a:ln>
            <a:solidFill>
              <a:schemeClr val="tx1">
                <a:lumMod val="75000"/>
                <a:lumOff val="25000"/>
              </a:schemeClr>
            </a:solidFill>
          </a:ln>
        </p:spPr>
      </p:pic>
    </p:spTree>
    <p:extLst>
      <p:ext uri="{BB962C8B-B14F-4D97-AF65-F5344CB8AC3E}">
        <p14:creationId xmlns:p14="http://schemas.microsoft.com/office/powerpoint/2010/main" val="22051753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D37A-6377-533C-B46F-A590B6C1110B}"/>
              </a:ext>
            </a:extLst>
          </p:cNvPr>
          <p:cNvSpPr>
            <a:spLocks noGrp="1"/>
          </p:cNvSpPr>
          <p:nvPr>
            <p:ph type="title"/>
          </p:nvPr>
        </p:nvSpPr>
        <p:spPr/>
        <p:txBody>
          <a:bodyPr/>
          <a:lstStyle/>
          <a:p>
            <a:r>
              <a:rPr lang="en-US" dirty="0"/>
              <a:t>Try A better alternative</a:t>
            </a:r>
          </a:p>
        </p:txBody>
      </p:sp>
      <p:pic>
        <p:nvPicPr>
          <p:cNvPr id="7" name="Picture 6" descr="A comparison of a graph&#10;&#10;AI-generated content may be incorrect.">
            <a:extLst>
              <a:ext uri="{FF2B5EF4-FFF2-40B4-BE49-F238E27FC236}">
                <a16:creationId xmlns:a16="http://schemas.microsoft.com/office/drawing/2014/main" id="{ABD07576-3FA0-9728-0F65-A4F5330DDAAF}"/>
              </a:ext>
            </a:extLst>
          </p:cNvPr>
          <p:cNvPicPr>
            <a:picLocks noChangeAspect="1"/>
          </p:cNvPicPr>
          <p:nvPr/>
        </p:nvPicPr>
        <p:blipFill>
          <a:blip r:embed="rId3"/>
          <a:stretch>
            <a:fillRect/>
          </a:stretch>
        </p:blipFill>
        <p:spPr>
          <a:xfrm>
            <a:off x="855182" y="2095500"/>
            <a:ext cx="10575254" cy="3787485"/>
          </a:xfrm>
          <a:prstGeom prst="rect">
            <a:avLst/>
          </a:prstGeom>
        </p:spPr>
      </p:pic>
      <p:sp>
        <p:nvSpPr>
          <p:cNvPr id="8" name="TextBox 7">
            <a:extLst>
              <a:ext uri="{FF2B5EF4-FFF2-40B4-BE49-F238E27FC236}">
                <a16:creationId xmlns:a16="http://schemas.microsoft.com/office/drawing/2014/main" id="{DFAF7642-5E39-9842-253D-13708DA74C0A}"/>
              </a:ext>
            </a:extLst>
          </p:cNvPr>
          <p:cNvSpPr txBox="1"/>
          <p:nvPr/>
        </p:nvSpPr>
        <p:spPr>
          <a:xfrm>
            <a:off x="2993868" y="6386945"/>
            <a:ext cx="6204263" cy="338554"/>
          </a:xfrm>
          <a:prstGeom prst="rect">
            <a:avLst/>
          </a:prstGeom>
          <a:noFill/>
        </p:spPr>
        <p:txBody>
          <a:bodyPr wrap="none" rtlCol="0">
            <a:spAutoFit/>
          </a:bodyPr>
          <a:lstStyle/>
          <a:p>
            <a:r>
              <a:rPr lang="en-US" sz="1600" dirty="0"/>
              <a:t>https://</a:t>
            </a:r>
            <a:r>
              <a:rPr lang="en-US" sz="1600" dirty="0" err="1"/>
              <a:t>www.storytellingwithdata.com</a:t>
            </a:r>
            <a:r>
              <a:rPr lang="en-US" sz="1600" dirty="0"/>
              <a:t>/blog/declutter-a-dual-y-axis-chart</a:t>
            </a:r>
          </a:p>
        </p:txBody>
      </p:sp>
    </p:spTree>
    <p:extLst>
      <p:ext uri="{BB962C8B-B14F-4D97-AF65-F5344CB8AC3E}">
        <p14:creationId xmlns:p14="http://schemas.microsoft.com/office/powerpoint/2010/main" val="1732854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5000EE-42AF-7DE5-1774-F10D4D28D1AE}"/>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A094BA76-3571-3EFC-91FC-B735FB5DD1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B4800EA0-C681-BC6D-682B-E19D4E052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07ECD5EC-F623-D243-6438-35073F612BE0}"/>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Normalize &amp; provide reference</a:t>
            </a:r>
          </a:p>
        </p:txBody>
      </p:sp>
      <p:cxnSp>
        <p:nvCxnSpPr>
          <p:cNvPr id="22" name="Straight Connector 21">
            <a:extLst>
              <a:ext uri="{FF2B5EF4-FFF2-40B4-BE49-F238E27FC236}">
                <a16:creationId xmlns:a16="http://schemas.microsoft.com/office/drawing/2014/main" id="{82891437-7495-FECC-D999-151DD059DB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07C8AD-F9FA-8D0B-4ADE-AF697F9BAD83}"/>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Show rates/percentages (with denominators) when group sizes differ</a:t>
            </a:r>
          </a:p>
          <a:p>
            <a:pPr marL="176213" indent="-176213">
              <a:buFont typeface="Arial" panose="020B0604020202020204" pitchFamily="34" charset="0"/>
              <a:buChar char="•"/>
            </a:pPr>
            <a:r>
              <a:rPr lang="en-US" sz="2400" dirty="0"/>
              <a:t>Add benchmarks (targets, medians) or difference-from-baseline views</a:t>
            </a:r>
          </a:p>
          <a:p>
            <a:pPr marL="176213" indent="-176213">
              <a:buFont typeface="Arial" panose="020B0604020202020204" pitchFamily="34" charset="0"/>
              <a:buChar char="•"/>
            </a:pPr>
            <a:r>
              <a:rPr lang="en-US" sz="2400" dirty="0"/>
              <a:t>Use per-unit scaling (e.g., per 1,000 tests) to put groups on comparable scales</a:t>
            </a:r>
          </a:p>
          <a:p>
            <a:pPr marL="176213" indent="-176213">
              <a:buFont typeface="Arial" panose="020B0604020202020204" pitchFamily="34" charset="0"/>
              <a:buChar char="•"/>
            </a:pPr>
            <a:r>
              <a:rPr lang="en-US" sz="2400" dirty="0"/>
              <a:t>Direct-label series/bars; minimize legend lookups</a:t>
            </a:r>
          </a:p>
          <a:p>
            <a:pPr marL="176213" indent="-176213">
              <a:buFont typeface="Arial" panose="020B0604020202020204" pitchFamily="34" charset="0"/>
              <a:buChar char="•"/>
            </a:pPr>
            <a:r>
              <a:rPr lang="en-US" sz="2400" dirty="0"/>
              <a:t>Put units in axis titles; add n and confidence intervals where relevant</a:t>
            </a:r>
          </a:p>
          <a:p>
            <a:pPr marL="176213" indent="-176213">
              <a:buFont typeface="Arial" panose="020B0604020202020204" pitchFamily="34" charset="0"/>
              <a:buChar char="•"/>
            </a:pPr>
            <a:r>
              <a:rPr lang="en-US" sz="2400" dirty="0"/>
              <a:t>Annotate key events (intervention, lot swap) right on the plot</a:t>
            </a:r>
          </a:p>
        </p:txBody>
      </p:sp>
    </p:spTree>
    <p:extLst>
      <p:ext uri="{BB962C8B-B14F-4D97-AF65-F5344CB8AC3E}">
        <p14:creationId xmlns:p14="http://schemas.microsoft.com/office/powerpoint/2010/main" val="6479087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60895C-30F8-83EE-4154-3F747C62697A}"/>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45E1F52-9B47-84FB-AA5C-6C3CFEDCD01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F7F3B01B-CAD8-6F81-8F94-2E33747E5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94BB0718-A06F-6CD5-C8A5-0B795979DF42}"/>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Reduce clutter &amp; clarify</a:t>
            </a:r>
          </a:p>
        </p:txBody>
      </p:sp>
      <p:cxnSp>
        <p:nvCxnSpPr>
          <p:cNvPr id="22" name="Straight Connector 21">
            <a:extLst>
              <a:ext uri="{FF2B5EF4-FFF2-40B4-BE49-F238E27FC236}">
                <a16:creationId xmlns:a16="http://schemas.microsoft.com/office/drawing/2014/main" id="{A2563C0E-3021-8929-D834-06A26B18BC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9A21E5E-7010-8BCC-CDE8-6DCD81720DFD}"/>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Limit categories; group “other” or use small multiples instead of one crowded chart</a:t>
            </a:r>
          </a:p>
          <a:p>
            <a:pPr marL="176213" indent="-176213">
              <a:buFont typeface="Arial" panose="020B0604020202020204" pitchFamily="34" charset="0"/>
              <a:buChar char="•"/>
            </a:pPr>
            <a:r>
              <a:rPr lang="en-US" sz="2400" dirty="0"/>
              <a:t>Use light gridlines, short tick labels, and concise titles/subtitles, remove unnecessary titles and labels</a:t>
            </a:r>
          </a:p>
          <a:p>
            <a:pPr marL="176213" indent="-176213">
              <a:buFont typeface="Arial" panose="020B0604020202020204" pitchFamily="34" charset="0"/>
              <a:buChar char="•"/>
            </a:pPr>
            <a:r>
              <a:rPr lang="en-US" sz="2400" dirty="0"/>
              <a:t>Avoid rainbow palettes; use color purposefully to highlight comparisons</a:t>
            </a:r>
          </a:p>
          <a:p>
            <a:pPr marL="176213" indent="-176213">
              <a:buFont typeface="Arial" panose="020B0604020202020204" pitchFamily="34" charset="0"/>
              <a:buChar char="•"/>
            </a:pPr>
            <a:r>
              <a:rPr lang="en-US" sz="2400" dirty="0"/>
              <a:t>Apply transparency if data density is high</a:t>
            </a:r>
          </a:p>
        </p:txBody>
      </p:sp>
    </p:spTree>
    <p:extLst>
      <p:ext uri="{BB962C8B-B14F-4D97-AF65-F5344CB8AC3E}">
        <p14:creationId xmlns:p14="http://schemas.microsoft.com/office/powerpoint/2010/main" val="22375281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24A6FB-2AC2-B5D1-467E-F03043455DC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ED7B5DB-37CB-D2ED-042F-BF649F79B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9" name="Oval 5">
            <a:extLst>
              <a:ext uri="{FF2B5EF4-FFF2-40B4-BE49-F238E27FC236}">
                <a16:creationId xmlns:a16="http://schemas.microsoft.com/office/drawing/2014/main" id="{1F791C4B-6562-37C8-B37C-A1B9ECC28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649BE79B-C626-4E5B-C0C1-0E8138152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3DD552B-B0B7-D521-2F52-27C49788A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 name="Rectangle 13">
            <a:extLst>
              <a:ext uri="{FF2B5EF4-FFF2-40B4-BE49-F238E27FC236}">
                <a16:creationId xmlns:a16="http://schemas.microsoft.com/office/drawing/2014/main" id="{5670D4BA-6CD0-E96D-AB64-6F49C0E77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661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FCC41379-FD37-E1A1-AD3F-A0BFCBB9F4DF}"/>
              </a:ext>
            </a:extLst>
          </p:cNvPr>
          <p:cNvSpPr>
            <a:spLocks noGrp="1"/>
          </p:cNvSpPr>
          <p:nvPr>
            <p:ph type="title"/>
          </p:nvPr>
        </p:nvSpPr>
        <p:spPr>
          <a:xfrm>
            <a:off x="457200" y="640080"/>
            <a:ext cx="3185917" cy="3034857"/>
          </a:xfrm>
        </p:spPr>
        <p:txBody>
          <a:bodyPr vert="horz" lIns="91440" tIns="45720" rIns="91440" bIns="45720" rtlCol="0" anchor="b">
            <a:normAutofit/>
          </a:bodyPr>
          <a:lstStyle/>
          <a:p>
            <a:pPr algn="r"/>
            <a:r>
              <a:rPr lang="en-US" sz="4400" spc="200" dirty="0">
                <a:solidFill>
                  <a:srgbClr val="FFFFFF"/>
                </a:solidFill>
              </a:rPr>
              <a:t>What is going wrong here?</a:t>
            </a:r>
          </a:p>
        </p:txBody>
      </p:sp>
      <p:cxnSp>
        <p:nvCxnSpPr>
          <p:cNvPr id="16" name="Straight Connector 15">
            <a:extLst>
              <a:ext uri="{FF2B5EF4-FFF2-40B4-BE49-F238E27FC236}">
                <a16:creationId xmlns:a16="http://schemas.microsoft.com/office/drawing/2014/main" id="{FB1EC68A-67D2-7AF6-FBC3-1278F33B0A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749" y="3765314"/>
            <a:ext cx="2834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5541F13-F462-B630-530E-30192BAE4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5130" y="1963779"/>
            <a:ext cx="0" cy="29260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9AAB736-BF73-F0ED-E344-FB8E3D2A331D}"/>
              </a:ext>
            </a:extLst>
          </p:cNvPr>
          <p:cNvSpPr txBox="1"/>
          <p:nvPr/>
        </p:nvSpPr>
        <p:spPr>
          <a:xfrm>
            <a:off x="10105688" y="198773"/>
            <a:ext cx="1591141" cy="120032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1CADE4"/>
                </a:solidFill>
                <a:effectLst/>
                <a:uLnTx/>
                <a:uFillTx/>
                <a:latin typeface="Tw Cen MT" panose="020B0602020104020603"/>
                <a:ea typeface="+mn-ea"/>
                <a:cs typeface="+mn-cs"/>
              </a:rPr>
              <a:t>Poll</a:t>
            </a:r>
          </a:p>
        </p:txBody>
      </p:sp>
      <p:sp>
        <p:nvSpPr>
          <p:cNvPr id="13" name="TextBox 12">
            <a:extLst>
              <a:ext uri="{FF2B5EF4-FFF2-40B4-BE49-F238E27FC236}">
                <a16:creationId xmlns:a16="http://schemas.microsoft.com/office/drawing/2014/main" id="{770222B1-5CA1-D65B-6E50-42628FE31F43}"/>
              </a:ext>
            </a:extLst>
          </p:cNvPr>
          <p:cNvSpPr txBox="1"/>
          <p:nvPr/>
        </p:nvSpPr>
        <p:spPr>
          <a:xfrm>
            <a:off x="8520818" y="2274538"/>
            <a:ext cx="44275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doc</a:t>
            </a:r>
          </a:p>
        </p:txBody>
      </p:sp>
      <p:sp>
        <p:nvSpPr>
          <p:cNvPr id="15" name="TextBox 14">
            <a:extLst>
              <a:ext uri="{FF2B5EF4-FFF2-40B4-BE49-F238E27FC236}">
                <a16:creationId xmlns:a16="http://schemas.microsoft.com/office/drawing/2014/main" id="{C5E6B35B-D199-7B8A-BD47-F131A95CCA94}"/>
              </a:ext>
            </a:extLst>
          </p:cNvPr>
          <p:cNvSpPr txBox="1"/>
          <p:nvPr/>
        </p:nvSpPr>
        <p:spPr>
          <a:xfrm>
            <a:off x="8520818" y="2533123"/>
            <a:ext cx="69923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bashful</a:t>
            </a:r>
          </a:p>
        </p:txBody>
      </p:sp>
      <p:sp>
        <p:nvSpPr>
          <p:cNvPr id="17" name="TextBox 16">
            <a:extLst>
              <a:ext uri="{FF2B5EF4-FFF2-40B4-BE49-F238E27FC236}">
                <a16:creationId xmlns:a16="http://schemas.microsoft.com/office/drawing/2014/main" id="{F41EE2BE-32AA-EC02-B051-0D04B0748E0A}"/>
              </a:ext>
            </a:extLst>
          </p:cNvPr>
          <p:cNvSpPr txBox="1"/>
          <p:nvPr/>
        </p:nvSpPr>
        <p:spPr>
          <a:xfrm>
            <a:off x="8520818" y="2782763"/>
            <a:ext cx="643959"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happy</a:t>
            </a:r>
          </a:p>
        </p:txBody>
      </p:sp>
      <p:sp>
        <p:nvSpPr>
          <p:cNvPr id="19" name="TextBox 18">
            <a:extLst>
              <a:ext uri="{FF2B5EF4-FFF2-40B4-BE49-F238E27FC236}">
                <a16:creationId xmlns:a16="http://schemas.microsoft.com/office/drawing/2014/main" id="{C96EF886-4EFE-2295-15E2-2487145859AC}"/>
              </a:ext>
            </a:extLst>
          </p:cNvPr>
          <p:cNvSpPr txBox="1"/>
          <p:nvPr/>
        </p:nvSpPr>
        <p:spPr>
          <a:xfrm>
            <a:off x="8520818" y="3040354"/>
            <a:ext cx="72770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grumpy</a:t>
            </a:r>
          </a:p>
        </p:txBody>
      </p:sp>
      <p:sp>
        <p:nvSpPr>
          <p:cNvPr id="20" name="TextBox 19">
            <a:extLst>
              <a:ext uri="{FF2B5EF4-FFF2-40B4-BE49-F238E27FC236}">
                <a16:creationId xmlns:a16="http://schemas.microsoft.com/office/drawing/2014/main" id="{8BA79D3E-CDD4-0DFA-0D93-5FBADAE1B44A}"/>
              </a:ext>
            </a:extLst>
          </p:cNvPr>
          <p:cNvSpPr txBox="1"/>
          <p:nvPr/>
        </p:nvSpPr>
        <p:spPr>
          <a:xfrm>
            <a:off x="8520818" y="3297945"/>
            <a:ext cx="67037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sneezy</a:t>
            </a:r>
          </a:p>
        </p:txBody>
      </p:sp>
      <p:sp>
        <p:nvSpPr>
          <p:cNvPr id="21" name="TextBox 20">
            <a:extLst>
              <a:ext uri="{FF2B5EF4-FFF2-40B4-BE49-F238E27FC236}">
                <a16:creationId xmlns:a16="http://schemas.microsoft.com/office/drawing/2014/main" id="{0D590906-0FA6-5A99-4258-79F7C7596631}"/>
              </a:ext>
            </a:extLst>
          </p:cNvPr>
          <p:cNvSpPr txBox="1"/>
          <p:nvPr/>
        </p:nvSpPr>
        <p:spPr>
          <a:xfrm>
            <a:off x="8520818" y="3547585"/>
            <a:ext cx="64556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dopey</a:t>
            </a:r>
          </a:p>
        </p:txBody>
      </p:sp>
      <p:sp>
        <p:nvSpPr>
          <p:cNvPr id="22" name="TextBox 21">
            <a:extLst>
              <a:ext uri="{FF2B5EF4-FFF2-40B4-BE49-F238E27FC236}">
                <a16:creationId xmlns:a16="http://schemas.microsoft.com/office/drawing/2014/main" id="{1B7A5AF5-111C-9ECD-2348-E03C45460E5B}"/>
              </a:ext>
            </a:extLst>
          </p:cNvPr>
          <p:cNvSpPr txBox="1"/>
          <p:nvPr/>
        </p:nvSpPr>
        <p:spPr>
          <a:xfrm>
            <a:off x="8520818" y="3805176"/>
            <a:ext cx="64556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sleepy</a:t>
            </a:r>
          </a:p>
        </p:txBody>
      </p:sp>
      <p:sp>
        <p:nvSpPr>
          <p:cNvPr id="23" name="TextBox 22">
            <a:extLst>
              <a:ext uri="{FF2B5EF4-FFF2-40B4-BE49-F238E27FC236}">
                <a16:creationId xmlns:a16="http://schemas.microsoft.com/office/drawing/2014/main" id="{FA6C7AE4-D5DF-21F3-A76F-22FACBD0D6C5}"/>
              </a:ext>
            </a:extLst>
          </p:cNvPr>
          <p:cNvSpPr txBox="1"/>
          <p:nvPr/>
        </p:nvSpPr>
        <p:spPr>
          <a:xfrm>
            <a:off x="11178561" y="2305316"/>
            <a:ext cx="728084"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0.00817</a:t>
            </a:r>
          </a:p>
        </p:txBody>
      </p:sp>
      <p:sp>
        <p:nvSpPr>
          <p:cNvPr id="24" name="TextBox 23">
            <a:extLst>
              <a:ext uri="{FF2B5EF4-FFF2-40B4-BE49-F238E27FC236}">
                <a16:creationId xmlns:a16="http://schemas.microsoft.com/office/drawing/2014/main" id="{A2FFB19A-853D-BFDE-9C5E-EA9AD094F17E}"/>
              </a:ext>
            </a:extLst>
          </p:cNvPr>
          <p:cNvSpPr txBox="1"/>
          <p:nvPr/>
        </p:nvSpPr>
        <p:spPr>
          <a:xfrm>
            <a:off x="10380011" y="3851856"/>
            <a:ext cx="728084"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0.00624</a:t>
            </a:r>
            <a:endParaRPr kumimoji="0" lang="en-US" sz="10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pic>
        <p:nvPicPr>
          <p:cNvPr id="2" name="Picture 1">
            <a:extLst>
              <a:ext uri="{FF2B5EF4-FFF2-40B4-BE49-F238E27FC236}">
                <a16:creationId xmlns:a16="http://schemas.microsoft.com/office/drawing/2014/main" id="{93D7784E-B075-E574-F1D4-B6A762E0F25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59019" y="1300719"/>
            <a:ext cx="7137810" cy="5067300"/>
          </a:xfrm>
          <a:prstGeom prst="rect">
            <a:avLst/>
          </a:prstGeom>
        </p:spPr>
      </p:pic>
      <p:sp>
        <p:nvSpPr>
          <p:cNvPr id="5" name="TextBox 4">
            <a:extLst>
              <a:ext uri="{FF2B5EF4-FFF2-40B4-BE49-F238E27FC236}">
                <a16:creationId xmlns:a16="http://schemas.microsoft.com/office/drawing/2014/main" id="{34A5EBBA-622A-8004-231F-276404229FD6}"/>
              </a:ext>
            </a:extLst>
          </p:cNvPr>
          <p:cNvSpPr txBox="1"/>
          <p:nvPr/>
        </p:nvSpPr>
        <p:spPr>
          <a:xfrm>
            <a:off x="4664900" y="6450871"/>
            <a:ext cx="7057683" cy="338554"/>
          </a:xfrm>
          <a:prstGeom prst="rect">
            <a:avLst/>
          </a:prstGeom>
          <a:noFill/>
        </p:spPr>
        <p:txBody>
          <a:bodyPr wrap="square">
            <a:spAutoFit/>
          </a:bodyPr>
          <a:lstStyle/>
          <a:p>
            <a:r>
              <a:rPr lang="en-US" sz="1600" dirty="0"/>
              <a:t>https://</a:t>
            </a:r>
            <a:r>
              <a:rPr lang="en-US" sz="1600" dirty="0" err="1"/>
              <a:t>www.storytellingwithdata.com</a:t>
            </a:r>
            <a:r>
              <a:rPr lang="en-US" sz="1600" dirty="0"/>
              <a:t>/blog/declutter-a-dual-y-axis-chart</a:t>
            </a:r>
          </a:p>
        </p:txBody>
      </p:sp>
    </p:spTree>
    <p:extLst>
      <p:ext uri="{BB962C8B-B14F-4D97-AF65-F5344CB8AC3E}">
        <p14:creationId xmlns:p14="http://schemas.microsoft.com/office/powerpoint/2010/main" val="37552451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D84675-9404-5068-7640-2E338D927135}"/>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69D434A-C2EA-7CCE-2C2A-8425A865E7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387E3217-0CF0-3801-5DE5-1BFBA4C74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CD2C8B18-CD91-1900-5B6E-630C90E18A5F}"/>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Show more than averages</a:t>
            </a:r>
          </a:p>
        </p:txBody>
      </p:sp>
      <p:cxnSp>
        <p:nvCxnSpPr>
          <p:cNvPr id="22" name="Straight Connector 21">
            <a:extLst>
              <a:ext uri="{FF2B5EF4-FFF2-40B4-BE49-F238E27FC236}">
                <a16:creationId xmlns:a16="http://schemas.microsoft.com/office/drawing/2014/main" id="{6F605A54-293E-81BE-4861-B17E9E2C5E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F7C88FA-DA5D-F08B-5FC6-31188DC5A91D}"/>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Replace mean ± SD bars with dot (+ CI), box/violin + jitter, or difference plots</a:t>
            </a:r>
          </a:p>
          <a:p>
            <a:pPr marL="176213" indent="-176213">
              <a:buFont typeface="Arial" panose="020B0604020202020204" pitchFamily="34" charset="0"/>
              <a:buChar char="•"/>
            </a:pPr>
            <a:r>
              <a:rPr lang="en-US" sz="2400" dirty="0"/>
              <a:t>Offer toggles (absolute vs %), tooltips for exact values, and “show table” for audit</a:t>
            </a:r>
          </a:p>
        </p:txBody>
      </p:sp>
    </p:spTree>
    <p:extLst>
      <p:ext uri="{BB962C8B-B14F-4D97-AF65-F5344CB8AC3E}">
        <p14:creationId xmlns:p14="http://schemas.microsoft.com/office/powerpoint/2010/main" val="38468613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B8B0AB-CF30-C73F-6E6C-26056862B2F3}"/>
              </a:ext>
            </a:extLst>
          </p:cNvPr>
          <p:cNvSpPr>
            <a:spLocks noGrp="1"/>
          </p:cNvSpPr>
          <p:nvPr>
            <p:ph type="title"/>
          </p:nvPr>
        </p:nvSpPr>
        <p:spPr/>
        <p:txBody>
          <a:bodyPr/>
          <a:lstStyle/>
          <a:p>
            <a:r>
              <a:rPr lang="en-US" dirty="0"/>
              <a:t>How to make comparisons effortless?</a:t>
            </a:r>
          </a:p>
        </p:txBody>
      </p:sp>
      <p:sp>
        <p:nvSpPr>
          <p:cNvPr id="6" name="Content Placeholder 5">
            <a:extLst>
              <a:ext uri="{FF2B5EF4-FFF2-40B4-BE49-F238E27FC236}">
                <a16:creationId xmlns:a16="http://schemas.microsoft.com/office/drawing/2014/main" id="{EB885CC3-C1EE-EF8B-80A6-D019F7C5BF6D}"/>
              </a:ext>
            </a:extLst>
          </p:cNvPr>
          <p:cNvSpPr>
            <a:spLocks noGrp="1"/>
          </p:cNvSpPr>
          <p:nvPr>
            <p:ph idx="1"/>
          </p:nvPr>
        </p:nvSpPr>
        <p:spPr/>
        <p:txBody>
          <a:bodyPr/>
          <a:lstStyle/>
          <a:p>
            <a:pPr marL="0" indent="0">
              <a:buNone/>
            </a:pPr>
            <a:endParaRPr lang="en-US" i="1" dirty="0"/>
          </a:p>
          <a:p>
            <a:pPr marL="0" indent="0">
              <a:buNone/>
            </a:pPr>
            <a:r>
              <a:rPr lang="en-US" i="1" dirty="0">
                <a:solidFill>
                  <a:schemeClr val="accent1"/>
                </a:solidFill>
              </a:rPr>
              <a:t>Start with the right visualization and then refine it: </a:t>
            </a:r>
          </a:p>
          <a:p>
            <a:pPr marL="0" indent="0">
              <a:buNone/>
            </a:pPr>
            <a:r>
              <a:rPr lang="en-US" i="1" dirty="0">
                <a:solidFill>
                  <a:schemeClr val="accent1"/>
                </a:solidFill>
              </a:rPr>
              <a:t>focus, sort, align, label directly, normalize fairly, and show uncertainty</a:t>
            </a:r>
            <a:endParaRPr lang="en-US" dirty="0">
              <a:solidFill>
                <a:schemeClr val="accent1"/>
              </a:solidFill>
            </a:endParaRPr>
          </a:p>
          <a:p>
            <a:endParaRPr lang="en-US" dirty="0"/>
          </a:p>
        </p:txBody>
      </p:sp>
    </p:spTree>
    <p:extLst>
      <p:ext uri="{BB962C8B-B14F-4D97-AF65-F5344CB8AC3E}">
        <p14:creationId xmlns:p14="http://schemas.microsoft.com/office/powerpoint/2010/main" val="2801587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EA4A47-A96B-A8B9-325B-E511367DB20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79F6B9-B181-5284-AAAD-8D744E1C81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B3C126D8-D52F-9A04-DBF2-A7046BD69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5FF7622-1D56-E9E3-6D3C-0805DEF371EA}"/>
              </a:ext>
            </a:extLst>
          </p:cNvPr>
          <p:cNvSpPr>
            <a:spLocks noGrp="1"/>
          </p:cNvSpPr>
          <p:nvPr>
            <p:ph idx="1"/>
          </p:nvPr>
        </p:nvSpPr>
        <p:spPr>
          <a:xfrm>
            <a:off x="4999330" y="804333"/>
            <a:ext cx="7040265" cy="5249334"/>
          </a:xfrm>
        </p:spPr>
        <p:txBody>
          <a:bodyPr anchor="ctr">
            <a:normAutofit/>
          </a:bodyPr>
          <a:lstStyle/>
          <a:p>
            <a:pPr marL="0" indent="0">
              <a:buNone/>
            </a:pPr>
            <a:r>
              <a:rPr lang="en-US" dirty="0"/>
              <a:t>How can visual encoding help or harm visualization effectiveness?</a:t>
            </a:r>
          </a:p>
          <a:p>
            <a:pPr marL="228600" indent="-228600"/>
            <a:endParaRPr lang="en-US" dirty="0"/>
          </a:p>
          <a:p>
            <a:pPr marL="0" indent="0">
              <a:buNone/>
            </a:pPr>
            <a:r>
              <a:rPr lang="en-US" dirty="0"/>
              <a:t>What are visual elements?</a:t>
            </a:r>
          </a:p>
        </p:txBody>
      </p:sp>
      <p:grpSp>
        <p:nvGrpSpPr>
          <p:cNvPr id="7" name="Group 6">
            <a:extLst>
              <a:ext uri="{FF2B5EF4-FFF2-40B4-BE49-F238E27FC236}">
                <a16:creationId xmlns:a16="http://schemas.microsoft.com/office/drawing/2014/main" id="{172071E5-A206-0AC1-770A-FD6B01B2842C}"/>
              </a:ext>
            </a:extLst>
          </p:cNvPr>
          <p:cNvGrpSpPr/>
          <p:nvPr/>
        </p:nvGrpSpPr>
        <p:grpSpPr>
          <a:xfrm>
            <a:off x="1771956" y="2057818"/>
            <a:ext cx="2292425" cy="1100364"/>
            <a:chOff x="189" y="635907"/>
            <a:chExt cx="2292425" cy="1100364"/>
          </a:xfrm>
        </p:grpSpPr>
        <p:sp>
          <p:nvSpPr>
            <p:cNvPr id="9" name="Rectangle 8">
              <a:extLst>
                <a:ext uri="{FF2B5EF4-FFF2-40B4-BE49-F238E27FC236}">
                  <a16:creationId xmlns:a16="http://schemas.microsoft.com/office/drawing/2014/main" id="{F34A78D1-E839-CED6-7A62-DA693D15870A}"/>
                </a:ext>
              </a:extLst>
            </p:cNvPr>
            <p:cNvSpPr/>
            <p:nvPr/>
          </p:nvSpPr>
          <p:spPr>
            <a:xfrm>
              <a:off x="189" y="635907"/>
              <a:ext cx="2292425" cy="110036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2A41EF85-C7ED-A452-9728-51BDC1D02C54}"/>
                </a:ext>
              </a:extLst>
            </p:cNvPr>
            <p:cNvSpPr txBox="1"/>
            <p:nvPr/>
          </p:nvSpPr>
          <p:spPr>
            <a:xfrm>
              <a:off x="189" y="635907"/>
              <a:ext cx="2292425" cy="110036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6441" tIns="165100" rIns="226441" bIns="165100" numCol="1" spcCol="1270" anchor="ctr" anchorCtr="0">
              <a:noAutofit/>
            </a:bodyPr>
            <a:lstStyle/>
            <a:p>
              <a:pPr marL="0" marR="0" lvl="0" indent="0" algn="l" defTabSz="2711450" rtl="0" eaLnBrk="1" fontAlgn="auto" latinLnBrk="0" hangingPunct="1">
                <a:lnSpc>
                  <a:spcPct val="90000"/>
                </a:lnSpc>
                <a:spcBef>
                  <a:spcPct val="0"/>
                </a:spcBef>
                <a:spcAft>
                  <a:spcPct val="35000"/>
                </a:spcAft>
                <a:buClrTx/>
                <a:buSzTx/>
                <a:buFontTx/>
                <a:buNone/>
                <a:tabLst/>
                <a:defRPr/>
              </a:pPr>
              <a:r>
                <a:rPr kumimoji="0" lang="en-US" sz="6100" b="0" i="0" u="none" strike="noStrike" kern="1200" cap="none" spc="0" normalizeH="0" baseline="0" noProof="0">
                  <a:ln>
                    <a:noFill/>
                  </a:ln>
                  <a:solidFill>
                    <a:prstClr val="white"/>
                  </a:solidFill>
                  <a:effectLst/>
                  <a:uLnTx/>
                  <a:uFillTx/>
                  <a:latin typeface="Tw Cen MT" panose="020B0602020104020603"/>
                  <a:ea typeface="+mn-ea"/>
                  <a:cs typeface="+mn-cs"/>
                </a:rPr>
                <a:t>01</a:t>
              </a:r>
            </a:p>
          </p:txBody>
        </p:sp>
      </p:grpSp>
      <p:pic>
        <p:nvPicPr>
          <p:cNvPr id="2" name="Picture 1">
            <a:extLst>
              <a:ext uri="{FF2B5EF4-FFF2-40B4-BE49-F238E27FC236}">
                <a16:creationId xmlns:a16="http://schemas.microsoft.com/office/drawing/2014/main" id="{D3ED2DCD-0DF0-6546-49EA-B5504A0C6376}"/>
              </a:ext>
            </a:extLst>
          </p:cNvPr>
          <p:cNvPicPr>
            <a:picLocks noChangeAspect="1"/>
          </p:cNvPicPr>
          <p:nvPr/>
        </p:nvPicPr>
        <p:blipFill>
          <a:blip r:embed="rId2"/>
          <a:stretch>
            <a:fillRect/>
          </a:stretch>
        </p:blipFill>
        <p:spPr>
          <a:xfrm>
            <a:off x="1216164" y="1713338"/>
            <a:ext cx="2862072" cy="3431324"/>
          </a:xfrm>
          <a:prstGeom prst="rect">
            <a:avLst/>
          </a:prstGeom>
        </p:spPr>
      </p:pic>
    </p:spTree>
    <p:extLst>
      <p:ext uri="{BB962C8B-B14F-4D97-AF65-F5344CB8AC3E}">
        <p14:creationId xmlns:p14="http://schemas.microsoft.com/office/powerpoint/2010/main" val="22674448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039838-5BBD-6F7E-1CB2-D9546E2A2B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BD511F-FD2F-C57B-7898-3EFA0D1BBEF6}"/>
              </a:ext>
            </a:extLst>
          </p:cNvPr>
          <p:cNvSpPr>
            <a:spLocks noGrp="1"/>
          </p:cNvSpPr>
          <p:nvPr>
            <p:ph type="title"/>
          </p:nvPr>
        </p:nvSpPr>
        <p:spPr/>
        <p:txBody>
          <a:bodyPr vert="horz" lIns="91440" tIns="45720" rIns="91440" bIns="45720" rtlCol="0" anchor="ctr">
            <a:normAutofit/>
          </a:bodyPr>
          <a:lstStyle/>
          <a:p>
            <a:r>
              <a:rPr lang="en-US" spc="200" dirty="0">
                <a:solidFill>
                  <a:schemeClr val="tx1"/>
                </a:solidFill>
              </a:rPr>
              <a:t>Which is better?</a:t>
            </a:r>
          </a:p>
        </p:txBody>
      </p:sp>
      <p:sp>
        <p:nvSpPr>
          <p:cNvPr id="29" name="TextBox 28">
            <a:extLst>
              <a:ext uri="{FF2B5EF4-FFF2-40B4-BE49-F238E27FC236}">
                <a16:creationId xmlns:a16="http://schemas.microsoft.com/office/drawing/2014/main" id="{5C3B857E-DB2E-6060-8CD8-8545C785EA67}"/>
              </a:ext>
            </a:extLst>
          </p:cNvPr>
          <p:cNvSpPr txBox="1"/>
          <p:nvPr/>
        </p:nvSpPr>
        <p:spPr>
          <a:xfrm>
            <a:off x="10105688" y="198773"/>
            <a:ext cx="1591141" cy="120032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1CADE4"/>
                </a:solidFill>
                <a:effectLst/>
                <a:uLnTx/>
                <a:uFillTx/>
                <a:latin typeface="Tw Cen MT" panose="020B0602020104020603"/>
                <a:ea typeface="+mn-ea"/>
                <a:cs typeface="+mn-cs"/>
              </a:rPr>
              <a:t>Poll</a:t>
            </a:r>
          </a:p>
        </p:txBody>
      </p:sp>
      <p:pic>
        <p:nvPicPr>
          <p:cNvPr id="42" name="Picture 41">
            <a:extLst>
              <a:ext uri="{FF2B5EF4-FFF2-40B4-BE49-F238E27FC236}">
                <a16:creationId xmlns:a16="http://schemas.microsoft.com/office/drawing/2014/main" id="{81A2D032-FDAF-E75D-C376-420320FED0E4}"/>
              </a:ext>
            </a:extLst>
          </p:cNvPr>
          <p:cNvPicPr>
            <a:picLocks noChangeAspect="1"/>
          </p:cNvPicPr>
          <p:nvPr/>
        </p:nvPicPr>
        <p:blipFill>
          <a:blip r:embed="rId3"/>
          <a:stretch>
            <a:fillRect/>
          </a:stretch>
        </p:blipFill>
        <p:spPr>
          <a:xfrm>
            <a:off x="143170" y="2084832"/>
            <a:ext cx="5303520" cy="3275704"/>
          </a:xfrm>
          <a:prstGeom prst="rect">
            <a:avLst/>
          </a:prstGeom>
        </p:spPr>
      </p:pic>
      <p:pic>
        <p:nvPicPr>
          <p:cNvPr id="44" name="Picture 43">
            <a:extLst>
              <a:ext uri="{FF2B5EF4-FFF2-40B4-BE49-F238E27FC236}">
                <a16:creationId xmlns:a16="http://schemas.microsoft.com/office/drawing/2014/main" id="{DC33F8E1-5121-22E0-A53A-BD2D554B9275}"/>
              </a:ext>
            </a:extLst>
          </p:cNvPr>
          <p:cNvPicPr>
            <a:picLocks noChangeAspect="1"/>
          </p:cNvPicPr>
          <p:nvPr/>
        </p:nvPicPr>
        <p:blipFill>
          <a:blip r:embed="rId4"/>
          <a:stretch>
            <a:fillRect/>
          </a:stretch>
        </p:blipFill>
        <p:spPr>
          <a:xfrm>
            <a:off x="6388881" y="2084832"/>
            <a:ext cx="5307948" cy="3269255"/>
          </a:xfrm>
          <a:prstGeom prst="rect">
            <a:avLst/>
          </a:prstGeom>
        </p:spPr>
      </p:pic>
      <p:cxnSp>
        <p:nvCxnSpPr>
          <p:cNvPr id="46" name="Straight Connector 45">
            <a:extLst>
              <a:ext uri="{FF2B5EF4-FFF2-40B4-BE49-F238E27FC236}">
                <a16:creationId xmlns:a16="http://schemas.microsoft.com/office/drawing/2014/main" id="{372ACFC7-415C-3D75-59E7-DBA7E148F4F5}"/>
              </a:ext>
            </a:extLst>
          </p:cNvPr>
          <p:cNvCxnSpPr/>
          <p:nvPr/>
        </p:nvCxnSpPr>
        <p:spPr>
          <a:xfrm>
            <a:off x="6082145" y="2438399"/>
            <a:ext cx="0" cy="22860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7743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B382-5C1A-7EE6-A58A-AFEFB8C09C5E}"/>
              </a:ext>
            </a:extLst>
          </p:cNvPr>
          <p:cNvSpPr>
            <a:spLocks noGrp="1"/>
          </p:cNvSpPr>
          <p:nvPr>
            <p:ph type="title"/>
          </p:nvPr>
        </p:nvSpPr>
        <p:spPr/>
        <p:txBody>
          <a:bodyPr/>
          <a:lstStyle/>
          <a:p>
            <a:r>
              <a:rPr lang="en-US" dirty="0"/>
              <a:t>Visual channels can encode information</a:t>
            </a:r>
          </a:p>
        </p:txBody>
      </p:sp>
      <p:sp>
        <p:nvSpPr>
          <p:cNvPr id="3" name="Content Placeholder 2">
            <a:extLst>
              <a:ext uri="{FF2B5EF4-FFF2-40B4-BE49-F238E27FC236}">
                <a16:creationId xmlns:a16="http://schemas.microsoft.com/office/drawing/2014/main" id="{63A3974F-7F22-8C88-D1CD-0A4CCBCE682B}"/>
              </a:ext>
            </a:extLst>
          </p:cNvPr>
          <p:cNvSpPr>
            <a:spLocks noGrp="1"/>
          </p:cNvSpPr>
          <p:nvPr>
            <p:ph idx="1"/>
          </p:nvPr>
        </p:nvSpPr>
        <p:spPr/>
        <p:txBody>
          <a:bodyPr>
            <a:normAutofit fontScale="92500" lnSpcReduction="20000"/>
          </a:bodyPr>
          <a:lstStyle/>
          <a:p>
            <a:pPr marL="228600" indent="-228600"/>
            <a:r>
              <a:rPr lang="en-US" dirty="0"/>
              <a:t>Use visual attributes to make aspects stand out or encode additional information making it easier to understand, compare, and retain</a:t>
            </a:r>
          </a:p>
          <a:p>
            <a:pPr marL="228600" indent="-228600"/>
            <a:endParaRPr lang="en-US" dirty="0"/>
          </a:p>
          <a:p>
            <a:pPr marL="228600" indent="-228600"/>
            <a:r>
              <a:rPr lang="en-US" dirty="0"/>
              <a:t>Commonly used elements: size, shape, color hue and intensity, length, and position</a:t>
            </a:r>
          </a:p>
          <a:p>
            <a:pPr marL="228600" indent="-228600"/>
            <a:endParaRPr lang="en-US" dirty="0"/>
          </a:p>
          <a:p>
            <a:pPr marL="228600" indent="-228600"/>
            <a:r>
              <a:rPr lang="en-US" dirty="0"/>
              <a:t>Most humans perceive these quantitatively to different degrees and many not well at all</a:t>
            </a:r>
          </a:p>
        </p:txBody>
      </p:sp>
    </p:spTree>
    <p:extLst>
      <p:ext uri="{BB962C8B-B14F-4D97-AF65-F5344CB8AC3E}">
        <p14:creationId xmlns:p14="http://schemas.microsoft.com/office/powerpoint/2010/main" val="30627165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B8475-1E85-D529-AA0C-3C86E3F18A4F}"/>
              </a:ext>
            </a:extLst>
          </p:cNvPr>
          <p:cNvSpPr>
            <a:spLocks noGrp="1"/>
          </p:cNvSpPr>
          <p:nvPr>
            <p:ph type="title"/>
          </p:nvPr>
        </p:nvSpPr>
        <p:spPr>
          <a:xfrm>
            <a:off x="1024128" y="585216"/>
            <a:ext cx="9847072" cy="1499616"/>
          </a:xfrm>
        </p:spPr>
        <p:txBody>
          <a:bodyPr/>
          <a:lstStyle/>
          <a:p>
            <a:r>
              <a:rPr lang="en-US" dirty="0"/>
              <a:t>How well can we perceive relative area?</a:t>
            </a:r>
          </a:p>
        </p:txBody>
      </p:sp>
      <p:sp>
        <p:nvSpPr>
          <p:cNvPr id="3" name="Content Placeholder 2">
            <a:extLst>
              <a:ext uri="{FF2B5EF4-FFF2-40B4-BE49-F238E27FC236}">
                <a16:creationId xmlns:a16="http://schemas.microsoft.com/office/drawing/2014/main" id="{0D8CADBE-FE46-4544-11C7-051688695544}"/>
              </a:ext>
            </a:extLst>
          </p:cNvPr>
          <p:cNvSpPr>
            <a:spLocks noGrp="1"/>
          </p:cNvSpPr>
          <p:nvPr>
            <p:ph idx="1"/>
          </p:nvPr>
        </p:nvSpPr>
        <p:spPr/>
        <p:txBody>
          <a:bodyPr/>
          <a:lstStyle/>
          <a:p>
            <a:pPr marL="0" indent="0">
              <a:buNone/>
            </a:pPr>
            <a:r>
              <a:rPr lang="en-US" dirty="0"/>
              <a:t>Compared to the circle on the left (A), how much bigger is the area of the circle on the right (B)?</a:t>
            </a:r>
          </a:p>
        </p:txBody>
      </p:sp>
      <p:sp>
        <p:nvSpPr>
          <p:cNvPr id="4" name="Oval 3">
            <a:extLst>
              <a:ext uri="{FF2B5EF4-FFF2-40B4-BE49-F238E27FC236}">
                <a16:creationId xmlns:a16="http://schemas.microsoft.com/office/drawing/2014/main" id="{8DB6E64A-D48D-862E-1F26-4FCAA6DE8404}"/>
              </a:ext>
            </a:extLst>
          </p:cNvPr>
          <p:cNvSpPr>
            <a:spLocks noChangeAspect="1"/>
          </p:cNvSpPr>
          <p:nvPr/>
        </p:nvSpPr>
        <p:spPr>
          <a:xfrm>
            <a:off x="7888229" y="4686300"/>
            <a:ext cx="457200" cy="457200"/>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FBD66222-093C-827D-6125-70C415B1B2C2}"/>
              </a:ext>
            </a:extLst>
          </p:cNvPr>
          <p:cNvSpPr>
            <a:spLocks noChangeAspect="1"/>
          </p:cNvSpPr>
          <p:nvPr/>
        </p:nvSpPr>
        <p:spPr>
          <a:xfrm>
            <a:off x="8741921" y="3735324"/>
            <a:ext cx="1581912" cy="158191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 name="TextBox 6">
            <a:extLst>
              <a:ext uri="{FF2B5EF4-FFF2-40B4-BE49-F238E27FC236}">
                <a16:creationId xmlns:a16="http://schemas.microsoft.com/office/drawing/2014/main" id="{2D3BB119-ED4B-0288-E34F-97EF0607532C}"/>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8" name="Picture 7">
            <a:extLst>
              <a:ext uri="{FF2B5EF4-FFF2-40B4-BE49-F238E27FC236}">
                <a16:creationId xmlns:a16="http://schemas.microsoft.com/office/drawing/2014/main" id="{3CE80556-81B8-FC8C-FC08-1B18D20793F6}"/>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024128" y="3685286"/>
            <a:ext cx="4584700" cy="2916428"/>
          </a:xfrm>
          <a:prstGeom prst="rect">
            <a:avLst/>
          </a:prstGeom>
        </p:spPr>
      </p:pic>
      <p:sp>
        <p:nvSpPr>
          <p:cNvPr id="6" name="TextBox 5">
            <a:extLst>
              <a:ext uri="{FF2B5EF4-FFF2-40B4-BE49-F238E27FC236}">
                <a16:creationId xmlns:a16="http://schemas.microsoft.com/office/drawing/2014/main" id="{7132D487-DD53-CF91-995B-4180A000D615}"/>
              </a:ext>
            </a:extLst>
          </p:cNvPr>
          <p:cNvSpPr txBox="1"/>
          <p:nvPr/>
        </p:nvSpPr>
        <p:spPr>
          <a:xfrm>
            <a:off x="7119257" y="630936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7698058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pic>
        <p:nvPicPr>
          <p:cNvPr id="426" name="Google Shape;426;g35766d32465_1_208"/>
          <p:cNvPicPr preferRelativeResize="0">
            <a:picLocks noGrp="1"/>
          </p:cNvPicPr>
          <p:nvPr>
            <p:ph type="body" idx="1"/>
          </p:nvPr>
        </p:nvPicPr>
        <p:blipFill rotWithShape="1">
          <a:blip r:embed="rId3" cstate="screen">
            <a:alphaModFix/>
            <a:extLst>
              <a:ext uri="{28A0092B-C50C-407E-A947-70E740481C1C}">
                <a14:useLocalDpi xmlns:a14="http://schemas.microsoft.com/office/drawing/2010/main"/>
              </a:ext>
            </a:extLst>
          </a:blip>
          <a:srcRect/>
          <a:stretch/>
        </p:blipFill>
        <p:spPr>
          <a:xfrm>
            <a:off x="3425171" y="0"/>
            <a:ext cx="7104900" cy="6819900"/>
          </a:xfrm>
          <a:prstGeom prst="rect">
            <a:avLst/>
          </a:prstGeom>
          <a:noFill/>
          <a:ln>
            <a:noFill/>
          </a:ln>
        </p:spPr>
      </p:pic>
      <p:sp>
        <p:nvSpPr>
          <p:cNvPr id="427" name="Google Shape;427;g35766d32465_1_208"/>
          <p:cNvSpPr txBox="1"/>
          <p:nvPr/>
        </p:nvSpPr>
        <p:spPr>
          <a:xfrm>
            <a:off x="490889" y="803041"/>
            <a:ext cx="2658711" cy="954067"/>
          </a:xfrm>
          <a:prstGeom prst="rect">
            <a:avLst/>
          </a:prstGeom>
          <a:solidFill>
            <a:schemeClr val="bg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chemeClr val="dk1"/>
                </a:solidFill>
                <a:ea typeface="Arial"/>
                <a:cs typeface="Arial"/>
                <a:sym typeface="Arial"/>
              </a:rPr>
              <a:t>Effectiveness of Visual Elements</a:t>
            </a:r>
            <a:endParaRPr sz="1400" b="1" i="0" u="none" strike="noStrike" cap="none" dirty="0">
              <a:solidFill>
                <a:srgbClr val="000000"/>
              </a:solidFill>
              <a:ea typeface="Arial"/>
              <a:cs typeface="Arial"/>
              <a:sym typeface="Arial"/>
            </a:endParaRPr>
          </a:p>
        </p:txBody>
      </p:sp>
      <p:sp>
        <p:nvSpPr>
          <p:cNvPr id="5" name="Rounded Rectangular Callout 4">
            <a:extLst>
              <a:ext uri="{FF2B5EF4-FFF2-40B4-BE49-F238E27FC236}">
                <a16:creationId xmlns:a16="http://schemas.microsoft.com/office/drawing/2014/main" id="{64022CB5-997D-52F0-5A02-7F735934667F}"/>
              </a:ext>
            </a:extLst>
          </p:cNvPr>
          <p:cNvSpPr/>
          <p:nvPr/>
        </p:nvSpPr>
        <p:spPr>
          <a:xfrm>
            <a:off x="490889" y="2717800"/>
            <a:ext cx="2302150" cy="1193800"/>
          </a:xfrm>
          <a:prstGeom prst="wedgeRoundRectCallout">
            <a:avLst>
              <a:gd name="adj1" fmla="val 94273"/>
              <a:gd name="adj2" fmla="val 84871"/>
              <a:gd name="adj3" fmla="val 16667"/>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This is why data viz experts HATE pie charts, donut charts, and use of 3D!!</a:t>
            </a:r>
          </a:p>
        </p:txBody>
      </p:sp>
      <p:sp>
        <p:nvSpPr>
          <p:cNvPr id="2" name="TextBox 1">
            <a:extLst>
              <a:ext uri="{FF2B5EF4-FFF2-40B4-BE49-F238E27FC236}">
                <a16:creationId xmlns:a16="http://schemas.microsoft.com/office/drawing/2014/main" id="{10BE26CD-5849-126F-45EB-BFAD314282F6}"/>
              </a:ext>
            </a:extLst>
          </p:cNvPr>
          <p:cNvSpPr txBox="1"/>
          <p:nvPr/>
        </p:nvSpPr>
        <p:spPr>
          <a:xfrm rot="16200000">
            <a:off x="9197446" y="3406959"/>
            <a:ext cx="5484835" cy="276999"/>
          </a:xfrm>
          <a:prstGeom prst="rect">
            <a:avLst/>
          </a:prstGeom>
          <a:noFill/>
        </p:spPr>
        <p:txBody>
          <a:bodyPr wrap="none" rtlCol="0">
            <a:spAutoFit/>
          </a:bodyPr>
          <a:lstStyle/>
          <a:p>
            <a:r>
              <a:rPr lang="en-US" sz="1200" dirty="0"/>
              <a:t>https://</a:t>
            </a:r>
            <a:r>
              <a:rPr lang="en-US" sz="1200" dirty="0" err="1"/>
              <a:t>knowablemagazine.org</a:t>
            </a:r>
            <a:r>
              <a:rPr lang="en-US" sz="1200" dirty="0"/>
              <a:t>/content/article/mind/2019/science-data-visualization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ADFCBE-97A3-EF74-7425-73D07F3E99A7}"/>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75613A24-4EF1-49C9-1D8A-DDAE3B98371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9E068A11-11A9-CB29-BE1C-24D31EF6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B321A72A-A7A6-1805-325A-8355C374AFCD}"/>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Effective use of visual channels</a:t>
            </a:r>
          </a:p>
        </p:txBody>
      </p:sp>
      <p:cxnSp>
        <p:nvCxnSpPr>
          <p:cNvPr id="22" name="Straight Connector 21">
            <a:extLst>
              <a:ext uri="{FF2B5EF4-FFF2-40B4-BE49-F238E27FC236}">
                <a16:creationId xmlns:a16="http://schemas.microsoft.com/office/drawing/2014/main" id="{567B47A8-C5D9-3BC8-900D-286BA2C846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2EE17DD-86E2-32FB-DD80-B1E4268AE633}"/>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0" indent="0">
              <a:buNone/>
            </a:pPr>
            <a:r>
              <a:rPr lang="en-US" sz="2400" b="1" dirty="0"/>
              <a:t>Match data type to channel and perceptual strength</a:t>
            </a:r>
            <a:endParaRPr lang="en-US" sz="2400" dirty="0"/>
          </a:p>
          <a:p>
            <a:pPr marL="349949" lvl="1" indent="-176213">
              <a:buFont typeface="Arial" panose="020B0604020202020204" pitchFamily="34" charset="0"/>
              <a:buChar char="•"/>
            </a:pPr>
            <a:r>
              <a:rPr lang="en-US" sz="2000" i="1" dirty="0"/>
              <a:t>Nominal (categories):</a:t>
            </a:r>
            <a:r>
              <a:rPr lang="en-US" sz="2000" dirty="0"/>
              <a:t> color hue or shape</a:t>
            </a:r>
          </a:p>
          <a:p>
            <a:pPr marL="349949" lvl="1" indent="-176213">
              <a:buFont typeface="Arial" panose="020B0604020202020204" pitchFamily="34" charset="0"/>
              <a:buChar char="•"/>
            </a:pPr>
            <a:r>
              <a:rPr lang="en-US" sz="2000" i="1" dirty="0"/>
              <a:t>Ordinal (ordered):</a:t>
            </a:r>
            <a:r>
              <a:rPr lang="en-US" sz="2000" dirty="0"/>
              <a:t> color lightness or position</a:t>
            </a:r>
          </a:p>
          <a:p>
            <a:pPr marL="349949" lvl="1" indent="-176213">
              <a:buFont typeface="Arial" panose="020B0604020202020204" pitchFamily="34" charset="0"/>
              <a:buChar char="•"/>
            </a:pPr>
            <a:r>
              <a:rPr lang="en-US" sz="2000" i="1" dirty="0"/>
              <a:t>Quantitative:</a:t>
            </a:r>
            <a:r>
              <a:rPr lang="en-US" sz="2000" dirty="0"/>
              <a:t> position on a common axis (best), then length; avoid area/volume for precise comparisons</a:t>
            </a:r>
            <a:endParaRPr lang="en-US" sz="800" dirty="0"/>
          </a:p>
          <a:p>
            <a:pPr marL="0" indent="0">
              <a:spcBef>
                <a:spcPts val="1600"/>
              </a:spcBef>
              <a:buNone/>
            </a:pPr>
            <a:r>
              <a:rPr lang="en-US" sz="2400" b="1" dirty="0"/>
              <a:t>Combine channels wisely</a:t>
            </a:r>
            <a:endParaRPr lang="en-US" sz="2400" dirty="0"/>
          </a:p>
          <a:p>
            <a:pPr marL="354013" lvl="1" indent="-177800">
              <a:buFont typeface="Arial" panose="020B0604020202020204" pitchFamily="34" charset="0"/>
              <a:buChar char="•"/>
            </a:pPr>
            <a:r>
              <a:rPr lang="en-US" sz="2000" dirty="0"/>
              <a:t>Favor separable pairs (e.g., color + shape) over interfering ones (length + area)</a:t>
            </a:r>
          </a:p>
          <a:p>
            <a:pPr marL="354013" lvl="1" indent="-177800">
              <a:buFont typeface="Arial" panose="020B0604020202020204" pitchFamily="34" charset="0"/>
              <a:buChar char="•"/>
            </a:pPr>
            <a:r>
              <a:rPr lang="en-US" sz="2000" dirty="0"/>
              <a:t>Use redundant encoding to reinforce meaning and improve accessibility</a:t>
            </a:r>
          </a:p>
          <a:p>
            <a:pPr marL="0" indent="0">
              <a:spcBef>
                <a:spcPts val="1600"/>
              </a:spcBef>
              <a:buNone/>
            </a:pPr>
            <a:r>
              <a:rPr lang="en-US" sz="2400" b="1" dirty="0"/>
              <a:t>Aim for simplicity and clarity</a:t>
            </a:r>
            <a:endParaRPr lang="en-US" sz="2400" dirty="0"/>
          </a:p>
          <a:p>
            <a:pPr marL="354013" lvl="1" indent="-177800">
              <a:buFont typeface="Arial" panose="020B0604020202020204" pitchFamily="34" charset="0"/>
              <a:buChar char="•"/>
            </a:pPr>
            <a:r>
              <a:rPr lang="en-US" sz="2000" dirty="0"/>
              <a:t>Use the minimal number of encodings necessary</a:t>
            </a:r>
          </a:p>
          <a:p>
            <a:pPr marL="354013" lvl="1" indent="-177800">
              <a:buFont typeface="Arial" panose="020B0604020202020204" pitchFamily="34" charset="0"/>
              <a:buChar char="•"/>
            </a:pPr>
            <a:r>
              <a:rPr lang="en-US" sz="2000" dirty="0"/>
              <a:t>Avoid visual clutter and 3D effects</a:t>
            </a:r>
          </a:p>
        </p:txBody>
      </p:sp>
    </p:spTree>
    <p:extLst>
      <p:ext uri="{BB962C8B-B14F-4D97-AF65-F5344CB8AC3E}">
        <p14:creationId xmlns:p14="http://schemas.microsoft.com/office/powerpoint/2010/main" val="3791293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286BE877-8405-42B2-A8E4-BF4224E01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F4916F3-5270-48BF-8D54-7990F611B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0178"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DB2939-938F-AB7B-B34A-100EA80BC3FB}"/>
              </a:ext>
            </a:extLst>
          </p:cNvPr>
          <p:cNvSpPr>
            <a:spLocks noGrp="1"/>
          </p:cNvSpPr>
          <p:nvPr>
            <p:ph type="title"/>
          </p:nvPr>
        </p:nvSpPr>
        <p:spPr>
          <a:xfrm>
            <a:off x="7354454" y="640080"/>
            <a:ext cx="4208656" cy="3034857"/>
          </a:xfrm>
        </p:spPr>
        <p:txBody>
          <a:bodyPr vert="horz" lIns="91440" tIns="45720" rIns="91440" bIns="45720" rtlCol="0" anchor="b">
            <a:normAutofit/>
          </a:bodyPr>
          <a:lstStyle/>
          <a:p>
            <a:r>
              <a:rPr lang="en-US" sz="4400" kern="1200" cap="all" spc="200" baseline="0" dirty="0">
                <a:solidFill>
                  <a:srgbClr val="FFFFFF"/>
                </a:solidFill>
                <a:latin typeface="+mj-lt"/>
                <a:ea typeface="+mj-ea"/>
                <a:cs typeface="+mj-cs"/>
              </a:rPr>
              <a:t>R Example from MSACL DS101</a:t>
            </a:r>
          </a:p>
        </p:txBody>
      </p:sp>
      <p:pic>
        <p:nvPicPr>
          <p:cNvPr id="5" name="Picture 4" descr="A graph with numbers and symbols&#10;&#10;AI-generated content may be incorrect.">
            <a:extLst>
              <a:ext uri="{FF2B5EF4-FFF2-40B4-BE49-F238E27FC236}">
                <a16:creationId xmlns:a16="http://schemas.microsoft.com/office/drawing/2014/main" id="{8BBFCCB0-CE0F-477B-36AE-133989A4A0E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3223" y="284013"/>
            <a:ext cx="4980093" cy="4980093"/>
          </a:xfrm>
          <a:prstGeom prst="rect">
            <a:avLst/>
          </a:prstGeom>
        </p:spPr>
      </p:pic>
      <p:cxnSp>
        <p:nvCxnSpPr>
          <p:cNvPr id="20" name="Straight Connector 19">
            <a:extLst>
              <a:ext uri="{FF2B5EF4-FFF2-40B4-BE49-F238E27FC236}">
                <a16:creationId xmlns:a16="http://schemas.microsoft.com/office/drawing/2014/main" id="{F49244C8-BD6D-4309-8235-706CBF26EF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06857" y="3765314"/>
            <a:ext cx="3931920" cy="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up of words&#10;&#10;AI-generated content may be incorrect.">
            <a:extLst>
              <a:ext uri="{FF2B5EF4-FFF2-40B4-BE49-F238E27FC236}">
                <a16:creationId xmlns:a16="http://schemas.microsoft.com/office/drawing/2014/main" id="{FCDB1DD1-1F49-48A2-77F5-83D89715FCD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0816" y="5485204"/>
            <a:ext cx="6258547" cy="969793"/>
          </a:xfrm>
          <a:prstGeom prst="rect">
            <a:avLst/>
          </a:prstGeom>
        </p:spPr>
      </p:pic>
      <p:grpSp>
        <p:nvGrpSpPr>
          <p:cNvPr id="45" name="Group 44">
            <a:extLst>
              <a:ext uri="{FF2B5EF4-FFF2-40B4-BE49-F238E27FC236}">
                <a16:creationId xmlns:a16="http://schemas.microsoft.com/office/drawing/2014/main" id="{1E114752-3372-55D2-46E7-C87632006DEC}"/>
              </a:ext>
            </a:extLst>
          </p:cNvPr>
          <p:cNvGrpSpPr/>
          <p:nvPr/>
        </p:nvGrpSpPr>
        <p:grpSpPr>
          <a:xfrm>
            <a:off x="230816" y="4975041"/>
            <a:ext cx="6012217" cy="1901257"/>
            <a:chOff x="230816" y="4975041"/>
            <a:chExt cx="6012217" cy="1901257"/>
          </a:xfrm>
        </p:grpSpPr>
        <p:grpSp>
          <p:nvGrpSpPr>
            <p:cNvPr id="40" name="Group 39">
              <a:extLst>
                <a:ext uri="{FF2B5EF4-FFF2-40B4-BE49-F238E27FC236}">
                  <a16:creationId xmlns:a16="http://schemas.microsoft.com/office/drawing/2014/main" id="{2E30BAEC-4F37-CD1D-7EED-0FCC8D6BBBBB}"/>
                </a:ext>
              </a:extLst>
            </p:cNvPr>
            <p:cNvGrpSpPr/>
            <p:nvPr/>
          </p:nvGrpSpPr>
          <p:grpSpPr>
            <a:xfrm>
              <a:off x="230816" y="4975041"/>
              <a:ext cx="1475276" cy="582811"/>
              <a:chOff x="230816" y="4975041"/>
              <a:chExt cx="1475276" cy="582811"/>
            </a:xfrm>
          </p:grpSpPr>
          <p:sp>
            <p:nvSpPr>
              <p:cNvPr id="11" name="TextBox 10">
                <a:extLst>
                  <a:ext uri="{FF2B5EF4-FFF2-40B4-BE49-F238E27FC236}">
                    <a16:creationId xmlns:a16="http://schemas.microsoft.com/office/drawing/2014/main" id="{FEF3E4F9-912C-A540-2B3B-AB109CAB01A5}"/>
                  </a:ext>
                </a:extLst>
              </p:cNvPr>
              <p:cNvSpPr txBox="1"/>
              <p:nvPr/>
            </p:nvSpPr>
            <p:spPr>
              <a:xfrm>
                <a:off x="230816" y="4975041"/>
                <a:ext cx="1475276" cy="369332"/>
              </a:xfrm>
              <a:prstGeom prst="rect">
                <a:avLst/>
              </a:prstGeom>
              <a:noFill/>
            </p:spPr>
            <p:txBody>
              <a:bodyPr wrap="none" rtlCol="0">
                <a:spAutoFit/>
              </a:bodyPr>
              <a:lstStyle/>
              <a:p>
                <a:r>
                  <a:rPr lang="en-US" dirty="0">
                    <a:solidFill>
                      <a:schemeClr val="accent1"/>
                    </a:solidFill>
                  </a:rPr>
                  <a:t>Data variable</a:t>
                </a:r>
              </a:p>
            </p:txBody>
          </p:sp>
          <p:cxnSp>
            <p:nvCxnSpPr>
              <p:cNvPr id="21" name="Straight Arrow Connector 20">
                <a:extLst>
                  <a:ext uri="{FF2B5EF4-FFF2-40B4-BE49-F238E27FC236}">
                    <a16:creationId xmlns:a16="http://schemas.microsoft.com/office/drawing/2014/main" id="{633E5D0E-3D42-4480-E354-8F53E527AE1D}"/>
                  </a:ext>
                </a:extLst>
              </p:cNvPr>
              <p:cNvCxnSpPr>
                <a:cxnSpLocks/>
              </p:cNvCxnSpPr>
              <p:nvPr/>
            </p:nvCxnSpPr>
            <p:spPr>
              <a:xfrm flipH="1">
                <a:off x="495070" y="5278853"/>
                <a:ext cx="138436" cy="27899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B3516D38-3990-A2E0-891E-8EA611AEC594}"/>
                </a:ext>
              </a:extLst>
            </p:cNvPr>
            <p:cNvGrpSpPr/>
            <p:nvPr/>
          </p:nvGrpSpPr>
          <p:grpSpPr>
            <a:xfrm>
              <a:off x="937923" y="6502428"/>
              <a:ext cx="1268143" cy="373870"/>
              <a:chOff x="937923" y="6502428"/>
              <a:chExt cx="1268143" cy="373870"/>
            </a:xfrm>
          </p:grpSpPr>
          <p:sp>
            <p:nvSpPr>
              <p:cNvPr id="13" name="TextBox 12">
                <a:extLst>
                  <a:ext uri="{FF2B5EF4-FFF2-40B4-BE49-F238E27FC236}">
                    <a16:creationId xmlns:a16="http://schemas.microsoft.com/office/drawing/2014/main" id="{7475F5A1-1BF9-8026-5D86-879F2EAEC727}"/>
                  </a:ext>
                </a:extLst>
              </p:cNvPr>
              <p:cNvSpPr txBox="1"/>
              <p:nvPr/>
            </p:nvSpPr>
            <p:spPr>
              <a:xfrm>
                <a:off x="1026128" y="6506966"/>
                <a:ext cx="1179938" cy="369332"/>
              </a:xfrm>
              <a:prstGeom prst="rect">
                <a:avLst/>
              </a:prstGeom>
              <a:noFill/>
            </p:spPr>
            <p:txBody>
              <a:bodyPr wrap="none" rtlCol="0">
                <a:spAutoFit/>
              </a:bodyPr>
              <a:lstStyle/>
              <a:p>
                <a:r>
                  <a:rPr lang="en-US" dirty="0">
                    <a:solidFill>
                      <a:schemeClr val="accent1"/>
                    </a:solidFill>
                  </a:rPr>
                  <a:t>Chart type</a:t>
                </a:r>
              </a:p>
            </p:txBody>
          </p:sp>
          <p:cxnSp>
            <p:nvCxnSpPr>
              <p:cNvPr id="25" name="Straight Arrow Connector 24">
                <a:extLst>
                  <a:ext uri="{FF2B5EF4-FFF2-40B4-BE49-F238E27FC236}">
                    <a16:creationId xmlns:a16="http://schemas.microsoft.com/office/drawing/2014/main" id="{B17E7937-1E41-29AA-905D-06FFEA3550EC}"/>
                  </a:ext>
                </a:extLst>
              </p:cNvPr>
              <p:cNvCxnSpPr>
                <a:cxnSpLocks/>
              </p:cNvCxnSpPr>
              <p:nvPr/>
            </p:nvCxnSpPr>
            <p:spPr>
              <a:xfrm flipH="1" flipV="1">
                <a:off x="937923" y="6502428"/>
                <a:ext cx="152507" cy="14120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BF984CBC-3A0F-5EE9-BFDB-65284B39589D}"/>
                </a:ext>
              </a:extLst>
            </p:cNvPr>
            <p:cNvGrpSpPr/>
            <p:nvPr/>
          </p:nvGrpSpPr>
          <p:grpSpPr>
            <a:xfrm>
              <a:off x="2752782" y="6222283"/>
              <a:ext cx="3490251" cy="584067"/>
              <a:chOff x="2752782" y="6222283"/>
              <a:chExt cx="3490251" cy="584067"/>
            </a:xfrm>
          </p:grpSpPr>
          <p:sp>
            <p:nvSpPr>
              <p:cNvPr id="17" name="TextBox 16">
                <a:extLst>
                  <a:ext uri="{FF2B5EF4-FFF2-40B4-BE49-F238E27FC236}">
                    <a16:creationId xmlns:a16="http://schemas.microsoft.com/office/drawing/2014/main" id="{68F9B4E8-77E2-29C7-92C9-B2A37AC493EB}"/>
                  </a:ext>
                </a:extLst>
              </p:cNvPr>
              <p:cNvSpPr txBox="1"/>
              <p:nvPr/>
            </p:nvSpPr>
            <p:spPr>
              <a:xfrm>
                <a:off x="2752782" y="6437018"/>
                <a:ext cx="3490251" cy="369332"/>
              </a:xfrm>
              <a:prstGeom prst="rect">
                <a:avLst/>
              </a:prstGeom>
              <a:noFill/>
            </p:spPr>
            <p:txBody>
              <a:bodyPr wrap="none" rtlCol="0">
                <a:spAutoFit/>
              </a:bodyPr>
              <a:lstStyle/>
              <a:p>
                <a:r>
                  <a:rPr lang="en-US" dirty="0">
                    <a:solidFill>
                      <a:schemeClr val="accent1"/>
                    </a:solidFill>
                  </a:rPr>
                  <a:t>Visual encoding for color and shape</a:t>
                </a:r>
              </a:p>
            </p:txBody>
          </p:sp>
          <p:cxnSp>
            <p:nvCxnSpPr>
              <p:cNvPr id="27" name="Straight Arrow Connector 26">
                <a:extLst>
                  <a:ext uri="{FF2B5EF4-FFF2-40B4-BE49-F238E27FC236}">
                    <a16:creationId xmlns:a16="http://schemas.microsoft.com/office/drawing/2014/main" id="{CB0E3C5B-BBF3-3B67-F2A3-4EE998F99B19}"/>
                  </a:ext>
                </a:extLst>
              </p:cNvPr>
              <p:cNvCxnSpPr>
                <a:cxnSpLocks/>
              </p:cNvCxnSpPr>
              <p:nvPr/>
            </p:nvCxnSpPr>
            <p:spPr>
              <a:xfrm flipH="1" flipV="1">
                <a:off x="4344604" y="6222283"/>
                <a:ext cx="343332" cy="3507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03B2ED5-ABAD-B1BD-0400-C88FA8703458}"/>
                  </a:ext>
                </a:extLst>
              </p:cNvPr>
              <p:cNvCxnSpPr>
                <a:cxnSpLocks/>
              </p:cNvCxnSpPr>
              <p:nvPr/>
            </p:nvCxnSpPr>
            <p:spPr>
              <a:xfrm flipH="1" flipV="1">
                <a:off x="5674798" y="6222283"/>
                <a:ext cx="158237" cy="3507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5B3EA056-7AEC-46C2-8D61-169770C59FC5}"/>
                </a:ext>
              </a:extLst>
            </p:cNvPr>
            <p:cNvGrpSpPr/>
            <p:nvPr/>
          </p:nvGrpSpPr>
          <p:grpSpPr>
            <a:xfrm>
              <a:off x="1784615" y="5182503"/>
              <a:ext cx="3137590" cy="870048"/>
              <a:chOff x="1784615" y="5182503"/>
              <a:chExt cx="3137590" cy="870048"/>
            </a:xfrm>
          </p:grpSpPr>
          <p:sp>
            <p:nvSpPr>
              <p:cNvPr id="15" name="TextBox 14">
                <a:extLst>
                  <a:ext uri="{FF2B5EF4-FFF2-40B4-BE49-F238E27FC236}">
                    <a16:creationId xmlns:a16="http://schemas.microsoft.com/office/drawing/2014/main" id="{AB07B0A9-7530-E674-38AE-31C2D8B2A705}"/>
                  </a:ext>
                </a:extLst>
              </p:cNvPr>
              <p:cNvSpPr txBox="1"/>
              <p:nvPr/>
            </p:nvSpPr>
            <p:spPr>
              <a:xfrm>
                <a:off x="1784615" y="5182503"/>
                <a:ext cx="3137590" cy="369332"/>
              </a:xfrm>
              <a:prstGeom prst="rect">
                <a:avLst/>
              </a:prstGeom>
              <a:noFill/>
            </p:spPr>
            <p:txBody>
              <a:bodyPr wrap="none" rtlCol="0">
                <a:spAutoFit/>
              </a:bodyPr>
              <a:lstStyle/>
              <a:p>
                <a:r>
                  <a:rPr lang="en-US" dirty="0">
                    <a:solidFill>
                      <a:schemeClr val="accent1"/>
                    </a:solidFill>
                  </a:rPr>
                  <a:t>Columns to plot on x and y axes</a:t>
                </a:r>
              </a:p>
            </p:txBody>
          </p:sp>
          <p:cxnSp>
            <p:nvCxnSpPr>
              <p:cNvPr id="34" name="Straight Arrow Connector 33">
                <a:extLst>
                  <a:ext uri="{FF2B5EF4-FFF2-40B4-BE49-F238E27FC236}">
                    <a16:creationId xmlns:a16="http://schemas.microsoft.com/office/drawing/2014/main" id="{43DE4DC7-93DE-B8BC-958D-512DE2719F1E}"/>
                  </a:ext>
                </a:extLst>
              </p:cNvPr>
              <p:cNvCxnSpPr>
                <a:cxnSpLocks/>
              </p:cNvCxnSpPr>
              <p:nvPr/>
            </p:nvCxnSpPr>
            <p:spPr>
              <a:xfrm flipH="1">
                <a:off x="2431479" y="5485204"/>
                <a:ext cx="1147124" cy="56734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D32A40B-4B94-A570-097B-31F471768007}"/>
                  </a:ext>
                </a:extLst>
              </p:cNvPr>
              <p:cNvCxnSpPr>
                <a:cxnSpLocks/>
              </p:cNvCxnSpPr>
              <p:nvPr/>
            </p:nvCxnSpPr>
            <p:spPr>
              <a:xfrm flipH="1">
                <a:off x="3299012" y="5518520"/>
                <a:ext cx="866588" cy="53403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4741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6B0682-904D-2FD4-99E2-4AEDAB724F0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CE8FF0B-EF23-63DA-D34D-8D7C178962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54D434AF-9A31-D593-9B84-CD34A11A58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0D196D6-7777-476A-88FA-DE02745EFFFD}"/>
              </a:ext>
            </a:extLst>
          </p:cNvPr>
          <p:cNvSpPr>
            <a:spLocks noGrp="1"/>
          </p:cNvSpPr>
          <p:nvPr>
            <p:ph idx="1"/>
          </p:nvPr>
        </p:nvSpPr>
        <p:spPr>
          <a:xfrm>
            <a:off x="4999330" y="804333"/>
            <a:ext cx="7040265" cy="5249334"/>
          </a:xfrm>
        </p:spPr>
        <p:txBody>
          <a:bodyPr anchor="ctr">
            <a:normAutofit/>
          </a:bodyPr>
          <a:lstStyle/>
          <a:p>
            <a:pPr marL="0" indent="0">
              <a:buNone/>
            </a:pPr>
            <a:r>
              <a:rPr lang="en-US" dirty="0"/>
              <a:t>How to most effectively use color?</a:t>
            </a:r>
          </a:p>
          <a:p>
            <a:pPr marL="402336" lvl="1" indent="-228600"/>
            <a:r>
              <a:rPr lang="en-US" dirty="0"/>
              <a:t>Improve accessibility</a:t>
            </a:r>
          </a:p>
          <a:p>
            <a:pPr marL="402336" lvl="1" indent="-228600"/>
            <a:r>
              <a:rPr lang="en-US" dirty="0"/>
              <a:t>Fast and accurate interpretation</a:t>
            </a:r>
          </a:p>
          <a:p>
            <a:pPr marL="228600" indent="-228600"/>
            <a:endParaRPr lang="en-US" dirty="0"/>
          </a:p>
          <a:p>
            <a:pPr marL="0" indent="0">
              <a:buNone/>
            </a:pPr>
            <a:r>
              <a:rPr lang="en-US" dirty="0"/>
              <a:t>How to improve readability?</a:t>
            </a:r>
          </a:p>
        </p:txBody>
      </p:sp>
      <p:grpSp>
        <p:nvGrpSpPr>
          <p:cNvPr id="7" name="Group 6">
            <a:extLst>
              <a:ext uri="{FF2B5EF4-FFF2-40B4-BE49-F238E27FC236}">
                <a16:creationId xmlns:a16="http://schemas.microsoft.com/office/drawing/2014/main" id="{EF0961F6-357C-CEEB-084C-482725625C79}"/>
              </a:ext>
            </a:extLst>
          </p:cNvPr>
          <p:cNvGrpSpPr/>
          <p:nvPr/>
        </p:nvGrpSpPr>
        <p:grpSpPr>
          <a:xfrm>
            <a:off x="1771956" y="2057818"/>
            <a:ext cx="2292425" cy="1100364"/>
            <a:chOff x="189" y="635907"/>
            <a:chExt cx="2292425" cy="1100364"/>
          </a:xfrm>
        </p:grpSpPr>
        <p:sp>
          <p:nvSpPr>
            <p:cNvPr id="9" name="Rectangle 8">
              <a:extLst>
                <a:ext uri="{FF2B5EF4-FFF2-40B4-BE49-F238E27FC236}">
                  <a16:creationId xmlns:a16="http://schemas.microsoft.com/office/drawing/2014/main" id="{8882E6B6-9CF1-6B16-6DDE-D47FB9667AEF}"/>
                </a:ext>
              </a:extLst>
            </p:cNvPr>
            <p:cNvSpPr/>
            <p:nvPr/>
          </p:nvSpPr>
          <p:spPr>
            <a:xfrm>
              <a:off x="189" y="635907"/>
              <a:ext cx="2292425" cy="110036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D0202E85-7B9F-23AD-19BF-1BEBC0A6F8B5}"/>
                </a:ext>
              </a:extLst>
            </p:cNvPr>
            <p:cNvSpPr txBox="1"/>
            <p:nvPr/>
          </p:nvSpPr>
          <p:spPr>
            <a:xfrm>
              <a:off x="189" y="635907"/>
              <a:ext cx="2292425" cy="110036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6441" tIns="165100" rIns="226441" bIns="165100" numCol="1" spcCol="1270" anchor="ctr" anchorCtr="0">
              <a:noAutofit/>
            </a:bodyPr>
            <a:lstStyle/>
            <a:p>
              <a:pPr marL="0" marR="0" lvl="0" indent="0" algn="l" defTabSz="2711450" rtl="0" eaLnBrk="1" fontAlgn="auto" latinLnBrk="0" hangingPunct="1">
                <a:lnSpc>
                  <a:spcPct val="90000"/>
                </a:lnSpc>
                <a:spcBef>
                  <a:spcPct val="0"/>
                </a:spcBef>
                <a:spcAft>
                  <a:spcPct val="35000"/>
                </a:spcAft>
                <a:buClrTx/>
                <a:buSzTx/>
                <a:buFontTx/>
                <a:buNone/>
                <a:tabLst/>
                <a:defRPr/>
              </a:pPr>
              <a:r>
                <a:rPr kumimoji="0" lang="en-US" sz="6100" b="0" i="0" u="none" strike="noStrike" kern="1200" cap="none" spc="0" normalizeH="0" baseline="0" noProof="0">
                  <a:ln>
                    <a:noFill/>
                  </a:ln>
                  <a:solidFill>
                    <a:prstClr val="white"/>
                  </a:solidFill>
                  <a:effectLst/>
                  <a:uLnTx/>
                  <a:uFillTx/>
                  <a:latin typeface="Tw Cen MT" panose="020B0602020104020603"/>
                  <a:ea typeface="+mn-ea"/>
                  <a:cs typeface="+mn-cs"/>
                </a:rPr>
                <a:t>01</a:t>
              </a:r>
            </a:p>
          </p:txBody>
        </p:sp>
      </p:grpSp>
      <p:pic>
        <p:nvPicPr>
          <p:cNvPr id="5" name="Picture 4">
            <a:extLst>
              <a:ext uri="{FF2B5EF4-FFF2-40B4-BE49-F238E27FC236}">
                <a16:creationId xmlns:a16="http://schemas.microsoft.com/office/drawing/2014/main" id="{28B826FD-AC51-FB72-EE9B-EFA60D1AC2D0}"/>
              </a:ext>
            </a:extLst>
          </p:cNvPr>
          <p:cNvPicPr>
            <a:picLocks noChangeAspect="1"/>
          </p:cNvPicPr>
          <p:nvPr/>
        </p:nvPicPr>
        <p:blipFill>
          <a:blip r:embed="rId2"/>
          <a:stretch>
            <a:fillRect/>
          </a:stretch>
        </p:blipFill>
        <p:spPr>
          <a:xfrm>
            <a:off x="1230671" y="1727663"/>
            <a:ext cx="2860134" cy="3429000"/>
          </a:xfrm>
          <a:prstGeom prst="rect">
            <a:avLst/>
          </a:prstGeom>
        </p:spPr>
      </p:pic>
    </p:spTree>
    <p:extLst>
      <p:ext uri="{BB962C8B-B14F-4D97-AF65-F5344CB8AC3E}">
        <p14:creationId xmlns:p14="http://schemas.microsoft.com/office/powerpoint/2010/main" val="20968708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g35766d32465_1_268" descr="plot of chunk unnamed-chunk-5"/>
          <p:cNvPicPr preferRelativeResize="0"/>
          <p:nvPr/>
        </p:nvPicPr>
        <p:blipFill rotWithShape="1">
          <a:blip r:embed="rId3">
            <a:alphaModFix/>
          </a:blip>
          <a:srcRect/>
          <a:stretch/>
        </p:blipFill>
        <p:spPr>
          <a:xfrm>
            <a:off x="3873500" y="1076290"/>
            <a:ext cx="4445000" cy="762000"/>
          </a:xfrm>
          <a:prstGeom prst="rect">
            <a:avLst/>
          </a:prstGeom>
          <a:noFill/>
          <a:ln>
            <a:noFill/>
          </a:ln>
        </p:spPr>
      </p:pic>
      <p:pic>
        <p:nvPicPr>
          <p:cNvPr id="434" name="Google Shape;434;g35766d32465_1_268" descr="plot of chunk unnamed-chunk-5"/>
          <p:cNvPicPr preferRelativeResize="0"/>
          <p:nvPr/>
        </p:nvPicPr>
        <p:blipFill rotWithShape="1">
          <a:blip r:embed="rId4">
            <a:alphaModFix/>
          </a:blip>
          <a:srcRect/>
          <a:stretch/>
        </p:blipFill>
        <p:spPr>
          <a:xfrm>
            <a:off x="3873500" y="1996901"/>
            <a:ext cx="4445000" cy="762000"/>
          </a:xfrm>
          <a:prstGeom prst="rect">
            <a:avLst/>
          </a:prstGeom>
          <a:noFill/>
          <a:ln>
            <a:noFill/>
          </a:ln>
        </p:spPr>
      </p:pic>
      <p:sp>
        <p:nvSpPr>
          <p:cNvPr id="435" name="Google Shape;435;g35766d32465_1_268"/>
          <p:cNvSpPr txBox="1"/>
          <p:nvPr/>
        </p:nvSpPr>
        <p:spPr>
          <a:xfrm>
            <a:off x="3613590" y="363681"/>
            <a:ext cx="49647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Arial"/>
                <a:ea typeface="Arial"/>
                <a:cs typeface="Arial"/>
                <a:sym typeface="Arial"/>
              </a:rPr>
              <a:t>Colorblind Friendly Palettes</a:t>
            </a:r>
            <a:endParaRPr sz="1400" b="0" i="0" u="none" strike="noStrike" cap="none">
              <a:solidFill>
                <a:srgbClr val="000000"/>
              </a:solidFill>
              <a:latin typeface="Arial"/>
              <a:ea typeface="Arial"/>
              <a:cs typeface="Arial"/>
              <a:sym typeface="Arial"/>
            </a:endParaRPr>
          </a:p>
        </p:txBody>
      </p:sp>
      <p:pic>
        <p:nvPicPr>
          <p:cNvPr id="436" name="Google Shape;436;g35766d32465_1_268"/>
          <p:cNvPicPr preferRelativeResize="0"/>
          <p:nvPr/>
        </p:nvPicPr>
        <p:blipFill rotWithShape="1">
          <a:blip r:embed="rId5">
            <a:alphaModFix/>
          </a:blip>
          <a:srcRect/>
          <a:stretch/>
        </p:blipFill>
        <p:spPr>
          <a:xfrm>
            <a:off x="2209800" y="3761508"/>
            <a:ext cx="7772400" cy="2355901"/>
          </a:xfrm>
          <a:prstGeom prst="rect">
            <a:avLst/>
          </a:prstGeom>
          <a:noFill/>
          <a:ln>
            <a:noFill/>
          </a:ln>
        </p:spPr>
      </p:pic>
      <p:sp>
        <p:nvSpPr>
          <p:cNvPr id="437" name="Google Shape;437;g35766d32465_1_268"/>
          <p:cNvSpPr txBox="1"/>
          <p:nvPr/>
        </p:nvSpPr>
        <p:spPr>
          <a:xfrm>
            <a:off x="3912550" y="3120827"/>
            <a:ext cx="43668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Arial"/>
                <a:ea typeface="Arial"/>
                <a:cs typeface="Arial"/>
                <a:sym typeface="Arial"/>
              </a:rPr>
              <a:t>Colorblind Friendly Pairs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8367-A190-07F7-3C31-7C934A969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70A2D-3169-B694-8C62-39B212B4BBBE}"/>
              </a:ext>
            </a:extLst>
          </p:cNvPr>
          <p:cNvSpPr>
            <a:spLocks noGrp="1"/>
          </p:cNvSpPr>
          <p:nvPr>
            <p:ph type="title"/>
          </p:nvPr>
        </p:nvSpPr>
        <p:spPr>
          <a:xfrm>
            <a:off x="1024128" y="585216"/>
            <a:ext cx="9847072" cy="1499616"/>
          </a:xfrm>
        </p:spPr>
        <p:txBody>
          <a:bodyPr/>
          <a:lstStyle/>
          <a:p>
            <a:r>
              <a:rPr lang="en-US" dirty="0"/>
              <a:t>How well can we perceive color Intensity?</a:t>
            </a:r>
          </a:p>
        </p:txBody>
      </p:sp>
      <p:sp>
        <p:nvSpPr>
          <p:cNvPr id="3" name="Content Placeholder 2">
            <a:extLst>
              <a:ext uri="{FF2B5EF4-FFF2-40B4-BE49-F238E27FC236}">
                <a16:creationId xmlns:a16="http://schemas.microsoft.com/office/drawing/2014/main" id="{EF16B49E-96C8-DC1C-6E23-D00A5A4E5684}"/>
              </a:ext>
            </a:extLst>
          </p:cNvPr>
          <p:cNvSpPr>
            <a:spLocks noGrp="1"/>
          </p:cNvSpPr>
          <p:nvPr>
            <p:ph idx="1"/>
          </p:nvPr>
        </p:nvSpPr>
        <p:spPr/>
        <p:txBody>
          <a:bodyPr/>
          <a:lstStyle/>
          <a:p>
            <a:pPr marL="0" indent="0">
              <a:buNone/>
            </a:pPr>
            <a:r>
              <a:rPr lang="en-US" dirty="0"/>
              <a:t>How much darker are the rectangles on the left than those on the right?</a:t>
            </a:r>
          </a:p>
        </p:txBody>
      </p:sp>
      <p:sp>
        <p:nvSpPr>
          <p:cNvPr id="7" name="TextBox 6">
            <a:extLst>
              <a:ext uri="{FF2B5EF4-FFF2-40B4-BE49-F238E27FC236}">
                <a16:creationId xmlns:a16="http://schemas.microsoft.com/office/drawing/2014/main" id="{0392B3B2-333A-6B4B-A6B5-BC20FDC9CB8E}"/>
              </a:ext>
            </a:extLst>
          </p:cNvPr>
          <p:cNvSpPr txBox="1"/>
          <p:nvPr/>
        </p:nvSpPr>
        <p:spPr>
          <a:xfrm>
            <a:off x="10118388" y="971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6" name="Google Shape;445;g35766d32465_1_278">
            <a:extLst>
              <a:ext uri="{FF2B5EF4-FFF2-40B4-BE49-F238E27FC236}">
                <a16:creationId xmlns:a16="http://schemas.microsoft.com/office/drawing/2014/main" id="{6511FABC-F5A7-10C9-804A-D175F5BC1BBB}"/>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074164" y="3816082"/>
            <a:ext cx="7620000" cy="1327418"/>
          </a:xfrm>
          <a:prstGeom prst="rect">
            <a:avLst/>
          </a:prstGeom>
          <a:noFill/>
          <a:ln>
            <a:noFill/>
          </a:ln>
        </p:spPr>
      </p:pic>
    </p:spTree>
    <p:extLst>
      <p:ext uri="{BB962C8B-B14F-4D97-AF65-F5344CB8AC3E}">
        <p14:creationId xmlns:p14="http://schemas.microsoft.com/office/powerpoint/2010/main" val="30120840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g35766d32465_1_278"/>
          <p:cNvSpPr/>
          <p:nvPr/>
        </p:nvSpPr>
        <p:spPr>
          <a:xfrm>
            <a:off x="10135402" y="5457524"/>
            <a:ext cx="2056500" cy="1400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444" name="Google Shape;444;g35766d32465_1_27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29839" y="2252888"/>
            <a:ext cx="6098825" cy="4286457"/>
          </a:xfrm>
          <a:prstGeom prst="rect">
            <a:avLst/>
          </a:prstGeom>
          <a:noFill/>
          <a:ln>
            <a:noFill/>
          </a:ln>
        </p:spPr>
      </p:pic>
      <p:sp>
        <p:nvSpPr>
          <p:cNvPr id="3" name="Title 2">
            <a:extLst>
              <a:ext uri="{FF2B5EF4-FFF2-40B4-BE49-F238E27FC236}">
                <a16:creationId xmlns:a16="http://schemas.microsoft.com/office/drawing/2014/main" id="{9152E020-97F2-1289-2803-F2FDD1E6C281}"/>
              </a:ext>
            </a:extLst>
          </p:cNvPr>
          <p:cNvSpPr>
            <a:spLocks noGrp="1"/>
          </p:cNvSpPr>
          <p:nvPr>
            <p:ph type="title"/>
          </p:nvPr>
        </p:nvSpPr>
        <p:spPr/>
        <p:txBody>
          <a:bodyPr/>
          <a:lstStyle/>
          <a:p>
            <a:r>
              <a:rPr lang="en-US" dirty="0"/>
              <a:t>Simultaneous contrast can make heatmaps tricky to interpret</a:t>
            </a:r>
          </a:p>
        </p:txBody>
      </p:sp>
      <p:sp>
        <p:nvSpPr>
          <p:cNvPr id="2" name="TextBox 1">
            <a:extLst>
              <a:ext uri="{FF2B5EF4-FFF2-40B4-BE49-F238E27FC236}">
                <a16:creationId xmlns:a16="http://schemas.microsoft.com/office/drawing/2014/main" id="{737B1E9A-850B-C4FF-78F0-D1ADB749DB6A}"/>
              </a:ext>
            </a:extLst>
          </p:cNvPr>
          <p:cNvSpPr txBox="1"/>
          <p:nvPr/>
        </p:nvSpPr>
        <p:spPr>
          <a:xfrm>
            <a:off x="761999" y="2854036"/>
            <a:ext cx="4087091" cy="1384995"/>
          </a:xfrm>
          <a:prstGeom prst="rect">
            <a:avLst/>
          </a:prstGeom>
          <a:noFill/>
        </p:spPr>
        <p:txBody>
          <a:bodyPr wrap="square" rtlCol="0">
            <a:spAutoFit/>
          </a:bodyPr>
          <a:lstStyle/>
          <a:p>
            <a:r>
              <a:rPr lang="en-US" sz="2800" dirty="0"/>
              <a:t>What are the values for </a:t>
            </a:r>
          </a:p>
          <a:p>
            <a:pPr marL="457200" indent="-457200">
              <a:buFontTx/>
              <a:buChar char="-"/>
            </a:pPr>
            <a:r>
              <a:rPr lang="en-US" sz="2800" dirty="0"/>
              <a:t>Sample 4, Gene B</a:t>
            </a:r>
          </a:p>
          <a:p>
            <a:pPr marL="457200" indent="-457200">
              <a:buFontTx/>
              <a:buChar char="-"/>
            </a:pPr>
            <a:r>
              <a:rPr lang="en-US" sz="2800" dirty="0"/>
              <a:t>Sample 6, Gene H</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27C1A0-F78A-DBB1-DE62-E4CA882B54CB}"/>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8DAC072A-EED9-3A77-F482-C7233A10F1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690D4D5D-3792-BA47-1476-3B2E2079D4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A34874E3-BCEE-3772-05B0-1040D64ADABD}"/>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Best Use 0f color and intensity</a:t>
            </a:r>
          </a:p>
        </p:txBody>
      </p:sp>
      <p:cxnSp>
        <p:nvCxnSpPr>
          <p:cNvPr id="22" name="Straight Connector 21">
            <a:extLst>
              <a:ext uri="{FF2B5EF4-FFF2-40B4-BE49-F238E27FC236}">
                <a16:creationId xmlns:a16="http://schemas.microsoft.com/office/drawing/2014/main" id="{7F75EB3C-4D68-5CAC-1EB1-E951C3626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3A830A7-8EE5-876D-7E17-6620DC6698E2}"/>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0" indent="0">
              <a:buNone/>
            </a:pPr>
            <a:r>
              <a:rPr lang="en-US" sz="2400" b="1" dirty="0"/>
              <a:t>Use Color Purposefully</a:t>
            </a:r>
          </a:p>
          <a:p>
            <a:pPr marL="295275" lvl="1" indent="-173038">
              <a:buFont typeface="Arial" panose="020B0604020202020204" pitchFamily="34" charset="0"/>
              <a:buChar char="•"/>
            </a:pPr>
            <a:r>
              <a:rPr lang="en-US" sz="2000" dirty="0"/>
              <a:t>Apply color to encode necessary aspects</a:t>
            </a:r>
          </a:p>
          <a:p>
            <a:pPr marL="295275" lvl="1" indent="-173038">
              <a:buFont typeface="Arial" panose="020B0604020202020204" pitchFamily="34" charset="0"/>
              <a:buChar char="•"/>
            </a:pPr>
            <a:r>
              <a:rPr lang="en-US" sz="2000" dirty="0"/>
              <a:t>Avoid using too many colors at once</a:t>
            </a:r>
          </a:p>
          <a:p>
            <a:pPr marL="0" indent="0">
              <a:buNone/>
            </a:pPr>
            <a:r>
              <a:rPr lang="en-US" sz="2400" b="1" dirty="0"/>
              <a:t>Ensure Accessibility</a:t>
            </a:r>
          </a:p>
          <a:p>
            <a:pPr marL="285750" lvl="1" indent="-157163">
              <a:buFont typeface="Arial" panose="020B0604020202020204" pitchFamily="34" charset="0"/>
              <a:buChar char="•"/>
            </a:pPr>
            <a:r>
              <a:rPr lang="en-US" sz="2000" dirty="0"/>
              <a:t>Choose color palettes that remain clear for people with color vision deficiencies</a:t>
            </a:r>
          </a:p>
          <a:p>
            <a:pPr marL="285750" lvl="1" indent="-157163">
              <a:buFont typeface="Arial" panose="020B0604020202020204" pitchFamily="34" charset="0"/>
              <a:buChar char="•"/>
            </a:pPr>
            <a:r>
              <a:rPr lang="en-US" sz="2000" dirty="0"/>
              <a:t>Reinforce color encodings with labels, patterns, or shapes</a:t>
            </a:r>
          </a:p>
          <a:p>
            <a:pPr marL="0" indent="0">
              <a:buNone/>
            </a:pPr>
            <a:r>
              <a:rPr lang="en-US" sz="2400" b="1" dirty="0"/>
              <a:t>Maintain Contrast and Consistency</a:t>
            </a:r>
          </a:p>
          <a:p>
            <a:pPr marL="354013" lvl="1" indent="-225425">
              <a:buFont typeface="Arial" panose="020B0604020202020204" pitchFamily="34" charset="0"/>
              <a:buChar char="•"/>
            </a:pPr>
            <a:r>
              <a:rPr lang="en-US" sz="2000" dirty="0"/>
              <a:t>Ensure sufficient contrast between colors and background</a:t>
            </a:r>
          </a:p>
          <a:p>
            <a:pPr marL="354013" lvl="1" indent="-225425">
              <a:buFont typeface="Arial" panose="020B0604020202020204" pitchFamily="34" charset="0"/>
              <a:buChar char="•"/>
            </a:pPr>
            <a:r>
              <a:rPr lang="en-US" sz="2000" dirty="0"/>
              <a:t>Use consistent color assignments across multiple charts to prevent confusion</a:t>
            </a:r>
          </a:p>
          <a:p>
            <a:pPr marL="354013" lvl="1" indent="-225425">
              <a:buFont typeface="Arial" panose="020B0604020202020204" pitchFamily="34" charset="0"/>
              <a:buChar char="•"/>
            </a:pPr>
            <a:r>
              <a:rPr lang="en-US" sz="2000" dirty="0"/>
              <a:t>Consider cultural or standard associations with color</a:t>
            </a:r>
          </a:p>
        </p:txBody>
      </p:sp>
    </p:spTree>
    <p:extLst>
      <p:ext uri="{BB962C8B-B14F-4D97-AF65-F5344CB8AC3E}">
        <p14:creationId xmlns:p14="http://schemas.microsoft.com/office/powerpoint/2010/main" val="8254963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65EF6D-C19B-2056-F806-2845BA9F2CE2}"/>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70F2591F-23D0-C4BF-7DC7-EFB6AD1953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ED6FEDC5-B4E2-3AE7-DDCC-22209EB57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E7FB0F8B-3EF9-837B-62EE-580FD92A0EB3}"/>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Make it easier for everyone to read</a:t>
            </a:r>
          </a:p>
        </p:txBody>
      </p:sp>
      <p:cxnSp>
        <p:nvCxnSpPr>
          <p:cNvPr id="22" name="Straight Connector 21">
            <a:extLst>
              <a:ext uri="{FF2B5EF4-FFF2-40B4-BE49-F238E27FC236}">
                <a16:creationId xmlns:a16="http://schemas.microsoft.com/office/drawing/2014/main" id="{ECC1F00A-7EF2-D637-6C6D-08B7F50043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F9A841C-3D45-8A96-779A-A7FAB58CF45D}"/>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0" indent="0">
              <a:buNone/>
            </a:pPr>
            <a:r>
              <a:rPr lang="en-US" sz="2400" b="1" dirty="0"/>
              <a:t>Select appropriate font, size, and page flow</a:t>
            </a:r>
          </a:p>
          <a:p>
            <a:pPr marL="295275" lvl="1" indent="-173038">
              <a:buFont typeface="Arial" panose="020B0604020202020204" pitchFamily="34" charset="0"/>
              <a:buChar char="•"/>
            </a:pPr>
            <a:r>
              <a:rPr lang="en-US" sz="2000" dirty="0"/>
              <a:t>Use appropriate text size</a:t>
            </a:r>
          </a:p>
          <a:p>
            <a:pPr marL="295275" lvl="1" indent="-173038">
              <a:buFont typeface="Arial" panose="020B0604020202020204" pitchFamily="34" charset="0"/>
              <a:buChar char="•"/>
            </a:pPr>
            <a:r>
              <a:rPr lang="en-US" sz="2000" dirty="0"/>
              <a:t>Choose fonts with high legibility</a:t>
            </a:r>
          </a:p>
          <a:p>
            <a:pPr marL="295275" lvl="1" indent="-173038">
              <a:buFont typeface="Arial" panose="020B0604020202020204" pitchFamily="34" charset="0"/>
              <a:buChar char="•"/>
            </a:pPr>
            <a:r>
              <a:rPr lang="en-US" sz="2000" dirty="0"/>
              <a:t>Apply bold and CAPS to add emphasis </a:t>
            </a:r>
          </a:p>
          <a:p>
            <a:pPr marL="295275" lvl="1" indent="-173038">
              <a:buFont typeface="Arial" panose="020B0604020202020204" pitchFamily="34" charset="0"/>
              <a:buChar char="•"/>
            </a:pPr>
            <a:r>
              <a:rPr lang="en-US" sz="2000" dirty="0"/>
              <a:t>Layout visual flow as people normally take in information from a page</a:t>
            </a:r>
          </a:p>
          <a:p>
            <a:pPr marL="0" indent="0">
              <a:spcBef>
                <a:spcPts val="1600"/>
              </a:spcBef>
              <a:buNone/>
            </a:pPr>
            <a:r>
              <a:rPr lang="en-US" sz="2400" b="1" dirty="0"/>
              <a:t>Add elements for alternative readers</a:t>
            </a:r>
          </a:p>
          <a:p>
            <a:pPr marL="285750" lvl="1" indent="-157163">
              <a:buFont typeface="Arial" panose="020B0604020202020204" pitchFamily="34" charset="0"/>
              <a:buChar char="•"/>
            </a:pPr>
            <a:r>
              <a:rPr lang="en-US" sz="2000" dirty="0"/>
              <a:t>Consider alternative text descriptions and formats for screen reader compatibility</a:t>
            </a:r>
          </a:p>
          <a:p>
            <a:pPr marL="285750" lvl="1" indent="-157163">
              <a:buFont typeface="Arial" panose="020B0604020202020204" pitchFamily="34" charset="0"/>
              <a:buChar char="•"/>
            </a:pPr>
            <a:r>
              <a:rPr lang="en-US" sz="2000" dirty="0"/>
              <a:t>Limit interactivity and customization or make accessible by keyboard and screen reader users</a:t>
            </a:r>
          </a:p>
        </p:txBody>
      </p:sp>
    </p:spTree>
    <p:extLst>
      <p:ext uri="{BB962C8B-B14F-4D97-AF65-F5344CB8AC3E}">
        <p14:creationId xmlns:p14="http://schemas.microsoft.com/office/powerpoint/2010/main" val="36890001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F89B1-6AEC-BD09-7544-C1FD62E5A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7FBEF-6CF5-DEE3-16FF-A22AF56BA279}"/>
              </a:ext>
            </a:extLst>
          </p:cNvPr>
          <p:cNvSpPr>
            <a:spLocks noGrp="1"/>
          </p:cNvSpPr>
          <p:nvPr>
            <p:ph type="title"/>
          </p:nvPr>
        </p:nvSpPr>
        <p:spPr/>
        <p:txBody>
          <a:bodyPr/>
          <a:lstStyle/>
          <a:p>
            <a:r>
              <a:rPr lang="en-US" dirty="0"/>
              <a:t>Data visualization best practices</a:t>
            </a:r>
          </a:p>
        </p:txBody>
      </p:sp>
      <p:graphicFrame>
        <p:nvGraphicFramePr>
          <p:cNvPr id="4" name="Content Placeholder 2">
            <a:extLst>
              <a:ext uri="{FF2B5EF4-FFF2-40B4-BE49-F238E27FC236}">
                <a16:creationId xmlns:a16="http://schemas.microsoft.com/office/drawing/2014/main" id="{15D4A5D9-5126-0C35-E34A-45EA756E8817}"/>
              </a:ext>
            </a:extLst>
          </p:cNvPr>
          <p:cNvGraphicFramePr>
            <a:graphicFrameLocks/>
          </p:cNvGraphicFramePr>
          <p:nvPr>
            <p:extLst>
              <p:ext uri="{D42A27DB-BD31-4B8C-83A1-F6EECF244321}">
                <p14:modId xmlns:p14="http://schemas.microsoft.com/office/powerpoint/2010/main" val="620296665"/>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62901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D621F-496F-916A-DF85-1559D65CAB24}"/>
              </a:ext>
            </a:extLst>
          </p:cNvPr>
          <p:cNvSpPr>
            <a:spLocks noGrp="1"/>
          </p:cNvSpPr>
          <p:nvPr>
            <p:ph type="title"/>
          </p:nvPr>
        </p:nvSpPr>
        <p:spPr/>
        <p:txBody>
          <a:bodyPr/>
          <a:lstStyle/>
          <a:p>
            <a:r>
              <a:rPr lang="en-US" dirty="0"/>
              <a:t>Let’s put it to practice</a:t>
            </a:r>
          </a:p>
        </p:txBody>
      </p:sp>
      <p:sp>
        <p:nvSpPr>
          <p:cNvPr id="3" name="Content Placeholder 2">
            <a:extLst>
              <a:ext uri="{FF2B5EF4-FFF2-40B4-BE49-F238E27FC236}">
                <a16:creationId xmlns:a16="http://schemas.microsoft.com/office/drawing/2014/main" id="{A0BE51F7-2B64-0D9E-15AA-B8A5AD60AD0C}"/>
              </a:ext>
            </a:extLst>
          </p:cNvPr>
          <p:cNvSpPr>
            <a:spLocks noGrp="1"/>
          </p:cNvSpPr>
          <p:nvPr>
            <p:ph idx="1"/>
          </p:nvPr>
        </p:nvSpPr>
        <p:spPr/>
        <p:txBody>
          <a:bodyPr/>
          <a:lstStyle/>
          <a:p>
            <a:pPr marL="231775" indent="-231775"/>
            <a:r>
              <a:rPr lang="en-US" dirty="0"/>
              <a:t>Return to the </a:t>
            </a:r>
            <a:r>
              <a:rPr lang="en-US" dirty="0">
                <a:solidFill>
                  <a:srgbClr val="0070C0"/>
                </a:solidFill>
              </a:rPr>
              <a:t>Lesson 3 Exercises </a:t>
            </a:r>
            <a:r>
              <a:rPr lang="en-US" dirty="0"/>
              <a:t>Quarto</a:t>
            </a:r>
          </a:p>
          <a:p>
            <a:pPr marL="231775" indent="-231775"/>
            <a:r>
              <a:rPr lang="en-US" dirty="0"/>
              <a:t>Review the graphs you made during the last 2 exercises (Small Multiples and Quantitative Comparisons) – how might you improve them?</a:t>
            </a:r>
          </a:p>
          <a:p>
            <a:pPr marL="231775" indent="-231775"/>
            <a:r>
              <a:rPr lang="en-US" dirty="0"/>
              <a:t>Using Claude for assistance, optimize the 2 plots you created in those previous exercises, considering best practices to make comparisons effortless and considering visual encodings.</a:t>
            </a:r>
          </a:p>
        </p:txBody>
      </p:sp>
      <p:sp>
        <p:nvSpPr>
          <p:cNvPr id="4" name="TextBox 3">
            <a:extLst>
              <a:ext uri="{FF2B5EF4-FFF2-40B4-BE49-F238E27FC236}">
                <a16:creationId xmlns:a16="http://schemas.microsoft.com/office/drawing/2014/main" id="{5B4A846C-7993-CFA0-A0CF-E530DE016274}"/>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11828701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FDAA6-FE91-1EDF-E1C6-BF070C0572AE}"/>
              </a:ext>
            </a:extLst>
          </p:cNvPr>
          <p:cNvSpPr>
            <a:spLocks noGrp="1"/>
          </p:cNvSpPr>
          <p:nvPr>
            <p:ph type="title"/>
          </p:nvPr>
        </p:nvSpPr>
        <p:spPr/>
        <p:txBody>
          <a:bodyPr/>
          <a:lstStyle/>
          <a:p>
            <a:r>
              <a:rPr lang="en-US" dirty="0"/>
              <a:t>Example prompts</a:t>
            </a:r>
          </a:p>
        </p:txBody>
      </p:sp>
      <p:sp>
        <p:nvSpPr>
          <p:cNvPr id="3" name="Content Placeholder 2">
            <a:extLst>
              <a:ext uri="{FF2B5EF4-FFF2-40B4-BE49-F238E27FC236}">
                <a16:creationId xmlns:a16="http://schemas.microsoft.com/office/drawing/2014/main" id="{5E56280D-FCEA-1DE6-C2BB-D810B2C44532}"/>
              </a:ext>
            </a:extLst>
          </p:cNvPr>
          <p:cNvSpPr>
            <a:spLocks noGrp="1"/>
          </p:cNvSpPr>
          <p:nvPr>
            <p:ph idx="1"/>
          </p:nvPr>
        </p:nvSpPr>
        <p:spPr/>
        <p:txBody>
          <a:bodyPr>
            <a:normAutofit fontScale="62500" lnSpcReduction="20000"/>
          </a:bodyPr>
          <a:lstStyle/>
          <a:p>
            <a:pPr marL="12700" indent="0">
              <a:buNone/>
            </a:pPr>
            <a:r>
              <a:rPr lang="en-US" dirty="0"/>
              <a:t>A. I'm new to R. I attached a CSV. Use </a:t>
            </a:r>
            <a:r>
              <a:rPr lang="en-US" dirty="0" err="1"/>
              <a:t>ggplot</a:t>
            </a:r>
            <a:r>
              <a:rPr lang="en-US" dirty="0"/>
              <a:t> to plot creatinine by age and creatinine by gender. Keep the code short and comment every line.</a:t>
            </a:r>
          </a:p>
          <a:p>
            <a:pPr marL="0" indent="0">
              <a:buNone/>
            </a:pPr>
            <a:endParaRPr lang="en-US" dirty="0"/>
          </a:p>
          <a:p>
            <a:pPr marL="0" indent="0">
              <a:buNone/>
            </a:pPr>
            <a:r>
              <a:rPr lang="en-US" dirty="0"/>
              <a:t>B. I'm new to R and have </a:t>
            </a:r>
            <a:r>
              <a:rPr lang="en-US" dirty="0" err="1"/>
              <a:t>tidyverse</a:t>
            </a:r>
            <a:r>
              <a:rPr lang="en-US" dirty="0"/>
              <a:t> installed. The attached CSV has one row per test per patient. The test column holds the test name, value holds the result, age is a number, and gender is text. Using only creatinine rows and dropping missing values, write short </a:t>
            </a:r>
            <a:r>
              <a:rPr lang="en-US" dirty="0" err="1"/>
              <a:t>ggplot</a:t>
            </a:r>
            <a:r>
              <a:rPr lang="en-US" dirty="0"/>
              <a:t> code for two plots. Plot 1: creatinine versus age. Plot 2: creatinine by gender. Put a comment on every step. List any assumptions you made.</a:t>
            </a:r>
          </a:p>
          <a:p>
            <a:pPr marL="0" indent="0">
              <a:buNone/>
            </a:pPr>
            <a:endParaRPr lang="en-US" dirty="0"/>
          </a:p>
          <a:p>
            <a:pPr marL="0" indent="0">
              <a:buNone/>
            </a:pPr>
            <a:r>
              <a:rPr lang="en-US" dirty="0"/>
              <a:t>C. I'm a beginner in R. Attached is a lab data CSV in long format, with one row per test. Filter to creatinine and remove missing values. Then choose the best </a:t>
            </a:r>
            <a:r>
              <a:rPr lang="en-US" dirty="0" err="1"/>
              <a:t>ggplot</a:t>
            </a:r>
            <a:r>
              <a:rPr lang="en-US" dirty="0"/>
              <a:t> plot type for creatinine versus age and for creatinine by gender, and say in one sentence why you chose each. Keep the code short, comment every step, and tell me what I need to change to run it on my own computer.</a:t>
            </a:r>
          </a:p>
        </p:txBody>
      </p:sp>
      <p:sp>
        <p:nvSpPr>
          <p:cNvPr id="4" name="TextBox 3">
            <a:extLst>
              <a:ext uri="{FF2B5EF4-FFF2-40B4-BE49-F238E27FC236}">
                <a16:creationId xmlns:a16="http://schemas.microsoft.com/office/drawing/2014/main" id="{BB39E5FD-82FB-7E22-9251-DE4C4E9A11A4}"/>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16200955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96F873-98CD-6399-F3DF-3FB42B5E4D4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DE94247-2B03-8A1B-874D-5A6E61E30F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Oval 5">
            <a:extLst>
              <a:ext uri="{FF2B5EF4-FFF2-40B4-BE49-F238E27FC236}">
                <a16:creationId xmlns:a16="http://schemas.microsoft.com/office/drawing/2014/main" id="{198808FC-1DC1-5274-8C56-0240182B60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4" name="Straight Connector 13">
            <a:extLst>
              <a:ext uri="{FF2B5EF4-FFF2-40B4-BE49-F238E27FC236}">
                <a16:creationId xmlns:a16="http://schemas.microsoft.com/office/drawing/2014/main" id="{E463CE41-B41F-3682-9E26-DD121EB76D5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BC356D96-2A84-EAE7-501A-03D63B1D9B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8" name="Freeform 16">
            <a:extLst>
              <a:ext uri="{FF2B5EF4-FFF2-40B4-BE49-F238E27FC236}">
                <a16:creationId xmlns:a16="http://schemas.microsoft.com/office/drawing/2014/main" id="{2405B3CF-0A6F-43FF-E31F-4A11D06964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0" name="Rectangle 19">
            <a:extLst>
              <a:ext uri="{FF2B5EF4-FFF2-40B4-BE49-F238E27FC236}">
                <a16:creationId xmlns:a16="http://schemas.microsoft.com/office/drawing/2014/main" id="{51B064F6-4E6D-5E0B-5F11-10FF4C29B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AFF36F96-1309-0DAD-D2C2-E5BD248485BD}"/>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3E845AFC-2A42-AC60-540B-4857E4C2209F}"/>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F2E7D71C-03FE-947C-E8A7-66E19D76BA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117C788E-ADD7-2D42-1DAF-F1C0514991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9531051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A7523E-3F5F-9E4E-FAA0-9B500016D034}"/>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C012AF6C-0733-6061-85B7-11FD5729D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5" name="Oval 5">
            <a:extLst>
              <a:ext uri="{FF2B5EF4-FFF2-40B4-BE49-F238E27FC236}">
                <a16:creationId xmlns:a16="http://schemas.microsoft.com/office/drawing/2014/main" id="{CDDA8C7D-FF5C-963D-55C4-DE31C9F2D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27" name="Straight Connector 26">
            <a:extLst>
              <a:ext uri="{FF2B5EF4-FFF2-40B4-BE49-F238E27FC236}">
                <a16:creationId xmlns:a16="http://schemas.microsoft.com/office/drawing/2014/main" id="{73171C87-6BDE-E76F-93FD-833925EC51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2D5F0093-0263-FC92-B5B7-163D6A9783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74"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5FB3D77E-E346-1118-E31B-3E0611A9F3C3}"/>
              </a:ext>
            </a:extLst>
          </p:cNvPr>
          <p:cNvSpPr>
            <a:spLocks noGrp="1"/>
          </p:cNvSpPr>
          <p:nvPr>
            <p:ph type="title"/>
          </p:nvPr>
        </p:nvSpPr>
        <p:spPr>
          <a:xfrm>
            <a:off x="5258134" y="640080"/>
            <a:ext cx="6293689" cy="3652405"/>
          </a:xfrm>
        </p:spPr>
        <p:txBody>
          <a:bodyPr vert="horz" lIns="91440" tIns="45720" rIns="91440" bIns="45720" rtlCol="0" anchor="b">
            <a:normAutofit/>
          </a:bodyPr>
          <a:lstStyle/>
          <a:p>
            <a:pPr algn="l"/>
            <a:r>
              <a:rPr lang="en-US" sz="4400" kern="1200" cap="all" spc="200" baseline="0" dirty="0">
                <a:solidFill>
                  <a:schemeClr val="tx1">
                    <a:lumMod val="85000"/>
                    <a:lumOff val="15000"/>
                  </a:schemeClr>
                </a:solidFill>
                <a:latin typeface="+mj-lt"/>
                <a:ea typeface="+mj-ea"/>
                <a:cs typeface="+mj-cs"/>
              </a:rPr>
              <a:t>What did you improve about your graph(S)?</a:t>
            </a:r>
          </a:p>
        </p:txBody>
      </p:sp>
      <p:pic>
        <p:nvPicPr>
          <p:cNvPr id="6" name="Graphic 5" descr="Questions with solid fill">
            <a:extLst>
              <a:ext uri="{FF2B5EF4-FFF2-40B4-BE49-F238E27FC236}">
                <a16:creationId xmlns:a16="http://schemas.microsoft.com/office/drawing/2014/main" id="{E310C7DC-952D-2D24-A7BB-5F4004E9CDE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999" y="1422615"/>
            <a:ext cx="3993942" cy="3993942"/>
          </a:xfrm>
          <a:prstGeom prst="rect">
            <a:avLst/>
          </a:prstGeom>
        </p:spPr>
      </p:pic>
      <p:cxnSp>
        <p:nvCxnSpPr>
          <p:cNvPr id="31" name="Straight Connector 30">
            <a:extLst>
              <a:ext uri="{FF2B5EF4-FFF2-40B4-BE49-F238E27FC236}">
                <a16:creationId xmlns:a16="http://schemas.microsoft.com/office/drawing/2014/main" id="{142D12D5-3BDC-A9D3-C753-72C7D0F1D0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09640" y="4388141"/>
            <a:ext cx="58521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8C66DBF-F857-97E7-4A2E-B781287ADB9D}"/>
              </a:ext>
            </a:extLst>
          </p:cNvPr>
          <p:cNvSpPr txBox="1"/>
          <p:nvPr/>
        </p:nvSpPr>
        <p:spPr>
          <a:xfrm>
            <a:off x="10105688" y="198773"/>
            <a:ext cx="1591141" cy="120032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1CADE4"/>
                </a:solidFill>
                <a:effectLst/>
                <a:uLnTx/>
                <a:uFillTx/>
                <a:latin typeface="Tw Cen MT" panose="020B0602020104020603"/>
                <a:ea typeface="+mn-ea"/>
                <a:cs typeface="+mn-cs"/>
              </a:rPr>
              <a:t>Poll</a:t>
            </a:r>
          </a:p>
        </p:txBody>
      </p:sp>
    </p:spTree>
    <p:extLst>
      <p:ext uri="{BB962C8B-B14F-4D97-AF65-F5344CB8AC3E}">
        <p14:creationId xmlns:p14="http://schemas.microsoft.com/office/powerpoint/2010/main" val="19687944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1949D-4551-88F2-EBB3-1106B65F147C}"/>
              </a:ext>
            </a:extLst>
          </p:cNvPr>
          <p:cNvSpPr>
            <a:spLocks noGrp="1"/>
          </p:cNvSpPr>
          <p:nvPr>
            <p:ph type="title"/>
          </p:nvPr>
        </p:nvSpPr>
        <p:spPr/>
        <p:txBody>
          <a:bodyPr/>
          <a:lstStyle/>
          <a:p>
            <a:r>
              <a:rPr lang="en-US" dirty="0"/>
              <a:t>Excel is not a great visualization tool</a:t>
            </a:r>
          </a:p>
        </p:txBody>
      </p:sp>
      <p:sp>
        <p:nvSpPr>
          <p:cNvPr id="3" name="Content Placeholder 2">
            <a:extLst>
              <a:ext uri="{FF2B5EF4-FFF2-40B4-BE49-F238E27FC236}">
                <a16:creationId xmlns:a16="http://schemas.microsoft.com/office/drawing/2014/main" id="{EFDF78F3-F205-E840-8F1A-2132F4637E18}"/>
              </a:ext>
            </a:extLst>
          </p:cNvPr>
          <p:cNvSpPr>
            <a:spLocks noGrp="1"/>
          </p:cNvSpPr>
          <p:nvPr>
            <p:ph idx="1"/>
          </p:nvPr>
        </p:nvSpPr>
        <p:spPr/>
        <p:txBody>
          <a:bodyPr/>
          <a:lstStyle/>
          <a:p>
            <a:pPr marL="176213" indent="-163513"/>
            <a:r>
              <a:rPr lang="en-US" dirty="0"/>
              <a:t> Very easy to make bad visualizations using defaults</a:t>
            </a:r>
          </a:p>
          <a:p>
            <a:pPr marL="349949" lvl="1" indent="-163513"/>
            <a:r>
              <a:rPr lang="en-US" dirty="0"/>
              <a:t>A lot of ”chart junk” </a:t>
            </a:r>
          </a:p>
          <a:p>
            <a:pPr marL="349949" lvl="1" indent="-163513"/>
            <a:r>
              <a:rPr lang="en-US" dirty="0"/>
              <a:t>Poor layouts and graphic options</a:t>
            </a:r>
          </a:p>
          <a:p>
            <a:pPr marL="349949" lvl="1" indent="-163513"/>
            <a:endParaRPr lang="en-US" dirty="0"/>
          </a:p>
          <a:p>
            <a:pPr marL="285750" indent="-285750"/>
            <a:r>
              <a:rPr lang="en-US" dirty="0"/>
              <a:t>Not very easy to make customizations</a:t>
            </a:r>
          </a:p>
          <a:p>
            <a:pPr marL="0" indent="0">
              <a:buNone/>
            </a:pPr>
            <a:endParaRPr lang="en-US" dirty="0"/>
          </a:p>
        </p:txBody>
      </p:sp>
    </p:spTree>
    <p:extLst>
      <p:ext uri="{BB962C8B-B14F-4D97-AF65-F5344CB8AC3E}">
        <p14:creationId xmlns:p14="http://schemas.microsoft.com/office/powerpoint/2010/main" val="26600686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685FA-0A92-D42A-D984-E2734C676A46}"/>
              </a:ext>
            </a:extLst>
          </p:cNvPr>
          <p:cNvSpPr>
            <a:spLocks noGrp="1"/>
          </p:cNvSpPr>
          <p:nvPr>
            <p:ph type="title"/>
          </p:nvPr>
        </p:nvSpPr>
        <p:spPr>
          <a:xfrm>
            <a:off x="1024128" y="585216"/>
            <a:ext cx="10304272" cy="1499616"/>
          </a:xfrm>
        </p:spPr>
        <p:txBody>
          <a:bodyPr/>
          <a:lstStyle/>
          <a:p>
            <a:r>
              <a:rPr lang="en-US" dirty="0"/>
              <a:t>It’s just a tool – R can make bad plots too!</a:t>
            </a:r>
          </a:p>
        </p:txBody>
      </p:sp>
      <p:pic>
        <p:nvPicPr>
          <p:cNvPr id="5" name="Content Placeholder 4" descr="A diagram of different colored lines&#10;&#10;AI-generated content may be incorrect.">
            <a:extLst>
              <a:ext uri="{FF2B5EF4-FFF2-40B4-BE49-F238E27FC236}">
                <a16:creationId xmlns:a16="http://schemas.microsoft.com/office/drawing/2014/main" id="{0BB68DEE-F3E9-935A-8B80-B567D03744B6}"/>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2751637" y="2959100"/>
            <a:ext cx="5977753" cy="3009900"/>
          </a:xfrm>
        </p:spPr>
      </p:pic>
      <p:sp>
        <p:nvSpPr>
          <p:cNvPr id="6" name="TextBox 5">
            <a:extLst>
              <a:ext uri="{FF2B5EF4-FFF2-40B4-BE49-F238E27FC236}">
                <a16:creationId xmlns:a16="http://schemas.microsoft.com/office/drawing/2014/main" id="{4C1300BB-EB24-0DB5-4905-E3E5B36EB746}"/>
              </a:ext>
            </a:extLst>
          </p:cNvPr>
          <p:cNvSpPr txBox="1"/>
          <p:nvPr/>
        </p:nvSpPr>
        <p:spPr>
          <a:xfrm>
            <a:off x="1788156" y="1715500"/>
            <a:ext cx="4577087" cy="369332"/>
          </a:xfrm>
          <a:prstGeom prst="rect">
            <a:avLst/>
          </a:prstGeom>
          <a:noFill/>
        </p:spPr>
        <p:txBody>
          <a:bodyPr wrap="none" rtlCol="0">
            <a:spAutoFit/>
          </a:bodyPr>
          <a:lstStyle/>
          <a:p>
            <a:r>
              <a:rPr lang="en-US" dirty="0"/>
              <a:t>And it can do it faster and without getting tired!</a:t>
            </a:r>
          </a:p>
        </p:txBody>
      </p:sp>
    </p:spTree>
    <p:extLst>
      <p:ext uri="{BB962C8B-B14F-4D97-AF65-F5344CB8AC3E}">
        <p14:creationId xmlns:p14="http://schemas.microsoft.com/office/powerpoint/2010/main" val="22280612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3546-380E-DB7E-F510-B802187D6655}"/>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5E814F4D-D6CD-2FC4-5155-4A1A7B582F6D}"/>
              </a:ext>
            </a:extLst>
          </p:cNvPr>
          <p:cNvSpPr>
            <a:spLocks noGrp="1"/>
          </p:cNvSpPr>
          <p:nvPr>
            <p:ph idx="1"/>
          </p:nvPr>
        </p:nvSpPr>
        <p:spPr/>
        <p:txBody>
          <a:bodyPr>
            <a:normAutofit fontScale="92500" lnSpcReduction="10000"/>
          </a:bodyPr>
          <a:lstStyle/>
          <a:p>
            <a:pPr marL="176213" indent="-176213"/>
            <a:r>
              <a:rPr lang="en-US" dirty="0"/>
              <a:t>Creating effective visualizations requires knowledge of best practices</a:t>
            </a:r>
          </a:p>
          <a:p>
            <a:pPr marL="176213" indent="-176213"/>
            <a:r>
              <a:rPr lang="en-US" dirty="0"/>
              <a:t>Default settings in visualization tools likely require modification</a:t>
            </a:r>
          </a:p>
          <a:p>
            <a:pPr marL="176213" indent="-176213"/>
            <a:r>
              <a:rPr lang="en-US" dirty="0"/>
              <a:t>When communicating with visuals, keep these concepts in mind</a:t>
            </a:r>
          </a:p>
          <a:p>
            <a:pPr marL="700405" lvl="2" indent="-390525">
              <a:buFont typeface="+mj-lt"/>
              <a:buAutoNum type="arabicPeriod"/>
            </a:pPr>
            <a:r>
              <a:rPr lang="en-US" dirty="0"/>
              <a:t>Select the best visual for your purpose and data type(s)</a:t>
            </a:r>
          </a:p>
          <a:p>
            <a:pPr marL="700405" lvl="2" indent="-390525">
              <a:buFont typeface="+mj-lt"/>
              <a:buAutoNum type="arabicPeriod"/>
            </a:pPr>
            <a:r>
              <a:rPr lang="en-US" dirty="0"/>
              <a:t>Make comparisons and conclusions easy for the audience</a:t>
            </a:r>
          </a:p>
          <a:p>
            <a:pPr marL="700405" lvl="2" indent="-390525">
              <a:buFont typeface="+mj-lt"/>
              <a:buAutoNum type="arabicPeriod"/>
            </a:pPr>
            <a:r>
              <a:rPr lang="en-US" dirty="0"/>
              <a:t>Use visual encodings that are effective</a:t>
            </a:r>
          </a:p>
          <a:p>
            <a:pPr marL="700405" lvl="2" indent="-390525">
              <a:buFont typeface="+mj-lt"/>
              <a:buAutoNum type="arabicPeriod"/>
            </a:pPr>
            <a:r>
              <a:rPr lang="en-US" dirty="0"/>
              <a:t>Include elements that enhance readability and accessibility</a:t>
            </a:r>
          </a:p>
          <a:p>
            <a:endParaRPr lang="en-US" dirty="0"/>
          </a:p>
        </p:txBody>
      </p:sp>
    </p:spTree>
    <p:extLst>
      <p:ext uri="{BB962C8B-B14F-4D97-AF65-F5344CB8AC3E}">
        <p14:creationId xmlns:p14="http://schemas.microsoft.com/office/powerpoint/2010/main" val="29600782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0E119-9297-31BB-D8E4-E389869BCB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027F2E-8AC4-990E-4FFB-A1747AF996C4}"/>
              </a:ext>
            </a:extLst>
          </p:cNvPr>
          <p:cNvSpPr txBox="1"/>
          <p:nvPr/>
        </p:nvSpPr>
        <p:spPr>
          <a:xfrm>
            <a:off x="626225" y="201578"/>
            <a:ext cx="10939550" cy="5042855"/>
          </a:xfrm>
          <a:prstGeom prst="rect">
            <a:avLst/>
          </a:prstGeom>
          <a:noFill/>
        </p:spPr>
        <p:txBody>
          <a:bodyPr wrap="square" rtlCol="0">
            <a:spAutoFit/>
          </a:bodyPr>
          <a:lstStyle/>
          <a:p>
            <a:r>
              <a:rPr lang="en-US" sz="3600" dirty="0"/>
              <a:t>Lesson Goals</a:t>
            </a:r>
          </a:p>
          <a:p>
            <a:pPr marL="514350" marR="0" lvl="0" indent="-51435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Identify types of common data visualizations that are most appropriate given the types of data available and the goal of the analysis</a:t>
            </a:r>
          </a:p>
          <a:p>
            <a:pPr marR="0" lvl="0" rtl="0">
              <a:lnSpc>
                <a:spcPct val="107000"/>
              </a:lnSpc>
              <a:spcBef>
                <a:spcPts val="0"/>
              </a:spcBef>
              <a:spcAft>
                <a:spcPts val="0"/>
              </a:spcAft>
            </a:pPr>
            <a:endParaRPr lang="en-US" dirty="0"/>
          </a:p>
          <a:p>
            <a:pPr marR="0" lvl="0" rtl="0">
              <a:lnSpc>
                <a:spcPct val="107000"/>
              </a:lnSpc>
              <a:spcBef>
                <a:spcPts val="0"/>
              </a:spcBef>
              <a:spcAft>
                <a:spcPts val="0"/>
              </a:spcAft>
            </a:pPr>
            <a:r>
              <a:rPr lang="en-US" sz="3600" dirty="0"/>
              <a:t>Lesson Objectives</a:t>
            </a:r>
          </a:p>
          <a:p>
            <a:pPr marL="514350" indent="-514350">
              <a:buFontTx/>
              <a:buAutoNum type="arabicPeriod"/>
            </a:pPr>
            <a:r>
              <a:rPr lang="en-US" sz="2800" dirty="0"/>
              <a:t>Describe at least 2 scenarios in which a plot is more effective than a table in demonstrating relationships between variables in a data set</a:t>
            </a:r>
          </a:p>
          <a:p>
            <a:pPr marL="514350" indent="-514350">
              <a:buFontTx/>
              <a:buAutoNum type="arabicPeriod"/>
            </a:pPr>
            <a:r>
              <a:rPr lang="en-US" sz="2800" dirty="0"/>
              <a:t>For each possible combination of data types, identify a type of plot that will effectively illustrate the relationship between two variables</a:t>
            </a:r>
          </a:p>
          <a:p>
            <a:pPr marL="514350" indent="-514350">
              <a:buFontTx/>
              <a:buAutoNum type="arabicPeriod"/>
            </a:pPr>
            <a:r>
              <a:rPr lang="en-US" sz="2800" dirty="0"/>
              <a:t>List 2 types of plots that can illustrate statistical uncertainty when comparing numeric values between groups.</a:t>
            </a:r>
          </a:p>
        </p:txBody>
      </p:sp>
    </p:spTree>
    <p:extLst>
      <p:ext uri="{BB962C8B-B14F-4D97-AF65-F5344CB8AC3E}">
        <p14:creationId xmlns:p14="http://schemas.microsoft.com/office/powerpoint/2010/main" val="28894333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41363</TotalTime>
  <Words>4252</Words>
  <Application>Microsoft Macintosh PowerPoint</Application>
  <PresentationFormat>Widescreen</PresentationFormat>
  <Paragraphs>503</Paragraphs>
  <Slides>74</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Arial</vt:lpstr>
      <vt:lpstr>Calibri</vt:lpstr>
      <vt:lpstr>Consolas</vt:lpstr>
      <vt:lpstr>Monaco</vt:lpstr>
      <vt:lpstr>Tw Cen MT</vt:lpstr>
      <vt:lpstr>Tw Cen MT Condensed</vt:lpstr>
      <vt:lpstr>Wingdings 3</vt:lpstr>
      <vt:lpstr>Integral</vt:lpstr>
      <vt:lpstr>Data Visualization Principles</vt:lpstr>
      <vt:lpstr>PowerPoint Presentation</vt:lpstr>
      <vt:lpstr>Purpose of Visualizations</vt:lpstr>
      <vt:lpstr>But when done wrong, can be harmful</vt:lpstr>
      <vt:lpstr>Data visualization best practices</vt:lpstr>
      <vt:lpstr>PowerPoint Presentation</vt:lpstr>
      <vt:lpstr>Discover: Exploratory Data analysis</vt:lpstr>
      <vt:lpstr>What types of visualizations show data distributions?</vt:lpstr>
      <vt:lpstr>Histograms provide insight into distribution</vt:lpstr>
      <vt:lpstr>Example: histogram of iron values</vt:lpstr>
      <vt:lpstr>Strip plots show every point in a distribution</vt:lpstr>
      <vt:lpstr>Boxplots also a way to visualize distributions</vt:lpstr>
      <vt:lpstr>Example: sodium values by location</vt:lpstr>
      <vt:lpstr>Violin plots better represent the underlying density distribution</vt:lpstr>
      <vt:lpstr>A small multiple can be invaluable in exploratory data analysis</vt:lpstr>
      <vt:lpstr>Facet functions create subplots of a data frame based on one or more variables</vt:lpstr>
      <vt:lpstr>PowerPoint Presentation</vt:lpstr>
      <vt:lpstr>Compare &amp; relate</vt:lpstr>
      <vt:lpstr>consider types of data</vt:lpstr>
      <vt:lpstr>Small Multiples for Comparisons</vt:lpstr>
      <vt:lpstr>Time’s up!!</vt:lpstr>
      <vt:lpstr>Plotting in r – resources with code</vt:lpstr>
      <vt:lpstr>Types of Comparisons</vt:lpstr>
      <vt:lpstr>Types of Relationships</vt:lpstr>
      <vt:lpstr>Which is better: Table vs plot?</vt:lpstr>
      <vt:lpstr>Time’s up!!</vt:lpstr>
      <vt:lpstr>Which is better: Table vs plot?</vt:lpstr>
      <vt:lpstr>Time’s up!!</vt:lpstr>
      <vt:lpstr>Which is better?</vt:lpstr>
      <vt:lpstr>When to display data in a table?</vt:lpstr>
      <vt:lpstr>When to Choose a Plot?</vt:lpstr>
      <vt:lpstr>Bar plots Compare values across categories</vt:lpstr>
      <vt:lpstr>Examples: Lab costs by category</vt:lpstr>
      <vt:lpstr>Caution when using Bar plots for continuous data -- may mask important aspects</vt:lpstr>
      <vt:lpstr>Scatterplots show relationships between quantitative variables</vt:lpstr>
      <vt:lpstr>Example: correlation between liver enzymes</vt:lpstr>
      <vt:lpstr>quantitative relationships</vt:lpstr>
      <vt:lpstr>Line charts help visualize trends over time</vt:lpstr>
      <vt:lpstr>Example: SARS-CoV 2 positivity rates over time</vt:lpstr>
      <vt:lpstr>PowerPoint Presentation</vt:lpstr>
      <vt:lpstr>How to make comparisons effortless?</vt:lpstr>
      <vt:lpstr>Sorting categories by the metric is better</vt:lpstr>
      <vt:lpstr>Which is better?</vt:lpstr>
      <vt:lpstr>Use LAYOUt &amp; scales effectively</vt:lpstr>
      <vt:lpstr>Truncated SCALES can be misleading</vt:lpstr>
      <vt:lpstr>Always avoid Dual y axes</vt:lpstr>
      <vt:lpstr>Try A better alternative</vt:lpstr>
      <vt:lpstr>Normalize &amp; provide reference</vt:lpstr>
      <vt:lpstr>Reduce clutter &amp; clarify</vt:lpstr>
      <vt:lpstr>What is going wrong here?</vt:lpstr>
      <vt:lpstr>Show more than averages</vt:lpstr>
      <vt:lpstr>How to make comparisons effortless?</vt:lpstr>
      <vt:lpstr>PowerPoint Presentation</vt:lpstr>
      <vt:lpstr>Which is better?</vt:lpstr>
      <vt:lpstr>Visual channels can encode information</vt:lpstr>
      <vt:lpstr>How well can we perceive relative area?</vt:lpstr>
      <vt:lpstr>PowerPoint Presentation</vt:lpstr>
      <vt:lpstr>Effective use of visual channels</vt:lpstr>
      <vt:lpstr>R Example from MSACL DS101</vt:lpstr>
      <vt:lpstr>PowerPoint Presentation</vt:lpstr>
      <vt:lpstr>PowerPoint Presentation</vt:lpstr>
      <vt:lpstr>How well can we perceive color Intensity?</vt:lpstr>
      <vt:lpstr>Simultaneous contrast can make heatmaps tricky to interpret</vt:lpstr>
      <vt:lpstr>Best Use 0f color and intensity</vt:lpstr>
      <vt:lpstr>Make it easier for everyone to read</vt:lpstr>
      <vt:lpstr>Data visualization best practices</vt:lpstr>
      <vt:lpstr>Let’s put it to practice</vt:lpstr>
      <vt:lpstr>Example prompts</vt:lpstr>
      <vt:lpstr>Time’s up!!</vt:lpstr>
      <vt:lpstr>What did you improve about your graph(S)?</vt:lpstr>
      <vt:lpstr>Excel is not a great visualization tool</vt:lpstr>
      <vt:lpstr>It’s just a tool – R can make bad plots too!</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Patrick C Mathias</cp:lastModifiedBy>
  <cp:revision>25</cp:revision>
  <dcterms:created xsi:type="dcterms:W3CDTF">2022-06-28T07:45:18Z</dcterms:created>
  <dcterms:modified xsi:type="dcterms:W3CDTF">2026-10-05T03:13:31Z</dcterms:modified>
</cp:coreProperties>
</file>