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6"/>
  </p:notesMasterIdLst>
  <p:sldIdLst>
    <p:sldId id="256" r:id="rId2"/>
    <p:sldId id="657" r:id="rId3"/>
    <p:sldId id="686" r:id="rId4"/>
    <p:sldId id="643" r:id="rId5"/>
    <p:sldId id="644" r:id="rId6"/>
    <p:sldId id="579" r:id="rId7"/>
    <p:sldId id="630" r:id="rId8"/>
    <p:sldId id="624" r:id="rId9"/>
    <p:sldId id="264" r:id="rId10"/>
    <p:sldId id="631" r:id="rId11"/>
    <p:sldId id="266" r:id="rId12"/>
    <p:sldId id="625" r:id="rId13"/>
    <p:sldId id="626" r:id="rId14"/>
    <p:sldId id="627" r:id="rId15"/>
    <p:sldId id="628" r:id="rId16"/>
    <p:sldId id="629" r:id="rId17"/>
    <p:sldId id="632" r:id="rId18"/>
    <p:sldId id="282" r:id="rId19"/>
    <p:sldId id="284" r:id="rId20"/>
    <p:sldId id="285" r:id="rId21"/>
    <p:sldId id="287" r:id="rId22"/>
    <p:sldId id="614" r:id="rId23"/>
    <p:sldId id="634" r:id="rId24"/>
    <p:sldId id="262" r:id="rId25"/>
    <p:sldId id="655" r:id="rId26"/>
    <p:sldId id="635" r:id="rId27"/>
    <p:sldId id="604" r:id="rId28"/>
    <p:sldId id="650" r:id="rId29"/>
    <p:sldId id="649" r:id="rId30"/>
    <p:sldId id="651" r:id="rId31"/>
    <p:sldId id="290" r:id="rId32"/>
    <p:sldId id="291" r:id="rId33"/>
    <p:sldId id="292" r:id="rId34"/>
    <p:sldId id="268" r:id="rId35"/>
    <p:sldId id="269" r:id="rId36"/>
    <p:sldId id="660" r:id="rId37"/>
    <p:sldId id="456" r:id="rId38"/>
    <p:sldId id="687" r:id="rId39"/>
    <p:sldId id="688" r:id="rId40"/>
    <p:sldId id="671" r:id="rId41"/>
    <p:sldId id="591" r:id="rId42"/>
    <p:sldId id="270" r:id="rId43"/>
    <p:sldId id="271" r:id="rId44"/>
    <p:sldId id="314" r:id="rId45"/>
    <p:sldId id="273" r:id="rId46"/>
    <p:sldId id="274" r:id="rId47"/>
    <p:sldId id="275" r:id="rId48"/>
    <p:sldId id="276" r:id="rId49"/>
    <p:sldId id="633" r:id="rId50"/>
    <p:sldId id="592" r:id="rId51"/>
    <p:sldId id="593" r:id="rId52"/>
    <p:sldId id="594" r:id="rId53"/>
    <p:sldId id="595" r:id="rId54"/>
    <p:sldId id="596" r:id="rId55"/>
    <p:sldId id="597" r:id="rId56"/>
    <p:sldId id="598" r:id="rId57"/>
    <p:sldId id="676" r:id="rId58"/>
    <p:sldId id="599" r:id="rId59"/>
    <p:sldId id="600" r:id="rId60"/>
    <p:sldId id="601" r:id="rId61"/>
    <p:sldId id="602" r:id="rId62"/>
    <p:sldId id="603" r:id="rId63"/>
    <p:sldId id="648" r:id="rId64"/>
    <p:sldId id="652" r:id="rId6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618"/>
    <p:restoredTop sz="77178"/>
  </p:normalViewPr>
  <p:slideViewPr>
    <p:cSldViewPr snapToGrid="0" snapToObjects="1">
      <p:cViewPr varScale="1">
        <p:scale>
          <a:sx n="95" d="100"/>
          <a:sy n="95" d="100"/>
        </p:scale>
        <p:origin x="9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3</a:t>
            </a:fld>
            <a:endParaRPr lang="en-US"/>
          </a:p>
        </p:txBody>
      </p:sp>
    </p:spTree>
    <p:extLst>
      <p:ext uri="{BB962C8B-B14F-4D97-AF65-F5344CB8AC3E}">
        <p14:creationId xmlns:p14="http://schemas.microsoft.com/office/powerpoint/2010/main" val="22491161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000948e3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8" name="Google Shape;168;g35000948e32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5000948e32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further ado, let’s dive in!!</a:t>
            </a:r>
          </a:p>
          <a:p>
            <a:endParaRPr lang="en-US" dirty="0"/>
          </a:p>
          <a:p>
            <a:r>
              <a:rPr lang="en-US" dirty="0"/>
              <a:t>Getting Started with RStudio.</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075846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5000948e32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 name="Google Shape;184;g35000948e32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5" name="Google Shape;185;g35000948e32_0_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5000948e32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2" name="Google Shape;192;g35000948e32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35000948e32_0_7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10</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000948e32_0_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5000948e32_0_9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Statistics can also be applied to non-numeric data</a:t>
            </a:r>
            <a:endParaRPr/>
          </a:p>
          <a:p>
            <a:pPr marL="0" lvl="0" indent="0" algn="l" rtl="0">
              <a:lnSpc>
                <a:spcPct val="100000"/>
              </a:lnSpc>
              <a:spcBef>
                <a:spcPts val="0"/>
              </a:spcBef>
              <a:spcAft>
                <a:spcPts val="0"/>
              </a:spcAft>
              <a:buSzPts val="1400"/>
              <a:buNone/>
            </a:pPr>
            <a:r>
              <a:rPr lang="en-US"/>
              <a:t>E.g. analysis of how words are used in clinical notes and deriving methods to extract useful info</a:t>
            </a:r>
            <a:endParaRPr/>
          </a:p>
        </p:txBody>
      </p:sp>
      <p:sp>
        <p:nvSpPr>
          <p:cNvPr id="204" name="Google Shape;204;g35000948e32_0_9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AC91-2020-D841-85F5-D3F9EF469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0ABB6-0A7C-712A-6FA8-EFC719A8B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007C1-C896-5D8E-CC9B-DBA4E16F81CB}"/>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15624258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Informatics can be considered the study of data creation, management, and use in a domain</a:t>
            </a:r>
          </a:p>
        </p:txBody>
      </p:sp>
      <p:sp>
        <p:nvSpPr>
          <p:cNvPr id="4" name="Slide Number Placeholder 3"/>
          <p:cNvSpPr>
            <a:spLocks noGrp="1"/>
          </p:cNvSpPr>
          <p:nvPr>
            <p:ph type="sldNum" sz="quarter" idx="5"/>
          </p:nvPr>
        </p:nvSpPr>
        <p:spPr/>
        <p:txBody>
          <a:bodyPr/>
          <a:lstStyle/>
          <a:p>
            <a:fld id="{BA8C5944-C2A2-7948-A427-5DBC5EDE9FCD}" type="slidenum">
              <a:rPr lang="en-US" smtClean="0"/>
              <a:t>18</a:t>
            </a:fld>
            <a:endParaRPr lang="en-US"/>
          </a:p>
        </p:txBody>
      </p:sp>
    </p:spTree>
    <p:extLst>
      <p:ext uri="{BB962C8B-B14F-4D97-AF65-F5344CB8AC3E}">
        <p14:creationId xmlns:p14="http://schemas.microsoft.com/office/powerpoint/2010/main" val="814219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Pre-computer we usually meant visual artifacts</a:t>
            </a:r>
          </a:p>
          <a:p>
            <a:r>
              <a:rPr lang="en-US" dirty="0"/>
              <a:t>Data standards allow data sharing and interoperability</a:t>
            </a:r>
          </a:p>
        </p:txBody>
      </p:sp>
      <p:sp>
        <p:nvSpPr>
          <p:cNvPr id="4" name="Slide Number Placeholder 3"/>
          <p:cNvSpPr>
            <a:spLocks noGrp="1"/>
          </p:cNvSpPr>
          <p:nvPr>
            <p:ph type="sldNum" sz="quarter" idx="5"/>
          </p:nvPr>
        </p:nvSpPr>
        <p:spPr/>
        <p:txBody>
          <a:bodyPr/>
          <a:lstStyle/>
          <a:p>
            <a:fld id="{BA8C5944-C2A2-7948-A427-5DBC5EDE9FCD}" type="slidenum">
              <a:rPr lang="en-US" smtClean="0"/>
              <a:t>19</a:t>
            </a:fld>
            <a:endParaRPr lang="en-US"/>
          </a:p>
        </p:txBody>
      </p:sp>
    </p:spTree>
    <p:extLst>
      <p:ext uri="{BB962C8B-B14F-4D97-AF65-F5344CB8AC3E}">
        <p14:creationId xmlns:p14="http://schemas.microsoft.com/office/powerpoint/2010/main" val="21235795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objects have a name and then one or more attributes composed of name-value pairs (the name may be implicit) with the value being a simple or </a:t>
            </a:r>
            <a:r>
              <a:rPr lang="en-US"/>
              <a:t>complex data type.</a:t>
            </a:r>
            <a:endParaRPr lang="en-US" dirty="0"/>
          </a:p>
        </p:txBody>
      </p:sp>
      <p:sp>
        <p:nvSpPr>
          <p:cNvPr id="4" name="Slide Number Placeholder 3"/>
          <p:cNvSpPr>
            <a:spLocks noGrp="1"/>
          </p:cNvSpPr>
          <p:nvPr>
            <p:ph type="sldNum" sz="quarter" idx="5"/>
          </p:nvPr>
        </p:nvSpPr>
        <p:spPr/>
        <p:txBody>
          <a:bodyPr/>
          <a:lstStyle/>
          <a:p>
            <a:fld id="{BA8C5944-C2A2-7948-A427-5DBC5EDE9FCD}" type="slidenum">
              <a:rPr lang="en-US" smtClean="0"/>
              <a:t>20</a:t>
            </a:fld>
            <a:endParaRPr lang="en-US"/>
          </a:p>
        </p:txBody>
      </p:sp>
    </p:spTree>
    <p:extLst>
      <p:ext uri="{BB962C8B-B14F-4D97-AF65-F5344CB8AC3E}">
        <p14:creationId xmlns:p14="http://schemas.microsoft.com/office/powerpoint/2010/main" val="1955913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4e33ed628b_1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g34e33ed628b_1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173" name="Google Shape;173;g34e33ed628b_1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24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accession number for an example complex data type: 22H-034AC01398 (year, lab, </a:t>
            </a:r>
            <a:r>
              <a:rPr lang="en-US" dirty="0" err="1"/>
              <a:t>julian</a:t>
            </a:r>
            <a:r>
              <a:rPr lang="en-US" dirty="0"/>
              <a:t> day, lab section, sequential counter that resets annually)</a:t>
            </a:r>
          </a:p>
        </p:txBody>
      </p:sp>
      <p:sp>
        <p:nvSpPr>
          <p:cNvPr id="4" name="Slide Number Placeholder 3"/>
          <p:cNvSpPr>
            <a:spLocks noGrp="1"/>
          </p:cNvSpPr>
          <p:nvPr>
            <p:ph type="sldNum" sz="quarter" idx="5"/>
          </p:nvPr>
        </p:nvSpPr>
        <p:spPr/>
        <p:txBody>
          <a:bodyPr/>
          <a:lstStyle/>
          <a:p>
            <a:fld id="{2ED3860E-B3F9-BC4F-80E5-A2DB630171F2}" type="slidenum">
              <a:rPr lang="en-US" smtClean="0"/>
              <a:t>26</a:t>
            </a:fld>
            <a:endParaRPr lang="en-US"/>
          </a:p>
        </p:txBody>
      </p:sp>
    </p:spTree>
    <p:extLst>
      <p:ext uri="{BB962C8B-B14F-4D97-AF65-F5344CB8AC3E}">
        <p14:creationId xmlns:p14="http://schemas.microsoft.com/office/powerpoint/2010/main" val="6642192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27</a:t>
            </a:fld>
            <a:endParaRPr lang="en-US"/>
          </a:p>
        </p:txBody>
      </p:sp>
    </p:spTree>
    <p:extLst>
      <p:ext uri="{BB962C8B-B14F-4D97-AF65-F5344CB8AC3E}">
        <p14:creationId xmlns:p14="http://schemas.microsoft.com/office/powerpoint/2010/main" val="1245967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28</a:t>
            </a:fld>
            <a:endParaRPr lang="en-US"/>
          </a:p>
        </p:txBody>
      </p:sp>
    </p:spTree>
    <p:extLst>
      <p:ext uri="{BB962C8B-B14F-4D97-AF65-F5344CB8AC3E}">
        <p14:creationId xmlns:p14="http://schemas.microsoft.com/office/powerpoint/2010/main" val="40069563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29</a:t>
            </a:fld>
            <a:endParaRPr lang="en-US"/>
          </a:p>
        </p:txBody>
      </p:sp>
    </p:spTree>
    <p:extLst>
      <p:ext uri="{BB962C8B-B14F-4D97-AF65-F5344CB8AC3E}">
        <p14:creationId xmlns:p14="http://schemas.microsoft.com/office/powerpoint/2010/main" val="18403447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32</a:t>
            </a:fld>
            <a:endParaRPr lang="en-US"/>
          </a:p>
        </p:txBody>
      </p:sp>
    </p:spTree>
    <p:extLst>
      <p:ext uri="{BB962C8B-B14F-4D97-AF65-F5344CB8AC3E}">
        <p14:creationId xmlns:p14="http://schemas.microsoft.com/office/powerpoint/2010/main" val="10733116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file is maintained at the top for comparison. A data standard defines the structure of complex data elements in a domain, including the delimiting scheme, names or codes for the attributes (data elements) with definitions, and standard constraints for attribute content with definitions of content meaning.</a:t>
            </a:r>
          </a:p>
        </p:txBody>
      </p:sp>
      <p:sp>
        <p:nvSpPr>
          <p:cNvPr id="4" name="Slide Number Placeholder 3"/>
          <p:cNvSpPr>
            <a:spLocks noGrp="1"/>
          </p:cNvSpPr>
          <p:nvPr>
            <p:ph type="sldNum" sz="quarter" idx="5"/>
          </p:nvPr>
        </p:nvSpPr>
        <p:spPr/>
        <p:txBody>
          <a:bodyPr/>
          <a:lstStyle/>
          <a:p>
            <a:fld id="{2ED3860E-B3F9-BC4F-80E5-A2DB630171F2}" type="slidenum">
              <a:rPr lang="en-US" smtClean="0"/>
              <a:t>35</a:t>
            </a:fld>
            <a:endParaRPr lang="en-US"/>
          </a:p>
        </p:txBody>
      </p:sp>
    </p:spTree>
    <p:extLst>
      <p:ext uri="{BB962C8B-B14F-4D97-AF65-F5344CB8AC3E}">
        <p14:creationId xmlns:p14="http://schemas.microsoft.com/office/powerpoint/2010/main" val="1852525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32315514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90925-8474-CE14-ED54-424EA8E3F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C9A8CB-9508-8AD0-0785-BD8CF9448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EC633-E72C-C5E0-1F7C-47F7330351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D373A5-7A92-C9EE-9413-70D5735CA0D2}"/>
              </a:ext>
            </a:extLst>
          </p:cNvPr>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070666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9668213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44</a:t>
            </a:fld>
            <a:endParaRPr lang="en-US"/>
          </a:p>
        </p:txBody>
      </p:sp>
    </p:spTree>
    <p:extLst>
      <p:ext uri="{BB962C8B-B14F-4D97-AF65-F5344CB8AC3E}">
        <p14:creationId xmlns:p14="http://schemas.microsoft.com/office/powerpoint/2010/main" val="32326037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RDB defined by EF Codd in 1985 (Codd’s 12 rules, actually 13 because they’re numbered 0 to 12); the point is that RDB are formally defined and well understood, not to know the individual rules.</a:t>
            </a:r>
          </a:p>
          <a:p>
            <a:r>
              <a:rPr lang="en-US" dirty="0"/>
              <a:t>Moves elements that would be redundant in flat files into separate linked tables</a:t>
            </a:r>
          </a:p>
          <a:p>
            <a:r>
              <a:rPr lang="en-US" dirty="0"/>
              <a:t>Fields are columns in the tables, records are rows in the tables</a:t>
            </a:r>
          </a:p>
          <a:p>
            <a:r>
              <a:rPr lang="en-US" dirty="0"/>
              <a:t>Slower than hierarchical in queries along the hierarchical branches. Much faster for queries across the branches (</a:t>
            </a:r>
            <a:r>
              <a:rPr lang="en-US" dirty="0" err="1"/>
              <a:t>ie</a:t>
            </a:r>
            <a:r>
              <a:rPr lang="en-US" dirty="0"/>
              <a:t> all patients with lab tests of a particular type that have values in a particular range)</a:t>
            </a:r>
          </a:p>
          <a:p>
            <a:r>
              <a:rPr lang="en-US" dirty="0"/>
              <a:t>Features of transactions: ACID = Atomic, Consistent (correct), isolated (independent), durable</a:t>
            </a:r>
          </a:p>
        </p:txBody>
      </p:sp>
      <p:sp>
        <p:nvSpPr>
          <p:cNvPr id="4" name="Slide Number Placeholder 3"/>
          <p:cNvSpPr>
            <a:spLocks noGrp="1"/>
          </p:cNvSpPr>
          <p:nvPr>
            <p:ph type="sldNum" sz="quarter" idx="5"/>
          </p:nvPr>
        </p:nvSpPr>
        <p:spPr/>
        <p:txBody>
          <a:bodyPr/>
          <a:lstStyle/>
          <a:p>
            <a:fld id="{2ED3860E-B3F9-BC4F-80E5-A2DB630171F2}" type="slidenum">
              <a:rPr lang="en-US" smtClean="0"/>
              <a:t>45</a:t>
            </a:fld>
            <a:endParaRPr lang="en-US"/>
          </a:p>
        </p:txBody>
      </p:sp>
    </p:spTree>
    <p:extLst>
      <p:ext uri="{BB962C8B-B14F-4D97-AF65-F5344CB8AC3E}">
        <p14:creationId xmlns:p14="http://schemas.microsoft.com/office/powerpoint/2010/main" val="10158722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a:p>
            <a:r>
              <a:rPr lang="en-US" dirty="0"/>
              <a:t>Many to many reduces redundancy (takes care of repeated physicians from pure </a:t>
            </a:r>
            <a:r>
              <a:rPr lang="en-US" dirty="0" err="1"/>
              <a:t>hierarchicial</a:t>
            </a:r>
            <a:r>
              <a:rPr lang="en-US" dirty="0"/>
              <a:t> DB)</a:t>
            </a:r>
          </a:p>
          <a:p>
            <a:r>
              <a:rPr lang="en-US" dirty="0"/>
              <a:t>Importance of data integrity and not orphaning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 delete to save time.</a:t>
            </a:r>
          </a:p>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46</a:t>
            </a:fld>
            <a:endParaRPr lang="en-US"/>
          </a:p>
        </p:txBody>
      </p:sp>
    </p:spTree>
    <p:extLst>
      <p:ext uri="{BB962C8B-B14F-4D97-AF65-F5344CB8AC3E}">
        <p14:creationId xmlns:p14="http://schemas.microsoft.com/office/powerpoint/2010/main" val="6314281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levels of normal form, relaxation of normalization is a judgement call per database</a:t>
            </a:r>
          </a:p>
        </p:txBody>
      </p:sp>
      <p:sp>
        <p:nvSpPr>
          <p:cNvPr id="4" name="Slide Number Placeholder 3"/>
          <p:cNvSpPr>
            <a:spLocks noGrp="1"/>
          </p:cNvSpPr>
          <p:nvPr>
            <p:ph type="sldNum" sz="quarter" idx="5"/>
          </p:nvPr>
        </p:nvSpPr>
        <p:spPr/>
        <p:txBody>
          <a:bodyPr/>
          <a:lstStyle/>
          <a:p>
            <a:fld id="{2ED3860E-B3F9-BC4F-80E5-A2DB630171F2}" type="slidenum">
              <a:rPr lang="en-US" smtClean="0"/>
              <a:t>47</a:t>
            </a:fld>
            <a:endParaRPr lang="en-US"/>
          </a:p>
        </p:txBody>
      </p:sp>
    </p:spTree>
    <p:extLst>
      <p:ext uri="{BB962C8B-B14F-4D97-AF65-F5344CB8AC3E}">
        <p14:creationId xmlns:p14="http://schemas.microsoft.com/office/powerpoint/2010/main" val="30185526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48</a:t>
            </a:fld>
            <a:endParaRPr lang="en-US"/>
          </a:p>
        </p:txBody>
      </p:sp>
    </p:spTree>
    <p:extLst>
      <p:ext uri="{BB962C8B-B14F-4D97-AF65-F5344CB8AC3E}">
        <p14:creationId xmlns:p14="http://schemas.microsoft.com/office/powerpoint/2010/main" val="13921897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0" name="Google Shape;37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One challenge in dealing with common extraction tools regardless of the system is the need to pull additional data – whether that is a larger data set than your utility can handle or a larger number of data elements than is available</a:t>
            </a:r>
            <a:endParaRPr dirty="0"/>
          </a:p>
          <a:p>
            <a:pPr marL="457200" marR="0" lvl="0" indent="-228600" algn="l" rtl="0">
              <a:lnSpc>
                <a:spcPct val="100000"/>
              </a:lnSpc>
              <a:spcBef>
                <a:spcPts val="0"/>
              </a:spcBef>
              <a:spcAft>
                <a:spcPts val="0"/>
              </a:spcAft>
              <a:buSzPts val="1400"/>
              <a:buNone/>
            </a:pPr>
            <a:r>
              <a:rPr lang="en-US" dirty="0"/>
              <a:t>It is important to recognize the value of speaking a relational database’s language and the flexibility that affords for extracting data</a:t>
            </a:r>
            <a:endParaRPr dirty="0"/>
          </a:p>
          <a:p>
            <a:pPr marL="457200" marR="0" lvl="0" indent="-228600" algn="l" rtl="0">
              <a:lnSpc>
                <a:spcPct val="100000"/>
              </a:lnSpc>
              <a:spcBef>
                <a:spcPts val="0"/>
              </a:spcBef>
              <a:spcAft>
                <a:spcPts val="0"/>
              </a:spcAft>
              <a:buSzPts val="1400"/>
              <a:buNone/>
            </a:pPr>
            <a:r>
              <a:rPr lang="en-US" dirty="0"/>
              <a:t>As a concrete example you may want to analyze some data that combined patient demographics, order details, and tube type</a:t>
            </a:r>
            <a:endParaRPr dirty="0"/>
          </a:p>
          <a:p>
            <a:pPr marL="457200" marR="0" lvl="0" indent="-228600" algn="l" rtl="0">
              <a:lnSpc>
                <a:spcPct val="100000"/>
              </a:lnSpc>
              <a:spcBef>
                <a:spcPts val="0"/>
              </a:spcBef>
              <a:spcAft>
                <a:spcPts val="0"/>
              </a:spcAft>
              <a:buSzPts val="1400"/>
              <a:buNone/>
            </a:pPr>
            <a:r>
              <a:rPr lang="en-US" dirty="0"/>
              <a:t>Each of these data elements may be stored in its own table within a database and based on your knowledge of the system and workflows you can connect the right data elements using a series of keys that establish the relationships between tables</a:t>
            </a:r>
            <a:endParaRPr dirty="0"/>
          </a:p>
          <a:p>
            <a:pPr marL="457200" marR="0" lvl="0" indent="-228600" algn="l" rtl="0">
              <a:lnSpc>
                <a:spcPct val="100000"/>
              </a:lnSpc>
              <a:spcBef>
                <a:spcPts val="0"/>
              </a:spcBef>
              <a:spcAft>
                <a:spcPts val="0"/>
              </a:spcAft>
              <a:buSzPts val="1400"/>
              <a:buNone/>
            </a:pPr>
            <a:endParaRPr dirty="0"/>
          </a:p>
        </p:txBody>
      </p:sp>
      <p:sp>
        <p:nvSpPr>
          <p:cNvPr id="371" name="Google Shape;371;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t>49</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E84A-F7DB-76A6-6608-C860B9131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23092-24F9-F7FB-306E-22098661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7EA5A-D809-7F6E-421A-CD832D338AE3}"/>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3322F85A-F6F3-0E33-6901-8FDF52474A59}"/>
              </a:ext>
            </a:extLst>
          </p:cNvPr>
          <p:cNvSpPr>
            <a:spLocks noGrp="1"/>
          </p:cNvSpPr>
          <p:nvPr>
            <p:ph type="sldNum" sz="quarter" idx="10"/>
          </p:nvPr>
        </p:nvSpPr>
        <p:spPr/>
        <p:txBody>
          <a:bodyPr/>
          <a:lstStyle/>
          <a:p>
            <a:fld id="{0A193586-FEB5-7C43-8F44-7EFAE4EECA28}" type="slidenum">
              <a:rPr lang="en-US" smtClean="0"/>
              <a:t>63</a:t>
            </a:fld>
            <a:endParaRPr lang="en-US"/>
          </a:p>
        </p:txBody>
      </p:sp>
    </p:spTree>
    <p:extLst>
      <p:ext uri="{BB962C8B-B14F-4D97-AF65-F5344CB8AC3E}">
        <p14:creationId xmlns:p14="http://schemas.microsoft.com/office/powerpoint/2010/main" val="570274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10/2/26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8" r:id="rId16"/>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emf"/><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emf"/><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hyperlink" Target="https://www.pathologyinformatics.org/teaching-slide-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Literacy and Management Basics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DS 100 – Module 1</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1B3D53-1C43-421E-EB2E-EDDAA0EC23F2}"/>
              </a:ext>
            </a:extLst>
          </p:cNvPr>
          <p:cNvSpPr txBox="1"/>
          <p:nvPr/>
        </p:nvSpPr>
        <p:spPr>
          <a:xfrm>
            <a:off x="212035" y="2544417"/>
            <a:ext cx="11979965" cy="1569660"/>
          </a:xfrm>
          <a:prstGeom prst="rect">
            <a:avLst/>
          </a:prstGeom>
          <a:noFill/>
        </p:spPr>
        <p:txBody>
          <a:bodyPr wrap="square" rtlCol="0">
            <a:spAutoFit/>
          </a:bodyPr>
          <a:lstStyle/>
          <a:p>
            <a:r>
              <a:rPr lang="en-US" sz="4800" dirty="0"/>
              <a:t>https://</a:t>
            </a:r>
            <a:r>
              <a:rPr lang="en-US" sz="4800" dirty="0" err="1"/>
              <a:t>github.com</a:t>
            </a:r>
            <a:r>
              <a:rPr lang="en-US" sz="4800" dirty="0"/>
              <a:t>/</a:t>
            </a:r>
            <a:r>
              <a:rPr lang="en-US" sz="4800" dirty="0" err="1"/>
              <a:t>pcmathias</a:t>
            </a:r>
            <a:r>
              <a:rPr lang="en-US" sz="4800" dirty="0"/>
              <a:t>/MSACL-data-literacy</a:t>
            </a:r>
          </a:p>
        </p:txBody>
      </p:sp>
    </p:spTree>
    <p:extLst>
      <p:ext uri="{BB962C8B-B14F-4D97-AF65-F5344CB8AC3E}">
        <p14:creationId xmlns:p14="http://schemas.microsoft.com/office/powerpoint/2010/main" val="3183003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E808348-4CB2-D589-CAB6-00415CC9C00B}"/>
              </a:ext>
            </a:extLst>
          </p:cNvPr>
          <p:cNvPicPr>
            <a:picLocks noChangeAspect="1"/>
          </p:cNvPicPr>
          <p:nvPr/>
        </p:nvPicPr>
        <p:blipFill>
          <a:blip r:embed="rId3"/>
          <a:stretch>
            <a:fillRect/>
          </a:stretch>
        </p:blipFill>
        <p:spPr>
          <a:xfrm>
            <a:off x="520147" y="0"/>
            <a:ext cx="11151705" cy="6858000"/>
          </a:xfrm>
          <a:prstGeom prst="rect">
            <a:avLst/>
          </a:prstGeom>
        </p:spPr>
      </p:pic>
      <p:cxnSp>
        <p:nvCxnSpPr>
          <p:cNvPr id="7" name="Straight Arrow Connector 6">
            <a:extLst>
              <a:ext uri="{FF2B5EF4-FFF2-40B4-BE49-F238E27FC236}">
                <a16:creationId xmlns:a16="http://schemas.microsoft.com/office/drawing/2014/main" id="{146D9E51-1096-3D06-AB50-7F7FFB86C343}"/>
              </a:ext>
            </a:extLst>
          </p:cNvPr>
          <p:cNvCxnSpPr>
            <a:cxnSpLocks/>
          </p:cNvCxnSpPr>
          <p:nvPr/>
        </p:nvCxnSpPr>
        <p:spPr>
          <a:xfrm flipH="1" flipV="1">
            <a:off x="8339000" y="2185034"/>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CA02CCD-B8A3-846F-74A7-C4B898E85CD6}"/>
              </a:ext>
            </a:extLst>
          </p:cNvPr>
          <p:cNvCxnSpPr>
            <a:cxnSpLocks/>
          </p:cNvCxnSpPr>
          <p:nvPr/>
        </p:nvCxnSpPr>
        <p:spPr>
          <a:xfrm flipH="1" flipV="1">
            <a:off x="6434000" y="4650328"/>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F8FC19B-F699-9A3A-219F-2E734CDD8B0D}"/>
              </a:ext>
            </a:extLst>
          </p:cNvPr>
          <p:cNvSpPr txBox="1"/>
          <p:nvPr/>
        </p:nvSpPr>
        <p:spPr>
          <a:xfrm>
            <a:off x="9372600" y="2568389"/>
            <a:ext cx="2528047" cy="646331"/>
          </a:xfrm>
          <a:prstGeom prst="rect">
            <a:avLst/>
          </a:prstGeom>
          <a:noFill/>
        </p:spPr>
        <p:txBody>
          <a:bodyPr wrap="square" rtlCol="0">
            <a:spAutoFit/>
          </a:bodyPr>
          <a:lstStyle/>
          <a:p>
            <a:r>
              <a:rPr lang="en-US" b="1" dirty="0"/>
              <a:t>1. Click green “Code” button</a:t>
            </a:r>
          </a:p>
        </p:txBody>
      </p:sp>
      <p:sp>
        <p:nvSpPr>
          <p:cNvPr id="11" name="TextBox 10">
            <a:extLst>
              <a:ext uri="{FF2B5EF4-FFF2-40B4-BE49-F238E27FC236}">
                <a16:creationId xmlns:a16="http://schemas.microsoft.com/office/drawing/2014/main" id="{BCAD11A0-F6BE-9C08-2975-3D0ACF07ADF5}"/>
              </a:ext>
            </a:extLst>
          </p:cNvPr>
          <p:cNvSpPr txBox="1"/>
          <p:nvPr/>
        </p:nvSpPr>
        <p:spPr>
          <a:xfrm>
            <a:off x="7467600" y="5033683"/>
            <a:ext cx="2528047" cy="369332"/>
          </a:xfrm>
          <a:prstGeom prst="rect">
            <a:avLst/>
          </a:prstGeom>
          <a:noFill/>
        </p:spPr>
        <p:txBody>
          <a:bodyPr wrap="square" rtlCol="0">
            <a:spAutoFit/>
          </a:bodyPr>
          <a:lstStyle/>
          <a:p>
            <a:r>
              <a:rPr lang="en-US" b="1" dirty="0"/>
              <a:t>2. Click “Download ZIP”</a:t>
            </a:r>
          </a:p>
        </p:txBody>
      </p:sp>
      <p:sp>
        <p:nvSpPr>
          <p:cNvPr id="12" name="TextBox 11">
            <a:extLst>
              <a:ext uri="{FF2B5EF4-FFF2-40B4-BE49-F238E27FC236}">
                <a16:creationId xmlns:a16="http://schemas.microsoft.com/office/drawing/2014/main" id="{5B34C46B-E1C8-1A4A-C740-6A844C949578}"/>
              </a:ext>
            </a:extLst>
          </p:cNvPr>
          <p:cNvSpPr txBox="1"/>
          <p:nvPr/>
        </p:nvSpPr>
        <p:spPr>
          <a:xfrm>
            <a:off x="3442447" y="5943601"/>
            <a:ext cx="5674659" cy="646331"/>
          </a:xfrm>
          <a:prstGeom prst="rect">
            <a:avLst/>
          </a:prstGeom>
          <a:noFill/>
        </p:spPr>
        <p:txBody>
          <a:bodyPr wrap="square" rtlCol="0">
            <a:spAutoFit/>
          </a:bodyPr>
          <a:lstStyle/>
          <a:p>
            <a:r>
              <a:rPr lang="en-US" b="1" dirty="0"/>
              <a:t>3. Save file to visible place (e.g. a Projects folder)</a:t>
            </a:r>
          </a:p>
          <a:p>
            <a:r>
              <a:rPr lang="en-US" b="1" dirty="0"/>
              <a:t>4. Unzip </a:t>
            </a:r>
          </a:p>
        </p:txBody>
      </p:sp>
    </p:spTree>
    <p:extLst>
      <p:ext uri="{BB962C8B-B14F-4D97-AF65-F5344CB8AC3E}">
        <p14:creationId xmlns:p14="http://schemas.microsoft.com/office/powerpoint/2010/main" val="412889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896677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5000948e32_0_49"/>
          <p:cNvSpPr txBox="1">
            <a:spLocks noGrp="1"/>
          </p:cNvSpPr>
          <p:nvPr>
            <p:ph type="body" idx="1"/>
          </p:nvPr>
        </p:nvSpPr>
        <p:spPr>
          <a:xfrm>
            <a:off x="838200" y="5137596"/>
            <a:ext cx="10515600" cy="985200"/>
          </a:xfrm>
          <a:prstGeom prst="rect">
            <a:avLst/>
          </a:prstGeom>
          <a:noFill/>
          <a:ln>
            <a:noFill/>
          </a:ln>
        </p:spPr>
        <p:txBody>
          <a:bodyPr spcFirstLastPara="1" wrap="square" lIns="91425" tIns="45700" rIns="91425" bIns="45700" anchor="t" anchorCtr="0">
            <a:noAutofit/>
          </a:bodyPr>
          <a:lstStyle/>
          <a:p>
            <a:pPr marL="457200" lvl="0" indent="-404812" algn="l" rtl="0">
              <a:lnSpc>
                <a:spcPct val="122222"/>
              </a:lnSpc>
              <a:spcBef>
                <a:spcPts val="1000"/>
              </a:spcBef>
              <a:spcAft>
                <a:spcPts val="0"/>
              </a:spcAft>
              <a:buSzPct val="100000"/>
              <a:buChar char="•"/>
            </a:pPr>
            <a:r>
              <a:rPr lang="en-US" sz="2800" dirty="0"/>
              <a:t>Data to be synthesized into knowledge</a:t>
            </a:r>
            <a:endParaRPr sz="2800" dirty="0"/>
          </a:p>
          <a:p>
            <a:pPr marL="457200" lvl="0" indent="-404812" algn="l" rtl="0">
              <a:lnSpc>
                <a:spcPct val="122222"/>
              </a:lnSpc>
              <a:spcBef>
                <a:spcPts val="0"/>
              </a:spcBef>
              <a:spcAft>
                <a:spcPts val="0"/>
              </a:spcAft>
              <a:buSzPct val="100000"/>
              <a:buChar char="•"/>
            </a:pPr>
            <a:r>
              <a:rPr lang="en-US" sz="2800" dirty="0"/>
              <a:t>Knowledge, in turn, can drive decision making</a:t>
            </a:r>
            <a:endParaRPr sz="2800" dirty="0"/>
          </a:p>
        </p:txBody>
      </p:sp>
      <p:sp>
        <p:nvSpPr>
          <p:cNvPr id="172" name="Google Shape;172;g35000948e32_0_49"/>
          <p:cNvSpPr txBox="1">
            <a:spLocks noGrp="1"/>
          </p:cNvSpPr>
          <p:nvPr>
            <p:ph type="title"/>
          </p:nvPr>
        </p:nvSpPr>
        <p:spPr>
          <a:xfrm>
            <a:off x="838200" y="8528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The DIKW Pyramid</a:t>
            </a:r>
            <a:endParaRPr dirty="0"/>
          </a:p>
        </p:txBody>
      </p:sp>
      <p:pic>
        <p:nvPicPr>
          <p:cNvPr id="174" name="Google Shape;174;g35000948e32_0_49"/>
          <p:cNvPicPr preferRelativeResize="0"/>
          <p:nvPr/>
        </p:nvPicPr>
        <p:blipFill rotWithShape="1">
          <a:blip r:embed="rId3">
            <a:alphaModFix/>
          </a:blip>
          <a:srcRect/>
          <a:stretch/>
        </p:blipFill>
        <p:spPr>
          <a:xfrm>
            <a:off x="4205570" y="2201621"/>
            <a:ext cx="3780859" cy="29359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Data Science Background</a:t>
            </a:r>
          </a:p>
        </p:txBody>
      </p:sp>
    </p:spTree>
    <p:extLst>
      <p:ext uri="{BB962C8B-B14F-4D97-AF65-F5344CB8AC3E}">
        <p14:creationId xmlns:p14="http://schemas.microsoft.com/office/powerpoint/2010/main" val="2301799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g35000948e32_0_65"/>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lnSpcReduction="10000"/>
          </a:bodyPr>
          <a:lstStyle/>
          <a:p>
            <a:pPr marL="457200" lvl="0" indent="-419100" algn="l" rtl="0">
              <a:lnSpc>
                <a:spcPct val="122222"/>
              </a:lnSpc>
              <a:spcBef>
                <a:spcPts val="1000"/>
              </a:spcBef>
              <a:spcAft>
                <a:spcPts val="0"/>
              </a:spcAft>
              <a:buSzPct val="108107"/>
              <a:buChar char="•"/>
            </a:pPr>
            <a:r>
              <a:rPr lang="en-US" sz="3000" dirty="0"/>
              <a:t>Interdisciplinary field that uses computational methods, statistics, and broad analysis techniques (including visualization) to extract knowledge from data</a:t>
            </a:r>
            <a:endParaRPr sz="3000" dirty="0"/>
          </a:p>
          <a:p>
            <a:pPr marL="457200" lvl="0" indent="-419100" algn="l" rtl="0">
              <a:lnSpc>
                <a:spcPct val="122222"/>
              </a:lnSpc>
              <a:spcBef>
                <a:spcPts val="0"/>
              </a:spcBef>
              <a:spcAft>
                <a:spcPts val="0"/>
              </a:spcAft>
              <a:buSzPct val="108107"/>
              <a:buChar char="•"/>
            </a:pPr>
            <a:r>
              <a:rPr lang="en-US" sz="3000" dirty="0"/>
              <a:t>Draws on a variety of academic disciplines, including mathematics, statistics, computer science, and information science/informatics</a:t>
            </a:r>
            <a:endParaRPr sz="3000" dirty="0"/>
          </a:p>
          <a:p>
            <a:pPr marL="457200" lvl="0" indent="-419100" algn="l" rtl="0">
              <a:lnSpc>
                <a:spcPct val="122222"/>
              </a:lnSpc>
              <a:spcBef>
                <a:spcPts val="0"/>
              </a:spcBef>
              <a:spcAft>
                <a:spcPts val="0"/>
              </a:spcAft>
              <a:buSzPct val="108107"/>
              <a:buChar char="•"/>
            </a:pPr>
            <a:r>
              <a:rPr lang="en-US" sz="3000" dirty="0"/>
              <a:t>Critical to integrate domain knowledge: </a:t>
            </a:r>
            <a:r>
              <a:rPr lang="en-US" sz="3000" b="1" dirty="0"/>
              <a:t>laboratory medicine</a:t>
            </a:r>
            <a:endParaRPr sz="3000" b="1" dirty="0"/>
          </a:p>
        </p:txBody>
      </p:sp>
      <p:sp>
        <p:nvSpPr>
          <p:cNvPr id="188" name="Google Shape;188;g35000948e32_0_65"/>
          <p:cNvSpPr txBox="1">
            <a:spLocks noGrp="1"/>
          </p:cNvSpPr>
          <p:nvPr>
            <p:ph type="title"/>
          </p:nvPr>
        </p:nvSpPr>
        <p:spPr>
          <a:xfrm>
            <a:off x="838200" y="87190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 is data science?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35000948e32_0_72"/>
          <p:cNvSpPr txBox="1">
            <a:spLocks noGrp="1"/>
          </p:cNvSpPr>
          <p:nvPr>
            <p:ph type="title"/>
          </p:nvPr>
        </p:nvSpPr>
        <p:spPr>
          <a:xfrm>
            <a:off x="838200" y="735300"/>
            <a:ext cx="10515600" cy="10300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Computational tools support a broad lifecycle to manage a broad range of data </a:t>
            </a:r>
            <a:endParaRPr dirty="0"/>
          </a:p>
        </p:txBody>
      </p:sp>
      <p:sp>
        <p:nvSpPr>
          <p:cNvPr id="197" name="Google Shape;197;g35000948e32_0_72"/>
          <p:cNvSpPr txBox="1">
            <a:spLocks noGrp="1"/>
          </p:cNvSpPr>
          <p:nvPr>
            <p:ph type="body" idx="1"/>
          </p:nvPr>
        </p:nvSpPr>
        <p:spPr>
          <a:xfrm>
            <a:off x="7133100" y="2064546"/>
            <a:ext cx="4220700" cy="42939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1800"/>
              <a:buNone/>
            </a:pPr>
            <a:r>
              <a:rPr lang="en-US" sz="3000" dirty="0"/>
              <a:t>Data science extends beyond analysis of data and includes considerations for capturing and maintaining data</a:t>
            </a:r>
            <a:endParaRPr sz="3000" dirty="0"/>
          </a:p>
        </p:txBody>
      </p:sp>
      <p:pic>
        <p:nvPicPr>
          <p:cNvPr id="199" name="Google Shape;199;g35000948e32_0_72" title="DataScienceLifeCycle.jpeg"/>
          <p:cNvPicPr preferRelativeResize="0"/>
          <p:nvPr/>
        </p:nvPicPr>
        <p:blipFill rotWithShape="1">
          <a:blip r:embed="rId3">
            <a:alphaModFix/>
          </a:blip>
          <a:srcRect/>
          <a:stretch/>
        </p:blipFill>
        <p:spPr>
          <a:xfrm>
            <a:off x="685700" y="1977496"/>
            <a:ext cx="6226075" cy="4569150"/>
          </a:xfrm>
          <a:prstGeom prst="rect">
            <a:avLst/>
          </a:prstGeom>
          <a:noFill/>
          <a:ln>
            <a:noFill/>
          </a:ln>
        </p:spPr>
      </p:pic>
      <p:sp>
        <p:nvSpPr>
          <p:cNvPr id="200" name="Google Shape;200;g35000948e32_0_72"/>
          <p:cNvSpPr txBox="1"/>
          <p:nvPr/>
        </p:nvSpPr>
        <p:spPr>
          <a:xfrm>
            <a:off x="2452134" y="6445496"/>
            <a:ext cx="7571400" cy="746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rgbClr val="58595B"/>
                </a:solidFill>
                <a:latin typeface="Arial"/>
                <a:ea typeface="Arial"/>
                <a:cs typeface="Arial"/>
                <a:sym typeface="Arial"/>
              </a:rPr>
              <a:t>https://</a:t>
            </a:r>
            <a:r>
              <a:rPr lang="en-US" sz="1800" b="0" i="0" u="none" strike="noStrike" cap="none" dirty="0" err="1">
                <a:solidFill>
                  <a:srgbClr val="58595B"/>
                </a:solidFill>
                <a:latin typeface="Arial"/>
                <a:ea typeface="Arial"/>
                <a:cs typeface="Arial"/>
                <a:sym typeface="Arial"/>
              </a:rPr>
              <a:t>ischoolonline.berkeley.edu</a:t>
            </a:r>
            <a:r>
              <a:rPr lang="en-US" sz="1800" b="0" i="0" u="none" strike="noStrike" cap="none" dirty="0">
                <a:solidFill>
                  <a:srgbClr val="58595B"/>
                </a:solidFill>
                <a:latin typeface="Arial"/>
                <a:ea typeface="Arial"/>
                <a:cs typeface="Arial"/>
                <a:sym typeface="Arial"/>
              </a:rPr>
              <a:t>/data-science/what-is-data-science/</a:t>
            </a:r>
            <a:endParaRPr sz="1800" b="0" i="0" u="none" strike="noStrike" cap="none" dirty="0">
              <a:solidFill>
                <a:srgbClr val="58595B"/>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5000948e32_0_92"/>
          <p:cNvSpPr txBox="1">
            <a:spLocks noGrp="1"/>
          </p:cNvSpPr>
          <p:nvPr>
            <p:ph type="body" idx="1"/>
          </p:nvPr>
        </p:nvSpPr>
        <p:spPr>
          <a:xfrm>
            <a:off x="838200" y="2084096"/>
            <a:ext cx="10515600" cy="3937800"/>
          </a:xfrm>
          <a:prstGeom prst="rect">
            <a:avLst/>
          </a:prstGeom>
          <a:noFill/>
          <a:ln>
            <a:noFill/>
          </a:ln>
        </p:spPr>
        <p:txBody>
          <a:bodyPr spcFirstLastPara="1" wrap="square" lIns="91425" tIns="45700" rIns="91425" bIns="45700" anchor="t" anchorCtr="0">
            <a:normAutofit/>
          </a:bodyPr>
          <a:lstStyle/>
          <a:p>
            <a:pPr marL="457200" lvl="0" indent="-419100" algn="l" rtl="0">
              <a:lnSpc>
                <a:spcPct val="122222"/>
              </a:lnSpc>
              <a:spcBef>
                <a:spcPts val="1000"/>
              </a:spcBef>
              <a:spcAft>
                <a:spcPts val="0"/>
              </a:spcAft>
              <a:buSzPts val="3000"/>
              <a:buChar char="•"/>
            </a:pPr>
            <a:r>
              <a:rPr lang="en-US" dirty="0"/>
              <a:t>Many categories of numeric lab data can be described by known distributions, e.g. normal distribution</a:t>
            </a:r>
            <a:endParaRPr dirty="0"/>
          </a:p>
          <a:p>
            <a:pPr marL="457200" lvl="0" indent="-419100" algn="l" rtl="0">
              <a:lnSpc>
                <a:spcPct val="122222"/>
              </a:lnSpc>
              <a:spcBef>
                <a:spcPts val="0"/>
              </a:spcBef>
              <a:spcAft>
                <a:spcPts val="0"/>
              </a:spcAft>
              <a:buSzPts val="3000"/>
              <a:buChar char="•"/>
            </a:pPr>
            <a:r>
              <a:rPr lang="en-US" dirty="0"/>
              <a:t>Statistical methods allow us to evaluate hypotheses about the data</a:t>
            </a:r>
            <a:endParaRPr dirty="0"/>
          </a:p>
          <a:p>
            <a:pPr marL="914400" lvl="1" indent="-393700" algn="l" rtl="0">
              <a:lnSpc>
                <a:spcPct val="122222"/>
              </a:lnSpc>
              <a:spcBef>
                <a:spcPts val="0"/>
              </a:spcBef>
              <a:spcAft>
                <a:spcPts val="0"/>
              </a:spcAft>
              <a:buSzPts val="2600"/>
              <a:buChar char="•"/>
            </a:pPr>
            <a:r>
              <a:rPr lang="en-US" dirty="0"/>
              <a:t>Does the data fit a normal distribution? If not, why not?</a:t>
            </a:r>
            <a:endParaRPr dirty="0"/>
          </a:p>
          <a:p>
            <a:pPr marL="914400" lvl="1" indent="-393700" algn="l" rtl="0">
              <a:lnSpc>
                <a:spcPct val="122222"/>
              </a:lnSpc>
              <a:spcBef>
                <a:spcPts val="0"/>
              </a:spcBef>
              <a:spcAft>
                <a:spcPts val="0"/>
              </a:spcAft>
              <a:buSzPts val="2600"/>
              <a:buChar char="•"/>
            </a:pPr>
            <a:r>
              <a:rPr lang="en-US" dirty="0"/>
              <a:t>Are the differences between these sets of observations significant?</a:t>
            </a:r>
            <a:endParaRPr dirty="0"/>
          </a:p>
        </p:txBody>
      </p:sp>
      <p:sp>
        <p:nvSpPr>
          <p:cNvPr id="207" name="Google Shape;207;g35000948e32_0_92"/>
          <p:cNvSpPr txBox="1">
            <a:spLocks noGrp="1"/>
          </p:cNvSpPr>
          <p:nvPr>
            <p:ph type="title"/>
          </p:nvPr>
        </p:nvSpPr>
        <p:spPr>
          <a:xfrm>
            <a:off x="838200" y="937704"/>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Statistics helps us interpret data based on expectations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DE5E5C-246C-3C62-659B-AB80350AC822}"/>
              </a:ext>
            </a:extLst>
          </p:cNvPr>
          <p:cNvSpPr>
            <a:spLocks noGrp="1"/>
          </p:cNvSpPr>
          <p:nvPr>
            <p:ph type="title"/>
          </p:nvPr>
        </p:nvSpPr>
        <p:spPr/>
        <p:txBody>
          <a:bodyPr/>
          <a:lstStyle/>
          <a:p>
            <a:r>
              <a:rPr lang="en-US" dirty="0"/>
              <a:t>Data Analytics IS a SUBSET of Data Science</a:t>
            </a:r>
          </a:p>
        </p:txBody>
      </p:sp>
      <p:sp>
        <p:nvSpPr>
          <p:cNvPr id="4" name="Content Placeholder 3">
            <a:extLst>
              <a:ext uri="{FF2B5EF4-FFF2-40B4-BE49-F238E27FC236}">
                <a16:creationId xmlns:a16="http://schemas.microsoft.com/office/drawing/2014/main" id="{5020A088-8879-9A15-240B-9705BFDCF65D}"/>
              </a:ext>
            </a:extLst>
          </p:cNvPr>
          <p:cNvSpPr>
            <a:spLocks noGrp="1"/>
          </p:cNvSpPr>
          <p:nvPr>
            <p:ph idx="1"/>
          </p:nvPr>
        </p:nvSpPr>
        <p:spPr>
          <a:xfrm>
            <a:off x="872663" y="2249424"/>
            <a:ext cx="5787888" cy="4023360"/>
          </a:xfrm>
        </p:spPr>
        <p:txBody>
          <a:bodyPr>
            <a:normAutofit fontScale="92500" lnSpcReduction="20000"/>
          </a:bodyPr>
          <a:lstStyle/>
          <a:p>
            <a:pPr marL="0" indent="0">
              <a:buNone/>
            </a:pPr>
            <a:r>
              <a:rPr lang="en-US" sz="3200" b="0" i="0" dirty="0">
                <a:solidFill>
                  <a:srgbClr val="333A3D"/>
                </a:solidFill>
                <a:effectLst/>
              </a:rPr>
              <a:t>Data analytics includes discovering useful information and conclusions to support decision making from data</a:t>
            </a:r>
          </a:p>
          <a:p>
            <a:pPr marL="457200" indent="-457200" algn="l">
              <a:buFont typeface="+mj-lt"/>
              <a:buAutoNum type="arabicPeriod"/>
            </a:pPr>
            <a:r>
              <a:rPr lang="en-US" sz="3200" b="0" i="0" dirty="0">
                <a:solidFill>
                  <a:srgbClr val="333A3D"/>
                </a:solidFill>
                <a:effectLst/>
              </a:rPr>
              <a:t>Using real-world data</a:t>
            </a:r>
          </a:p>
          <a:p>
            <a:pPr marL="457200" indent="-457200" algn="l">
              <a:buFont typeface="+mj-lt"/>
              <a:buAutoNum type="arabicPeriod"/>
            </a:pPr>
            <a:r>
              <a:rPr lang="en-US" sz="3200" b="0" i="0" dirty="0">
                <a:solidFill>
                  <a:srgbClr val="333A3D"/>
                </a:solidFill>
                <a:effectLst/>
              </a:rPr>
              <a:t>Visualization</a:t>
            </a:r>
          </a:p>
          <a:p>
            <a:pPr marL="457200" indent="-457200" algn="l">
              <a:buFont typeface="+mj-lt"/>
              <a:buAutoNum type="arabicPeriod"/>
            </a:pPr>
            <a:r>
              <a:rPr lang="en-US" sz="3200" b="0" i="0" dirty="0">
                <a:solidFill>
                  <a:srgbClr val="333A3D"/>
                </a:solidFill>
                <a:effectLst/>
              </a:rPr>
              <a:t>Statistical and exploratory analysis</a:t>
            </a:r>
          </a:p>
          <a:p>
            <a:pPr marL="457200" indent="-457200" algn="l">
              <a:buFont typeface="+mj-lt"/>
              <a:buAutoNum type="arabicPeriod"/>
            </a:pPr>
            <a:r>
              <a:rPr lang="en-US" sz="3200" b="0" i="0" dirty="0">
                <a:solidFill>
                  <a:srgbClr val="333A3D"/>
                </a:solidFill>
                <a:effectLst/>
              </a:rPr>
              <a:t>Machine learning</a:t>
            </a:r>
          </a:p>
          <a:p>
            <a:pPr marL="457200" indent="-457200" algn="l">
              <a:buFont typeface="+mj-lt"/>
              <a:buAutoNum type="arabicPeriod"/>
            </a:pPr>
            <a:r>
              <a:rPr lang="en-US" sz="3200" b="0" i="0" dirty="0">
                <a:solidFill>
                  <a:srgbClr val="333A3D"/>
                </a:solidFill>
                <a:effectLst/>
              </a:rPr>
              <a:t>Communicating results</a:t>
            </a:r>
          </a:p>
          <a:p>
            <a:endParaRPr lang="en-US" dirty="0"/>
          </a:p>
        </p:txBody>
      </p:sp>
      <p:pic>
        <p:nvPicPr>
          <p:cNvPr id="6" name="Picture 5" descr="Diagram&#10;&#10;Description automatically generated">
            <a:extLst>
              <a:ext uri="{FF2B5EF4-FFF2-40B4-BE49-F238E27FC236}">
                <a16:creationId xmlns:a16="http://schemas.microsoft.com/office/drawing/2014/main" id="{796E3692-B40C-8DA6-B466-BBABF5E54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9594" y="1600200"/>
            <a:ext cx="5452246" cy="5419532"/>
          </a:xfrm>
          <a:prstGeom prst="rect">
            <a:avLst/>
          </a:prstGeom>
        </p:spPr>
      </p:pic>
    </p:spTree>
    <p:extLst>
      <p:ext uri="{BB962C8B-B14F-4D97-AF65-F5344CB8AC3E}">
        <p14:creationId xmlns:p14="http://schemas.microsoft.com/office/powerpoint/2010/main" val="4230008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CD598-654F-02CA-A34E-CC7988BB246A}"/>
              </a:ext>
            </a:extLst>
          </p:cNvPr>
          <p:cNvSpPr>
            <a:spLocks noGrp="1"/>
          </p:cNvSpPr>
          <p:nvPr>
            <p:ph type="title"/>
          </p:nvPr>
        </p:nvSpPr>
        <p:spPr/>
        <p:txBody>
          <a:bodyPr/>
          <a:lstStyle/>
          <a:p>
            <a:r>
              <a:rPr lang="en-US" dirty="0"/>
              <a:t>Data Science Can be Categorized By How the Data is Applied</a:t>
            </a:r>
          </a:p>
        </p:txBody>
      </p:sp>
      <p:pic>
        <p:nvPicPr>
          <p:cNvPr id="3" name="Graphic 2" descr="Presentation with bar chart with solid fill">
            <a:extLst>
              <a:ext uri="{FF2B5EF4-FFF2-40B4-BE49-F238E27FC236}">
                <a16:creationId xmlns:a16="http://schemas.microsoft.com/office/drawing/2014/main" id="{C31DCB0C-AF12-58FD-9E47-A9A02EBF215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02677" y="2328616"/>
            <a:ext cx="1266092" cy="1266092"/>
          </a:xfrm>
          <a:prstGeom prst="rect">
            <a:avLst/>
          </a:prstGeom>
        </p:spPr>
      </p:pic>
      <p:sp>
        <p:nvSpPr>
          <p:cNvPr id="4" name="TextBox 3">
            <a:extLst>
              <a:ext uri="{FF2B5EF4-FFF2-40B4-BE49-F238E27FC236}">
                <a16:creationId xmlns:a16="http://schemas.microsoft.com/office/drawing/2014/main" id="{6256A59A-A100-9575-9D0F-0688ABC1CBCA}"/>
              </a:ext>
            </a:extLst>
          </p:cNvPr>
          <p:cNvSpPr txBox="1"/>
          <p:nvPr/>
        </p:nvSpPr>
        <p:spPr>
          <a:xfrm>
            <a:off x="0" y="3652178"/>
            <a:ext cx="3071446" cy="584775"/>
          </a:xfrm>
          <a:prstGeom prst="rect">
            <a:avLst/>
          </a:prstGeom>
          <a:noFill/>
        </p:spPr>
        <p:txBody>
          <a:bodyPr wrap="square" rtlCol="0">
            <a:spAutoFit/>
          </a:bodyPr>
          <a:lstStyle/>
          <a:p>
            <a:pPr algn="ctr"/>
            <a:r>
              <a:rPr lang="en-US" sz="3200" dirty="0"/>
              <a:t>Descriptive</a:t>
            </a:r>
          </a:p>
        </p:txBody>
      </p:sp>
      <p:sp>
        <p:nvSpPr>
          <p:cNvPr id="5" name="TextBox 4">
            <a:extLst>
              <a:ext uri="{FF2B5EF4-FFF2-40B4-BE49-F238E27FC236}">
                <a16:creationId xmlns:a16="http://schemas.microsoft.com/office/drawing/2014/main" id="{E2BE0231-B174-0338-C013-55B4C1F33D84}"/>
              </a:ext>
            </a:extLst>
          </p:cNvPr>
          <p:cNvSpPr txBox="1"/>
          <p:nvPr/>
        </p:nvSpPr>
        <p:spPr>
          <a:xfrm>
            <a:off x="2983524" y="3640457"/>
            <a:ext cx="3071446" cy="584775"/>
          </a:xfrm>
          <a:prstGeom prst="rect">
            <a:avLst/>
          </a:prstGeom>
          <a:noFill/>
        </p:spPr>
        <p:txBody>
          <a:bodyPr wrap="square" rtlCol="0">
            <a:spAutoFit/>
          </a:bodyPr>
          <a:lstStyle/>
          <a:p>
            <a:pPr algn="ctr"/>
            <a:r>
              <a:rPr lang="en-US" sz="3200" dirty="0"/>
              <a:t>Diagnostic</a:t>
            </a:r>
          </a:p>
        </p:txBody>
      </p:sp>
      <p:sp>
        <p:nvSpPr>
          <p:cNvPr id="6" name="TextBox 5">
            <a:extLst>
              <a:ext uri="{FF2B5EF4-FFF2-40B4-BE49-F238E27FC236}">
                <a16:creationId xmlns:a16="http://schemas.microsoft.com/office/drawing/2014/main" id="{10C5B507-D284-6D26-FE54-15874BBD681C}"/>
              </a:ext>
            </a:extLst>
          </p:cNvPr>
          <p:cNvSpPr txBox="1"/>
          <p:nvPr/>
        </p:nvSpPr>
        <p:spPr>
          <a:xfrm>
            <a:off x="6137032" y="3640456"/>
            <a:ext cx="3071446" cy="584775"/>
          </a:xfrm>
          <a:prstGeom prst="rect">
            <a:avLst/>
          </a:prstGeom>
          <a:noFill/>
        </p:spPr>
        <p:txBody>
          <a:bodyPr wrap="square" rtlCol="0">
            <a:spAutoFit/>
          </a:bodyPr>
          <a:lstStyle/>
          <a:p>
            <a:pPr algn="ctr"/>
            <a:r>
              <a:rPr lang="en-US" sz="3200" dirty="0"/>
              <a:t>Predictive</a:t>
            </a:r>
          </a:p>
        </p:txBody>
      </p:sp>
      <p:sp>
        <p:nvSpPr>
          <p:cNvPr id="7" name="TextBox 6">
            <a:extLst>
              <a:ext uri="{FF2B5EF4-FFF2-40B4-BE49-F238E27FC236}">
                <a16:creationId xmlns:a16="http://schemas.microsoft.com/office/drawing/2014/main" id="{EC885BFA-84B2-B564-CC8F-0EB0F25F45A9}"/>
              </a:ext>
            </a:extLst>
          </p:cNvPr>
          <p:cNvSpPr txBox="1"/>
          <p:nvPr/>
        </p:nvSpPr>
        <p:spPr>
          <a:xfrm>
            <a:off x="9120554" y="3640451"/>
            <a:ext cx="3071446" cy="584775"/>
          </a:xfrm>
          <a:prstGeom prst="rect">
            <a:avLst/>
          </a:prstGeom>
          <a:noFill/>
        </p:spPr>
        <p:txBody>
          <a:bodyPr wrap="square" rtlCol="0">
            <a:spAutoFit/>
          </a:bodyPr>
          <a:lstStyle/>
          <a:p>
            <a:pPr algn="ctr"/>
            <a:r>
              <a:rPr lang="en-US" sz="3200" dirty="0"/>
              <a:t>Prescriptive</a:t>
            </a:r>
          </a:p>
        </p:txBody>
      </p:sp>
      <p:pic>
        <p:nvPicPr>
          <p:cNvPr id="8" name="Graphic 7" descr="Dead Fish Skeleton with solid fill">
            <a:extLst>
              <a:ext uri="{FF2B5EF4-FFF2-40B4-BE49-F238E27FC236}">
                <a16:creationId xmlns:a16="http://schemas.microsoft.com/office/drawing/2014/main" id="{25566594-D567-FD68-3553-0696F66E032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86199" y="2328616"/>
            <a:ext cx="1266092" cy="1266092"/>
          </a:xfrm>
          <a:prstGeom prst="rect">
            <a:avLst/>
          </a:prstGeom>
        </p:spPr>
      </p:pic>
      <p:pic>
        <p:nvPicPr>
          <p:cNvPr id="9" name="Graphic 8" descr="Artificial Intelligence outline">
            <a:extLst>
              <a:ext uri="{FF2B5EF4-FFF2-40B4-BE49-F238E27FC236}">
                <a16:creationId xmlns:a16="http://schemas.microsoft.com/office/drawing/2014/main" id="{97575A74-F8E8-5D9F-5A00-1240D96255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023231" y="2215649"/>
            <a:ext cx="1266092" cy="1266092"/>
          </a:xfrm>
          <a:prstGeom prst="rect">
            <a:avLst/>
          </a:prstGeom>
        </p:spPr>
      </p:pic>
      <p:pic>
        <p:nvPicPr>
          <p:cNvPr id="10" name="Graphic 9" descr="Logarithmic Graph with solid fill">
            <a:extLst>
              <a:ext uri="{FF2B5EF4-FFF2-40B4-BE49-F238E27FC236}">
                <a16:creationId xmlns:a16="http://schemas.microsoft.com/office/drawing/2014/main" id="{BBBACD0E-CDCD-9062-64F9-307576F174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039709" y="2294816"/>
            <a:ext cx="1266092" cy="1266092"/>
          </a:xfrm>
          <a:prstGeom prst="rect">
            <a:avLst/>
          </a:prstGeom>
        </p:spPr>
      </p:pic>
      <p:sp>
        <p:nvSpPr>
          <p:cNvPr id="11" name="TextBox 10">
            <a:extLst>
              <a:ext uri="{FF2B5EF4-FFF2-40B4-BE49-F238E27FC236}">
                <a16:creationId xmlns:a16="http://schemas.microsoft.com/office/drawing/2014/main" id="{DDBA0FE5-7970-E2CF-834B-D22C32BA1008}"/>
              </a:ext>
            </a:extLst>
          </p:cNvPr>
          <p:cNvSpPr txBox="1"/>
          <p:nvPr/>
        </p:nvSpPr>
        <p:spPr>
          <a:xfrm>
            <a:off x="128954" y="4333793"/>
            <a:ext cx="2813538" cy="1200329"/>
          </a:xfrm>
          <a:prstGeom prst="rect">
            <a:avLst/>
          </a:prstGeom>
          <a:noFill/>
        </p:spPr>
        <p:txBody>
          <a:bodyPr wrap="square" rtlCol="0">
            <a:spAutoFit/>
          </a:bodyPr>
          <a:lstStyle/>
          <a:p>
            <a:pPr algn="ctr"/>
            <a:r>
              <a:rPr lang="en-US" sz="2400" dirty="0"/>
              <a:t>What is happening?</a:t>
            </a:r>
          </a:p>
          <a:p>
            <a:pPr algn="ctr"/>
            <a:r>
              <a:rPr lang="en-US" sz="2400" dirty="0"/>
              <a:t>Right now</a:t>
            </a:r>
          </a:p>
          <a:p>
            <a:pPr algn="ctr"/>
            <a:r>
              <a:rPr lang="en-US" sz="2400" dirty="0"/>
              <a:t>Recent past</a:t>
            </a:r>
          </a:p>
        </p:txBody>
      </p:sp>
      <p:sp>
        <p:nvSpPr>
          <p:cNvPr id="12" name="TextBox 11">
            <a:extLst>
              <a:ext uri="{FF2B5EF4-FFF2-40B4-BE49-F238E27FC236}">
                <a16:creationId xmlns:a16="http://schemas.microsoft.com/office/drawing/2014/main" id="{CEE5EFF7-1527-B52A-B243-380EDB41F01C}"/>
              </a:ext>
            </a:extLst>
          </p:cNvPr>
          <p:cNvSpPr txBox="1"/>
          <p:nvPr/>
        </p:nvSpPr>
        <p:spPr>
          <a:xfrm>
            <a:off x="3112478" y="4333792"/>
            <a:ext cx="2813538" cy="1200329"/>
          </a:xfrm>
          <a:prstGeom prst="rect">
            <a:avLst/>
          </a:prstGeom>
          <a:noFill/>
        </p:spPr>
        <p:txBody>
          <a:bodyPr wrap="square" rtlCol="0">
            <a:spAutoFit/>
          </a:bodyPr>
          <a:lstStyle/>
          <a:p>
            <a:pPr algn="ctr"/>
            <a:r>
              <a:rPr lang="en-US" sz="2400" dirty="0"/>
              <a:t>Why is it happening?</a:t>
            </a:r>
          </a:p>
          <a:p>
            <a:pPr algn="ctr"/>
            <a:r>
              <a:rPr lang="en-US" sz="2400" dirty="0"/>
              <a:t>What are the root causes?</a:t>
            </a:r>
          </a:p>
        </p:txBody>
      </p:sp>
      <p:sp>
        <p:nvSpPr>
          <p:cNvPr id="13" name="TextBox 12">
            <a:extLst>
              <a:ext uri="{FF2B5EF4-FFF2-40B4-BE49-F238E27FC236}">
                <a16:creationId xmlns:a16="http://schemas.microsoft.com/office/drawing/2014/main" id="{1F1CB03A-4BEB-70E5-E40B-9C32BB6C97F5}"/>
              </a:ext>
            </a:extLst>
          </p:cNvPr>
          <p:cNvSpPr txBox="1"/>
          <p:nvPr/>
        </p:nvSpPr>
        <p:spPr>
          <a:xfrm>
            <a:off x="6265986" y="4333792"/>
            <a:ext cx="2813538" cy="1200329"/>
          </a:xfrm>
          <a:prstGeom prst="rect">
            <a:avLst/>
          </a:prstGeom>
          <a:noFill/>
        </p:spPr>
        <p:txBody>
          <a:bodyPr wrap="square" rtlCol="0">
            <a:spAutoFit/>
          </a:bodyPr>
          <a:lstStyle/>
          <a:p>
            <a:pPr algn="ctr"/>
            <a:r>
              <a:rPr lang="en-US" sz="2400" dirty="0"/>
              <a:t>What will happen?</a:t>
            </a:r>
          </a:p>
          <a:p>
            <a:pPr algn="ctr"/>
            <a:r>
              <a:rPr lang="en-US" sz="2400" dirty="0"/>
              <a:t>When might it happen?</a:t>
            </a:r>
          </a:p>
        </p:txBody>
      </p:sp>
      <p:sp>
        <p:nvSpPr>
          <p:cNvPr id="14" name="TextBox 13">
            <a:extLst>
              <a:ext uri="{FF2B5EF4-FFF2-40B4-BE49-F238E27FC236}">
                <a16:creationId xmlns:a16="http://schemas.microsoft.com/office/drawing/2014/main" id="{8ADFA480-7CA3-7EA8-DB4A-8603505CE6E2}"/>
              </a:ext>
            </a:extLst>
          </p:cNvPr>
          <p:cNvSpPr txBox="1"/>
          <p:nvPr/>
        </p:nvSpPr>
        <p:spPr>
          <a:xfrm>
            <a:off x="9249508" y="4333792"/>
            <a:ext cx="2813538" cy="1938992"/>
          </a:xfrm>
          <a:prstGeom prst="rect">
            <a:avLst/>
          </a:prstGeom>
          <a:noFill/>
        </p:spPr>
        <p:txBody>
          <a:bodyPr wrap="square" rtlCol="0">
            <a:spAutoFit/>
          </a:bodyPr>
          <a:lstStyle/>
          <a:p>
            <a:pPr algn="ctr"/>
            <a:r>
              <a:rPr lang="en-US" sz="2400" dirty="0"/>
              <a:t>What should we do?</a:t>
            </a:r>
          </a:p>
          <a:p>
            <a:pPr algn="ctr"/>
            <a:r>
              <a:rPr lang="en-US" sz="2400" dirty="0"/>
              <a:t>Integrate what we think will happen with what has happened</a:t>
            </a:r>
          </a:p>
        </p:txBody>
      </p:sp>
    </p:spTree>
    <p:extLst>
      <p:ext uri="{BB962C8B-B14F-4D97-AF65-F5344CB8AC3E}">
        <p14:creationId xmlns:p14="http://schemas.microsoft.com/office/powerpoint/2010/main" val="3689834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A8AC5-6316-E836-958A-A00F1325C8FA}"/>
              </a:ext>
            </a:extLst>
          </p:cNvPr>
          <p:cNvSpPr>
            <a:spLocks noGrp="1"/>
          </p:cNvSpPr>
          <p:nvPr>
            <p:ph type="title"/>
          </p:nvPr>
        </p:nvSpPr>
        <p:spPr/>
        <p:txBody>
          <a:bodyPr/>
          <a:lstStyle/>
          <a:p>
            <a:r>
              <a:rPr lang="en-US" dirty="0"/>
              <a:t>Descriptive Analytics Are Becoming More Common Across Healthcare Settings</a:t>
            </a:r>
          </a:p>
        </p:txBody>
      </p:sp>
      <p:pic>
        <p:nvPicPr>
          <p:cNvPr id="3" name="Picture 2" descr="A screenshot of a graph&#10;&#10;Description automatically generated">
            <a:extLst>
              <a:ext uri="{FF2B5EF4-FFF2-40B4-BE49-F238E27FC236}">
                <a16:creationId xmlns:a16="http://schemas.microsoft.com/office/drawing/2014/main" id="{282EC059-4C9E-A2CF-A12E-064741B28894}"/>
              </a:ext>
            </a:extLst>
          </p:cNvPr>
          <p:cNvPicPr>
            <a:picLocks noChangeAspect="1"/>
          </p:cNvPicPr>
          <p:nvPr/>
        </p:nvPicPr>
        <p:blipFill>
          <a:blip r:embed="rId2"/>
          <a:stretch>
            <a:fillRect/>
          </a:stretch>
        </p:blipFill>
        <p:spPr>
          <a:xfrm>
            <a:off x="861183" y="1950579"/>
            <a:ext cx="10045962" cy="4907421"/>
          </a:xfrm>
          <a:prstGeom prst="rect">
            <a:avLst/>
          </a:prstGeom>
        </p:spPr>
      </p:pic>
      <p:sp>
        <p:nvSpPr>
          <p:cNvPr id="4" name="TextBox 3">
            <a:extLst>
              <a:ext uri="{FF2B5EF4-FFF2-40B4-BE49-F238E27FC236}">
                <a16:creationId xmlns:a16="http://schemas.microsoft.com/office/drawing/2014/main" id="{67477965-6471-E9B2-068D-82E108FD3310}"/>
              </a:ext>
            </a:extLst>
          </p:cNvPr>
          <p:cNvSpPr txBox="1"/>
          <p:nvPr/>
        </p:nvSpPr>
        <p:spPr>
          <a:xfrm>
            <a:off x="1432962" y="4267534"/>
            <a:ext cx="8574157" cy="523220"/>
          </a:xfrm>
          <a:prstGeom prst="rect">
            <a:avLst/>
          </a:prstGeom>
          <a:noFill/>
        </p:spPr>
        <p:txBody>
          <a:bodyPr wrap="square" rtlCol="0">
            <a:spAutoFit/>
          </a:bodyPr>
          <a:lstStyle/>
          <a:p>
            <a:pPr algn="ctr"/>
            <a:r>
              <a:rPr lang="en-US" sz="2800" dirty="0"/>
              <a:t>DLMP Quality Assurance Dashboard</a:t>
            </a:r>
          </a:p>
        </p:txBody>
      </p:sp>
    </p:spTree>
    <p:extLst>
      <p:ext uri="{BB962C8B-B14F-4D97-AF65-F5344CB8AC3E}">
        <p14:creationId xmlns:p14="http://schemas.microsoft.com/office/powerpoint/2010/main" val="25298063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1006-B6B7-27E1-3E67-FFDFF9D56969}"/>
              </a:ext>
            </a:extLst>
          </p:cNvPr>
          <p:cNvSpPr>
            <a:spLocks noGrp="1"/>
          </p:cNvSpPr>
          <p:nvPr>
            <p:ph type="title"/>
          </p:nvPr>
        </p:nvSpPr>
        <p:spPr/>
        <p:txBody>
          <a:bodyPr/>
          <a:lstStyle/>
          <a:p>
            <a:r>
              <a:rPr lang="en-US" dirty="0"/>
              <a:t>Predictive Analytics Are Emerging In Multiple Domains</a:t>
            </a:r>
          </a:p>
        </p:txBody>
      </p:sp>
      <p:pic>
        <p:nvPicPr>
          <p:cNvPr id="3" name="Picture 6" descr="Chart, bar chart&#10;&#10;Description automatically generated">
            <a:extLst>
              <a:ext uri="{FF2B5EF4-FFF2-40B4-BE49-F238E27FC236}">
                <a16:creationId xmlns:a16="http://schemas.microsoft.com/office/drawing/2014/main" id="{124476C8-CA06-DA19-53DC-6DD498DC7E7B}"/>
              </a:ext>
            </a:extLst>
          </p:cNvPr>
          <p:cNvPicPr>
            <a:picLocks noChangeAspect="1"/>
          </p:cNvPicPr>
          <p:nvPr/>
        </p:nvPicPr>
        <p:blipFill>
          <a:blip r:embed="rId2"/>
          <a:stretch>
            <a:fillRect/>
          </a:stretch>
        </p:blipFill>
        <p:spPr>
          <a:xfrm>
            <a:off x="0" y="2084832"/>
            <a:ext cx="12196310" cy="4400383"/>
          </a:xfrm>
          <a:prstGeom prst="rect">
            <a:avLst/>
          </a:prstGeom>
        </p:spPr>
      </p:pic>
      <p:sp>
        <p:nvSpPr>
          <p:cNvPr id="4" name="TextBox 3">
            <a:extLst>
              <a:ext uri="{FF2B5EF4-FFF2-40B4-BE49-F238E27FC236}">
                <a16:creationId xmlns:a16="http://schemas.microsoft.com/office/drawing/2014/main" id="{5ACC4DD6-245A-78B0-34BA-4AA9FC682C3D}"/>
              </a:ext>
            </a:extLst>
          </p:cNvPr>
          <p:cNvSpPr txBox="1"/>
          <p:nvPr/>
        </p:nvSpPr>
        <p:spPr>
          <a:xfrm>
            <a:off x="2604251" y="6334780"/>
            <a:ext cx="6559826" cy="523220"/>
          </a:xfrm>
          <a:prstGeom prst="rect">
            <a:avLst/>
          </a:prstGeom>
          <a:noFill/>
        </p:spPr>
        <p:txBody>
          <a:bodyPr wrap="square" rtlCol="0">
            <a:spAutoFit/>
          </a:bodyPr>
          <a:lstStyle/>
          <a:p>
            <a:pPr algn="ctr"/>
            <a:r>
              <a:rPr lang="en-US" sz="2800" dirty="0"/>
              <a:t>UWMC Phlebotomy Prediction</a:t>
            </a:r>
          </a:p>
        </p:txBody>
      </p:sp>
    </p:spTree>
    <p:extLst>
      <p:ext uri="{BB962C8B-B14F-4D97-AF65-F5344CB8AC3E}">
        <p14:creationId xmlns:p14="http://schemas.microsoft.com/office/powerpoint/2010/main" val="3534801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4B237-87FC-D5A9-0563-A9D476B77C1D}"/>
              </a:ext>
            </a:extLst>
          </p:cNvPr>
          <p:cNvSpPr>
            <a:spLocks noGrp="1"/>
          </p:cNvSpPr>
          <p:nvPr>
            <p:ph type="title"/>
          </p:nvPr>
        </p:nvSpPr>
        <p:spPr/>
        <p:txBody>
          <a:bodyPr/>
          <a:lstStyle/>
          <a:p>
            <a:r>
              <a:rPr lang="en-US" dirty="0"/>
              <a:t>What is the Role of the Laboratorian?</a:t>
            </a:r>
          </a:p>
        </p:txBody>
      </p:sp>
      <p:sp>
        <p:nvSpPr>
          <p:cNvPr id="3" name="Content Placeholder 2">
            <a:extLst>
              <a:ext uri="{FF2B5EF4-FFF2-40B4-BE49-F238E27FC236}">
                <a16:creationId xmlns:a16="http://schemas.microsoft.com/office/drawing/2014/main" id="{14D32622-B9BB-38D9-7DFB-11E7382B2802}"/>
              </a:ext>
            </a:extLst>
          </p:cNvPr>
          <p:cNvSpPr>
            <a:spLocks noGrp="1"/>
          </p:cNvSpPr>
          <p:nvPr>
            <p:ph idx="1"/>
          </p:nvPr>
        </p:nvSpPr>
        <p:spPr>
          <a:xfrm>
            <a:off x="1024128" y="2286000"/>
            <a:ext cx="9720073" cy="4349262"/>
          </a:xfrm>
        </p:spPr>
        <p:txBody>
          <a:bodyPr>
            <a:normAutofit lnSpcReduction="10000"/>
          </a:bodyPr>
          <a:lstStyle/>
          <a:p>
            <a:r>
              <a:rPr lang="en-US" b="1" dirty="0"/>
              <a:t> Define the important problems to solve and/or questions to answer</a:t>
            </a:r>
          </a:p>
          <a:p>
            <a:r>
              <a:rPr lang="en-US" b="1" dirty="0"/>
              <a:t> </a:t>
            </a:r>
            <a:r>
              <a:rPr lang="en-US" dirty="0"/>
              <a:t>Subject matter expert: those generating the data best understand the data</a:t>
            </a:r>
          </a:p>
          <a:p>
            <a:r>
              <a:rPr lang="en-US" dirty="0"/>
              <a:t> Perform and interpret routine analyses (e.g. quality control)</a:t>
            </a:r>
          </a:p>
          <a:p>
            <a:r>
              <a:rPr lang="en-US" dirty="0"/>
              <a:t> Support the validation of analyses done by others</a:t>
            </a:r>
          </a:p>
          <a:p>
            <a:r>
              <a:rPr lang="en-US" dirty="0"/>
              <a:t> Develop and/or perform new analyses for quality improvement</a:t>
            </a:r>
          </a:p>
        </p:txBody>
      </p:sp>
    </p:spTree>
    <p:extLst>
      <p:ext uri="{BB962C8B-B14F-4D97-AF65-F5344CB8AC3E}">
        <p14:creationId xmlns:p14="http://schemas.microsoft.com/office/powerpoint/2010/main" val="15391154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DA5D5-E304-E405-3137-84620D2E92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230665-49BD-CDFC-CB2B-77F1C87CDF32}"/>
              </a:ext>
            </a:extLst>
          </p:cNvPr>
          <p:cNvSpPr>
            <a:spLocks noGrp="1"/>
          </p:cNvSpPr>
          <p:nvPr>
            <p:ph type="title"/>
          </p:nvPr>
        </p:nvSpPr>
        <p:spPr/>
        <p:txBody>
          <a:bodyPr>
            <a:normAutofit/>
          </a:bodyPr>
          <a:lstStyle/>
          <a:p>
            <a:r>
              <a:rPr lang="en-US" sz="6600" dirty="0">
                <a:solidFill>
                  <a:schemeClr val="tx1">
                    <a:lumMod val="75000"/>
                    <a:lumOff val="25000"/>
                  </a:schemeClr>
                </a:solidFill>
              </a:rPr>
              <a:t>Where Does Our Data Come From?</a:t>
            </a:r>
          </a:p>
        </p:txBody>
      </p:sp>
    </p:spTree>
    <p:extLst>
      <p:ext uri="{BB962C8B-B14F-4D97-AF65-F5344CB8AC3E}">
        <p14:creationId xmlns:p14="http://schemas.microsoft.com/office/powerpoint/2010/main" val="38033980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8EFBD1-61B9-233A-5791-AC0C8C03A1A2}"/>
              </a:ext>
            </a:extLst>
          </p:cNvPr>
          <p:cNvSpPr>
            <a:spLocks noGrp="1"/>
          </p:cNvSpPr>
          <p:nvPr>
            <p:ph type="title"/>
          </p:nvPr>
        </p:nvSpPr>
        <p:spPr/>
        <p:txBody>
          <a:bodyPr/>
          <a:lstStyle/>
          <a:p>
            <a:r>
              <a:rPr lang="en-US" dirty="0"/>
              <a:t>Data in informatics</a:t>
            </a:r>
          </a:p>
        </p:txBody>
      </p:sp>
      <p:sp>
        <p:nvSpPr>
          <p:cNvPr id="6" name="Content Placeholder 5">
            <a:extLst>
              <a:ext uri="{FF2B5EF4-FFF2-40B4-BE49-F238E27FC236}">
                <a16:creationId xmlns:a16="http://schemas.microsoft.com/office/drawing/2014/main" id="{30696A47-9A10-4ACA-34D1-32147B7E57FE}"/>
              </a:ext>
            </a:extLst>
          </p:cNvPr>
          <p:cNvSpPr>
            <a:spLocks noGrp="1"/>
          </p:cNvSpPr>
          <p:nvPr>
            <p:ph idx="1"/>
          </p:nvPr>
        </p:nvSpPr>
        <p:spPr>
          <a:xfrm>
            <a:off x="910936" y="1800857"/>
            <a:ext cx="8191500" cy="4802187"/>
          </a:xfrm>
        </p:spPr>
        <p:txBody>
          <a:bodyPr>
            <a:normAutofit/>
          </a:bodyPr>
          <a:lstStyle/>
          <a:p>
            <a:pPr>
              <a:lnSpc>
                <a:spcPct val="100000"/>
              </a:lnSpc>
            </a:pPr>
            <a:r>
              <a:rPr lang="en-US" sz="3200" dirty="0"/>
              <a:t> What is the purpose of data?</a:t>
            </a:r>
          </a:p>
          <a:p>
            <a:pPr lvl="1">
              <a:lnSpc>
                <a:spcPct val="100000"/>
              </a:lnSpc>
            </a:pPr>
            <a:r>
              <a:rPr lang="en-US" sz="2800" dirty="0"/>
              <a:t>Understanding and correct action</a:t>
            </a:r>
          </a:p>
          <a:p>
            <a:pPr>
              <a:lnSpc>
                <a:spcPct val="100000"/>
              </a:lnSpc>
              <a:spcBef>
                <a:spcPts val="1950"/>
              </a:spcBef>
            </a:pPr>
            <a:r>
              <a:rPr lang="en-US" sz="3200" dirty="0"/>
              <a:t> Informatics is the study of data</a:t>
            </a:r>
          </a:p>
          <a:p>
            <a:pPr lvl="1">
              <a:lnSpc>
                <a:spcPct val="100000"/>
              </a:lnSpc>
            </a:pPr>
            <a:r>
              <a:rPr lang="en-US" dirty="0"/>
              <a:t>C</a:t>
            </a:r>
            <a:r>
              <a:rPr lang="en-US" sz="2800" dirty="0"/>
              <a:t>reation, management, and effective use</a:t>
            </a:r>
          </a:p>
          <a:p>
            <a:pPr>
              <a:lnSpc>
                <a:spcPct val="100000"/>
              </a:lnSpc>
              <a:spcBef>
                <a:spcPts val="1950"/>
              </a:spcBef>
            </a:pPr>
            <a:r>
              <a:rPr lang="en-US" sz="3200" dirty="0"/>
              <a:t> Foundational concepts related to data:</a:t>
            </a:r>
          </a:p>
          <a:p>
            <a:pPr lvl="1">
              <a:lnSpc>
                <a:spcPct val="100000"/>
              </a:lnSpc>
            </a:pPr>
            <a:r>
              <a:rPr lang="en-US" sz="2800" dirty="0"/>
              <a:t>Data representation</a:t>
            </a:r>
          </a:p>
          <a:p>
            <a:pPr lvl="1">
              <a:lnSpc>
                <a:spcPct val="100000"/>
              </a:lnSpc>
            </a:pPr>
            <a:r>
              <a:rPr lang="en-US" sz="2800" dirty="0"/>
              <a:t>Data quality</a:t>
            </a:r>
          </a:p>
          <a:p>
            <a:pPr lvl="1">
              <a:lnSpc>
                <a:spcPct val="100000"/>
              </a:lnSpc>
            </a:pPr>
            <a:r>
              <a:rPr lang="en-US" sz="2800" dirty="0"/>
              <a:t>Data flow in an organization from creation to use</a:t>
            </a:r>
          </a:p>
        </p:txBody>
      </p:sp>
      <p:pic>
        <p:nvPicPr>
          <p:cNvPr id="10" name="Picture 9">
            <a:extLst>
              <a:ext uri="{FF2B5EF4-FFF2-40B4-BE49-F238E27FC236}">
                <a16:creationId xmlns:a16="http://schemas.microsoft.com/office/drawing/2014/main" id="{281491F8-AAE1-019F-C0E4-BE18B542E835}"/>
              </a:ext>
            </a:extLst>
          </p:cNvPr>
          <p:cNvPicPr>
            <a:picLocks noChangeAspect="1"/>
          </p:cNvPicPr>
          <p:nvPr/>
        </p:nvPicPr>
        <p:blipFill>
          <a:blip r:embed="rId3"/>
          <a:stretch>
            <a:fillRect/>
          </a:stretch>
        </p:blipFill>
        <p:spPr>
          <a:xfrm>
            <a:off x="7919804" y="1189098"/>
            <a:ext cx="3361260" cy="3216647"/>
          </a:xfrm>
          <a:prstGeom prst="rect">
            <a:avLst/>
          </a:prstGeom>
        </p:spPr>
      </p:pic>
      <p:sp>
        <p:nvSpPr>
          <p:cNvPr id="2" name="TextBox 1">
            <a:extLst>
              <a:ext uri="{FF2B5EF4-FFF2-40B4-BE49-F238E27FC236}">
                <a16:creationId xmlns:a16="http://schemas.microsoft.com/office/drawing/2014/main" id="{B78A8324-088A-F6AE-18C2-23D867E6004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5109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6B393A-4B9A-0151-5A4B-E15DFF88E05F}"/>
              </a:ext>
            </a:extLst>
          </p:cNvPr>
          <p:cNvPicPr>
            <a:picLocks noChangeAspect="1"/>
          </p:cNvPicPr>
          <p:nvPr/>
        </p:nvPicPr>
        <p:blipFill>
          <a:blip r:embed="rId3"/>
          <a:stretch>
            <a:fillRect/>
          </a:stretch>
        </p:blipFill>
        <p:spPr>
          <a:xfrm>
            <a:off x="6731351" y="1541198"/>
            <a:ext cx="5102287" cy="4490012"/>
          </a:xfrm>
          <a:prstGeom prst="rect">
            <a:avLst/>
          </a:prstGeom>
        </p:spPr>
      </p:pic>
      <p:sp>
        <p:nvSpPr>
          <p:cNvPr id="2" name="Title 1">
            <a:extLst>
              <a:ext uri="{FF2B5EF4-FFF2-40B4-BE49-F238E27FC236}">
                <a16:creationId xmlns:a16="http://schemas.microsoft.com/office/drawing/2014/main" id="{4BF50401-C878-671E-8B56-81F84BADEE05}"/>
              </a:ext>
            </a:extLst>
          </p:cNvPr>
          <p:cNvSpPr>
            <a:spLocks noGrp="1"/>
          </p:cNvSpPr>
          <p:nvPr>
            <p:ph type="title"/>
          </p:nvPr>
        </p:nvSpPr>
        <p:spPr/>
        <p:txBody>
          <a:bodyPr/>
          <a:lstStyle/>
          <a:p>
            <a:r>
              <a:rPr lang="en-US" dirty="0"/>
              <a:t>Data representation</a:t>
            </a:r>
          </a:p>
        </p:txBody>
      </p:sp>
      <p:sp>
        <p:nvSpPr>
          <p:cNvPr id="3" name="Content Placeholder 2">
            <a:extLst>
              <a:ext uri="{FF2B5EF4-FFF2-40B4-BE49-F238E27FC236}">
                <a16:creationId xmlns:a16="http://schemas.microsoft.com/office/drawing/2014/main" id="{EAD17445-20E6-054C-B9B6-3C87636CE9DB}"/>
              </a:ext>
            </a:extLst>
          </p:cNvPr>
          <p:cNvSpPr>
            <a:spLocks noGrp="1"/>
          </p:cNvSpPr>
          <p:nvPr>
            <p:ph idx="1"/>
          </p:nvPr>
        </p:nvSpPr>
        <p:spPr>
          <a:xfrm>
            <a:off x="856446" y="1803545"/>
            <a:ext cx="6954982" cy="4689330"/>
          </a:xfrm>
        </p:spPr>
        <p:txBody>
          <a:bodyPr>
            <a:normAutofit fontScale="70000" lnSpcReduction="20000"/>
          </a:bodyPr>
          <a:lstStyle/>
          <a:p>
            <a:pPr>
              <a:lnSpc>
                <a:spcPct val="120000"/>
              </a:lnSpc>
            </a:pPr>
            <a:r>
              <a:rPr lang="en-US" dirty="0"/>
              <a:t> Assignment of meaning to physical artifacts</a:t>
            </a:r>
          </a:p>
          <a:p>
            <a:pPr lvl="1">
              <a:lnSpc>
                <a:spcPct val="120000"/>
              </a:lnSpc>
            </a:pPr>
            <a:r>
              <a:rPr lang="en-US" dirty="0"/>
              <a:t>Characters, numbers, words, phrases</a:t>
            </a:r>
          </a:p>
          <a:p>
            <a:pPr lvl="1">
              <a:lnSpc>
                <a:spcPct val="120000"/>
              </a:lnSpc>
            </a:pPr>
            <a:r>
              <a:rPr lang="en-US" dirty="0"/>
              <a:t>Electronic states of computer memory</a:t>
            </a:r>
          </a:p>
          <a:p>
            <a:pPr>
              <a:lnSpc>
                <a:spcPct val="120000"/>
              </a:lnSpc>
            </a:pPr>
            <a:r>
              <a:rPr lang="en-US" dirty="0"/>
              <a:t> Human language: Unstructured data</a:t>
            </a:r>
          </a:p>
          <a:p>
            <a:pPr lvl="1">
              <a:lnSpc>
                <a:spcPct val="120000"/>
              </a:lnSpc>
            </a:pPr>
            <a:r>
              <a:rPr lang="en-US" dirty="0"/>
              <a:t>Extremely flexible</a:t>
            </a:r>
          </a:p>
          <a:p>
            <a:pPr lvl="1">
              <a:lnSpc>
                <a:spcPct val="120000"/>
              </a:lnSpc>
            </a:pPr>
            <a:r>
              <a:rPr lang="en-US" dirty="0"/>
              <a:t>Form and usage varies with location and time</a:t>
            </a:r>
          </a:p>
          <a:p>
            <a:pPr lvl="1">
              <a:lnSpc>
                <a:spcPct val="120000"/>
              </a:lnSpc>
            </a:pPr>
            <a:r>
              <a:rPr lang="en-US" dirty="0"/>
              <a:t>Context-dependent</a:t>
            </a:r>
          </a:p>
          <a:p>
            <a:pPr>
              <a:lnSpc>
                <a:spcPct val="120000"/>
              </a:lnSpc>
            </a:pPr>
            <a:r>
              <a:rPr lang="en-US" dirty="0"/>
              <a:t> Structured data</a:t>
            </a:r>
          </a:p>
          <a:p>
            <a:pPr lvl="1">
              <a:lnSpc>
                <a:spcPct val="120000"/>
              </a:lnSpc>
            </a:pPr>
            <a:r>
              <a:rPr lang="en-US" dirty="0"/>
              <a:t>Constrained language</a:t>
            </a:r>
          </a:p>
          <a:p>
            <a:pPr lvl="1">
              <a:lnSpc>
                <a:spcPct val="120000"/>
              </a:lnSpc>
            </a:pPr>
            <a:r>
              <a:rPr lang="en-US" dirty="0"/>
              <a:t>Well-defined syntax and semantics</a:t>
            </a:r>
          </a:p>
          <a:p>
            <a:pPr>
              <a:lnSpc>
                <a:spcPct val="120000"/>
              </a:lnSpc>
            </a:pPr>
            <a:r>
              <a:rPr lang="en-US" dirty="0"/>
              <a:t>Data standard: Formal agreement on data representation</a:t>
            </a:r>
          </a:p>
        </p:txBody>
      </p:sp>
      <p:sp>
        <p:nvSpPr>
          <p:cNvPr id="6" name="TextBox 5">
            <a:extLst>
              <a:ext uri="{FF2B5EF4-FFF2-40B4-BE49-F238E27FC236}">
                <a16:creationId xmlns:a16="http://schemas.microsoft.com/office/drawing/2014/main" id="{C14E9BA9-86D2-1D35-41C7-9B26773CFCC8}"/>
              </a:ext>
            </a:extLst>
          </p:cNvPr>
          <p:cNvSpPr txBox="1"/>
          <p:nvPr/>
        </p:nvSpPr>
        <p:spPr>
          <a:xfrm>
            <a:off x="8084858" y="6031210"/>
            <a:ext cx="2395271" cy="461665"/>
          </a:xfrm>
          <a:prstGeom prst="rect">
            <a:avLst/>
          </a:prstGeom>
          <a:noFill/>
        </p:spPr>
        <p:txBody>
          <a:bodyPr wrap="none" rtlCol="0">
            <a:spAutoFit/>
          </a:bodyPr>
          <a:lstStyle/>
          <a:p>
            <a:r>
              <a:rPr lang="en-US" sz="1200" dirty="0" err="1"/>
              <a:t>Siriyasatien</a:t>
            </a:r>
            <a:r>
              <a:rPr lang="en-US" sz="1200" dirty="0"/>
              <a:t> et al. IEEE Access 2018.</a:t>
            </a:r>
          </a:p>
          <a:p>
            <a:r>
              <a:rPr lang="en-US" sz="1200" dirty="0"/>
              <a:t>doi:10.1109/ACCESS.2018.2871241</a:t>
            </a:r>
          </a:p>
        </p:txBody>
      </p:sp>
      <p:sp>
        <p:nvSpPr>
          <p:cNvPr id="4" name="TextBox 3">
            <a:extLst>
              <a:ext uri="{FF2B5EF4-FFF2-40B4-BE49-F238E27FC236}">
                <a16:creationId xmlns:a16="http://schemas.microsoft.com/office/drawing/2014/main" id="{B82939F5-BDDB-36DB-76BF-B0F03E068688}"/>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788233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E2CAA-DD57-80EB-28CD-80E3FBEE782D}"/>
              </a:ext>
            </a:extLst>
          </p:cNvPr>
          <p:cNvSpPr>
            <a:spLocks noGrp="1"/>
          </p:cNvSpPr>
          <p:nvPr>
            <p:ph type="title"/>
          </p:nvPr>
        </p:nvSpPr>
        <p:spPr/>
        <p:txBody>
          <a:bodyPr/>
          <a:lstStyle/>
          <a:p>
            <a:r>
              <a:rPr lang="en-US" dirty="0"/>
              <a:t>Structured data</a:t>
            </a:r>
          </a:p>
        </p:txBody>
      </p:sp>
      <p:sp>
        <p:nvSpPr>
          <p:cNvPr id="3" name="Content Placeholder 2">
            <a:extLst>
              <a:ext uri="{FF2B5EF4-FFF2-40B4-BE49-F238E27FC236}">
                <a16:creationId xmlns:a16="http://schemas.microsoft.com/office/drawing/2014/main" id="{3FD44200-6FFE-AF22-CB2C-F8C1EAACE9CC}"/>
              </a:ext>
            </a:extLst>
          </p:cNvPr>
          <p:cNvSpPr>
            <a:spLocks noGrp="1"/>
          </p:cNvSpPr>
          <p:nvPr>
            <p:ph idx="1"/>
          </p:nvPr>
        </p:nvSpPr>
        <p:spPr>
          <a:xfrm>
            <a:off x="827406" y="1734050"/>
            <a:ext cx="6132194" cy="5105400"/>
          </a:xfrm>
        </p:spPr>
        <p:txBody>
          <a:bodyPr>
            <a:normAutofit fontScale="70000" lnSpcReduction="20000"/>
          </a:bodyPr>
          <a:lstStyle/>
          <a:p>
            <a:pPr>
              <a:lnSpc>
                <a:spcPct val="120000"/>
              </a:lnSpc>
            </a:pPr>
            <a:r>
              <a:rPr lang="en-US" dirty="0"/>
              <a:t>Simple data types</a:t>
            </a:r>
          </a:p>
          <a:p>
            <a:pPr lvl="1">
              <a:lnSpc>
                <a:spcPct val="120000"/>
              </a:lnSpc>
            </a:pPr>
            <a:r>
              <a:rPr lang="en-US" dirty="0"/>
              <a:t>Numbers, characters, </a:t>
            </a:r>
            <a:br>
              <a:rPr lang="en-US" dirty="0"/>
            </a:br>
            <a:r>
              <a:rPr lang="en-US" dirty="0"/>
              <a:t>&amp; character sequences (words, phrases, or codes)</a:t>
            </a:r>
          </a:p>
          <a:p>
            <a:pPr>
              <a:lnSpc>
                <a:spcPct val="120000"/>
              </a:lnSpc>
            </a:pPr>
            <a:r>
              <a:rPr lang="en-US" dirty="0"/>
              <a:t>Complex data types</a:t>
            </a:r>
          </a:p>
          <a:p>
            <a:pPr lvl="1">
              <a:lnSpc>
                <a:spcPct val="120000"/>
              </a:lnSpc>
            </a:pPr>
            <a:r>
              <a:rPr lang="en-US" dirty="0"/>
              <a:t>Represent concepts or physical things </a:t>
            </a:r>
            <a:br>
              <a:rPr lang="en-US" dirty="0"/>
            </a:br>
            <a:r>
              <a:rPr lang="en-US" dirty="0"/>
              <a:t>in the real world</a:t>
            </a:r>
          </a:p>
          <a:p>
            <a:pPr lvl="1">
              <a:lnSpc>
                <a:spcPct val="120000"/>
              </a:lnSpc>
            </a:pPr>
            <a:r>
              <a:rPr lang="en-US" dirty="0"/>
              <a:t>Often called “objects” or “entities”</a:t>
            </a:r>
          </a:p>
          <a:p>
            <a:pPr lvl="1">
              <a:lnSpc>
                <a:spcPct val="120000"/>
              </a:lnSpc>
            </a:pPr>
            <a:r>
              <a:rPr lang="en-US" dirty="0"/>
              <a:t>Built of constituent data types referred to </a:t>
            </a:r>
            <a:br>
              <a:rPr lang="en-US" dirty="0"/>
            </a:br>
            <a:r>
              <a:rPr lang="en-US" dirty="0"/>
              <a:t>as “data elements” or attributes</a:t>
            </a:r>
          </a:p>
          <a:p>
            <a:pPr>
              <a:lnSpc>
                <a:spcPct val="120000"/>
              </a:lnSpc>
            </a:pPr>
            <a:r>
              <a:rPr lang="en-US" dirty="0"/>
              <a:t>Interoperability of data</a:t>
            </a:r>
          </a:p>
          <a:p>
            <a:pPr lvl="1">
              <a:lnSpc>
                <a:spcPct val="120000"/>
              </a:lnSpc>
            </a:pPr>
            <a:r>
              <a:rPr lang="en-US" dirty="0"/>
              <a:t>Portability of data across information systems</a:t>
            </a:r>
          </a:p>
          <a:p>
            <a:pPr lvl="1">
              <a:lnSpc>
                <a:spcPct val="120000"/>
              </a:lnSpc>
            </a:pPr>
            <a:r>
              <a:rPr lang="en-US" dirty="0"/>
              <a:t>Requires common syntax and semantics, </a:t>
            </a:r>
            <a:br>
              <a:rPr lang="en-US" dirty="0"/>
            </a:br>
            <a:r>
              <a:rPr lang="en-US" dirty="0"/>
              <a:t>or data conversion</a:t>
            </a:r>
          </a:p>
        </p:txBody>
      </p:sp>
      <p:pic>
        <p:nvPicPr>
          <p:cNvPr id="11" name="Picture 10">
            <a:extLst>
              <a:ext uri="{FF2B5EF4-FFF2-40B4-BE49-F238E27FC236}">
                <a16:creationId xmlns:a16="http://schemas.microsoft.com/office/drawing/2014/main" id="{040FB9D1-942A-A3BD-DC05-75502757233A}"/>
              </a:ext>
            </a:extLst>
          </p:cNvPr>
          <p:cNvPicPr>
            <a:picLocks noChangeAspect="1"/>
          </p:cNvPicPr>
          <p:nvPr/>
        </p:nvPicPr>
        <p:blipFill>
          <a:blip r:embed="rId3"/>
          <a:stretch>
            <a:fillRect/>
          </a:stretch>
        </p:blipFill>
        <p:spPr>
          <a:xfrm>
            <a:off x="6810504" y="1387475"/>
            <a:ext cx="4292600" cy="5105400"/>
          </a:xfrm>
          <a:prstGeom prst="rect">
            <a:avLst/>
          </a:prstGeom>
        </p:spPr>
      </p:pic>
      <p:sp>
        <p:nvSpPr>
          <p:cNvPr id="4" name="TextBox 3">
            <a:extLst>
              <a:ext uri="{FF2B5EF4-FFF2-40B4-BE49-F238E27FC236}">
                <a16:creationId xmlns:a16="http://schemas.microsoft.com/office/drawing/2014/main" id="{DD9EC7EB-BD87-5D5E-847B-75AD00BBAF7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635364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17AA3-D18B-8546-849B-6A14CC7AD9D2}"/>
              </a:ext>
            </a:extLst>
          </p:cNvPr>
          <p:cNvSpPr>
            <a:spLocks noGrp="1"/>
          </p:cNvSpPr>
          <p:nvPr>
            <p:ph type="title"/>
          </p:nvPr>
        </p:nvSpPr>
        <p:spPr/>
        <p:txBody>
          <a:bodyPr/>
          <a:lstStyle/>
          <a:p>
            <a:r>
              <a:rPr lang="en-US" dirty="0"/>
              <a:t>Simple (primitive) data types</a:t>
            </a:r>
          </a:p>
        </p:txBody>
      </p:sp>
      <p:sp>
        <p:nvSpPr>
          <p:cNvPr id="3" name="Content Placeholder 2">
            <a:extLst>
              <a:ext uri="{FF2B5EF4-FFF2-40B4-BE49-F238E27FC236}">
                <a16:creationId xmlns:a16="http://schemas.microsoft.com/office/drawing/2014/main" id="{2931B742-6D69-3048-8594-624C0B9AA860}"/>
              </a:ext>
            </a:extLst>
          </p:cNvPr>
          <p:cNvSpPr>
            <a:spLocks noGrp="1"/>
          </p:cNvSpPr>
          <p:nvPr>
            <p:ph idx="1"/>
          </p:nvPr>
        </p:nvSpPr>
        <p:spPr>
          <a:xfrm>
            <a:off x="1363980" y="1825625"/>
            <a:ext cx="9464040" cy="4770113"/>
          </a:xfrm>
        </p:spPr>
        <p:txBody>
          <a:bodyPr>
            <a:normAutofit fontScale="77500" lnSpcReduction="20000"/>
          </a:bodyPr>
          <a:lstStyle/>
          <a:p>
            <a:pPr>
              <a:lnSpc>
                <a:spcPct val="110000"/>
              </a:lnSpc>
            </a:pPr>
            <a:r>
              <a:rPr lang="en-US" dirty="0"/>
              <a:t> Boolean </a:t>
            </a:r>
          </a:p>
          <a:p>
            <a:pPr lvl="1">
              <a:lnSpc>
                <a:spcPct val="110000"/>
              </a:lnSpc>
            </a:pPr>
            <a:r>
              <a:rPr lang="en-US" dirty="0"/>
              <a:t>Two values: pos/neg, T/F, Y/N, 1/0; 1 bit</a:t>
            </a:r>
          </a:p>
          <a:p>
            <a:pPr>
              <a:lnSpc>
                <a:spcPct val="110000"/>
              </a:lnSpc>
            </a:pPr>
            <a:r>
              <a:rPr lang="en-US" dirty="0"/>
              <a:t> Integers</a:t>
            </a:r>
          </a:p>
          <a:p>
            <a:pPr lvl="1">
              <a:lnSpc>
                <a:spcPct val="110000"/>
              </a:lnSpc>
            </a:pPr>
            <a:r>
              <a:rPr lang="en-US" dirty="0"/>
              <a:t>Whole numbers, ± ~10 quintillion; 64 bits (8 bytes)</a:t>
            </a:r>
          </a:p>
          <a:p>
            <a:pPr>
              <a:lnSpc>
                <a:spcPct val="110000"/>
              </a:lnSpc>
            </a:pPr>
            <a:r>
              <a:rPr lang="en-US" dirty="0"/>
              <a:t> Floating point numbers</a:t>
            </a:r>
          </a:p>
          <a:p>
            <a:pPr lvl="1">
              <a:lnSpc>
                <a:spcPct val="110000"/>
              </a:lnSpc>
            </a:pPr>
            <a:r>
              <a:rPr lang="en-US" dirty="0"/>
              <a:t>Decimal, 15 significant figures; inexact for 1/3, pi, etc.; 64 bits (8 bytes)</a:t>
            </a:r>
          </a:p>
          <a:p>
            <a:pPr>
              <a:lnSpc>
                <a:spcPct val="110000"/>
              </a:lnSpc>
            </a:pPr>
            <a:r>
              <a:rPr lang="en-US" dirty="0"/>
              <a:t> Characters</a:t>
            </a:r>
          </a:p>
          <a:p>
            <a:pPr lvl="1">
              <a:lnSpc>
                <a:spcPct val="110000"/>
              </a:lnSpc>
            </a:pPr>
            <a:r>
              <a:rPr lang="en-US" dirty="0"/>
              <a:t>ASCII or Unicode encoded; upper and lower case, numerals, symbols, non-printing characters; represented by numbers using 1 or 2 bytes</a:t>
            </a:r>
          </a:p>
          <a:p>
            <a:pPr>
              <a:lnSpc>
                <a:spcPct val="110000"/>
              </a:lnSpc>
            </a:pPr>
            <a:r>
              <a:rPr lang="en-US" dirty="0"/>
              <a:t> Character strings</a:t>
            </a:r>
          </a:p>
          <a:p>
            <a:pPr lvl="1">
              <a:lnSpc>
                <a:spcPct val="110000"/>
              </a:lnSpc>
            </a:pPr>
            <a:r>
              <a:rPr lang="en-US" dirty="0"/>
              <a:t>Sequences of characters with a variable number of bytes based on length</a:t>
            </a:r>
          </a:p>
        </p:txBody>
      </p:sp>
      <p:sp>
        <p:nvSpPr>
          <p:cNvPr id="4" name="TextBox 3">
            <a:extLst>
              <a:ext uri="{FF2B5EF4-FFF2-40B4-BE49-F238E27FC236}">
                <a16:creationId xmlns:a16="http://schemas.microsoft.com/office/drawing/2014/main" id="{06E6508E-18EC-CE3C-2AD6-1971D1A0F32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069460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8CA3-D8B0-B2D4-2212-01408DD8E753}"/>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How many ways can “100” be represented in a computer?</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131A5-FB3D-0840-A98C-4545A3B4F8D2}"/>
              </a:ext>
            </a:extLst>
          </p:cNvPr>
          <p:cNvSpPr>
            <a:spLocks noGrp="1"/>
          </p:cNvSpPr>
          <p:nvPr>
            <p:ph type="title"/>
          </p:nvPr>
        </p:nvSpPr>
        <p:spPr/>
        <p:txBody>
          <a:bodyPr>
            <a:normAutofit/>
          </a:bodyPr>
          <a:lstStyle/>
          <a:p>
            <a:r>
              <a:rPr lang="en-US" dirty="0"/>
              <a:t>Representation has functional implications</a:t>
            </a:r>
          </a:p>
        </p:txBody>
      </p:sp>
      <p:sp>
        <p:nvSpPr>
          <p:cNvPr id="3" name="Content Placeholder 2">
            <a:extLst>
              <a:ext uri="{FF2B5EF4-FFF2-40B4-BE49-F238E27FC236}">
                <a16:creationId xmlns:a16="http://schemas.microsoft.com/office/drawing/2014/main" id="{2E9EB163-BCE8-6D49-969E-EDFBF86D2766}"/>
              </a:ext>
            </a:extLst>
          </p:cNvPr>
          <p:cNvSpPr>
            <a:spLocks noGrp="1"/>
          </p:cNvSpPr>
          <p:nvPr>
            <p:ph idx="1"/>
          </p:nvPr>
        </p:nvSpPr>
        <p:spPr>
          <a:xfrm>
            <a:off x="1089660" y="2190354"/>
            <a:ext cx="9654540" cy="4298314"/>
          </a:xfrm>
        </p:spPr>
        <p:txBody>
          <a:bodyPr>
            <a:normAutofit fontScale="92500" lnSpcReduction="20000"/>
          </a:bodyPr>
          <a:lstStyle/>
          <a:p>
            <a:r>
              <a:rPr lang="en-US" dirty="0"/>
              <a:t> How many ways can “100” be represented in a computer?</a:t>
            </a:r>
          </a:p>
          <a:p>
            <a:pPr lvl="1"/>
            <a:r>
              <a:rPr lang="en-US" dirty="0"/>
              <a:t>All representations are binary</a:t>
            </a:r>
          </a:p>
          <a:p>
            <a:pPr lvl="1"/>
            <a:r>
              <a:rPr lang="en-US" dirty="0"/>
              <a:t>Integer (can’t divide with decimal result or include in text)</a:t>
            </a:r>
          </a:p>
          <a:p>
            <a:pPr lvl="1"/>
            <a:r>
              <a:rPr lang="en-US" dirty="0"/>
              <a:t>Floating point (inexact, can’t include in text)</a:t>
            </a:r>
          </a:p>
          <a:p>
            <a:pPr lvl="1"/>
            <a:r>
              <a:rPr lang="en-US" dirty="0"/>
              <a:t>Character string (can’t do math without conversion)</a:t>
            </a:r>
          </a:p>
          <a:p>
            <a:endParaRPr lang="en-US" dirty="0"/>
          </a:p>
          <a:p>
            <a:r>
              <a:rPr lang="en-US" dirty="0"/>
              <a:t> Medical systems often represent numbers as text.</a:t>
            </a:r>
          </a:p>
          <a:p>
            <a:pPr lvl="1"/>
            <a:r>
              <a:rPr lang="en-US" dirty="0"/>
              <a:t>Space saving with usual sized numbers (less space to store a few chars)</a:t>
            </a:r>
          </a:p>
          <a:p>
            <a:pPr lvl="1"/>
            <a:r>
              <a:rPr lang="en-US" dirty="0"/>
              <a:t>Display as characters is often primary purpose</a:t>
            </a:r>
          </a:p>
          <a:p>
            <a:pPr lvl="2"/>
            <a:r>
              <a:rPr lang="en-US" dirty="0"/>
              <a:t>Math not often needed and can convert when necessary</a:t>
            </a:r>
          </a:p>
        </p:txBody>
      </p:sp>
      <p:sp>
        <p:nvSpPr>
          <p:cNvPr id="4" name="TextBox 3">
            <a:extLst>
              <a:ext uri="{FF2B5EF4-FFF2-40B4-BE49-F238E27FC236}">
                <a16:creationId xmlns:a16="http://schemas.microsoft.com/office/drawing/2014/main" id="{39954164-54A5-1D3A-010C-BE3CE283358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513943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34e33ed628b_1_0"/>
          <p:cNvSpPr txBox="1">
            <a:spLocks noGrp="1"/>
          </p:cNvSpPr>
          <p:nvPr>
            <p:ph type="body" idx="1"/>
          </p:nvPr>
        </p:nvSpPr>
        <p:spPr>
          <a:xfrm>
            <a:off x="838201" y="2080865"/>
            <a:ext cx="10515599" cy="4402897"/>
          </a:xfrm>
          <a:prstGeom prst="rect">
            <a:avLst/>
          </a:prstGeom>
          <a:noFill/>
          <a:ln>
            <a:noFill/>
          </a:ln>
        </p:spPr>
        <p:txBody>
          <a:bodyPr spcFirstLastPara="1" wrap="square" lIns="91425" tIns="45700" rIns="91425" bIns="45700" anchor="t" anchorCtr="0">
            <a:noAutofit/>
          </a:bodyPr>
          <a:lstStyle/>
          <a:p>
            <a:pPr lvl="0">
              <a:lnSpc>
                <a:spcPct val="100000"/>
              </a:lnSpc>
              <a:buChar char="●"/>
            </a:pPr>
            <a:r>
              <a:rPr lang="en-US" sz="2400" dirty="0"/>
              <a:t>Quantitative – data that can be expressed numerically</a:t>
            </a:r>
          </a:p>
          <a:p>
            <a:pPr lvl="1">
              <a:lnSpc>
                <a:spcPct val="100000"/>
              </a:lnSpc>
              <a:buFont typeface="Courier New" panose="02070309020205020404" pitchFamily="49" charset="0"/>
              <a:buChar char="o"/>
            </a:pPr>
            <a:r>
              <a:rPr lang="en-US" sz="2400" dirty="0"/>
              <a:t>Continuous – can take any value within a range</a:t>
            </a:r>
          </a:p>
          <a:p>
            <a:pPr lvl="2">
              <a:lnSpc>
                <a:spcPct val="100000"/>
              </a:lnSpc>
              <a:buFont typeface="Arial" panose="020B0604020202020204" pitchFamily="34" charset="0"/>
              <a:buChar char="•"/>
            </a:pPr>
            <a:r>
              <a:rPr lang="en-US" sz="2400" dirty="0"/>
              <a:t>Example: 6.022, 3.14, 2.718</a:t>
            </a:r>
          </a:p>
          <a:p>
            <a:pPr lvl="1">
              <a:lnSpc>
                <a:spcPct val="100000"/>
              </a:lnSpc>
              <a:buFont typeface="Courier New" panose="02070309020205020404" pitchFamily="49" charset="0"/>
              <a:buChar char="o"/>
            </a:pPr>
            <a:r>
              <a:rPr lang="en-US" sz="2400" dirty="0"/>
              <a:t>Discrete – can only take specific values</a:t>
            </a:r>
          </a:p>
          <a:p>
            <a:pPr lvl="2">
              <a:lnSpc>
                <a:spcPct val="100000"/>
              </a:lnSpc>
              <a:buFont typeface="Arial" panose="020B0604020202020204" pitchFamily="34" charset="0"/>
              <a:buChar char="•"/>
            </a:pPr>
            <a:r>
              <a:rPr lang="en-US" sz="2400" dirty="0"/>
              <a:t>Example: 42</a:t>
            </a:r>
          </a:p>
          <a:p>
            <a:pPr lvl="0">
              <a:lnSpc>
                <a:spcPct val="100000"/>
              </a:lnSpc>
              <a:buChar char="●"/>
            </a:pPr>
            <a:r>
              <a:rPr lang="en-US" sz="2400" dirty="0"/>
              <a:t>Qualitative – descriptive data that represents categories or characteristics</a:t>
            </a:r>
          </a:p>
          <a:p>
            <a:pPr lvl="1">
              <a:lnSpc>
                <a:spcPct val="100000"/>
              </a:lnSpc>
              <a:buFont typeface="Courier New" panose="02070309020205020404" pitchFamily="49" charset="0"/>
              <a:buChar char="o"/>
            </a:pPr>
            <a:r>
              <a:rPr lang="en-US" sz="2400" dirty="0"/>
              <a:t>Nominal – categories without a natural order</a:t>
            </a:r>
          </a:p>
          <a:p>
            <a:pPr lvl="2">
              <a:lnSpc>
                <a:spcPct val="100000"/>
              </a:lnSpc>
              <a:buFont typeface="Arial" panose="020B0604020202020204" pitchFamily="34" charset="0"/>
              <a:buChar char="•"/>
            </a:pPr>
            <a:r>
              <a:rPr lang="en-US" sz="2400" dirty="0"/>
              <a:t>Example: A, B, O</a:t>
            </a:r>
          </a:p>
          <a:p>
            <a:pPr lvl="1">
              <a:lnSpc>
                <a:spcPct val="100000"/>
              </a:lnSpc>
              <a:buFont typeface="Courier New" panose="02070309020205020404" pitchFamily="49" charset="0"/>
              <a:buChar char="o"/>
            </a:pPr>
            <a:r>
              <a:rPr lang="en-US" sz="2400" dirty="0"/>
              <a:t>Ordinal – categories with a natural order</a:t>
            </a:r>
          </a:p>
          <a:p>
            <a:pPr lvl="2">
              <a:lnSpc>
                <a:spcPct val="100000"/>
              </a:lnSpc>
              <a:buFont typeface="Arial" panose="020B0604020202020204" pitchFamily="34" charset="0"/>
              <a:buChar char="•"/>
            </a:pPr>
            <a:r>
              <a:rPr lang="en-US" sz="2400" dirty="0"/>
              <a:t>Example: Associates, Bachelors, Masters, Doctorate</a:t>
            </a:r>
          </a:p>
        </p:txBody>
      </p:sp>
      <p:sp>
        <p:nvSpPr>
          <p:cNvPr id="176" name="Google Shape;176;g34e33ed628b_1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Beyond Primitive Data Types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6E84-BA0F-1DF0-39A9-DFF117D64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EE8F26-6B7E-5F9C-D4EB-8E012F83C3A9}"/>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We report urinalysis results as 1+, 2+, etc. </a:t>
            </a:r>
            <a:br>
              <a:rPr lang="en-US" sz="4400" dirty="0"/>
            </a:br>
            <a:br>
              <a:rPr lang="en-US" sz="4400" dirty="0"/>
            </a:br>
            <a:r>
              <a:rPr lang="en-US" sz="4400" dirty="0"/>
              <a:t>Which data type are these results?</a:t>
            </a:r>
          </a:p>
        </p:txBody>
      </p:sp>
      <p:pic>
        <p:nvPicPr>
          <p:cNvPr id="6" name="Graphic 5" descr="Questions with solid fill">
            <a:extLst>
              <a:ext uri="{FF2B5EF4-FFF2-40B4-BE49-F238E27FC236}">
                <a16:creationId xmlns:a16="http://schemas.microsoft.com/office/drawing/2014/main" id="{BF8CFA09-A28F-FBA3-F235-82C7E5A9319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B12307B5-FAEA-F0BA-2A42-FEEF13AEE5A9}"/>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9704747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38B1-91BE-7543-9EA6-600072677EB2}"/>
              </a:ext>
            </a:extLst>
          </p:cNvPr>
          <p:cNvSpPr>
            <a:spLocks noGrp="1"/>
          </p:cNvSpPr>
          <p:nvPr>
            <p:ph type="title"/>
          </p:nvPr>
        </p:nvSpPr>
        <p:spPr/>
        <p:txBody>
          <a:bodyPr/>
          <a:lstStyle/>
          <a:p>
            <a:r>
              <a:rPr lang="en-US" dirty="0"/>
              <a:t>How are complex data types constructed?</a:t>
            </a:r>
          </a:p>
        </p:txBody>
      </p:sp>
      <p:sp>
        <p:nvSpPr>
          <p:cNvPr id="3" name="Content Placeholder 2">
            <a:extLst>
              <a:ext uri="{FF2B5EF4-FFF2-40B4-BE49-F238E27FC236}">
                <a16:creationId xmlns:a16="http://schemas.microsoft.com/office/drawing/2014/main" id="{E4E317C9-2933-3B4D-8F6D-500AF74B7B02}"/>
              </a:ext>
            </a:extLst>
          </p:cNvPr>
          <p:cNvSpPr>
            <a:spLocks noGrp="1"/>
          </p:cNvSpPr>
          <p:nvPr>
            <p:ph idx="1"/>
          </p:nvPr>
        </p:nvSpPr>
        <p:spPr>
          <a:xfrm>
            <a:off x="1039507" y="1838829"/>
            <a:ext cx="9608820" cy="3058609"/>
          </a:xfrm>
        </p:spPr>
        <p:txBody>
          <a:bodyPr>
            <a:normAutofit/>
          </a:bodyPr>
          <a:lstStyle/>
          <a:p>
            <a:pPr>
              <a:lnSpc>
                <a:spcPct val="100000"/>
              </a:lnSpc>
            </a:pPr>
            <a:r>
              <a:rPr lang="en-US" sz="2400" dirty="0"/>
              <a:t> A defined combination of primitive data types with constraints</a:t>
            </a:r>
          </a:p>
          <a:p>
            <a:pPr>
              <a:lnSpc>
                <a:spcPct val="100000"/>
              </a:lnSpc>
            </a:pPr>
            <a:r>
              <a:rPr lang="en-US" sz="2400" dirty="0"/>
              <a:t> Constraints are rules that limit the values of the primitive data types</a:t>
            </a:r>
          </a:p>
          <a:p>
            <a:pPr>
              <a:lnSpc>
                <a:spcPct val="100000"/>
              </a:lnSpc>
            </a:pPr>
            <a:r>
              <a:rPr lang="en-US" sz="2400" dirty="0"/>
              <a:t> The components of a complex data type are its </a:t>
            </a:r>
            <a:r>
              <a:rPr lang="en-US" sz="2400" b="1" dirty="0"/>
              <a:t>data elements</a:t>
            </a:r>
            <a:endParaRPr lang="en-US" sz="2400" dirty="0"/>
          </a:p>
          <a:p>
            <a:pPr>
              <a:lnSpc>
                <a:spcPct val="100000"/>
              </a:lnSpc>
              <a:spcBef>
                <a:spcPts val="2800"/>
              </a:spcBef>
            </a:pPr>
            <a:r>
              <a:rPr lang="en-US" sz="2400" dirty="0"/>
              <a:t> Example: accession number, 22H-034AC01398</a:t>
            </a:r>
          </a:p>
          <a:p>
            <a:pPr lvl="1">
              <a:lnSpc>
                <a:spcPct val="100000"/>
              </a:lnSpc>
            </a:pPr>
            <a:r>
              <a:rPr lang="en-US" sz="2000" dirty="0"/>
              <a:t>Data elements are 3 constrained numbers and 2 constrained character strings</a:t>
            </a:r>
          </a:p>
        </p:txBody>
      </p:sp>
      <p:sp>
        <p:nvSpPr>
          <p:cNvPr id="4" name="TextBox 3">
            <a:extLst>
              <a:ext uri="{FF2B5EF4-FFF2-40B4-BE49-F238E27FC236}">
                <a16:creationId xmlns:a16="http://schemas.microsoft.com/office/drawing/2014/main" id="{6FD2CF7A-17EB-677C-E035-412490587FA2}"/>
              </a:ext>
            </a:extLst>
          </p:cNvPr>
          <p:cNvSpPr txBox="1"/>
          <p:nvPr/>
        </p:nvSpPr>
        <p:spPr>
          <a:xfrm>
            <a:off x="4105054" y="4509751"/>
            <a:ext cx="3103927" cy="584775"/>
          </a:xfrm>
          <a:prstGeom prst="rect">
            <a:avLst/>
          </a:prstGeom>
          <a:noFill/>
        </p:spPr>
        <p:txBody>
          <a:bodyPr wrap="none" rtlCol="0">
            <a:spAutoFit/>
          </a:bodyPr>
          <a:lstStyle/>
          <a:p>
            <a:r>
              <a:rPr lang="en-US" sz="3200" dirty="0"/>
              <a:t>22H-034AC01398</a:t>
            </a:r>
          </a:p>
        </p:txBody>
      </p:sp>
      <p:sp>
        <p:nvSpPr>
          <p:cNvPr id="5" name="TextBox 4">
            <a:extLst>
              <a:ext uri="{FF2B5EF4-FFF2-40B4-BE49-F238E27FC236}">
                <a16:creationId xmlns:a16="http://schemas.microsoft.com/office/drawing/2014/main" id="{97AAFF76-1FF8-2A42-C927-1B68AC7A9DC9}"/>
              </a:ext>
            </a:extLst>
          </p:cNvPr>
          <p:cNvSpPr txBox="1"/>
          <p:nvPr/>
        </p:nvSpPr>
        <p:spPr>
          <a:xfrm>
            <a:off x="8508566" y="4884233"/>
            <a:ext cx="2319454" cy="1323439"/>
          </a:xfrm>
          <a:prstGeom prst="rect">
            <a:avLst/>
          </a:prstGeom>
          <a:noFill/>
        </p:spPr>
        <p:txBody>
          <a:bodyPr wrap="square" rtlCol="0">
            <a:spAutoFit/>
          </a:bodyPr>
          <a:lstStyle/>
          <a:p>
            <a:r>
              <a:rPr lang="en-US" sz="2000" dirty="0"/>
              <a:t>Constraints:</a:t>
            </a:r>
          </a:p>
          <a:p>
            <a:pPr marL="285750" indent="-285750">
              <a:buFont typeface="Arial" panose="020B0604020202020204" pitchFamily="34" charset="0"/>
              <a:buChar char="•"/>
            </a:pPr>
            <a:r>
              <a:rPr lang="en-US" sz="2000" dirty="0"/>
              <a:t>Character length</a:t>
            </a:r>
          </a:p>
          <a:p>
            <a:pPr marL="285750" indent="-285750">
              <a:buFont typeface="Arial" panose="020B0604020202020204" pitchFamily="34" charset="0"/>
              <a:buChar char="•"/>
            </a:pPr>
            <a:r>
              <a:rPr lang="en-US" sz="2000" dirty="0"/>
              <a:t>Numerical value</a:t>
            </a:r>
          </a:p>
          <a:p>
            <a:pPr marL="285750" indent="-285750">
              <a:buFont typeface="Arial" panose="020B0604020202020204" pitchFamily="34" charset="0"/>
              <a:buChar char="•"/>
            </a:pPr>
            <a:r>
              <a:rPr lang="en-US" sz="2000" dirty="0"/>
              <a:t>Set</a:t>
            </a:r>
          </a:p>
        </p:txBody>
      </p:sp>
      <p:grpSp>
        <p:nvGrpSpPr>
          <p:cNvPr id="32" name="Group 31">
            <a:extLst>
              <a:ext uri="{FF2B5EF4-FFF2-40B4-BE49-F238E27FC236}">
                <a16:creationId xmlns:a16="http://schemas.microsoft.com/office/drawing/2014/main" id="{AC855386-73A9-BC62-79B3-718B7F7D060D}"/>
              </a:ext>
            </a:extLst>
          </p:cNvPr>
          <p:cNvGrpSpPr/>
          <p:nvPr/>
        </p:nvGrpSpPr>
        <p:grpSpPr>
          <a:xfrm>
            <a:off x="3267308" y="5015055"/>
            <a:ext cx="1038489" cy="1284503"/>
            <a:chOff x="3267308" y="5015055"/>
            <a:chExt cx="1038489" cy="1284503"/>
          </a:xfrm>
        </p:grpSpPr>
        <p:sp>
          <p:nvSpPr>
            <p:cNvPr id="6" name="TextBox 5">
              <a:extLst>
                <a:ext uri="{FF2B5EF4-FFF2-40B4-BE49-F238E27FC236}">
                  <a16:creationId xmlns:a16="http://schemas.microsoft.com/office/drawing/2014/main" id="{2D7DF2F8-D8EC-E30F-E141-77A6AE479C58}"/>
                </a:ext>
              </a:extLst>
            </p:cNvPr>
            <p:cNvSpPr txBox="1"/>
            <p:nvPr/>
          </p:nvSpPr>
          <p:spPr>
            <a:xfrm>
              <a:off x="3267308" y="5653227"/>
              <a:ext cx="1038489" cy="646331"/>
            </a:xfrm>
            <a:prstGeom prst="rect">
              <a:avLst/>
            </a:prstGeom>
            <a:noFill/>
          </p:spPr>
          <p:txBody>
            <a:bodyPr wrap="none" rtlCol="0">
              <a:spAutoFit/>
            </a:bodyPr>
            <a:lstStyle/>
            <a:p>
              <a:pPr algn="ctr"/>
              <a:r>
                <a:rPr lang="en-US" dirty="0"/>
                <a:t>Two digit</a:t>
              </a:r>
            </a:p>
            <a:p>
              <a:pPr algn="ctr"/>
              <a:r>
                <a:rPr lang="en-US" dirty="0"/>
                <a:t>year</a:t>
              </a:r>
            </a:p>
          </p:txBody>
        </p:sp>
        <p:cxnSp>
          <p:nvCxnSpPr>
            <p:cNvPr id="12" name="Straight Arrow Connector 11">
              <a:extLst>
                <a:ext uri="{FF2B5EF4-FFF2-40B4-BE49-F238E27FC236}">
                  <a16:creationId xmlns:a16="http://schemas.microsoft.com/office/drawing/2014/main" id="{085969D2-12B4-8651-EAFA-5E39E4E16A2C}"/>
                </a:ext>
              </a:extLst>
            </p:cNvPr>
            <p:cNvCxnSpPr>
              <a:cxnSpLocks/>
              <a:stCxn id="6" idx="0"/>
            </p:cNvCxnSpPr>
            <p:nvPr/>
          </p:nvCxnSpPr>
          <p:spPr>
            <a:xfrm flipV="1">
              <a:off x="3786553" y="5015055"/>
              <a:ext cx="481029" cy="6381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4E042AA-0685-9154-F586-D4A4B5BFF2B4}"/>
              </a:ext>
            </a:extLst>
          </p:cNvPr>
          <p:cNvGrpSpPr/>
          <p:nvPr/>
        </p:nvGrpSpPr>
        <p:grpSpPr>
          <a:xfrm>
            <a:off x="4415882" y="5019171"/>
            <a:ext cx="639599" cy="1290657"/>
            <a:chOff x="4415882" y="5019171"/>
            <a:chExt cx="639599" cy="1290657"/>
          </a:xfrm>
        </p:grpSpPr>
        <p:sp>
          <p:nvSpPr>
            <p:cNvPr id="7" name="TextBox 6">
              <a:extLst>
                <a:ext uri="{FF2B5EF4-FFF2-40B4-BE49-F238E27FC236}">
                  <a16:creationId xmlns:a16="http://schemas.microsoft.com/office/drawing/2014/main" id="{505F74A5-D114-AAF5-0D51-F92BFC6B2B57}"/>
                </a:ext>
              </a:extLst>
            </p:cNvPr>
            <p:cNvSpPr txBox="1"/>
            <p:nvPr/>
          </p:nvSpPr>
          <p:spPr>
            <a:xfrm>
              <a:off x="4415882" y="5663497"/>
              <a:ext cx="639599" cy="646331"/>
            </a:xfrm>
            <a:prstGeom prst="rect">
              <a:avLst/>
            </a:prstGeom>
            <a:noFill/>
          </p:spPr>
          <p:txBody>
            <a:bodyPr wrap="none" rtlCol="0">
              <a:spAutoFit/>
            </a:bodyPr>
            <a:lstStyle/>
            <a:p>
              <a:pPr algn="ctr"/>
              <a:r>
                <a:rPr lang="en-US" dirty="0"/>
                <a:t>Lab</a:t>
              </a:r>
            </a:p>
            <a:p>
              <a:pPr algn="ctr"/>
              <a:r>
                <a:rPr lang="en-US" dirty="0"/>
                <a:t>code</a:t>
              </a:r>
            </a:p>
          </p:txBody>
        </p:sp>
        <p:cxnSp>
          <p:nvCxnSpPr>
            <p:cNvPr id="13" name="Straight Arrow Connector 12">
              <a:extLst>
                <a:ext uri="{FF2B5EF4-FFF2-40B4-BE49-F238E27FC236}">
                  <a16:creationId xmlns:a16="http://schemas.microsoft.com/office/drawing/2014/main" id="{B223B8F3-F885-D634-2110-3F2F9AAAC391}"/>
                </a:ext>
              </a:extLst>
            </p:cNvPr>
            <p:cNvCxnSpPr>
              <a:cxnSpLocks/>
              <a:stCxn id="7" idx="0"/>
            </p:cNvCxnSpPr>
            <p:nvPr/>
          </p:nvCxnSpPr>
          <p:spPr>
            <a:xfrm flipV="1">
              <a:off x="4735682" y="5019171"/>
              <a:ext cx="0" cy="6443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D85244D5-06E8-0586-6F6B-263378390F71}"/>
              </a:ext>
            </a:extLst>
          </p:cNvPr>
          <p:cNvGrpSpPr/>
          <p:nvPr/>
        </p:nvGrpSpPr>
        <p:grpSpPr>
          <a:xfrm>
            <a:off x="5165566" y="5015055"/>
            <a:ext cx="718466" cy="1305043"/>
            <a:chOff x="5165566" y="5015055"/>
            <a:chExt cx="718466" cy="1305043"/>
          </a:xfrm>
        </p:grpSpPr>
        <p:sp>
          <p:nvSpPr>
            <p:cNvPr id="8" name="TextBox 7">
              <a:extLst>
                <a:ext uri="{FF2B5EF4-FFF2-40B4-BE49-F238E27FC236}">
                  <a16:creationId xmlns:a16="http://schemas.microsoft.com/office/drawing/2014/main" id="{70F6D189-6EC9-642B-F0F6-C9A438C5146E}"/>
                </a:ext>
              </a:extLst>
            </p:cNvPr>
            <p:cNvSpPr txBox="1"/>
            <p:nvPr/>
          </p:nvSpPr>
          <p:spPr>
            <a:xfrm>
              <a:off x="5165566" y="5673767"/>
              <a:ext cx="718466" cy="646331"/>
            </a:xfrm>
            <a:prstGeom prst="rect">
              <a:avLst/>
            </a:prstGeom>
            <a:noFill/>
          </p:spPr>
          <p:txBody>
            <a:bodyPr wrap="none" rtlCol="0">
              <a:spAutoFit/>
            </a:bodyPr>
            <a:lstStyle/>
            <a:p>
              <a:pPr algn="ctr"/>
              <a:r>
                <a:rPr lang="en-US" dirty="0"/>
                <a:t>Julian</a:t>
              </a:r>
            </a:p>
            <a:p>
              <a:pPr algn="ctr"/>
              <a:r>
                <a:rPr lang="en-US" dirty="0"/>
                <a:t>day</a:t>
              </a:r>
            </a:p>
          </p:txBody>
        </p:sp>
        <p:cxnSp>
          <p:nvCxnSpPr>
            <p:cNvPr id="16" name="Straight Arrow Connector 15">
              <a:extLst>
                <a:ext uri="{FF2B5EF4-FFF2-40B4-BE49-F238E27FC236}">
                  <a16:creationId xmlns:a16="http://schemas.microsoft.com/office/drawing/2014/main" id="{39588E27-E619-23E7-007F-D6CD811D8FAB}"/>
                </a:ext>
              </a:extLst>
            </p:cNvPr>
            <p:cNvCxnSpPr>
              <a:cxnSpLocks/>
              <a:stCxn id="8" idx="0"/>
            </p:cNvCxnSpPr>
            <p:nvPr/>
          </p:nvCxnSpPr>
          <p:spPr>
            <a:xfrm flipH="1" flipV="1">
              <a:off x="5314325" y="5015055"/>
              <a:ext cx="210474" cy="6587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B22E9BAB-AF27-E044-3D75-9F04A53D1D40}"/>
              </a:ext>
            </a:extLst>
          </p:cNvPr>
          <p:cNvGrpSpPr/>
          <p:nvPr/>
        </p:nvGrpSpPr>
        <p:grpSpPr>
          <a:xfrm>
            <a:off x="5843917" y="5062654"/>
            <a:ext cx="861133" cy="1267714"/>
            <a:chOff x="5843917" y="5062654"/>
            <a:chExt cx="861133" cy="1267714"/>
          </a:xfrm>
        </p:grpSpPr>
        <p:sp>
          <p:nvSpPr>
            <p:cNvPr id="9" name="TextBox 8">
              <a:extLst>
                <a:ext uri="{FF2B5EF4-FFF2-40B4-BE49-F238E27FC236}">
                  <a16:creationId xmlns:a16="http://schemas.microsoft.com/office/drawing/2014/main" id="{B6C3F587-5881-48D8-AF00-180853AA6E26}"/>
                </a:ext>
              </a:extLst>
            </p:cNvPr>
            <p:cNvSpPr txBox="1"/>
            <p:nvPr/>
          </p:nvSpPr>
          <p:spPr>
            <a:xfrm>
              <a:off x="5843917" y="5684037"/>
              <a:ext cx="861133" cy="646331"/>
            </a:xfrm>
            <a:prstGeom prst="rect">
              <a:avLst/>
            </a:prstGeom>
            <a:noFill/>
          </p:spPr>
          <p:txBody>
            <a:bodyPr wrap="none" rtlCol="0">
              <a:spAutoFit/>
            </a:bodyPr>
            <a:lstStyle/>
            <a:p>
              <a:pPr algn="ctr"/>
              <a:r>
                <a:rPr lang="en-US" dirty="0"/>
                <a:t>Lab</a:t>
              </a:r>
            </a:p>
            <a:p>
              <a:pPr algn="ctr"/>
              <a:r>
                <a:rPr lang="en-US" dirty="0"/>
                <a:t>section</a:t>
              </a:r>
            </a:p>
          </p:txBody>
        </p:sp>
        <p:cxnSp>
          <p:nvCxnSpPr>
            <p:cNvPr id="19" name="Straight Arrow Connector 18">
              <a:extLst>
                <a:ext uri="{FF2B5EF4-FFF2-40B4-BE49-F238E27FC236}">
                  <a16:creationId xmlns:a16="http://schemas.microsoft.com/office/drawing/2014/main" id="{9C5AD2A0-3B09-24CE-85F8-DCB741A95858}"/>
                </a:ext>
              </a:extLst>
            </p:cNvPr>
            <p:cNvCxnSpPr>
              <a:cxnSpLocks/>
              <a:stCxn id="9" idx="0"/>
            </p:cNvCxnSpPr>
            <p:nvPr/>
          </p:nvCxnSpPr>
          <p:spPr>
            <a:xfrm flipH="1" flipV="1">
              <a:off x="5910146" y="5062654"/>
              <a:ext cx="364338" cy="6213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1D8F2C91-B8C8-2FDC-0455-301E35659B14}"/>
              </a:ext>
            </a:extLst>
          </p:cNvPr>
          <p:cNvGrpSpPr/>
          <p:nvPr/>
        </p:nvGrpSpPr>
        <p:grpSpPr>
          <a:xfrm>
            <a:off x="6668851" y="5015055"/>
            <a:ext cx="1288392" cy="1315313"/>
            <a:chOff x="6668851" y="5015055"/>
            <a:chExt cx="1288392" cy="1315313"/>
          </a:xfrm>
        </p:grpSpPr>
        <p:sp>
          <p:nvSpPr>
            <p:cNvPr id="10" name="TextBox 9">
              <a:extLst>
                <a:ext uri="{FF2B5EF4-FFF2-40B4-BE49-F238E27FC236}">
                  <a16:creationId xmlns:a16="http://schemas.microsoft.com/office/drawing/2014/main" id="{24C5E15F-8374-5518-897E-F667EBC0286E}"/>
                </a:ext>
              </a:extLst>
            </p:cNvPr>
            <p:cNvSpPr txBox="1"/>
            <p:nvPr/>
          </p:nvSpPr>
          <p:spPr>
            <a:xfrm>
              <a:off x="6779227" y="5684037"/>
              <a:ext cx="1178016" cy="646331"/>
            </a:xfrm>
            <a:prstGeom prst="rect">
              <a:avLst/>
            </a:prstGeom>
            <a:noFill/>
          </p:spPr>
          <p:txBody>
            <a:bodyPr wrap="none" rtlCol="0">
              <a:spAutoFit/>
            </a:bodyPr>
            <a:lstStyle/>
            <a:p>
              <a:pPr algn="ctr"/>
              <a:r>
                <a:rPr lang="en-US" dirty="0"/>
                <a:t>Sequential</a:t>
              </a:r>
            </a:p>
            <a:p>
              <a:pPr algn="ctr"/>
              <a:r>
                <a:rPr lang="en-US" dirty="0"/>
                <a:t>counter</a:t>
              </a:r>
            </a:p>
          </p:txBody>
        </p:sp>
        <p:cxnSp>
          <p:nvCxnSpPr>
            <p:cNvPr id="22" name="Straight Arrow Connector 21">
              <a:extLst>
                <a:ext uri="{FF2B5EF4-FFF2-40B4-BE49-F238E27FC236}">
                  <a16:creationId xmlns:a16="http://schemas.microsoft.com/office/drawing/2014/main" id="{0A1F5608-5660-CE68-BCAD-7C88805D8844}"/>
                </a:ext>
              </a:extLst>
            </p:cNvPr>
            <p:cNvCxnSpPr>
              <a:cxnSpLocks/>
              <a:stCxn id="10" idx="0"/>
            </p:cNvCxnSpPr>
            <p:nvPr/>
          </p:nvCxnSpPr>
          <p:spPr>
            <a:xfrm flipH="1" flipV="1">
              <a:off x="6668851" y="5015055"/>
              <a:ext cx="699384" cy="66898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1D3D7B16-EFC7-AF36-7C3B-0A962EDFBB8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5757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Dates and Times Are Important Complex Data Types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Prevents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can parse it with some extra work)</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409063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ADE0C-907A-417C-986B-131D8D233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20B63-215A-EE6C-4289-B36E546B6EA5}"/>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B8955017-2E08-F2DE-F5F2-DDE080D61C94}"/>
              </a:ext>
            </a:extLst>
          </p:cNvPr>
          <p:cNvSpPr>
            <a:spLocks noGrp="1"/>
          </p:cNvSpPr>
          <p:nvPr>
            <p:ph idx="1"/>
          </p:nvPr>
        </p:nvSpPr>
        <p:spPr/>
        <p:txBody>
          <a:bodyPr/>
          <a:lstStyle/>
          <a:p>
            <a:r>
              <a:rPr lang="en-US" dirty="0"/>
              <a:t> Vector = one dimensional collection of homogeneous elements (i.e. everything is the same data type)</a:t>
            </a:r>
          </a:p>
          <a:p>
            <a:pPr lvl="1"/>
            <a:r>
              <a:rPr lang="en-US" dirty="0"/>
              <a:t> Computer keeps track of the order</a:t>
            </a:r>
          </a:p>
          <a:p>
            <a:pPr lvl="1"/>
            <a:r>
              <a:rPr lang="en-US" dirty="0"/>
              <a:t> May perform operations on entire vector or individual elements</a:t>
            </a:r>
          </a:p>
          <a:p>
            <a:pPr marL="128016" lvl="1" indent="0">
              <a:buNone/>
            </a:pPr>
            <a:endParaRPr lang="en-US" dirty="0"/>
          </a:p>
          <a:p>
            <a:pPr marL="128016" lvl="1" indent="0" algn="ctr">
              <a:buNone/>
            </a:pPr>
            <a:r>
              <a:rPr lang="en-US" sz="4000" dirty="0"/>
              <a:t>[1, 3, 5, 7, 9, 11, 13]</a:t>
            </a:r>
          </a:p>
        </p:txBody>
      </p:sp>
      <p:cxnSp>
        <p:nvCxnSpPr>
          <p:cNvPr id="6" name="Straight Arrow Connector 5">
            <a:extLst>
              <a:ext uri="{FF2B5EF4-FFF2-40B4-BE49-F238E27FC236}">
                <a16:creationId xmlns:a16="http://schemas.microsoft.com/office/drawing/2014/main" id="{E6B3602B-9DAD-6189-7B38-92888ABE9F5B}"/>
              </a:ext>
            </a:extLst>
          </p:cNvPr>
          <p:cNvCxnSpPr>
            <a:cxnSpLocks/>
          </p:cNvCxnSpPr>
          <p:nvPr/>
        </p:nvCxnSpPr>
        <p:spPr>
          <a:xfrm flipV="1">
            <a:off x="3962400" y="5168349"/>
            <a:ext cx="106018"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8DC89F2-949B-C448-BB12-F0D3A8866DDB}"/>
              </a:ext>
            </a:extLst>
          </p:cNvPr>
          <p:cNvCxnSpPr>
            <a:cxnSpLocks/>
          </p:cNvCxnSpPr>
          <p:nvPr/>
        </p:nvCxnSpPr>
        <p:spPr>
          <a:xfrm flipH="1" flipV="1">
            <a:off x="7695804" y="5168349"/>
            <a:ext cx="136231"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ED81EF2-3937-3239-763E-EC750764A98F}"/>
              </a:ext>
            </a:extLst>
          </p:cNvPr>
          <p:cNvSpPr txBox="1"/>
          <p:nvPr/>
        </p:nvSpPr>
        <p:spPr>
          <a:xfrm>
            <a:off x="2663687" y="5790138"/>
            <a:ext cx="2809461" cy="584775"/>
          </a:xfrm>
          <a:prstGeom prst="rect">
            <a:avLst/>
          </a:prstGeom>
          <a:noFill/>
        </p:spPr>
        <p:txBody>
          <a:bodyPr wrap="square" rtlCol="0">
            <a:spAutoFit/>
          </a:bodyPr>
          <a:lstStyle/>
          <a:p>
            <a:pPr algn="ctr"/>
            <a:r>
              <a:rPr lang="en-US" sz="3200" dirty="0"/>
              <a:t>First position</a:t>
            </a:r>
          </a:p>
        </p:txBody>
      </p:sp>
      <p:sp>
        <p:nvSpPr>
          <p:cNvPr id="16" name="TextBox 15">
            <a:extLst>
              <a:ext uri="{FF2B5EF4-FFF2-40B4-BE49-F238E27FC236}">
                <a16:creationId xmlns:a16="http://schemas.microsoft.com/office/drawing/2014/main" id="{9E9452AE-1563-28E5-BE84-E2A69C0A6144}"/>
              </a:ext>
            </a:extLst>
          </p:cNvPr>
          <p:cNvSpPr txBox="1"/>
          <p:nvPr/>
        </p:nvSpPr>
        <p:spPr>
          <a:xfrm>
            <a:off x="6427304" y="5783689"/>
            <a:ext cx="2809461" cy="584775"/>
          </a:xfrm>
          <a:prstGeom prst="rect">
            <a:avLst/>
          </a:prstGeom>
          <a:noFill/>
        </p:spPr>
        <p:txBody>
          <a:bodyPr wrap="square" rtlCol="0">
            <a:spAutoFit/>
          </a:bodyPr>
          <a:lstStyle/>
          <a:p>
            <a:pPr algn="ctr"/>
            <a:r>
              <a:rPr lang="en-US" sz="3200" dirty="0"/>
              <a:t>Seventh position</a:t>
            </a:r>
          </a:p>
        </p:txBody>
      </p:sp>
      <p:sp>
        <p:nvSpPr>
          <p:cNvPr id="17" name="TextBox 16">
            <a:extLst>
              <a:ext uri="{FF2B5EF4-FFF2-40B4-BE49-F238E27FC236}">
                <a16:creationId xmlns:a16="http://schemas.microsoft.com/office/drawing/2014/main" id="{B9F3B384-B9B0-DB56-27C8-59D40935901C}"/>
              </a:ext>
            </a:extLst>
          </p:cNvPr>
          <p:cNvSpPr txBox="1"/>
          <p:nvPr/>
        </p:nvSpPr>
        <p:spPr>
          <a:xfrm>
            <a:off x="9051235" y="4386470"/>
            <a:ext cx="2809461" cy="1200329"/>
          </a:xfrm>
          <a:prstGeom prst="rect">
            <a:avLst/>
          </a:prstGeom>
          <a:noFill/>
        </p:spPr>
        <p:txBody>
          <a:bodyPr wrap="square" rtlCol="0">
            <a:spAutoFit/>
          </a:bodyPr>
          <a:lstStyle/>
          <a:p>
            <a:r>
              <a:rPr lang="en-US" dirty="0"/>
              <a:t>Note: some programming languages refer to the first position as 1 and others refer to it as 0</a:t>
            </a:r>
          </a:p>
        </p:txBody>
      </p:sp>
    </p:spTree>
    <p:extLst>
      <p:ext uri="{BB962C8B-B14F-4D97-AF65-F5344CB8AC3E}">
        <p14:creationId xmlns:p14="http://schemas.microsoft.com/office/powerpoint/2010/main" val="3864162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A1C9-1B65-9D8B-53DA-0E05540AD0A2}"/>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691BA275-4D65-4A91-5B64-4464751B167D}"/>
              </a:ext>
            </a:extLst>
          </p:cNvPr>
          <p:cNvSpPr>
            <a:spLocks noGrp="1"/>
          </p:cNvSpPr>
          <p:nvPr>
            <p:ph idx="1"/>
          </p:nvPr>
        </p:nvSpPr>
        <p:spPr/>
        <p:txBody>
          <a:bodyPr/>
          <a:lstStyle/>
          <a:p>
            <a:r>
              <a:rPr lang="en-US" dirty="0"/>
              <a:t> Matrix = two dimensional collection of homogeneous data</a:t>
            </a:r>
          </a:p>
          <a:p>
            <a:pPr marL="128016" lvl="1" indent="0">
              <a:buNone/>
            </a:pPr>
            <a:endParaRPr lang="en-US" dirty="0"/>
          </a:p>
        </p:txBody>
      </p:sp>
      <p:graphicFrame>
        <p:nvGraphicFramePr>
          <p:cNvPr id="4" name="Table 3">
            <a:extLst>
              <a:ext uri="{FF2B5EF4-FFF2-40B4-BE49-F238E27FC236}">
                <a16:creationId xmlns:a16="http://schemas.microsoft.com/office/drawing/2014/main" id="{8C64D8C4-1494-4F97-0583-21A039848838}"/>
              </a:ext>
            </a:extLst>
          </p:cNvPr>
          <p:cNvGraphicFramePr>
            <a:graphicFrameLocks noGrp="1"/>
          </p:cNvGraphicFramePr>
          <p:nvPr>
            <p:extLst>
              <p:ext uri="{D42A27DB-BD31-4B8C-83A1-F6EECF244321}">
                <p14:modId xmlns:p14="http://schemas.microsoft.com/office/powerpoint/2010/main" val="2116885232"/>
              </p:ext>
            </p:extLst>
          </p:nvPr>
        </p:nvGraphicFramePr>
        <p:xfrm>
          <a:off x="2616200" y="4116788"/>
          <a:ext cx="8128000" cy="155448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1675832509"/>
                    </a:ext>
                  </a:extLst>
                </a:gridCol>
                <a:gridCol w="2032000">
                  <a:extLst>
                    <a:ext uri="{9D8B030D-6E8A-4147-A177-3AD203B41FA5}">
                      <a16:colId xmlns:a16="http://schemas.microsoft.com/office/drawing/2014/main" val="2300905959"/>
                    </a:ext>
                  </a:extLst>
                </a:gridCol>
                <a:gridCol w="2032000">
                  <a:extLst>
                    <a:ext uri="{9D8B030D-6E8A-4147-A177-3AD203B41FA5}">
                      <a16:colId xmlns:a16="http://schemas.microsoft.com/office/drawing/2014/main" val="2188006702"/>
                    </a:ext>
                  </a:extLst>
                </a:gridCol>
                <a:gridCol w="2032000">
                  <a:extLst>
                    <a:ext uri="{9D8B030D-6E8A-4147-A177-3AD203B41FA5}">
                      <a16:colId xmlns:a16="http://schemas.microsoft.com/office/drawing/2014/main" val="43201332"/>
                    </a:ext>
                  </a:extLst>
                </a:gridCol>
              </a:tblGrid>
              <a:tr h="370840">
                <a:tc>
                  <a:txBody>
                    <a:bodyPr/>
                    <a:lstStyle/>
                    <a:p>
                      <a:r>
                        <a:rPr lang="en-US" sz="2800" dirty="0"/>
                        <a:t>1</a:t>
                      </a:r>
                    </a:p>
                  </a:txBody>
                  <a:tcPr/>
                </a:tc>
                <a:tc>
                  <a:txBody>
                    <a:bodyPr/>
                    <a:lstStyle/>
                    <a:p>
                      <a:r>
                        <a:rPr lang="en-US" sz="2800" dirty="0"/>
                        <a:t>2</a:t>
                      </a:r>
                    </a:p>
                  </a:txBody>
                  <a:tcPr/>
                </a:tc>
                <a:tc>
                  <a:txBody>
                    <a:bodyPr/>
                    <a:lstStyle/>
                    <a:p>
                      <a:r>
                        <a:rPr lang="en-US" sz="2800" dirty="0"/>
                        <a:t>3</a:t>
                      </a:r>
                    </a:p>
                  </a:txBody>
                  <a:tcPr/>
                </a:tc>
                <a:tc>
                  <a:txBody>
                    <a:bodyPr/>
                    <a:lstStyle/>
                    <a:p>
                      <a:r>
                        <a:rPr lang="en-US" sz="2800" dirty="0"/>
                        <a:t>4</a:t>
                      </a:r>
                    </a:p>
                  </a:txBody>
                  <a:tcPr/>
                </a:tc>
                <a:extLst>
                  <a:ext uri="{0D108BD9-81ED-4DB2-BD59-A6C34878D82A}">
                    <a16:rowId xmlns:a16="http://schemas.microsoft.com/office/drawing/2014/main" val="2172053525"/>
                  </a:ext>
                </a:extLst>
              </a:tr>
              <a:tr h="370840">
                <a:tc>
                  <a:txBody>
                    <a:bodyPr/>
                    <a:lstStyle/>
                    <a:p>
                      <a:r>
                        <a:rPr lang="en-US" sz="2800" dirty="0"/>
                        <a:t>5</a:t>
                      </a:r>
                    </a:p>
                  </a:txBody>
                  <a:tcPr/>
                </a:tc>
                <a:tc>
                  <a:txBody>
                    <a:bodyPr/>
                    <a:lstStyle/>
                    <a:p>
                      <a:r>
                        <a:rPr lang="en-US" sz="2800" dirty="0"/>
                        <a:t>6</a:t>
                      </a:r>
                    </a:p>
                  </a:txBody>
                  <a:tcPr/>
                </a:tc>
                <a:tc>
                  <a:txBody>
                    <a:bodyPr/>
                    <a:lstStyle/>
                    <a:p>
                      <a:r>
                        <a:rPr lang="en-US" sz="2800" dirty="0"/>
                        <a:t>7</a:t>
                      </a:r>
                    </a:p>
                  </a:txBody>
                  <a:tcPr/>
                </a:tc>
                <a:tc>
                  <a:txBody>
                    <a:bodyPr/>
                    <a:lstStyle/>
                    <a:p>
                      <a:r>
                        <a:rPr lang="en-US" sz="2800" dirty="0"/>
                        <a:t>8</a:t>
                      </a:r>
                    </a:p>
                  </a:txBody>
                  <a:tcPr/>
                </a:tc>
                <a:extLst>
                  <a:ext uri="{0D108BD9-81ED-4DB2-BD59-A6C34878D82A}">
                    <a16:rowId xmlns:a16="http://schemas.microsoft.com/office/drawing/2014/main" val="3152001339"/>
                  </a:ext>
                </a:extLst>
              </a:tr>
              <a:tr h="370840">
                <a:tc>
                  <a:txBody>
                    <a:bodyPr/>
                    <a:lstStyle/>
                    <a:p>
                      <a:r>
                        <a:rPr lang="en-US" sz="2800" dirty="0"/>
                        <a:t>9</a:t>
                      </a:r>
                    </a:p>
                  </a:txBody>
                  <a:tcPr/>
                </a:tc>
                <a:tc>
                  <a:txBody>
                    <a:bodyPr/>
                    <a:lstStyle/>
                    <a:p>
                      <a:r>
                        <a:rPr lang="en-US" sz="2800" dirty="0"/>
                        <a:t>10</a:t>
                      </a:r>
                    </a:p>
                  </a:txBody>
                  <a:tcPr/>
                </a:tc>
                <a:tc>
                  <a:txBody>
                    <a:bodyPr/>
                    <a:lstStyle/>
                    <a:p>
                      <a:r>
                        <a:rPr lang="en-US" sz="2800" dirty="0"/>
                        <a:t>11</a:t>
                      </a:r>
                    </a:p>
                  </a:txBody>
                  <a:tcPr/>
                </a:tc>
                <a:tc>
                  <a:txBody>
                    <a:bodyPr/>
                    <a:lstStyle/>
                    <a:p>
                      <a:r>
                        <a:rPr lang="en-US" sz="2800" dirty="0"/>
                        <a:t>12</a:t>
                      </a:r>
                    </a:p>
                  </a:txBody>
                  <a:tcPr/>
                </a:tc>
                <a:extLst>
                  <a:ext uri="{0D108BD9-81ED-4DB2-BD59-A6C34878D82A}">
                    <a16:rowId xmlns:a16="http://schemas.microsoft.com/office/drawing/2014/main" val="1760018396"/>
                  </a:ext>
                </a:extLst>
              </a:tr>
            </a:tbl>
          </a:graphicData>
        </a:graphic>
      </p:graphicFrame>
      <p:cxnSp>
        <p:nvCxnSpPr>
          <p:cNvPr id="6" name="Straight Arrow Connector 5">
            <a:extLst>
              <a:ext uri="{FF2B5EF4-FFF2-40B4-BE49-F238E27FC236}">
                <a16:creationId xmlns:a16="http://schemas.microsoft.com/office/drawing/2014/main" id="{63B9575C-819A-8E88-8FD4-ABEFD0E20C0D}"/>
              </a:ext>
            </a:extLst>
          </p:cNvPr>
          <p:cNvCxnSpPr>
            <a:cxnSpLocks/>
          </p:cNvCxnSpPr>
          <p:nvPr/>
        </p:nvCxnSpPr>
        <p:spPr>
          <a:xfrm>
            <a:off x="2748721" y="3927492"/>
            <a:ext cx="6626" cy="2595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9E0076-F483-1647-6FAD-F9387F1DDD33}"/>
              </a:ext>
            </a:extLst>
          </p:cNvPr>
          <p:cNvSpPr txBox="1"/>
          <p:nvPr/>
        </p:nvSpPr>
        <p:spPr>
          <a:xfrm>
            <a:off x="1447799" y="3271299"/>
            <a:ext cx="3101009" cy="584775"/>
          </a:xfrm>
          <a:prstGeom prst="rect">
            <a:avLst/>
          </a:prstGeom>
          <a:noFill/>
        </p:spPr>
        <p:txBody>
          <a:bodyPr wrap="square" rtlCol="0">
            <a:spAutoFit/>
          </a:bodyPr>
          <a:lstStyle/>
          <a:p>
            <a:pPr algn="ctr"/>
            <a:r>
              <a:rPr lang="en-US" sz="3200" dirty="0"/>
              <a:t>Row 1, Column 1</a:t>
            </a:r>
          </a:p>
        </p:txBody>
      </p:sp>
    </p:spTree>
    <p:extLst>
      <p:ext uri="{BB962C8B-B14F-4D97-AF65-F5344CB8AC3E}">
        <p14:creationId xmlns:p14="http://schemas.microsoft.com/office/powerpoint/2010/main" val="42645526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0B09E-E0B4-ED82-0507-54DB6EB196EC}"/>
              </a:ext>
            </a:extLst>
          </p:cNvPr>
          <p:cNvSpPr>
            <a:spLocks noGrp="1"/>
          </p:cNvSpPr>
          <p:nvPr>
            <p:ph type="title"/>
          </p:nvPr>
        </p:nvSpPr>
        <p:spPr/>
        <p:txBody>
          <a:bodyPr/>
          <a:lstStyle/>
          <a:p>
            <a:r>
              <a:rPr lang="en-US" dirty="0"/>
              <a:t>Data Frames</a:t>
            </a:r>
          </a:p>
        </p:txBody>
      </p:sp>
      <p:sp>
        <p:nvSpPr>
          <p:cNvPr id="3" name="Content Placeholder 2">
            <a:extLst>
              <a:ext uri="{FF2B5EF4-FFF2-40B4-BE49-F238E27FC236}">
                <a16:creationId xmlns:a16="http://schemas.microsoft.com/office/drawing/2014/main" id="{1F65B65F-0D59-95C7-6110-68739A106347}"/>
              </a:ext>
            </a:extLst>
          </p:cNvPr>
          <p:cNvSpPr>
            <a:spLocks noGrp="1"/>
          </p:cNvSpPr>
          <p:nvPr>
            <p:ph idx="1"/>
          </p:nvPr>
        </p:nvSpPr>
        <p:spPr/>
        <p:txBody>
          <a:bodyPr/>
          <a:lstStyle/>
          <a:p>
            <a:r>
              <a:rPr lang="en-US" dirty="0"/>
              <a:t> Data frame = two-dimensional collection of heterogeneous data</a:t>
            </a:r>
          </a:p>
          <a:p>
            <a:pPr lvl="1"/>
            <a:r>
              <a:rPr lang="en-US" dirty="0"/>
              <a:t> Spreadsheet-like data – typically organized in columns with a fixed data type</a:t>
            </a:r>
          </a:p>
          <a:p>
            <a:pPr lvl="1"/>
            <a:r>
              <a:rPr lang="en-US" dirty="0"/>
              <a:t> Columns (or variables) often explicitly named</a:t>
            </a:r>
          </a:p>
        </p:txBody>
      </p:sp>
      <p:graphicFrame>
        <p:nvGraphicFramePr>
          <p:cNvPr id="4" name="Table 3">
            <a:extLst>
              <a:ext uri="{FF2B5EF4-FFF2-40B4-BE49-F238E27FC236}">
                <a16:creationId xmlns:a16="http://schemas.microsoft.com/office/drawing/2014/main" id="{5DF3F821-8A12-CA9A-80F2-8DE9F0CB9CCF}"/>
              </a:ext>
            </a:extLst>
          </p:cNvPr>
          <p:cNvGraphicFramePr>
            <a:graphicFrameLocks noGrp="1"/>
          </p:cNvGraphicFramePr>
          <p:nvPr>
            <p:extLst>
              <p:ext uri="{D42A27DB-BD31-4B8C-83A1-F6EECF244321}">
                <p14:modId xmlns:p14="http://schemas.microsoft.com/office/powerpoint/2010/main" val="4192667215"/>
              </p:ext>
            </p:extLst>
          </p:nvPr>
        </p:nvGraphicFramePr>
        <p:xfrm>
          <a:off x="1447799" y="4757530"/>
          <a:ext cx="8712200" cy="1828800"/>
        </p:xfrm>
        <a:graphic>
          <a:graphicData uri="http://schemas.openxmlformats.org/drawingml/2006/table">
            <a:tbl>
              <a:tblPr firstRow="1" bandRow="1">
                <a:tableStyleId>{5C22544A-7EE6-4342-B048-85BDC9FD1C3A}</a:tableStyleId>
              </a:tblPr>
              <a:tblGrid>
                <a:gridCol w="2178050">
                  <a:extLst>
                    <a:ext uri="{9D8B030D-6E8A-4147-A177-3AD203B41FA5}">
                      <a16:colId xmlns:a16="http://schemas.microsoft.com/office/drawing/2014/main" val="233543593"/>
                    </a:ext>
                  </a:extLst>
                </a:gridCol>
                <a:gridCol w="2178050">
                  <a:extLst>
                    <a:ext uri="{9D8B030D-6E8A-4147-A177-3AD203B41FA5}">
                      <a16:colId xmlns:a16="http://schemas.microsoft.com/office/drawing/2014/main" val="138990551"/>
                    </a:ext>
                  </a:extLst>
                </a:gridCol>
                <a:gridCol w="2178050">
                  <a:extLst>
                    <a:ext uri="{9D8B030D-6E8A-4147-A177-3AD203B41FA5}">
                      <a16:colId xmlns:a16="http://schemas.microsoft.com/office/drawing/2014/main" val="2219865218"/>
                    </a:ext>
                  </a:extLst>
                </a:gridCol>
                <a:gridCol w="2178050">
                  <a:extLst>
                    <a:ext uri="{9D8B030D-6E8A-4147-A177-3AD203B41FA5}">
                      <a16:colId xmlns:a16="http://schemas.microsoft.com/office/drawing/2014/main" val="109375820"/>
                    </a:ext>
                  </a:extLst>
                </a:gridCol>
              </a:tblGrid>
              <a:tr h="415588">
                <a:tc>
                  <a:txBody>
                    <a:bodyPr/>
                    <a:lstStyle/>
                    <a:p>
                      <a:r>
                        <a:rPr lang="en-US" sz="2400" dirty="0"/>
                        <a:t>Identifier</a:t>
                      </a:r>
                    </a:p>
                  </a:txBody>
                  <a:tcPr/>
                </a:tc>
                <a:tc>
                  <a:txBody>
                    <a:bodyPr/>
                    <a:lstStyle/>
                    <a:p>
                      <a:r>
                        <a:rPr lang="en-US" sz="2400" dirty="0"/>
                        <a:t>Location</a:t>
                      </a:r>
                    </a:p>
                  </a:txBody>
                  <a:tcPr/>
                </a:tc>
                <a:tc>
                  <a:txBody>
                    <a:bodyPr/>
                    <a:lstStyle/>
                    <a:p>
                      <a:r>
                        <a:rPr lang="en-US" sz="2400" dirty="0"/>
                        <a:t>Test</a:t>
                      </a:r>
                    </a:p>
                  </a:txBody>
                  <a:tcPr/>
                </a:tc>
                <a:tc>
                  <a:txBody>
                    <a:bodyPr/>
                    <a:lstStyle/>
                    <a:p>
                      <a:r>
                        <a:rPr lang="en-US" sz="2400" dirty="0"/>
                        <a:t>Value</a:t>
                      </a:r>
                    </a:p>
                  </a:txBody>
                  <a:tcPr/>
                </a:tc>
                <a:extLst>
                  <a:ext uri="{0D108BD9-81ED-4DB2-BD59-A6C34878D82A}">
                    <a16:rowId xmlns:a16="http://schemas.microsoft.com/office/drawing/2014/main" val="3574325621"/>
                  </a:ext>
                </a:extLst>
              </a:tr>
              <a:tr h="415588">
                <a:tc>
                  <a:txBody>
                    <a:bodyPr/>
                    <a:lstStyle/>
                    <a:p>
                      <a:r>
                        <a:rPr lang="en-US" sz="2400" dirty="0"/>
                        <a:t>F123456</a:t>
                      </a:r>
                    </a:p>
                  </a:txBody>
                  <a:tcPr/>
                </a:tc>
                <a:tc>
                  <a:txBody>
                    <a:bodyPr/>
                    <a:lstStyle/>
                    <a:p>
                      <a:r>
                        <a:rPr lang="en-US" sz="2400" dirty="0"/>
                        <a:t>Inpatient</a:t>
                      </a:r>
                    </a:p>
                  </a:txBody>
                  <a:tcPr/>
                </a:tc>
                <a:tc>
                  <a:txBody>
                    <a:bodyPr/>
                    <a:lstStyle/>
                    <a:p>
                      <a:r>
                        <a:rPr lang="en-US" sz="2400" dirty="0"/>
                        <a:t>Sodium</a:t>
                      </a:r>
                    </a:p>
                  </a:txBody>
                  <a:tcPr/>
                </a:tc>
                <a:tc>
                  <a:txBody>
                    <a:bodyPr/>
                    <a:lstStyle/>
                    <a:p>
                      <a:r>
                        <a:rPr lang="en-US" sz="2400" dirty="0"/>
                        <a:t>140</a:t>
                      </a:r>
                    </a:p>
                  </a:txBody>
                  <a:tcPr/>
                </a:tc>
                <a:extLst>
                  <a:ext uri="{0D108BD9-81ED-4DB2-BD59-A6C34878D82A}">
                    <a16:rowId xmlns:a16="http://schemas.microsoft.com/office/drawing/2014/main" val="209322607"/>
                  </a:ext>
                </a:extLst>
              </a:tr>
              <a:tr h="415588">
                <a:tc>
                  <a:txBody>
                    <a:bodyPr/>
                    <a:lstStyle/>
                    <a:p>
                      <a:r>
                        <a:rPr lang="en-US" sz="2400" dirty="0"/>
                        <a:t>W987654</a:t>
                      </a:r>
                    </a:p>
                  </a:txBody>
                  <a:tcPr/>
                </a:tc>
                <a:tc>
                  <a:txBody>
                    <a:bodyPr/>
                    <a:lstStyle/>
                    <a:p>
                      <a:r>
                        <a:rPr lang="en-US" sz="2400" dirty="0"/>
                        <a:t>Outpatient</a:t>
                      </a:r>
                    </a:p>
                  </a:txBody>
                  <a:tcPr/>
                </a:tc>
                <a:tc>
                  <a:txBody>
                    <a:bodyPr/>
                    <a:lstStyle/>
                    <a:p>
                      <a:r>
                        <a:rPr lang="en-US" sz="2400" dirty="0"/>
                        <a:t>Potassium</a:t>
                      </a:r>
                    </a:p>
                  </a:txBody>
                  <a:tcPr/>
                </a:tc>
                <a:tc>
                  <a:txBody>
                    <a:bodyPr/>
                    <a:lstStyle/>
                    <a:p>
                      <a:r>
                        <a:rPr lang="en-US" sz="2400" dirty="0"/>
                        <a:t>4.8</a:t>
                      </a:r>
                    </a:p>
                  </a:txBody>
                  <a:tcPr/>
                </a:tc>
                <a:extLst>
                  <a:ext uri="{0D108BD9-81ED-4DB2-BD59-A6C34878D82A}">
                    <a16:rowId xmlns:a16="http://schemas.microsoft.com/office/drawing/2014/main" val="4177286729"/>
                  </a:ext>
                </a:extLst>
              </a:tr>
              <a:tr h="415588">
                <a:tc>
                  <a:txBody>
                    <a:bodyPr/>
                    <a:lstStyle/>
                    <a:p>
                      <a:r>
                        <a:rPr lang="en-US" sz="2400" dirty="0"/>
                        <a:t>X234537</a:t>
                      </a:r>
                    </a:p>
                  </a:txBody>
                  <a:tcPr/>
                </a:tc>
                <a:tc>
                  <a:txBody>
                    <a:bodyPr/>
                    <a:lstStyle/>
                    <a:p>
                      <a:r>
                        <a:rPr lang="en-US" sz="2400" dirty="0"/>
                        <a:t>ED</a:t>
                      </a:r>
                    </a:p>
                  </a:txBody>
                  <a:tcPr/>
                </a:tc>
                <a:tc>
                  <a:txBody>
                    <a:bodyPr/>
                    <a:lstStyle/>
                    <a:p>
                      <a:r>
                        <a:rPr lang="en-US" sz="2400" dirty="0"/>
                        <a:t>AST</a:t>
                      </a:r>
                    </a:p>
                  </a:txBody>
                  <a:tcPr/>
                </a:tc>
                <a:tc>
                  <a:txBody>
                    <a:bodyPr/>
                    <a:lstStyle/>
                    <a:p>
                      <a:r>
                        <a:rPr lang="en-US" sz="2400" dirty="0"/>
                        <a:t>70</a:t>
                      </a:r>
                    </a:p>
                  </a:txBody>
                  <a:tcPr/>
                </a:tc>
                <a:extLst>
                  <a:ext uri="{0D108BD9-81ED-4DB2-BD59-A6C34878D82A}">
                    <a16:rowId xmlns:a16="http://schemas.microsoft.com/office/drawing/2014/main" val="3509404124"/>
                  </a:ext>
                </a:extLst>
              </a:tr>
            </a:tbl>
          </a:graphicData>
        </a:graphic>
      </p:graphicFrame>
    </p:spTree>
    <p:extLst>
      <p:ext uri="{BB962C8B-B14F-4D97-AF65-F5344CB8AC3E}">
        <p14:creationId xmlns:p14="http://schemas.microsoft.com/office/powerpoint/2010/main" val="947481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38836-75B8-B545-9C64-37661DEAD451}"/>
              </a:ext>
            </a:extLst>
          </p:cNvPr>
          <p:cNvSpPr>
            <a:spLocks noGrp="1"/>
          </p:cNvSpPr>
          <p:nvPr>
            <p:ph type="title"/>
          </p:nvPr>
        </p:nvSpPr>
        <p:spPr/>
        <p:txBody>
          <a:bodyPr/>
          <a:lstStyle/>
          <a:p>
            <a:r>
              <a:rPr lang="en-US" dirty="0"/>
              <a:t>What is a data model?</a:t>
            </a:r>
          </a:p>
        </p:txBody>
      </p:sp>
      <p:sp>
        <p:nvSpPr>
          <p:cNvPr id="3" name="Content Placeholder 2">
            <a:extLst>
              <a:ext uri="{FF2B5EF4-FFF2-40B4-BE49-F238E27FC236}">
                <a16:creationId xmlns:a16="http://schemas.microsoft.com/office/drawing/2014/main" id="{8396CC88-7CFE-6E4C-9765-BB4FCB3D821B}"/>
              </a:ext>
            </a:extLst>
          </p:cNvPr>
          <p:cNvSpPr>
            <a:spLocks noGrp="1"/>
          </p:cNvSpPr>
          <p:nvPr>
            <p:ph idx="1"/>
          </p:nvPr>
        </p:nvSpPr>
        <p:spPr>
          <a:xfrm>
            <a:off x="1363980" y="1825625"/>
            <a:ext cx="9464040" cy="1442099"/>
          </a:xfrm>
        </p:spPr>
        <p:txBody>
          <a:bodyPr>
            <a:normAutofit fontScale="92500" lnSpcReduction="10000"/>
          </a:bodyPr>
          <a:lstStyle/>
          <a:p>
            <a:r>
              <a:rPr lang="en-US" dirty="0"/>
              <a:t> A description of the structure of a complex data type</a:t>
            </a:r>
          </a:p>
          <a:p>
            <a:r>
              <a:rPr lang="en-US" dirty="0"/>
              <a:t> Class diagrams commonly used to depict data models</a:t>
            </a:r>
          </a:p>
          <a:p>
            <a:pPr lvl="1"/>
            <a:r>
              <a:rPr lang="en-US" dirty="0"/>
              <a:t>List of data element (attribute) names, data types, and cardinality</a:t>
            </a:r>
          </a:p>
        </p:txBody>
      </p:sp>
      <p:grpSp>
        <p:nvGrpSpPr>
          <p:cNvPr id="17" name="Group 16">
            <a:extLst>
              <a:ext uri="{FF2B5EF4-FFF2-40B4-BE49-F238E27FC236}">
                <a16:creationId xmlns:a16="http://schemas.microsoft.com/office/drawing/2014/main" id="{41EB8733-8D66-0987-0F12-2D6E5FED6F9F}"/>
              </a:ext>
            </a:extLst>
          </p:cNvPr>
          <p:cNvGrpSpPr/>
          <p:nvPr/>
        </p:nvGrpSpPr>
        <p:grpSpPr>
          <a:xfrm>
            <a:off x="6616099" y="3590278"/>
            <a:ext cx="2331536" cy="2751522"/>
            <a:chOff x="6418387" y="3590278"/>
            <a:chExt cx="2331536" cy="2751522"/>
          </a:xfrm>
        </p:grpSpPr>
        <p:sp>
          <p:nvSpPr>
            <p:cNvPr id="4" name="TextBox 3">
              <a:extLst>
                <a:ext uri="{FF2B5EF4-FFF2-40B4-BE49-F238E27FC236}">
                  <a16:creationId xmlns:a16="http://schemas.microsoft.com/office/drawing/2014/main" id="{666E4635-0633-2A41-ACF1-198A0E9FABFF}"/>
                </a:ext>
              </a:extLst>
            </p:cNvPr>
            <p:cNvSpPr txBox="1"/>
            <p:nvPr/>
          </p:nvSpPr>
          <p:spPr>
            <a:xfrm>
              <a:off x="6418387" y="3590278"/>
              <a:ext cx="2331536" cy="2751522"/>
            </a:xfrm>
            <a:prstGeom prst="rect">
              <a:avLst/>
            </a:prstGeom>
            <a:noFill/>
            <a:ln>
              <a:solidFill>
                <a:schemeClr val="tx1"/>
              </a:solidFill>
            </a:ln>
          </p:spPr>
          <p:txBody>
            <a:bodyPr wrap="none" rtlCol="0">
              <a:spAutoFit/>
            </a:bodyPr>
            <a:lstStyle/>
            <a:p>
              <a:pPr algn="ctr"/>
              <a:r>
                <a:rPr lang="en-US" sz="1920" dirty="0"/>
                <a:t>Bibliography Entry</a:t>
              </a:r>
            </a:p>
            <a:p>
              <a:r>
                <a:rPr lang="en-US" sz="1920" dirty="0"/>
                <a:t>Author : string [0..*]</a:t>
              </a:r>
            </a:p>
            <a:p>
              <a:r>
                <a:rPr lang="en-US" sz="1920" dirty="0"/>
                <a:t>Title : string [1..1]</a:t>
              </a:r>
            </a:p>
            <a:p>
              <a:r>
                <a:rPr lang="en-US" sz="1920" dirty="0"/>
                <a:t>Year : string [1..1]</a:t>
              </a:r>
            </a:p>
            <a:p>
              <a:r>
                <a:rPr lang="en-US" sz="1920" dirty="0"/>
                <a:t>Journal : string [1..1]</a:t>
              </a:r>
            </a:p>
            <a:p>
              <a:r>
                <a:rPr lang="en-US" sz="1920" dirty="0"/>
                <a:t>Volume : string [0..1]</a:t>
              </a:r>
            </a:p>
            <a:p>
              <a:r>
                <a:rPr lang="en-US" sz="1920" dirty="0"/>
                <a:t>Number : string [0..1]</a:t>
              </a:r>
            </a:p>
            <a:p>
              <a:r>
                <a:rPr lang="en-US" sz="1920" dirty="0"/>
                <a:t>Pages : string [1..1]</a:t>
              </a:r>
            </a:p>
            <a:p>
              <a:r>
                <a:rPr lang="en-US" sz="1920" dirty="0" err="1"/>
                <a:t>doi</a:t>
              </a:r>
              <a:r>
                <a:rPr lang="en-US" sz="1920" dirty="0"/>
                <a:t> : string [0..1]</a:t>
              </a:r>
            </a:p>
          </p:txBody>
        </p:sp>
        <p:sp>
          <p:nvSpPr>
            <p:cNvPr id="5" name="Rectangle 4">
              <a:extLst>
                <a:ext uri="{FF2B5EF4-FFF2-40B4-BE49-F238E27FC236}">
                  <a16:creationId xmlns:a16="http://schemas.microsoft.com/office/drawing/2014/main" id="{E4281560-2E5F-0044-809B-A8E3B4FDCD14}"/>
                </a:ext>
              </a:extLst>
            </p:cNvPr>
            <p:cNvSpPr/>
            <p:nvPr/>
          </p:nvSpPr>
          <p:spPr>
            <a:xfrm>
              <a:off x="6418387" y="3590279"/>
              <a:ext cx="2331536"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6" name="TextBox 5">
            <a:extLst>
              <a:ext uri="{FF2B5EF4-FFF2-40B4-BE49-F238E27FC236}">
                <a16:creationId xmlns:a16="http://schemas.microsoft.com/office/drawing/2014/main" id="{41181A4C-6699-724A-8901-C45372E18C7F}"/>
              </a:ext>
            </a:extLst>
          </p:cNvPr>
          <p:cNvSpPr txBox="1"/>
          <p:nvPr/>
        </p:nvSpPr>
        <p:spPr>
          <a:xfrm>
            <a:off x="9165583" y="3780593"/>
            <a:ext cx="1956626" cy="2419124"/>
          </a:xfrm>
          <a:prstGeom prst="rect">
            <a:avLst/>
          </a:prstGeom>
          <a:noFill/>
        </p:spPr>
        <p:txBody>
          <a:bodyPr wrap="none" rtlCol="0">
            <a:spAutoFit/>
          </a:bodyPr>
          <a:lstStyle/>
          <a:p>
            <a:r>
              <a:rPr lang="en-US" sz="2160" u="sng" dirty="0"/>
              <a:t>Cardinality</a:t>
            </a:r>
          </a:p>
          <a:p>
            <a:r>
              <a:rPr lang="en-US" sz="2160" dirty="0"/>
              <a:t>[Min # .. Max #]</a:t>
            </a:r>
          </a:p>
          <a:p>
            <a:endParaRPr lang="en-US" sz="2160" dirty="0"/>
          </a:p>
          <a:p>
            <a:r>
              <a:rPr lang="en-US" sz="2160" dirty="0"/>
              <a:t>* Any number</a:t>
            </a:r>
          </a:p>
          <a:p>
            <a:endParaRPr lang="en-US" sz="2160" dirty="0"/>
          </a:p>
          <a:p>
            <a:r>
              <a:rPr lang="en-US" sz="2160" dirty="0"/>
              <a:t>[0..1] optional</a:t>
            </a:r>
          </a:p>
          <a:p>
            <a:r>
              <a:rPr lang="en-US" sz="2160" dirty="0"/>
              <a:t>[1..1] required</a:t>
            </a:r>
          </a:p>
        </p:txBody>
      </p:sp>
      <p:grpSp>
        <p:nvGrpSpPr>
          <p:cNvPr id="15" name="Group 14">
            <a:extLst>
              <a:ext uri="{FF2B5EF4-FFF2-40B4-BE49-F238E27FC236}">
                <a16:creationId xmlns:a16="http://schemas.microsoft.com/office/drawing/2014/main" id="{0D30226F-82C6-66BD-23B2-F16020DF2F48}"/>
              </a:ext>
            </a:extLst>
          </p:cNvPr>
          <p:cNvGrpSpPr/>
          <p:nvPr/>
        </p:nvGrpSpPr>
        <p:grpSpPr>
          <a:xfrm>
            <a:off x="1334532" y="3590277"/>
            <a:ext cx="2347785" cy="1784913"/>
            <a:chOff x="1161534" y="3590277"/>
            <a:chExt cx="2347785" cy="1784913"/>
          </a:xfrm>
        </p:grpSpPr>
        <p:sp>
          <p:nvSpPr>
            <p:cNvPr id="8" name="Rectangle 7">
              <a:extLst>
                <a:ext uri="{FF2B5EF4-FFF2-40B4-BE49-F238E27FC236}">
                  <a16:creationId xmlns:a16="http://schemas.microsoft.com/office/drawing/2014/main" id="{CCDFF013-765A-9BD1-F894-F53A96DAF1AB}"/>
                </a:ext>
              </a:extLst>
            </p:cNvPr>
            <p:cNvSpPr/>
            <p:nvPr/>
          </p:nvSpPr>
          <p:spPr>
            <a:xfrm>
              <a:off x="1161534" y="3590278"/>
              <a:ext cx="2347785" cy="1784912"/>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Accession number</a:t>
              </a:r>
            </a:p>
            <a:p>
              <a:r>
                <a:rPr lang="en-US" dirty="0">
                  <a:solidFill>
                    <a:schemeClr val="tx1"/>
                  </a:solidFill>
                </a:rPr>
                <a:t>Year: string (num)</a:t>
              </a:r>
            </a:p>
            <a:p>
              <a:r>
                <a:rPr lang="en-US" dirty="0">
                  <a:solidFill>
                    <a:schemeClr val="tx1"/>
                  </a:solidFill>
                </a:rPr>
                <a:t>Lab code: string</a:t>
              </a:r>
            </a:p>
            <a:p>
              <a:r>
                <a:rPr lang="en-US" dirty="0">
                  <a:solidFill>
                    <a:schemeClr val="tx1"/>
                  </a:solidFill>
                </a:rPr>
                <a:t>Julian day: string (num)</a:t>
              </a:r>
            </a:p>
            <a:p>
              <a:r>
                <a:rPr lang="en-US" dirty="0">
                  <a:solidFill>
                    <a:schemeClr val="tx1"/>
                  </a:solidFill>
                </a:rPr>
                <a:t>Section code: string</a:t>
              </a:r>
            </a:p>
            <a:p>
              <a:r>
                <a:rPr lang="en-US" dirty="0">
                  <a:solidFill>
                    <a:schemeClr val="tx1"/>
                  </a:solidFill>
                </a:rPr>
                <a:t>Counter: string (num)</a:t>
              </a:r>
            </a:p>
          </p:txBody>
        </p:sp>
        <p:sp>
          <p:nvSpPr>
            <p:cNvPr id="12" name="Rectangle 11">
              <a:extLst>
                <a:ext uri="{FF2B5EF4-FFF2-40B4-BE49-F238E27FC236}">
                  <a16:creationId xmlns:a16="http://schemas.microsoft.com/office/drawing/2014/main" id="{99A45D6F-DD22-938C-B8C8-348D560DC6D8}"/>
                </a:ext>
              </a:extLst>
            </p:cNvPr>
            <p:cNvSpPr/>
            <p:nvPr/>
          </p:nvSpPr>
          <p:spPr>
            <a:xfrm>
              <a:off x="1161534" y="3590277"/>
              <a:ext cx="2347785"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grpSp>
        <p:nvGrpSpPr>
          <p:cNvPr id="16" name="Group 15">
            <a:extLst>
              <a:ext uri="{FF2B5EF4-FFF2-40B4-BE49-F238E27FC236}">
                <a16:creationId xmlns:a16="http://schemas.microsoft.com/office/drawing/2014/main" id="{BDE0DE3E-1AA7-4899-C1F7-4385420B31A1}"/>
              </a:ext>
            </a:extLst>
          </p:cNvPr>
          <p:cNvGrpSpPr/>
          <p:nvPr/>
        </p:nvGrpSpPr>
        <p:grpSpPr>
          <a:xfrm>
            <a:off x="3987672" y="3590276"/>
            <a:ext cx="2306041" cy="2316254"/>
            <a:chOff x="3789960" y="3590276"/>
            <a:chExt cx="2306041" cy="2316254"/>
          </a:xfrm>
        </p:grpSpPr>
        <p:sp>
          <p:nvSpPr>
            <p:cNvPr id="13" name="Rectangle 12">
              <a:extLst>
                <a:ext uri="{FF2B5EF4-FFF2-40B4-BE49-F238E27FC236}">
                  <a16:creationId xmlns:a16="http://schemas.microsoft.com/office/drawing/2014/main" id="{FFA6BD30-59B6-AB3E-FF52-06EE8A4F794F}"/>
                </a:ext>
              </a:extLst>
            </p:cNvPr>
            <p:cNvSpPr/>
            <p:nvPr/>
          </p:nvSpPr>
          <p:spPr>
            <a:xfrm>
              <a:off x="3789961" y="3590277"/>
              <a:ext cx="2306040" cy="231625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Address</a:t>
              </a:r>
            </a:p>
            <a:p>
              <a:r>
                <a:rPr lang="en-US" dirty="0">
                  <a:solidFill>
                    <a:schemeClr val="tx1"/>
                  </a:solidFill>
                </a:rPr>
                <a:t>Name: string</a:t>
              </a:r>
            </a:p>
            <a:p>
              <a:r>
                <a:rPr lang="en-US" dirty="0">
                  <a:solidFill>
                    <a:schemeClr val="tx1"/>
                  </a:solidFill>
                </a:rPr>
                <a:t>Street number: string</a:t>
              </a:r>
            </a:p>
            <a:p>
              <a:r>
                <a:rPr lang="en-US" dirty="0">
                  <a:solidFill>
                    <a:schemeClr val="tx1"/>
                  </a:solidFill>
                </a:rPr>
                <a:t>Street name: string</a:t>
              </a:r>
            </a:p>
            <a:p>
              <a:r>
                <a:rPr lang="en-US" dirty="0">
                  <a:solidFill>
                    <a:schemeClr val="tx1"/>
                  </a:solidFill>
                </a:rPr>
                <a:t>Apt </a:t>
              </a:r>
              <a:r>
                <a:rPr lang="en-US" dirty="0" err="1">
                  <a:solidFill>
                    <a:schemeClr val="tx1"/>
                  </a:solidFill>
                </a:rPr>
                <a:t>number:string</a:t>
              </a:r>
              <a:endParaRPr lang="en-US" dirty="0">
                <a:solidFill>
                  <a:schemeClr val="tx1"/>
                </a:solidFill>
              </a:endParaRPr>
            </a:p>
            <a:p>
              <a:r>
                <a:rPr lang="en-US" dirty="0">
                  <a:solidFill>
                    <a:schemeClr val="tx1"/>
                  </a:solidFill>
                </a:rPr>
                <a:t>City: string</a:t>
              </a:r>
            </a:p>
            <a:p>
              <a:r>
                <a:rPr lang="en-US" dirty="0">
                  <a:solidFill>
                    <a:schemeClr val="tx1"/>
                  </a:solidFill>
                </a:rPr>
                <a:t>State: string (</a:t>
              </a:r>
              <a:r>
                <a:rPr lang="en-US" dirty="0" err="1">
                  <a:solidFill>
                    <a:schemeClr val="tx1"/>
                  </a:solidFill>
                </a:rPr>
                <a:t>codeset</a:t>
              </a:r>
              <a:r>
                <a:rPr lang="en-US" dirty="0">
                  <a:solidFill>
                    <a:schemeClr val="tx1"/>
                  </a:solidFill>
                </a:rPr>
                <a:t>)</a:t>
              </a:r>
            </a:p>
            <a:p>
              <a:r>
                <a:rPr lang="en-US" dirty="0">
                  <a:solidFill>
                    <a:schemeClr val="tx1"/>
                  </a:solidFill>
                </a:rPr>
                <a:t>Zip code: str (num, 5)</a:t>
              </a:r>
            </a:p>
          </p:txBody>
        </p:sp>
        <p:sp>
          <p:nvSpPr>
            <p:cNvPr id="14" name="Rectangle 13">
              <a:extLst>
                <a:ext uri="{FF2B5EF4-FFF2-40B4-BE49-F238E27FC236}">
                  <a16:creationId xmlns:a16="http://schemas.microsoft.com/office/drawing/2014/main" id="{79D24C0E-CE00-1CBC-D676-D635AA20AC46}"/>
                </a:ext>
              </a:extLst>
            </p:cNvPr>
            <p:cNvSpPr/>
            <p:nvPr/>
          </p:nvSpPr>
          <p:spPr>
            <a:xfrm>
              <a:off x="3789960" y="3590276"/>
              <a:ext cx="2306040"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7" name="TextBox 6">
            <a:extLst>
              <a:ext uri="{FF2B5EF4-FFF2-40B4-BE49-F238E27FC236}">
                <a16:creationId xmlns:a16="http://schemas.microsoft.com/office/drawing/2014/main" id="{AB0A91A0-39A1-C37A-B763-3C1A4ADC411B}"/>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037940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AC48-D6EF-42B7-6087-6F1FEDAAAF1F}"/>
              </a:ext>
            </a:extLst>
          </p:cNvPr>
          <p:cNvSpPr>
            <a:spLocks noGrp="1"/>
          </p:cNvSpPr>
          <p:nvPr>
            <p:ph type="title"/>
          </p:nvPr>
        </p:nvSpPr>
        <p:spPr/>
        <p:txBody>
          <a:bodyPr/>
          <a:lstStyle/>
          <a:p>
            <a:r>
              <a:rPr lang="en-US" dirty="0"/>
              <a:t>How do computers store data?</a:t>
            </a:r>
          </a:p>
        </p:txBody>
      </p:sp>
      <p:sp>
        <p:nvSpPr>
          <p:cNvPr id="3" name="Content Placeholder 2">
            <a:extLst>
              <a:ext uri="{FF2B5EF4-FFF2-40B4-BE49-F238E27FC236}">
                <a16:creationId xmlns:a16="http://schemas.microsoft.com/office/drawing/2014/main" id="{64476130-61D8-34DC-F595-7E9D9DBB5466}"/>
              </a:ext>
            </a:extLst>
          </p:cNvPr>
          <p:cNvSpPr>
            <a:spLocks noGrp="1"/>
          </p:cNvSpPr>
          <p:nvPr>
            <p:ph idx="1"/>
          </p:nvPr>
        </p:nvSpPr>
        <p:spPr>
          <a:xfrm>
            <a:off x="1024128" y="1852131"/>
            <a:ext cx="9464040" cy="4311908"/>
          </a:xfrm>
        </p:spPr>
        <p:txBody>
          <a:bodyPr>
            <a:normAutofit fontScale="85000" lnSpcReduction="20000"/>
          </a:bodyPr>
          <a:lstStyle/>
          <a:p>
            <a:pPr>
              <a:lnSpc>
                <a:spcPct val="100000"/>
              </a:lnSpc>
            </a:pPr>
            <a:r>
              <a:rPr lang="en-US" dirty="0"/>
              <a:t> Data in working memory is volatile</a:t>
            </a:r>
          </a:p>
          <a:p>
            <a:pPr lvl="1">
              <a:lnSpc>
                <a:spcPct val="100000"/>
              </a:lnSpc>
            </a:pPr>
            <a:r>
              <a:rPr lang="en-US" dirty="0"/>
              <a:t>Lost if powered down</a:t>
            </a:r>
          </a:p>
          <a:p>
            <a:pPr>
              <a:lnSpc>
                <a:spcPct val="100000"/>
              </a:lnSpc>
            </a:pPr>
            <a:r>
              <a:rPr lang="en-US" dirty="0"/>
              <a:t> Non-volatile media (disks, tape, solid state storage, optical)</a:t>
            </a:r>
          </a:p>
          <a:p>
            <a:pPr lvl="1">
              <a:lnSpc>
                <a:spcPct val="100000"/>
              </a:lnSpc>
            </a:pPr>
            <a:r>
              <a:rPr lang="en-US" dirty="0"/>
              <a:t>Maintains state without power</a:t>
            </a:r>
          </a:p>
          <a:p>
            <a:pPr>
              <a:lnSpc>
                <a:spcPct val="100000"/>
              </a:lnSpc>
            </a:pPr>
            <a:r>
              <a:rPr lang="en-US" dirty="0"/>
              <a:t> Data can be preserved by copying it to non-volatile media in files</a:t>
            </a:r>
          </a:p>
          <a:p>
            <a:pPr lvl="1">
              <a:lnSpc>
                <a:spcPct val="100000"/>
              </a:lnSpc>
            </a:pPr>
            <a:r>
              <a:rPr lang="en-US" dirty="0"/>
              <a:t>Files are a block of binary data with a known size and position in the media</a:t>
            </a:r>
          </a:p>
          <a:p>
            <a:pPr lvl="1">
              <a:lnSpc>
                <a:spcPct val="100000"/>
              </a:lnSpc>
            </a:pPr>
            <a:r>
              <a:rPr lang="en-US" dirty="0"/>
              <a:t>Files have names, creation dates, and modification dates</a:t>
            </a:r>
          </a:p>
          <a:p>
            <a:pPr lvl="1">
              <a:lnSpc>
                <a:spcPct val="100000"/>
              </a:lnSpc>
            </a:pPr>
            <a:r>
              <a:rPr lang="en-US" dirty="0"/>
              <a:t>Filename extensions may indicate the type of file or creating program</a:t>
            </a:r>
          </a:p>
          <a:p>
            <a:pPr lvl="1">
              <a:lnSpc>
                <a:spcPct val="100000"/>
              </a:lnSpc>
            </a:pPr>
            <a:r>
              <a:rPr lang="en-US" dirty="0"/>
              <a:t>Internal structure allows data to be accurately recognized</a:t>
            </a:r>
          </a:p>
          <a:p>
            <a:pPr lvl="2">
              <a:lnSpc>
                <a:spcPct val="100000"/>
              </a:lnSpc>
            </a:pPr>
            <a:r>
              <a:rPr lang="en-US" dirty="0"/>
              <a:t>File structure may be proprietary or an open standard</a:t>
            </a:r>
          </a:p>
          <a:p>
            <a:pPr lvl="1">
              <a:lnSpc>
                <a:spcPct val="100000"/>
              </a:lnSpc>
            </a:pPr>
            <a:endParaRPr lang="en-US" dirty="0"/>
          </a:p>
        </p:txBody>
      </p:sp>
      <p:sp>
        <p:nvSpPr>
          <p:cNvPr id="4" name="TextBox 3">
            <a:extLst>
              <a:ext uri="{FF2B5EF4-FFF2-40B4-BE49-F238E27FC236}">
                <a16:creationId xmlns:a16="http://schemas.microsoft.com/office/drawing/2014/main" id="{CBFDD7A5-EEF9-F775-1598-72126C5DEF5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1527336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6DF1-2214-C449-A82E-BB0A665F7ADE}"/>
              </a:ext>
            </a:extLst>
          </p:cNvPr>
          <p:cNvSpPr>
            <a:spLocks noGrp="1"/>
          </p:cNvSpPr>
          <p:nvPr>
            <p:ph type="title"/>
          </p:nvPr>
        </p:nvSpPr>
        <p:spPr/>
        <p:txBody>
          <a:bodyPr/>
          <a:lstStyle/>
          <a:p>
            <a:r>
              <a:rPr lang="en-US" dirty="0"/>
              <a:t>Storing data in files</a:t>
            </a:r>
          </a:p>
        </p:txBody>
      </p:sp>
      <p:sp>
        <p:nvSpPr>
          <p:cNvPr id="3" name="Content Placeholder 2">
            <a:extLst>
              <a:ext uri="{FF2B5EF4-FFF2-40B4-BE49-F238E27FC236}">
                <a16:creationId xmlns:a16="http://schemas.microsoft.com/office/drawing/2014/main" id="{F7232661-C426-2546-91AD-FC0FA1CC5592}"/>
              </a:ext>
            </a:extLst>
          </p:cNvPr>
          <p:cNvSpPr>
            <a:spLocks noGrp="1"/>
          </p:cNvSpPr>
          <p:nvPr>
            <p:ph idx="1"/>
          </p:nvPr>
        </p:nvSpPr>
        <p:spPr>
          <a:xfrm>
            <a:off x="794636" y="1915430"/>
            <a:ext cx="10929198" cy="4742641"/>
          </a:xfrm>
        </p:spPr>
        <p:txBody>
          <a:bodyPr>
            <a:normAutofit fontScale="85000" lnSpcReduction="20000"/>
          </a:bodyPr>
          <a:lstStyle/>
          <a:p>
            <a:pPr>
              <a:lnSpc>
                <a:spcPct val="110000"/>
              </a:lnSpc>
            </a:pPr>
            <a:r>
              <a:rPr lang="en-US" sz="2400" dirty="0"/>
              <a:t>Binary files</a:t>
            </a:r>
          </a:p>
          <a:p>
            <a:pPr lvl="1">
              <a:lnSpc>
                <a:spcPct val="110000"/>
              </a:lnSpc>
            </a:pPr>
            <a:r>
              <a:rPr lang="en-US" sz="2000" dirty="0"/>
              <a:t>Binary encoding, meaning is software-specific and defined by the software authors</a:t>
            </a:r>
          </a:p>
          <a:p>
            <a:pPr lvl="1">
              <a:lnSpc>
                <a:spcPct val="110000"/>
              </a:lnSpc>
            </a:pPr>
            <a:r>
              <a:rPr lang="en-US" sz="2000" dirty="0"/>
              <a:t>Native Word, </a:t>
            </a:r>
            <a:r>
              <a:rPr lang="en-US" sz="2000" dirty="0" err="1"/>
              <a:t>Powerpoint</a:t>
            </a:r>
            <a:r>
              <a:rPr lang="en-US" sz="2000" dirty="0"/>
              <a:t>, and </a:t>
            </a:r>
            <a:r>
              <a:rPr lang="en-US" sz="2000" b="1" dirty="0"/>
              <a:t>Excel</a:t>
            </a:r>
            <a:r>
              <a:rPr lang="en-US" sz="2000" dirty="0"/>
              <a:t> files</a:t>
            </a:r>
          </a:p>
          <a:p>
            <a:pPr>
              <a:lnSpc>
                <a:spcPct val="110000"/>
              </a:lnSpc>
            </a:pPr>
            <a:r>
              <a:rPr lang="en-US" sz="2400" dirty="0"/>
              <a:t>Text files</a:t>
            </a:r>
          </a:p>
          <a:p>
            <a:pPr lvl="1">
              <a:lnSpc>
                <a:spcPct val="110000"/>
              </a:lnSpc>
            </a:pPr>
            <a:r>
              <a:rPr lang="en-US" sz="2000" dirty="0"/>
              <a:t>Store data as characters, including numbers</a:t>
            </a:r>
          </a:p>
          <a:p>
            <a:pPr lvl="1">
              <a:lnSpc>
                <a:spcPct val="110000"/>
              </a:lnSpc>
            </a:pPr>
            <a:r>
              <a:rPr lang="en-US" sz="2000" dirty="0"/>
              <a:t>Plain text (“flat file” or unstructured text,  </a:t>
            </a:r>
            <a:br>
              <a:rPr lang="en-US" sz="2000" dirty="0"/>
            </a:br>
            <a:r>
              <a:rPr lang="en-US" sz="2000" dirty="0"/>
              <a:t>a character string in Unicode or ASCII)</a:t>
            </a:r>
          </a:p>
          <a:p>
            <a:pPr lvl="1">
              <a:lnSpc>
                <a:spcPct val="110000"/>
              </a:lnSpc>
            </a:pPr>
            <a:r>
              <a:rPr lang="en-US" sz="2000" dirty="0"/>
              <a:t>Rich text format (RTF), character sequences </a:t>
            </a:r>
            <a:br>
              <a:rPr lang="en-US" sz="2000" dirty="0"/>
            </a:br>
            <a:r>
              <a:rPr lang="en-US" sz="2000" dirty="0"/>
              <a:t>indicate formatting</a:t>
            </a:r>
          </a:p>
          <a:p>
            <a:pPr lvl="1">
              <a:lnSpc>
                <a:spcPct val="110000"/>
              </a:lnSpc>
            </a:pPr>
            <a:r>
              <a:rPr lang="en-US" sz="2000" dirty="0"/>
              <a:t>Delimited files</a:t>
            </a:r>
          </a:p>
          <a:p>
            <a:pPr lvl="2">
              <a:lnSpc>
                <a:spcPct val="110000"/>
              </a:lnSpc>
            </a:pPr>
            <a:r>
              <a:rPr lang="en-US" sz="1800" dirty="0"/>
              <a:t>Comma separated values (CSV), quoted CSV, </a:t>
            </a:r>
            <a:br>
              <a:rPr lang="en-US" sz="1800" dirty="0"/>
            </a:br>
            <a:r>
              <a:rPr lang="en-US" sz="1800" dirty="0"/>
              <a:t>tab delimited, space delimited</a:t>
            </a:r>
          </a:p>
          <a:p>
            <a:pPr lvl="1">
              <a:lnSpc>
                <a:spcPct val="110000"/>
              </a:lnSpc>
            </a:pPr>
            <a:r>
              <a:rPr lang="en-US" sz="2000" dirty="0"/>
              <a:t>Structured text (eg, json or xml)</a:t>
            </a:r>
          </a:p>
          <a:p>
            <a:pPr>
              <a:lnSpc>
                <a:spcPct val="110000"/>
              </a:lnSpc>
            </a:pPr>
            <a:r>
              <a:rPr lang="en-US" sz="2400" dirty="0"/>
              <a:t>Databases</a:t>
            </a:r>
          </a:p>
          <a:p>
            <a:pPr lvl="1">
              <a:lnSpc>
                <a:spcPct val="110000"/>
              </a:lnSpc>
            </a:pPr>
            <a:r>
              <a:rPr lang="en-US" sz="2000" dirty="0"/>
              <a:t>Files specially structured for rapid and reliable data storage, update, search, and retrieval</a:t>
            </a:r>
          </a:p>
        </p:txBody>
      </p:sp>
      <p:pic>
        <p:nvPicPr>
          <p:cNvPr id="11" name="Picture 10" descr="A picture containing text&#10;&#10;Description automatically generated">
            <a:extLst>
              <a:ext uri="{FF2B5EF4-FFF2-40B4-BE49-F238E27FC236}">
                <a16:creationId xmlns:a16="http://schemas.microsoft.com/office/drawing/2014/main" id="{7A6D2F14-F06F-3AF3-8598-FC67465A8B9C}"/>
              </a:ext>
            </a:extLst>
          </p:cNvPr>
          <p:cNvPicPr>
            <a:picLocks noChangeAspect="1"/>
          </p:cNvPicPr>
          <p:nvPr/>
        </p:nvPicPr>
        <p:blipFill>
          <a:blip r:embed="rId2"/>
          <a:stretch>
            <a:fillRect/>
          </a:stretch>
        </p:blipFill>
        <p:spPr>
          <a:xfrm>
            <a:off x="7194916" y="3185665"/>
            <a:ext cx="3718042" cy="1325563"/>
          </a:xfrm>
          <a:prstGeom prst="rect">
            <a:avLst/>
          </a:prstGeom>
          <a:effectLst>
            <a:outerShdw blurRad="50800" dist="38100" dir="5400000" algn="t" rotWithShape="0">
              <a:prstClr val="black">
                <a:alpha val="40000"/>
              </a:prstClr>
            </a:outerShdw>
          </a:effectLst>
        </p:spPr>
      </p:pic>
      <p:pic>
        <p:nvPicPr>
          <p:cNvPr id="13" name="Picture 12" descr="Graphical user interface, text, application, email&#10;&#10;Description automatically generated">
            <a:extLst>
              <a:ext uri="{FF2B5EF4-FFF2-40B4-BE49-F238E27FC236}">
                <a16:creationId xmlns:a16="http://schemas.microsoft.com/office/drawing/2014/main" id="{8B0D2089-0191-B452-AD5C-6F57D08EC786}"/>
              </a:ext>
            </a:extLst>
          </p:cNvPr>
          <p:cNvPicPr>
            <a:picLocks noChangeAspect="1"/>
          </p:cNvPicPr>
          <p:nvPr/>
        </p:nvPicPr>
        <p:blipFill>
          <a:blip r:embed="rId3"/>
          <a:stretch>
            <a:fillRect/>
          </a:stretch>
        </p:blipFill>
        <p:spPr>
          <a:xfrm>
            <a:off x="7194916" y="4673543"/>
            <a:ext cx="3718042" cy="1330753"/>
          </a:xfrm>
          <a:prstGeom prst="rect">
            <a:avLst/>
          </a:prstGeom>
          <a:effectLst>
            <a:outerShdw blurRad="50800" dist="38100" dir="5400000" algn="t" rotWithShape="0">
              <a:prstClr val="black">
                <a:alpha val="40000"/>
              </a:prstClr>
            </a:outerShdw>
          </a:effectLst>
        </p:spPr>
      </p:pic>
      <p:sp>
        <p:nvSpPr>
          <p:cNvPr id="14" name="TextBox 13">
            <a:extLst>
              <a:ext uri="{FF2B5EF4-FFF2-40B4-BE49-F238E27FC236}">
                <a16:creationId xmlns:a16="http://schemas.microsoft.com/office/drawing/2014/main" id="{3AD52B48-8664-EBB5-2B53-3BB7C33E27DE}"/>
              </a:ext>
            </a:extLst>
          </p:cNvPr>
          <p:cNvSpPr txBox="1"/>
          <p:nvPr/>
        </p:nvSpPr>
        <p:spPr>
          <a:xfrm>
            <a:off x="7090707" y="2719749"/>
            <a:ext cx="1963230" cy="369332"/>
          </a:xfrm>
          <a:prstGeom prst="rect">
            <a:avLst/>
          </a:prstGeom>
          <a:noFill/>
        </p:spPr>
        <p:txBody>
          <a:bodyPr wrap="none" rtlCol="0">
            <a:spAutoFit/>
          </a:bodyPr>
          <a:lstStyle/>
          <a:p>
            <a:r>
              <a:rPr lang="en-US" dirty="0"/>
              <a:t>ASCII-encoded text</a:t>
            </a:r>
          </a:p>
        </p:txBody>
      </p:sp>
      <p:sp>
        <p:nvSpPr>
          <p:cNvPr id="4" name="TextBox 3">
            <a:extLst>
              <a:ext uri="{FF2B5EF4-FFF2-40B4-BE49-F238E27FC236}">
                <a16:creationId xmlns:a16="http://schemas.microsoft.com/office/drawing/2014/main" id="{A5D3B114-5CF0-3388-59C6-12E27A68E8F5}"/>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415259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7F55B-3BCC-A941-9349-0A6EA3D959C9}"/>
              </a:ext>
            </a:extLst>
          </p:cNvPr>
          <p:cNvSpPr>
            <a:spLocks noGrp="1"/>
          </p:cNvSpPr>
          <p:nvPr>
            <p:ph type="title"/>
          </p:nvPr>
        </p:nvSpPr>
        <p:spPr/>
        <p:txBody>
          <a:bodyPr/>
          <a:lstStyle/>
          <a:p>
            <a:r>
              <a:rPr lang="en-US" dirty="0"/>
              <a:t>Delimited files</a:t>
            </a:r>
          </a:p>
        </p:txBody>
      </p:sp>
      <p:sp>
        <p:nvSpPr>
          <p:cNvPr id="14" name="Content Placeholder 13">
            <a:extLst>
              <a:ext uri="{FF2B5EF4-FFF2-40B4-BE49-F238E27FC236}">
                <a16:creationId xmlns:a16="http://schemas.microsoft.com/office/drawing/2014/main" id="{E27C2D22-9E8E-994D-A134-EBFA78CACC74}"/>
              </a:ext>
            </a:extLst>
          </p:cNvPr>
          <p:cNvSpPr>
            <a:spLocks noGrp="1"/>
          </p:cNvSpPr>
          <p:nvPr>
            <p:ph idx="1"/>
          </p:nvPr>
        </p:nvSpPr>
        <p:spPr>
          <a:xfrm>
            <a:off x="838199" y="2623929"/>
            <a:ext cx="3044687" cy="3553033"/>
          </a:xfrm>
        </p:spPr>
        <p:txBody>
          <a:bodyPr>
            <a:normAutofit lnSpcReduction="10000"/>
          </a:bodyPr>
          <a:lstStyle/>
          <a:p>
            <a:pPr marL="0" indent="0">
              <a:buNone/>
            </a:pPr>
            <a:r>
              <a:rPr lang="en-US" dirty="0"/>
              <a:t>Comma separated values (CSV)</a:t>
            </a:r>
          </a:p>
          <a:p>
            <a:endParaRPr lang="en-US" dirty="0"/>
          </a:p>
          <a:p>
            <a:endParaRPr lang="en-US" dirty="0"/>
          </a:p>
          <a:p>
            <a:endParaRPr lang="en-US" dirty="0"/>
          </a:p>
          <a:p>
            <a:pPr marL="0" indent="0">
              <a:buNone/>
            </a:pPr>
            <a:r>
              <a:rPr lang="en-US" dirty="0"/>
              <a:t>Quoted CSV</a:t>
            </a:r>
          </a:p>
        </p:txBody>
      </p:sp>
      <p:pic>
        <p:nvPicPr>
          <p:cNvPr id="7" name="Picture 6">
            <a:extLst>
              <a:ext uri="{FF2B5EF4-FFF2-40B4-BE49-F238E27FC236}">
                <a16:creationId xmlns:a16="http://schemas.microsoft.com/office/drawing/2014/main" id="{DA8D1439-755D-4F46-8FE7-906A5B42E7BC}"/>
              </a:ext>
            </a:extLst>
          </p:cNvPr>
          <p:cNvPicPr>
            <a:picLocks noChangeAspect="1"/>
          </p:cNvPicPr>
          <p:nvPr/>
        </p:nvPicPr>
        <p:blipFill>
          <a:blip r:embed="rId2"/>
          <a:stretch>
            <a:fillRect/>
          </a:stretch>
        </p:blipFill>
        <p:spPr>
          <a:xfrm>
            <a:off x="4317721" y="2447784"/>
            <a:ext cx="6192009" cy="1325562"/>
          </a:xfrm>
          <a:prstGeom prst="rect">
            <a:avLst/>
          </a:prstGeom>
          <a:ln>
            <a:solidFill>
              <a:srgbClr val="C6CFD2"/>
            </a:solidFill>
          </a:ln>
          <a:effectLst>
            <a:outerShdw blurRad="50800" dist="38100" dir="5400000" algn="t" rotWithShape="0">
              <a:prstClr val="black">
                <a:alpha val="40000"/>
              </a:prstClr>
            </a:outerShdw>
          </a:effectLst>
        </p:spPr>
      </p:pic>
      <p:pic>
        <p:nvPicPr>
          <p:cNvPr id="13" name="Picture 12">
            <a:extLst>
              <a:ext uri="{FF2B5EF4-FFF2-40B4-BE49-F238E27FC236}">
                <a16:creationId xmlns:a16="http://schemas.microsoft.com/office/drawing/2014/main" id="{71541218-708C-7942-8DFA-E59C0F9FCA1E}"/>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pic>
        <p:nvPicPr>
          <p:cNvPr id="4" name="Picture 3" descr="Text&#10;&#10;Description automatically generated">
            <a:extLst>
              <a:ext uri="{FF2B5EF4-FFF2-40B4-BE49-F238E27FC236}">
                <a16:creationId xmlns:a16="http://schemas.microsoft.com/office/drawing/2014/main" id="{415FC675-800E-BBF7-1195-DDE33B6DF7DE}"/>
              </a:ext>
            </a:extLst>
          </p:cNvPr>
          <p:cNvPicPr>
            <a:picLocks noChangeAspect="1"/>
          </p:cNvPicPr>
          <p:nvPr/>
        </p:nvPicPr>
        <p:blipFill>
          <a:blip r:embed="rId4"/>
          <a:stretch>
            <a:fillRect/>
          </a:stretch>
        </p:blipFill>
        <p:spPr>
          <a:xfrm>
            <a:off x="3191244" y="4530442"/>
            <a:ext cx="8419938" cy="1425858"/>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80AD7C60-1D53-3D00-4211-2BD4E1D9266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57506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86EA-645F-624B-901C-7BBF816C4FA5}"/>
              </a:ext>
            </a:extLst>
          </p:cNvPr>
          <p:cNvSpPr>
            <a:spLocks noGrp="1"/>
          </p:cNvSpPr>
          <p:nvPr>
            <p:ph type="title"/>
          </p:nvPr>
        </p:nvSpPr>
        <p:spPr/>
        <p:txBody>
          <a:bodyPr/>
          <a:lstStyle/>
          <a:p>
            <a:r>
              <a:rPr lang="en-US" dirty="0"/>
              <a:t>Structured text</a:t>
            </a:r>
          </a:p>
        </p:txBody>
      </p:sp>
      <p:pic>
        <p:nvPicPr>
          <p:cNvPr id="4" name="Picture 3">
            <a:extLst>
              <a:ext uri="{FF2B5EF4-FFF2-40B4-BE49-F238E27FC236}">
                <a16:creationId xmlns:a16="http://schemas.microsoft.com/office/drawing/2014/main" id="{5DD7033C-3D81-004E-A5C0-4ADDE4F28D7C}"/>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sp>
        <p:nvSpPr>
          <p:cNvPr id="7" name="TextBox 6">
            <a:extLst>
              <a:ext uri="{FF2B5EF4-FFF2-40B4-BE49-F238E27FC236}">
                <a16:creationId xmlns:a16="http://schemas.microsoft.com/office/drawing/2014/main" id="{17816E88-9F27-DD45-9E9D-5C5B00CA8504}"/>
              </a:ext>
            </a:extLst>
          </p:cNvPr>
          <p:cNvSpPr txBox="1"/>
          <p:nvPr/>
        </p:nvSpPr>
        <p:spPr>
          <a:xfrm>
            <a:off x="6025095" y="1775223"/>
            <a:ext cx="5611918" cy="1077218"/>
          </a:xfrm>
          <a:prstGeom prst="rect">
            <a:avLst/>
          </a:prstGeom>
          <a:noFill/>
        </p:spPr>
        <p:txBody>
          <a:bodyPr wrap="square" rtlCol="0">
            <a:spAutoFit/>
          </a:bodyPr>
          <a:lstStyle/>
          <a:p>
            <a:pPr algn="ctr"/>
            <a:r>
              <a:rPr lang="en-US" sz="3200" dirty="0"/>
              <a:t>Extensible Markup Language (XML)</a:t>
            </a:r>
          </a:p>
        </p:txBody>
      </p:sp>
      <p:sp>
        <p:nvSpPr>
          <p:cNvPr id="8" name="TextBox 7">
            <a:extLst>
              <a:ext uri="{FF2B5EF4-FFF2-40B4-BE49-F238E27FC236}">
                <a16:creationId xmlns:a16="http://schemas.microsoft.com/office/drawing/2014/main" id="{BA0D71E6-EA90-E94B-9F56-1CC772CF38B7}"/>
              </a:ext>
            </a:extLst>
          </p:cNvPr>
          <p:cNvSpPr txBox="1"/>
          <p:nvPr/>
        </p:nvSpPr>
        <p:spPr>
          <a:xfrm>
            <a:off x="702893" y="1775223"/>
            <a:ext cx="4906170" cy="1077218"/>
          </a:xfrm>
          <a:prstGeom prst="rect">
            <a:avLst/>
          </a:prstGeom>
          <a:noFill/>
        </p:spPr>
        <p:txBody>
          <a:bodyPr wrap="square" rtlCol="0">
            <a:spAutoFit/>
          </a:bodyPr>
          <a:lstStyle/>
          <a:p>
            <a:pPr algn="ctr"/>
            <a:r>
              <a:rPr lang="en-US" sz="3200" dirty="0" err="1"/>
              <a:t>Javascript</a:t>
            </a:r>
            <a:r>
              <a:rPr lang="en-US" sz="3200" dirty="0"/>
              <a:t> Object Notation (JSON)</a:t>
            </a:r>
          </a:p>
        </p:txBody>
      </p:sp>
      <p:pic>
        <p:nvPicPr>
          <p:cNvPr id="10" name="Picture 9">
            <a:extLst>
              <a:ext uri="{FF2B5EF4-FFF2-40B4-BE49-F238E27FC236}">
                <a16:creationId xmlns:a16="http://schemas.microsoft.com/office/drawing/2014/main" id="{ADEE8F34-B21C-A542-BD66-905D8D0CD4AE}"/>
              </a:ext>
            </a:extLst>
          </p:cNvPr>
          <p:cNvPicPr>
            <a:picLocks noChangeAspect="1"/>
          </p:cNvPicPr>
          <p:nvPr/>
        </p:nvPicPr>
        <p:blipFill>
          <a:blip r:embed="rId4"/>
          <a:stretch>
            <a:fillRect/>
          </a:stretch>
        </p:blipFill>
        <p:spPr>
          <a:xfrm>
            <a:off x="6187841" y="2839737"/>
            <a:ext cx="3197024" cy="3433047"/>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13" name="TextBox 12">
            <a:extLst>
              <a:ext uri="{FF2B5EF4-FFF2-40B4-BE49-F238E27FC236}">
                <a16:creationId xmlns:a16="http://schemas.microsoft.com/office/drawing/2014/main" id="{FF48FB55-1478-C842-8F12-2AD30CCDF2E9}"/>
              </a:ext>
            </a:extLst>
          </p:cNvPr>
          <p:cNvSpPr txBox="1"/>
          <p:nvPr/>
        </p:nvSpPr>
        <p:spPr>
          <a:xfrm>
            <a:off x="9369356" y="2945313"/>
            <a:ext cx="2876366" cy="3370153"/>
          </a:xfrm>
          <a:prstGeom prst="rect">
            <a:avLst/>
          </a:prstGeom>
          <a:noFill/>
        </p:spPr>
        <p:txBody>
          <a:bodyPr wrap="square" rtlCol="0">
            <a:spAutoFit/>
          </a:bodyPr>
          <a:lstStyle/>
          <a:p>
            <a:pPr marL="171450" indent="-158750">
              <a:spcBef>
                <a:spcPts val="1800"/>
              </a:spcBef>
              <a:buFont typeface="Arial" panose="020B0604020202020204" pitchFamily="34" charset="0"/>
              <a:buChar char="•"/>
            </a:pPr>
            <a:r>
              <a:rPr lang="en-US" sz="2400" dirty="0"/>
              <a:t>Tags “contain” values</a:t>
            </a:r>
          </a:p>
          <a:p>
            <a:pPr marL="171450" indent="-158750">
              <a:spcBef>
                <a:spcPts val="1800"/>
              </a:spcBef>
              <a:buFont typeface="Arial" panose="020B0604020202020204" pitchFamily="34" charset="0"/>
              <a:buChar char="•"/>
            </a:pPr>
            <a:r>
              <a:rPr lang="en-US" sz="2400" dirty="0"/>
              <a:t>Opening and closing tags</a:t>
            </a:r>
          </a:p>
          <a:p>
            <a:pPr marL="171450" indent="-158750">
              <a:spcBef>
                <a:spcPts val="1800"/>
              </a:spcBef>
              <a:buFont typeface="Arial" panose="020B0604020202020204" pitchFamily="34" charset="0"/>
              <a:buChar char="•"/>
            </a:pPr>
            <a:r>
              <a:rPr lang="en-US" sz="2400" dirty="0"/>
              <a:t>Nested tags</a:t>
            </a:r>
          </a:p>
          <a:p>
            <a:pPr marL="171450" indent="-158750">
              <a:spcBef>
                <a:spcPts val="1800"/>
              </a:spcBef>
              <a:buFont typeface="Arial" panose="020B0604020202020204" pitchFamily="34" charset="0"/>
              <a:buChar char="•"/>
            </a:pPr>
            <a:r>
              <a:rPr lang="en-US" sz="2400" dirty="0"/>
              <a:t>Larger files but</a:t>
            </a:r>
            <a:br>
              <a:rPr lang="en-US" sz="2400" dirty="0"/>
            </a:br>
            <a:r>
              <a:rPr lang="en-US" sz="2400" dirty="0"/>
              <a:t>most flexible</a:t>
            </a:r>
          </a:p>
        </p:txBody>
      </p:sp>
      <p:sp>
        <p:nvSpPr>
          <p:cNvPr id="14" name="TextBox 13">
            <a:extLst>
              <a:ext uri="{FF2B5EF4-FFF2-40B4-BE49-F238E27FC236}">
                <a16:creationId xmlns:a16="http://schemas.microsoft.com/office/drawing/2014/main" id="{F5FE3425-635A-1E4D-905A-343A42E4D195}"/>
              </a:ext>
            </a:extLst>
          </p:cNvPr>
          <p:cNvSpPr txBox="1"/>
          <p:nvPr/>
        </p:nvSpPr>
        <p:spPr>
          <a:xfrm>
            <a:off x="3326984" y="3640176"/>
            <a:ext cx="2876365" cy="1569660"/>
          </a:xfrm>
          <a:prstGeom prst="rect">
            <a:avLst/>
          </a:prstGeom>
          <a:noFill/>
        </p:spPr>
        <p:txBody>
          <a:bodyPr wrap="none" rtlCol="0">
            <a:spAutoFit/>
          </a:bodyPr>
          <a:lstStyle/>
          <a:p>
            <a:pPr marL="171450" indent="-158750">
              <a:buFont typeface="Arial" panose="020B0604020202020204" pitchFamily="34" charset="0"/>
              <a:buChar char="•"/>
            </a:pPr>
            <a:r>
              <a:rPr lang="en-US" sz="2400" dirty="0"/>
              <a:t>Attribute-value pairs</a:t>
            </a:r>
          </a:p>
          <a:p>
            <a:pPr marL="171450" indent="-158750">
              <a:buFont typeface="Arial" panose="020B0604020202020204" pitchFamily="34" charset="0"/>
              <a:buChar char="•"/>
            </a:pPr>
            <a:endParaRPr lang="en-US" sz="2400" dirty="0"/>
          </a:p>
          <a:p>
            <a:pPr marL="171450" indent="-158750">
              <a:buFont typeface="Arial" panose="020B0604020202020204" pitchFamily="34" charset="0"/>
              <a:buChar char="•"/>
            </a:pPr>
            <a:r>
              <a:rPr lang="en-US" sz="2400" dirty="0"/>
              <a:t>Requires attribute</a:t>
            </a:r>
            <a:br>
              <a:rPr lang="en-US" sz="2400" dirty="0"/>
            </a:br>
            <a:r>
              <a:rPr lang="en-US" sz="2400" dirty="0"/>
              <a:t>names for all values</a:t>
            </a:r>
          </a:p>
        </p:txBody>
      </p:sp>
      <p:pic>
        <p:nvPicPr>
          <p:cNvPr id="5" name="Picture 4">
            <a:extLst>
              <a:ext uri="{FF2B5EF4-FFF2-40B4-BE49-F238E27FC236}">
                <a16:creationId xmlns:a16="http://schemas.microsoft.com/office/drawing/2014/main" id="{2A04071F-D9B6-1350-C017-FCD9BD918A82}"/>
              </a:ext>
            </a:extLst>
          </p:cNvPr>
          <p:cNvPicPr>
            <a:picLocks noChangeAspect="1"/>
          </p:cNvPicPr>
          <p:nvPr/>
        </p:nvPicPr>
        <p:blipFill>
          <a:blip r:embed="rId5"/>
          <a:stretch>
            <a:fillRect/>
          </a:stretch>
        </p:blipFill>
        <p:spPr>
          <a:xfrm>
            <a:off x="424801" y="2852441"/>
            <a:ext cx="2847497" cy="3555899"/>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D12ECF6C-03DE-0B06-EBAE-90F4CEB4962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266003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Before We Start: Orienting in RStudio</a:t>
            </a:r>
          </a:p>
        </p:txBody>
      </p:sp>
      <p:sp>
        <p:nvSpPr>
          <p:cNvPr id="3" name="Content Placeholder 2"/>
          <p:cNvSpPr>
            <a:spLocks noGrp="1"/>
          </p:cNvSpPr>
          <p:nvPr>
            <p:ph idx="1"/>
          </p:nvPr>
        </p:nvSpPr>
        <p:spPr>
          <a:xfrm>
            <a:off x="1024128" y="2286000"/>
            <a:ext cx="9720073" cy="3986784"/>
          </a:xfrm>
        </p:spPr>
        <p:txBody>
          <a:bodyPr>
            <a:normAutofit fontScale="92500" lnSpcReduction="10000"/>
          </a:bodyPr>
          <a:lstStyle/>
          <a:p>
            <a:r>
              <a:rPr lang="en-US" dirty="0"/>
              <a:t>This module has </a:t>
            </a:r>
            <a:r>
              <a:rPr lang="en-US" b="1" dirty="0"/>
              <a:t>no R code</a:t>
            </a:r>
            <a:r>
              <a:rPr lang="en-US" dirty="0"/>
              <a:t> — but we'll still work inside RStudio.</a:t>
            </a:r>
          </a:p>
          <a:p>
            <a:r>
              <a:rPr lang="en-US" dirty="0"/>
              <a:t>Start with RStudio as simply a </a:t>
            </a:r>
            <a:r>
              <a:rPr lang="en-US" b="1" dirty="0"/>
              <a:t>text editor</a:t>
            </a:r>
            <a:r>
              <a:rPr lang="en-US" dirty="0"/>
              <a:t>: a place to open files, read them carefully, and record your answers.</a:t>
            </a:r>
          </a:p>
          <a:p>
            <a:r>
              <a:rPr lang="en-US" dirty="0"/>
              <a:t>In the </a:t>
            </a:r>
            <a:r>
              <a:rPr lang="en-US" b="1" dirty="0"/>
              <a:t>Files</a:t>
            </a:r>
            <a:r>
              <a:rPr lang="en-US" dirty="0"/>
              <a:t> pane, open exercises/module_1_exercises.qmd</a:t>
            </a:r>
          </a:p>
          <a:p>
            <a:r>
              <a:rPr lang="en-US" dirty="0"/>
              <a:t>This file opens in the </a:t>
            </a:r>
            <a:r>
              <a:rPr lang="en-US" b="1" dirty="0"/>
              <a:t>Source</a:t>
            </a:r>
            <a:r>
              <a:rPr lang="en-US" dirty="0"/>
              <a:t> pane — you'll type your answers directly into it</a:t>
            </a:r>
          </a:p>
          <a:p>
            <a:r>
              <a:rPr lang="en-US" dirty="0"/>
              <a:t>Save often (Cmd/Ctrl+S) — nothing here runs or executes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866C1C-E442-FB0F-81E3-BED9BF3BC6A0}"/>
              </a:ext>
            </a:extLst>
          </p:cNvPr>
          <p:cNvPicPr>
            <a:picLocks noChangeAspect="1"/>
          </p:cNvPicPr>
          <p:nvPr/>
        </p:nvPicPr>
        <p:blipFill>
          <a:blip r:embed="rId3"/>
          <a:stretch>
            <a:fillRect/>
          </a:stretch>
        </p:blipFill>
        <p:spPr>
          <a:xfrm>
            <a:off x="493191" y="0"/>
            <a:ext cx="10916138" cy="6858000"/>
          </a:xfrm>
          <a:prstGeom prst="rect">
            <a:avLst/>
          </a:prstGeom>
        </p:spPr>
      </p:pic>
      <p:grpSp>
        <p:nvGrpSpPr>
          <p:cNvPr id="14" name="Group 13">
            <a:extLst>
              <a:ext uri="{FF2B5EF4-FFF2-40B4-BE49-F238E27FC236}">
                <a16:creationId xmlns:a16="http://schemas.microsoft.com/office/drawing/2014/main" id="{39D983C5-7D3D-6875-D729-DF4609BEC6B0}"/>
              </a:ext>
            </a:extLst>
          </p:cNvPr>
          <p:cNvGrpSpPr/>
          <p:nvPr/>
        </p:nvGrpSpPr>
        <p:grpSpPr>
          <a:xfrm>
            <a:off x="493191" y="387458"/>
            <a:ext cx="6419050" cy="6470541"/>
            <a:chOff x="493191" y="387458"/>
            <a:chExt cx="6419050" cy="6470541"/>
          </a:xfrm>
        </p:grpSpPr>
        <p:sp>
          <p:nvSpPr>
            <p:cNvPr id="5" name="Rectangle 4">
              <a:extLst>
                <a:ext uri="{FF2B5EF4-FFF2-40B4-BE49-F238E27FC236}">
                  <a16:creationId xmlns:a16="http://schemas.microsoft.com/office/drawing/2014/main" id="{F5EA3393-A1BA-985D-CDE8-AC2BF17B50C7}"/>
                </a:ext>
              </a:extLst>
            </p:cNvPr>
            <p:cNvSpPr/>
            <p:nvPr/>
          </p:nvSpPr>
          <p:spPr>
            <a:xfrm>
              <a:off x="493191" y="387458"/>
              <a:ext cx="6419050" cy="6470541"/>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4733B0CD-CC8B-4FA2-4C71-4BB94ECCC810}"/>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455AFA4F-867B-3FA3-517C-EAC75EFD20AE}"/>
              </a:ext>
            </a:extLst>
          </p:cNvPr>
          <p:cNvGrpSpPr/>
          <p:nvPr/>
        </p:nvGrpSpPr>
        <p:grpSpPr>
          <a:xfrm>
            <a:off x="6912244" y="387458"/>
            <a:ext cx="4497086" cy="2448216"/>
            <a:chOff x="6912244" y="387458"/>
            <a:chExt cx="4497086" cy="2448216"/>
          </a:xfrm>
        </p:grpSpPr>
        <p:sp>
          <p:nvSpPr>
            <p:cNvPr id="10" name="Rectangle 9">
              <a:extLst>
                <a:ext uri="{FF2B5EF4-FFF2-40B4-BE49-F238E27FC236}">
                  <a16:creationId xmlns:a16="http://schemas.microsoft.com/office/drawing/2014/main" id="{6E0160BA-DF89-36E1-16E5-1B0F1A988BAF}"/>
                </a:ext>
              </a:extLst>
            </p:cNvPr>
            <p:cNvSpPr/>
            <p:nvPr/>
          </p:nvSpPr>
          <p:spPr>
            <a:xfrm>
              <a:off x="6912244" y="387458"/>
              <a:ext cx="4497086"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5ECBB7AC-0D89-08AF-AE2F-F41156EC8097}"/>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FCCB29A5-7CCC-7F30-0F61-B8C0802359C6}"/>
              </a:ext>
            </a:extLst>
          </p:cNvPr>
          <p:cNvGrpSpPr/>
          <p:nvPr/>
        </p:nvGrpSpPr>
        <p:grpSpPr>
          <a:xfrm>
            <a:off x="6912242" y="2805194"/>
            <a:ext cx="4497087" cy="4052806"/>
            <a:chOff x="6912242" y="2805194"/>
            <a:chExt cx="4497087" cy="4052806"/>
          </a:xfrm>
        </p:grpSpPr>
        <p:sp>
          <p:nvSpPr>
            <p:cNvPr id="12" name="Rectangle 11">
              <a:extLst>
                <a:ext uri="{FF2B5EF4-FFF2-40B4-BE49-F238E27FC236}">
                  <a16:creationId xmlns:a16="http://schemas.microsoft.com/office/drawing/2014/main" id="{BD666815-FB77-FDC7-798D-CB741A2940D1}"/>
                </a:ext>
              </a:extLst>
            </p:cNvPr>
            <p:cNvSpPr/>
            <p:nvPr/>
          </p:nvSpPr>
          <p:spPr>
            <a:xfrm>
              <a:off x="6912242" y="2805194"/>
              <a:ext cx="449708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F0050C65-3DEA-4E66-514E-7698371A1FC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Tree>
    <p:extLst>
      <p:ext uri="{BB962C8B-B14F-4D97-AF65-F5344CB8AC3E}">
        <p14:creationId xmlns:p14="http://schemas.microsoft.com/office/powerpoint/2010/main" val="3932669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C4020-16DF-41CF-C966-06F534A172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B4EA24-07F1-F54D-CB16-7DFDA38EEA98}"/>
              </a:ext>
            </a:extLst>
          </p:cNvPr>
          <p:cNvPicPr>
            <a:picLocks noChangeAspect="1"/>
          </p:cNvPicPr>
          <p:nvPr/>
        </p:nvPicPr>
        <p:blipFill>
          <a:blip r:embed="rId3"/>
          <a:stretch>
            <a:fillRect/>
          </a:stretch>
        </p:blipFill>
        <p:spPr>
          <a:xfrm>
            <a:off x="493191" y="0"/>
            <a:ext cx="10916138" cy="6858000"/>
          </a:xfrm>
          <a:prstGeom prst="rect">
            <a:avLst/>
          </a:prstGeom>
        </p:spPr>
      </p:pic>
      <p:cxnSp>
        <p:nvCxnSpPr>
          <p:cNvPr id="4" name="Straight Arrow Connector 3">
            <a:extLst>
              <a:ext uri="{FF2B5EF4-FFF2-40B4-BE49-F238E27FC236}">
                <a16:creationId xmlns:a16="http://schemas.microsoft.com/office/drawing/2014/main" id="{46B6CB67-59D5-AB16-8B42-1E4BF03B40DB}"/>
              </a:ext>
            </a:extLst>
          </p:cNvPr>
          <p:cNvCxnSpPr>
            <a:cxnSpLocks/>
          </p:cNvCxnSpPr>
          <p:nvPr/>
        </p:nvCxnSpPr>
        <p:spPr>
          <a:xfrm>
            <a:off x="5204012" y="3664210"/>
            <a:ext cx="153478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084F409-43D3-8A5A-1224-1E4F8C295F96}"/>
              </a:ext>
            </a:extLst>
          </p:cNvPr>
          <p:cNvSpPr txBox="1"/>
          <p:nvPr/>
        </p:nvSpPr>
        <p:spPr>
          <a:xfrm>
            <a:off x="1963271" y="3479544"/>
            <a:ext cx="3092824" cy="369332"/>
          </a:xfrm>
          <a:prstGeom prst="rect">
            <a:avLst/>
          </a:prstGeom>
          <a:noFill/>
        </p:spPr>
        <p:txBody>
          <a:bodyPr wrap="square" rtlCol="0">
            <a:spAutoFit/>
          </a:bodyPr>
          <a:lstStyle/>
          <a:p>
            <a:r>
              <a:rPr lang="en-US" b="1" dirty="0"/>
              <a:t>1. Find unzipped course folder</a:t>
            </a:r>
          </a:p>
        </p:txBody>
      </p:sp>
      <p:sp>
        <p:nvSpPr>
          <p:cNvPr id="9" name="TextBox 8">
            <a:extLst>
              <a:ext uri="{FF2B5EF4-FFF2-40B4-BE49-F238E27FC236}">
                <a16:creationId xmlns:a16="http://schemas.microsoft.com/office/drawing/2014/main" id="{F380C9E1-3AE0-3991-7648-37C2666B3272}"/>
              </a:ext>
            </a:extLst>
          </p:cNvPr>
          <p:cNvSpPr txBox="1"/>
          <p:nvPr/>
        </p:nvSpPr>
        <p:spPr>
          <a:xfrm>
            <a:off x="1963271" y="4048804"/>
            <a:ext cx="3630705" cy="369332"/>
          </a:xfrm>
          <a:prstGeom prst="rect">
            <a:avLst/>
          </a:prstGeom>
          <a:noFill/>
        </p:spPr>
        <p:txBody>
          <a:bodyPr wrap="square" rtlCol="0">
            <a:spAutoFit/>
          </a:bodyPr>
          <a:lstStyle/>
          <a:p>
            <a:r>
              <a:rPr lang="en-US" b="1" dirty="0"/>
              <a:t>2. Navigate to “exercises” folder</a:t>
            </a:r>
          </a:p>
        </p:txBody>
      </p:sp>
      <p:sp>
        <p:nvSpPr>
          <p:cNvPr id="17" name="TextBox 16">
            <a:extLst>
              <a:ext uri="{FF2B5EF4-FFF2-40B4-BE49-F238E27FC236}">
                <a16:creationId xmlns:a16="http://schemas.microsoft.com/office/drawing/2014/main" id="{061AC600-EAB9-4FAE-3559-D75582AB1D6B}"/>
              </a:ext>
            </a:extLst>
          </p:cNvPr>
          <p:cNvSpPr txBox="1"/>
          <p:nvPr/>
        </p:nvSpPr>
        <p:spPr>
          <a:xfrm>
            <a:off x="1963271" y="4618064"/>
            <a:ext cx="3980329" cy="646331"/>
          </a:xfrm>
          <a:prstGeom prst="rect">
            <a:avLst/>
          </a:prstGeom>
          <a:noFill/>
        </p:spPr>
        <p:txBody>
          <a:bodyPr wrap="square" rtlCol="0">
            <a:spAutoFit/>
          </a:bodyPr>
          <a:lstStyle/>
          <a:p>
            <a:r>
              <a:rPr lang="en-US" b="1" dirty="0"/>
              <a:t>3. Click on “module_1_exercises.qmd” to open</a:t>
            </a:r>
          </a:p>
        </p:txBody>
      </p:sp>
    </p:spTree>
    <p:extLst>
      <p:ext uri="{BB962C8B-B14F-4D97-AF65-F5344CB8AC3E}">
        <p14:creationId xmlns:p14="http://schemas.microsoft.com/office/powerpoint/2010/main" val="866435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
        <p:nvSpPr>
          <p:cNvPr id="9" name="TextBox 8">
            <a:extLst>
              <a:ext uri="{FF2B5EF4-FFF2-40B4-BE49-F238E27FC236}">
                <a16:creationId xmlns:a16="http://schemas.microsoft.com/office/drawing/2014/main" id="{E0C7E4D2-A614-A725-DF80-83E4F67827EE}"/>
              </a:ext>
            </a:extLst>
          </p:cNvPr>
          <p:cNvSpPr txBox="1"/>
          <p:nvPr/>
        </p:nvSpPr>
        <p:spPr>
          <a:xfrm>
            <a:off x="1174036" y="907298"/>
            <a:ext cx="4825139" cy="954107"/>
          </a:xfrm>
          <a:prstGeom prst="rect">
            <a:avLst/>
          </a:prstGeom>
          <a:noFill/>
        </p:spPr>
        <p:txBody>
          <a:bodyPr wrap="square" rtlCol="0">
            <a:spAutoFit/>
          </a:bodyPr>
          <a:lstStyle/>
          <a:p>
            <a:pPr algn="ctr"/>
            <a:r>
              <a:rPr lang="en-US" sz="2800" b="1" dirty="0"/>
              <a:t>The source pane functions as file editor </a:t>
            </a:r>
          </a:p>
        </p:txBody>
      </p:sp>
    </p:spTree>
    <p:extLst>
      <p:ext uri="{BB962C8B-B14F-4D97-AF65-F5344CB8AC3E}">
        <p14:creationId xmlns:p14="http://schemas.microsoft.com/office/powerpoint/2010/main" val="2930711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Spot the Data Types</a:t>
            </a:r>
          </a:p>
        </p:txBody>
      </p:sp>
      <p:sp>
        <p:nvSpPr>
          <p:cNvPr id="4" name="Text Placeholder 3"/>
          <p:cNvSpPr>
            <a:spLocks noGrp="1"/>
          </p:cNvSpPr>
          <p:nvPr>
            <p:ph idx="1"/>
          </p:nvPr>
        </p:nvSpPr>
        <p:spPr/>
        <p:txBody>
          <a:bodyPr>
            <a:normAutofit fontScale="92500" lnSpcReduction="10000"/>
          </a:bodyPr>
          <a:lstStyle/>
          <a:p>
            <a:pPr>
              <a:buFont typeface="Wingdings" pitchFamily="2" charset="2"/>
              <a:buChar char="§"/>
            </a:pPr>
            <a:r>
              <a:rPr lang="en-US" dirty="0"/>
              <a:t>Open chem_data.csv in a plain text editor (not RStudio — a real text editor).</a:t>
            </a:r>
          </a:p>
          <a:p>
            <a:pPr>
              <a:buFont typeface="Wingdings" pitchFamily="2" charset="2"/>
              <a:buChar char="§"/>
            </a:pPr>
            <a:r>
              <a:rPr lang="en-US" dirty="0"/>
              <a:t>For each of the 13 columns, predict the data type and flag any concerns.</a:t>
            </a:r>
          </a:p>
          <a:p>
            <a:pPr>
              <a:buFont typeface="Wingdings" pitchFamily="2" charset="2"/>
              <a:buChar char="§"/>
            </a:pPr>
            <a:r>
              <a:rPr lang="en-US" dirty="0"/>
              <a:t>Which columns look numeric vs. categorical? Where might censored or missing values be hiding? Which column will need an explicit datetime format?</a:t>
            </a:r>
          </a:p>
          <a:p>
            <a:pPr>
              <a:buFont typeface="Wingdings" pitchFamily="2" charset="2"/>
              <a:buChar char="§"/>
            </a:pPr>
            <a:r>
              <a:rPr lang="en-US" dirty="0"/>
              <a:t>Return to module_1_exercises.qmd in RStudio to record your answers.</a:t>
            </a:r>
          </a:p>
        </p:txBody>
      </p:sp>
      <p:sp>
        <p:nvSpPr>
          <p:cNvPr id="2" name="TextBox 1">
            <a:extLst>
              <a:ext uri="{FF2B5EF4-FFF2-40B4-BE49-F238E27FC236}">
                <a16:creationId xmlns:a16="http://schemas.microsoft.com/office/drawing/2014/main" id="{80785172-828C-C872-88B7-42E62663DAA9}"/>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Principles of TIDY Data</a:t>
            </a:r>
          </a:p>
        </p:txBody>
      </p:sp>
    </p:spTree>
    <p:extLst>
      <p:ext uri="{BB962C8B-B14F-4D97-AF65-F5344CB8AC3E}">
        <p14:creationId xmlns:p14="http://schemas.microsoft.com/office/powerpoint/2010/main" val="41172244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D67F7-D0EF-0B43-8985-C85A405C9814}"/>
              </a:ext>
            </a:extLst>
          </p:cNvPr>
          <p:cNvSpPr>
            <a:spLocks noGrp="1"/>
          </p:cNvSpPr>
          <p:nvPr>
            <p:ph type="title"/>
          </p:nvPr>
        </p:nvSpPr>
        <p:spPr/>
        <p:txBody>
          <a:bodyPr/>
          <a:lstStyle/>
          <a:p>
            <a:r>
              <a:rPr lang="en-US" dirty="0"/>
              <a:t>Databases: Data storage plus</a:t>
            </a:r>
          </a:p>
        </p:txBody>
      </p:sp>
      <p:sp>
        <p:nvSpPr>
          <p:cNvPr id="3" name="Content Placeholder 2">
            <a:extLst>
              <a:ext uri="{FF2B5EF4-FFF2-40B4-BE49-F238E27FC236}">
                <a16:creationId xmlns:a16="http://schemas.microsoft.com/office/drawing/2014/main" id="{912A1ED7-7E4D-6D4A-A27F-C086D9A39156}"/>
              </a:ext>
            </a:extLst>
          </p:cNvPr>
          <p:cNvSpPr>
            <a:spLocks noGrp="1"/>
          </p:cNvSpPr>
          <p:nvPr>
            <p:ph idx="1"/>
          </p:nvPr>
        </p:nvSpPr>
        <p:spPr/>
        <p:txBody>
          <a:bodyPr>
            <a:normAutofit fontScale="92500" lnSpcReduction="10000"/>
          </a:bodyPr>
          <a:lstStyle/>
          <a:p>
            <a:r>
              <a:rPr lang="en-US" dirty="0"/>
              <a:t>A file or files of related data elements structured for rapid and reliable data storage update, search, and retrieval</a:t>
            </a:r>
          </a:p>
          <a:p>
            <a:pPr>
              <a:spcBef>
                <a:spcPts val="1600"/>
              </a:spcBef>
            </a:pPr>
            <a:r>
              <a:rPr lang="en-US" dirty="0"/>
              <a:t>Database management system (DBMS)</a:t>
            </a:r>
          </a:p>
          <a:p>
            <a:pPr lvl="1"/>
            <a:r>
              <a:rPr lang="en-US" dirty="0"/>
              <a:t>Collection of programs that allows multiple users to create, maintain, and use databases</a:t>
            </a:r>
          </a:p>
          <a:p>
            <a:pPr lvl="1"/>
            <a:r>
              <a:rPr lang="en-US" dirty="0"/>
              <a:t>Controls user access to the data</a:t>
            </a:r>
          </a:p>
          <a:p>
            <a:pPr lvl="1"/>
            <a:r>
              <a:rPr lang="en-US" dirty="0"/>
              <a:t>Indexes and sorts data to allow rapid numerical and text query</a:t>
            </a:r>
          </a:p>
          <a:p>
            <a:pPr lvl="1"/>
            <a:r>
              <a:rPr lang="en-US" dirty="0"/>
              <a:t>May provide error checking and other data integrity features</a:t>
            </a:r>
          </a:p>
          <a:p>
            <a:pPr lvl="1"/>
            <a:r>
              <a:rPr lang="en-US" dirty="0"/>
              <a:t>May allow databases that are larger than RAM</a:t>
            </a:r>
          </a:p>
          <a:p>
            <a:pPr lvl="1"/>
            <a:endParaRPr lang="en-US" dirty="0"/>
          </a:p>
        </p:txBody>
      </p:sp>
      <p:sp>
        <p:nvSpPr>
          <p:cNvPr id="4" name="TextBox 3">
            <a:extLst>
              <a:ext uri="{FF2B5EF4-FFF2-40B4-BE49-F238E27FC236}">
                <a16:creationId xmlns:a16="http://schemas.microsoft.com/office/drawing/2014/main" id="{05F70677-5344-EAB6-C9DD-AB44B42D7FF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54033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FBEBF-025E-E24D-A474-43C2AA293A59}"/>
              </a:ext>
            </a:extLst>
          </p:cNvPr>
          <p:cNvSpPr>
            <a:spLocks noGrp="1"/>
          </p:cNvSpPr>
          <p:nvPr>
            <p:ph idx="1"/>
          </p:nvPr>
        </p:nvSpPr>
        <p:spPr>
          <a:xfrm>
            <a:off x="838200" y="1825625"/>
            <a:ext cx="9598810" cy="4563300"/>
          </a:xfrm>
        </p:spPr>
        <p:txBody>
          <a:bodyPr>
            <a:normAutofit fontScale="77500" lnSpcReduction="20000"/>
          </a:bodyPr>
          <a:lstStyle/>
          <a:p>
            <a:pPr>
              <a:lnSpc>
                <a:spcPct val="130000"/>
              </a:lnSpc>
              <a:spcBef>
                <a:spcPts val="0"/>
              </a:spcBef>
            </a:pPr>
            <a:r>
              <a:rPr lang="en-US" sz="3600" dirty="0"/>
              <a:t>Flat file</a:t>
            </a:r>
          </a:p>
          <a:p>
            <a:pPr lvl="1">
              <a:lnSpc>
                <a:spcPct val="130000"/>
              </a:lnSpc>
              <a:spcBef>
                <a:spcPts val="0"/>
              </a:spcBef>
            </a:pPr>
            <a:r>
              <a:rPr lang="en-US" sz="3200" dirty="0"/>
              <a:t>Simple: single table, rows (records) and columns (fields)</a:t>
            </a:r>
          </a:p>
          <a:p>
            <a:pPr lvl="1">
              <a:lnSpc>
                <a:spcPct val="130000"/>
              </a:lnSpc>
              <a:spcBef>
                <a:spcPts val="0"/>
              </a:spcBef>
            </a:pPr>
            <a:r>
              <a:rPr lang="en-US" sz="3200" dirty="0"/>
              <a:t>Rigid structure, redundant data, slow with large data volume</a:t>
            </a:r>
          </a:p>
          <a:p>
            <a:pPr>
              <a:lnSpc>
                <a:spcPct val="150000"/>
              </a:lnSpc>
            </a:pPr>
            <a:r>
              <a:rPr lang="en-US" sz="3600" dirty="0"/>
              <a:t>Hierarchical</a:t>
            </a:r>
          </a:p>
          <a:p>
            <a:pPr>
              <a:lnSpc>
                <a:spcPct val="150000"/>
              </a:lnSpc>
            </a:pPr>
            <a:r>
              <a:rPr lang="en-US" sz="3600" dirty="0"/>
              <a:t>Relational</a:t>
            </a:r>
          </a:p>
          <a:p>
            <a:pPr>
              <a:lnSpc>
                <a:spcPct val="150000"/>
              </a:lnSpc>
            </a:pPr>
            <a:r>
              <a:rPr lang="en-US" sz="3600" dirty="0"/>
              <a:t>Other</a:t>
            </a:r>
          </a:p>
          <a:p>
            <a:pPr>
              <a:lnSpc>
                <a:spcPct val="150000"/>
              </a:lnSpc>
            </a:pPr>
            <a:r>
              <a:rPr lang="en-US" sz="3600" dirty="0"/>
              <a:t>Analytic databases</a:t>
            </a:r>
          </a:p>
        </p:txBody>
      </p:sp>
      <p:pic>
        <p:nvPicPr>
          <p:cNvPr id="12" name="Picture 11" descr="Chart, radar chart&#10;&#10;Description automatically generated">
            <a:extLst>
              <a:ext uri="{FF2B5EF4-FFF2-40B4-BE49-F238E27FC236}">
                <a16:creationId xmlns:a16="http://schemas.microsoft.com/office/drawing/2014/main" id="{F5522422-46E6-9F9D-01AF-48609CE07429}"/>
              </a:ext>
            </a:extLst>
          </p:cNvPr>
          <p:cNvPicPr>
            <a:picLocks noChangeAspect="1"/>
          </p:cNvPicPr>
          <p:nvPr/>
        </p:nvPicPr>
        <p:blipFill>
          <a:blip r:embed="rId2"/>
          <a:stretch>
            <a:fillRect/>
          </a:stretch>
        </p:blipFill>
        <p:spPr>
          <a:xfrm>
            <a:off x="8023767" y="3966478"/>
            <a:ext cx="1113585" cy="1560587"/>
          </a:xfrm>
          <a:prstGeom prst="rect">
            <a:avLst/>
          </a:prstGeom>
        </p:spPr>
      </p:pic>
      <p:pic>
        <p:nvPicPr>
          <p:cNvPr id="6" name="Picture 5" descr="Icon&#10;&#10;Description automatically generated">
            <a:extLst>
              <a:ext uri="{FF2B5EF4-FFF2-40B4-BE49-F238E27FC236}">
                <a16:creationId xmlns:a16="http://schemas.microsoft.com/office/drawing/2014/main" id="{3B86FD6F-9C2A-944F-048C-1083F1C6132B}"/>
              </a:ext>
            </a:extLst>
          </p:cNvPr>
          <p:cNvPicPr>
            <a:picLocks noChangeAspect="1"/>
          </p:cNvPicPr>
          <p:nvPr/>
        </p:nvPicPr>
        <p:blipFill>
          <a:blip r:embed="rId3"/>
          <a:stretch>
            <a:fillRect/>
          </a:stretch>
        </p:blipFill>
        <p:spPr>
          <a:xfrm>
            <a:off x="3652659" y="3993834"/>
            <a:ext cx="1942237" cy="1505875"/>
          </a:xfrm>
          <a:prstGeom prst="rect">
            <a:avLst/>
          </a:prstGeom>
        </p:spPr>
      </p:pic>
      <p:sp>
        <p:nvSpPr>
          <p:cNvPr id="2" name="Title 1">
            <a:extLst>
              <a:ext uri="{FF2B5EF4-FFF2-40B4-BE49-F238E27FC236}">
                <a16:creationId xmlns:a16="http://schemas.microsoft.com/office/drawing/2014/main" id="{B72F60AA-3BEA-DF4D-AEC1-9B35394687B8}"/>
              </a:ext>
            </a:extLst>
          </p:cNvPr>
          <p:cNvSpPr>
            <a:spLocks noGrp="1"/>
          </p:cNvSpPr>
          <p:nvPr>
            <p:ph type="title"/>
          </p:nvPr>
        </p:nvSpPr>
        <p:spPr/>
        <p:txBody>
          <a:bodyPr/>
          <a:lstStyle/>
          <a:p>
            <a:r>
              <a:rPr lang="en-US" dirty="0"/>
              <a:t>Types of databases (by data organization)</a:t>
            </a:r>
          </a:p>
        </p:txBody>
      </p:sp>
      <p:pic>
        <p:nvPicPr>
          <p:cNvPr id="10" name="Picture 9" descr="Diagram, table&#10;&#10;Description automatically generated">
            <a:extLst>
              <a:ext uri="{FF2B5EF4-FFF2-40B4-BE49-F238E27FC236}">
                <a16:creationId xmlns:a16="http://schemas.microsoft.com/office/drawing/2014/main" id="{C402874F-BF76-BA59-C2EE-B71E58F2F1ED}"/>
              </a:ext>
            </a:extLst>
          </p:cNvPr>
          <p:cNvPicPr>
            <a:picLocks noChangeAspect="1"/>
          </p:cNvPicPr>
          <p:nvPr/>
        </p:nvPicPr>
        <p:blipFill>
          <a:blip r:embed="rId4"/>
          <a:stretch>
            <a:fillRect/>
          </a:stretch>
        </p:blipFill>
        <p:spPr>
          <a:xfrm>
            <a:off x="5905945" y="3993834"/>
            <a:ext cx="1764278" cy="1505874"/>
          </a:xfrm>
          <a:prstGeom prst="rect">
            <a:avLst/>
          </a:prstGeom>
        </p:spPr>
      </p:pic>
      <p:pic>
        <p:nvPicPr>
          <p:cNvPr id="14" name="Picture 13" descr="Diagram&#10;&#10;Description automatically generated">
            <a:extLst>
              <a:ext uri="{FF2B5EF4-FFF2-40B4-BE49-F238E27FC236}">
                <a16:creationId xmlns:a16="http://schemas.microsoft.com/office/drawing/2014/main" id="{BCFE8570-EEBE-6A2D-D57A-699907E8737B}"/>
              </a:ext>
            </a:extLst>
          </p:cNvPr>
          <p:cNvPicPr>
            <a:picLocks noChangeAspect="1"/>
          </p:cNvPicPr>
          <p:nvPr/>
        </p:nvPicPr>
        <p:blipFill>
          <a:blip r:embed="rId5"/>
          <a:stretch>
            <a:fillRect/>
          </a:stretch>
        </p:blipFill>
        <p:spPr>
          <a:xfrm>
            <a:off x="9490896" y="3941188"/>
            <a:ext cx="1520139" cy="1611166"/>
          </a:xfrm>
          <a:prstGeom prst="rect">
            <a:avLst/>
          </a:prstGeom>
        </p:spPr>
      </p:pic>
      <p:pic>
        <p:nvPicPr>
          <p:cNvPr id="16" name="Picture 15" descr="A picture containing shoji, building&#10;&#10;Description automatically generated">
            <a:extLst>
              <a:ext uri="{FF2B5EF4-FFF2-40B4-BE49-F238E27FC236}">
                <a16:creationId xmlns:a16="http://schemas.microsoft.com/office/drawing/2014/main" id="{3EF2CFA8-2207-D720-DE90-0AF176C84863}"/>
              </a:ext>
            </a:extLst>
          </p:cNvPr>
          <p:cNvPicPr>
            <a:picLocks noChangeAspect="1"/>
          </p:cNvPicPr>
          <p:nvPr/>
        </p:nvPicPr>
        <p:blipFill>
          <a:blip r:embed="rId6"/>
          <a:stretch>
            <a:fillRect/>
          </a:stretch>
        </p:blipFill>
        <p:spPr>
          <a:xfrm>
            <a:off x="2705120" y="1825625"/>
            <a:ext cx="968160" cy="489775"/>
          </a:xfrm>
          <a:prstGeom prst="rect">
            <a:avLst/>
          </a:prstGeom>
        </p:spPr>
      </p:pic>
      <p:sp>
        <p:nvSpPr>
          <p:cNvPr id="4" name="TextBox 3">
            <a:extLst>
              <a:ext uri="{FF2B5EF4-FFF2-40B4-BE49-F238E27FC236}">
                <a16:creationId xmlns:a16="http://schemas.microsoft.com/office/drawing/2014/main" id="{BF2B0D1B-6C5D-7ACF-2D75-9B8D4AC3977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693308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006D5-1D7C-BF23-2954-871729E7857F}"/>
              </a:ext>
            </a:extLst>
          </p:cNvPr>
          <p:cNvSpPr>
            <a:spLocks noGrp="1"/>
          </p:cNvSpPr>
          <p:nvPr>
            <p:ph type="title"/>
          </p:nvPr>
        </p:nvSpPr>
        <p:spPr/>
        <p:txBody>
          <a:bodyPr/>
          <a:lstStyle/>
          <a:p>
            <a:r>
              <a:rPr lang="en-US" dirty="0"/>
              <a:t>Why have different kinds of databases?</a:t>
            </a:r>
          </a:p>
        </p:txBody>
      </p:sp>
      <p:sp>
        <p:nvSpPr>
          <p:cNvPr id="3" name="Content Placeholder 2">
            <a:extLst>
              <a:ext uri="{FF2B5EF4-FFF2-40B4-BE49-F238E27FC236}">
                <a16:creationId xmlns:a16="http://schemas.microsoft.com/office/drawing/2014/main" id="{4A46FB99-F0F4-9E0C-9D93-062372556277}"/>
              </a:ext>
            </a:extLst>
          </p:cNvPr>
          <p:cNvSpPr>
            <a:spLocks noGrp="1"/>
          </p:cNvSpPr>
          <p:nvPr>
            <p:ph idx="1"/>
          </p:nvPr>
        </p:nvSpPr>
        <p:spPr>
          <a:xfrm>
            <a:off x="838200" y="1816636"/>
            <a:ext cx="10515600" cy="466162"/>
          </a:xfrm>
        </p:spPr>
        <p:txBody>
          <a:bodyPr>
            <a:normAutofit fontScale="85000" lnSpcReduction="10000"/>
          </a:bodyPr>
          <a:lstStyle/>
          <a:p>
            <a:r>
              <a:rPr lang="en-US" dirty="0"/>
              <a:t>Represent relationships in data; avoid wasted space and redundancy</a:t>
            </a:r>
          </a:p>
        </p:txBody>
      </p:sp>
      <p:sp>
        <p:nvSpPr>
          <p:cNvPr id="4" name="TextBox 3">
            <a:extLst>
              <a:ext uri="{FF2B5EF4-FFF2-40B4-BE49-F238E27FC236}">
                <a16:creationId xmlns:a16="http://schemas.microsoft.com/office/drawing/2014/main" id="{605BC3EC-A107-225E-777E-1FAB3C70C363}"/>
              </a:ext>
            </a:extLst>
          </p:cNvPr>
          <p:cNvSpPr txBox="1"/>
          <p:nvPr/>
        </p:nvSpPr>
        <p:spPr>
          <a:xfrm>
            <a:off x="1799694" y="2269035"/>
            <a:ext cx="894989" cy="461665"/>
          </a:xfrm>
          <a:prstGeom prst="rect">
            <a:avLst/>
          </a:prstGeom>
          <a:noFill/>
        </p:spPr>
        <p:txBody>
          <a:bodyPr wrap="none" rtlCol="0">
            <a:spAutoFit/>
          </a:bodyPr>
          <a:lstStyle/>
          <a:p>
            <a:pPr algn="ctr"/>
            <a:r>
              <a:rPr lang="en-US" sz="2400" dirty="0"/>
              <a:t>1 to 1</a:t>
            </a:r>
          </a:p>
        </p:txBody>
      </p:sp>
      <p:sp>
        <p:nvSpPr>
          <p:cNvPr id="5" name="TextBox 4">
            <a:extLst>
              <a:ext uri="{FF2B5EF4-FFF2-40B4-BE49-F238E27FC236}">
                <a16:creationId xmlns:a16="http://schemas.microsoft.com/office/drawing/2014/main" id="{9CB8224D-3974-C39A-3CF8-2AA17B77E4AA}"/>
              </a:ext>
            </a:extLst>
          </p:cNvPr>
          <p:cNvSpPr txBox="1"/>
          <p:nvPr/>
        </p:nvSpPr>
        <p:spPr>
          <a:xfrm>
            <a:off x="5382055" y="2269035"/>
            <a:ext cx="1427891" cy="461665"/>
          </a:xfrm>
          <a:prstGeom prst="rect">
            <a:avLst/>
          </a:prstGeom>
          <a:noFill/>
        </p:spPr>
        <p:txBody>
          <a:bodyPr wrap="none" rtlCol="0">
            <a:spAutoFit/>
          </a:bodyPr>
          <a:lstStyle/>
          <a:p>
            <a:pPr algn="ctr"/>
            <a:r>
              <a:rPr lang="en-US" sz="2400" dirty="0"/>
              <a:t>1 to many</a:t>
            </a:r>
          </a:p>
        </p:txBody>
      </p:sp>
      <p:sp>
        <p:nvSpPr>
          <p:cNvPr id="6" name="TextBox 5">
            <a:extLst>
              <a:ext uri="{FF2B5EF4-FFF2-40B4-BE49-F238E27FC236}">
                <a16:creationId xmlns:a16="http://schemas.microsoft.com/office/drawing/2014/main" id="{E0A63F12-35DA-E2B4-807A-AC88CE3FEB4F}"/>
              </a:ext>
            </a:extLst>
          </p:cNvPr>
          <p:cNvSpPr txBox="1"/>
          <p:nvPr/>
        </p:nvSpPr>
        <p:spPr>
          <a:xfrm>
            <a:off x="8997082" y="2269035"/>
            <a:ext cx="1960794" cy="461665"/>
          </a:xfrm>
          <a:prstGeom prst="rect">
            <a:avLst/>
          </a:prstGeom>
          <a:noFill/>
        </p:spPr>
        <p:txBody>
          <a:bodyPr wrap="none" rtlCol="0">
            <a:spAutoFit/>
          </a:bodyPr>
          <a:lstStyle/>
          <a:p>
            <a:pPr algn="ctr"/>
            <a:r>
              <a:rPr lang="en-US" sz="2400" dirty="0"/>
              <a:t>many to many</a:t>
            </a:r>
          </a:p>
        </p:txBody>
      </p:sp>
      <p:cxnSp>
        <p:nvCxnSpPr>
          <p:cNvPr id="8" name="Straight Connector 7">
            <a:extLst>
              <a:ext uri="{FF2B5EF4-FFF2-40B4-BE49-F238E27FC236}">
                <a16:creationId xmlns:a16="http://schemas.microsoft.com/office/drawing/2014/main" id="{10A3C919-6AE9-CD2B-C705-4C7CBB164B1D}"/>
              </a:ext>
            </a:extLst>
          </p:cNvPr>
          <p:cNvCxnSpPr>
            <a:cxnSpLocks/>
          </p:cNvCxnSpPr>
          <p:nvPr/>
        </p:nvCxnSpPr>
        <p:spPr>
          <a:xfrm>
            <a:off x="2247188" y="3420050"/>
            <a:ext cx="0" cy="98911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216878D-FB3F-10C7-D8F7-22276E46D53E}"/>
              </a:ext>
            </a:extLst>
          </p:cNvPr>
          <p:cNvSpPr txBox="1"/>
          <p:nvPr/>
        </p:nvSpPr>
        <p:spPr>
          <a:xfrm>
            <a:off x="1822809" y="2939118"/>
            <a:ext cx="848758" cy="369332"/>
          </a:xfrm>
          <a:prstGeom prst="rect">
            <a:avLst/>
          </a:prstGeom>
          <a:noFill/>
        </p:spPr>
        <p:txBody>
          <a:bodyPr wrap="none" rtlCol="0">
            <a:spAutoFit/>
          </a:bodyPr>
          <a:lstStyle/>
          <a:p>
            <a:pPr algn="ctr"/>
            <a:r>
              <a:rPr lang="en-US" dirty="0"/>
              <a:t>Patient</a:t>
            </a:r>
          </a:p>
        </p:txBody>
      </p:sp>
      <p:sp>
        <p:nvSpPr>
          <p:cNvPr id="10" name="TextBox 9">
            <a:extLst>
              <a:ext uri="{FF2B5EF4-FFF2-40B4-BE49-F238E27FC236}">
                <a16:creationId xmlns:a16="http://schemas.microsoft.com/office/drawing/2014/main" id="{D1807E15-A4F6-0D81-5EEC-3068FF53A3C4}"/>
              </a:ext>
            </a:extLst>
          </p:cNvPr>
          <p:cNvSpPr txBox="1"/>
          <p:nvPr/>
        </p:nvSpPr>
        <p:spPr>
          <a:xfrm>
            <a:off x="1974517" y="4562264"/>
            <a:ext cx="545342" cy="369332"/>
          </a:xfrm>
          <a:prstGeom prst="rect">
            <a:avLst/>
          </a:prstGeom>
          <a:noFill/>
        </p:spPr>
        <p:txBody>
          <a:bodyPr wrap="none" rtlCol="0">
            <a:spAutoFit/>
          </a:bodyPr>
          <a:lstStyle/>
          <a:p>
            <a:pPr algn="ctr"/>
            <a:r>
              <a:rPr lang="en-US" dirty="0"/>
              <a:t>PCP</a:t>
            </a:r>
          </a:p>
        </p:txBody>
      </p:sp>
      <p:cxnSp>
        <p:nvCxnSpPr>
          <p:cNvPr id="11" name="Straight Connector 10">
            <a:extLst>
              <a:ext uri="{FF2B5EF4-FFF2-40B4-BE49-F238E27FC236}">
                <a16:creationId xmlns:a16="http://schemas.microsoft.com/office/drawing/2014/main" id="{79755A2A-1E85-A72B-E0C6-06E8E9D1571A}"/>
              </a:ext>
            </a:extLst>
          </p:cNvPr>
          <p:cNvCxnSpPr>
            <a:cxnSpLocks/>
          </p:cNvCxnSpPr>
          <p:nvPr/>
        </p:nvCxnSpPr>
        <p:spPr>
          <a:xfrm>
            <a:off x="6099629" y="3428991"/>
            <a:ext cx="363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DC20990-F523-92BB-C50F-86D99D8F34EB}"/>
              </a:ext>
            </a:extLst>
          </p:cNvPr>
          <p:cNvCxnSpPr>
            <a:cxnSpLocks/>
          </p:cNvCxnSpPr>
          <p:nvPr/>
        </p:nvCxnSpPr>
        <p:spPr>
          <a:xfrm flipH="1">
            <a:off x="5767514" y="3428991"/>
            <a:ext cx="328486"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44E228-1F60-58A9-8049-9CB1754D8BD5}"/>
              </a:ext>
            </a:extLst>
          </p:cNvPr>
          <p:cNvCxnSpPr>
            <a:cxnSpLocks/>
          </p:cNvCxnSpPr>
          <p:nvPr/>
        </p:nvCxnSpPr>
        <p:spPr>
          <a:xfrm flipH="1">
            <a:off x="5479709" y="3428991"/>
            <a:ext cx="62355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511E2-2C19-2E8B-45B9-B9D36CFB9C2F}"/>
              </a:ext>
            </a:extLst>
          </p:cNvPr>
          <p:cNvCxnSpPr>
            <a:cxnSpLocks/>
          </p:cNvCxnSpPr>
          <p:nvPr/>
        </p:nvCxnSpPr>
        <p:spPr>
          <a:xfrm>
            <a:off x="6106888" y="3428991"/>
            <a:ext cx="299072"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D6AED26-3A06-343F-E874-6CF2508FA6E4}"/>
              </a:ext>
            </a:extLst>
          </p:cNvPr>
          <p:cNvCxnSpPr>
            <a:cxnSpLocks/>
          </p:cNvCxnSpPr>
          <p:nvPr/>
        </p:nvCxnSpPr>
        <p:spPr>
          <a:xfrm>
            <a:off x="6099629" y="3428467"/>
            <a:ext cx="612662" cy="980697"/>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4B7D14C-DD2D-22F4-E582-9B322AA56BFE}"/>
              </a:ext>
            </a:extLst>
          </p:cNvPr>
          <p:cNvSpPr txBox="1"/>
          <p:nvPr/>
        </p:nvSpPr>
        <p:spPr>
          <a:xfrm>
            <a:off x="5684478" y="2939118"/>
            <a:ext cx="848758" cy="369332"/>
          </a:xfrm>
          <a:prstGeom prst="rect">
            <a:avLst/>
          </a:prstGeom>
          <a:noFill/>
        </p:spPr>
        <p:txBody>
          <a:bodyPr wrap="none" rtlCol="0">
            <a:spAutoFit/>
          </a:bodyPr>
          <a:lstStyle/>
          <a:p>
            <a:pPr algn="ctr"/>
            <a:r>
              <a:rPr lang="en-US" dirty="0"/>
              <a:t>Patient</a:t>
            </a:r>
          </a:p>
        </p:txBody>
      </p:sp>
      <p:sp>
        <p:nvSpPr>
          <p:cNvPr id="21" name="TextBox 20">
            <a:extLst>
              <a:ext uri="{FF2B5EF4-FFF2-40B4-BE49-F238E27FC236}">
                <a16:creationId xmlns:a16="http://schemas.microsoft.com/office/drawing/2014/main" id="{9561441C-06EE-9DE9-D5D1-2BFE09A483EB}"/>
              </a:ext>
            </a:extLst>
          </p:cNvPr>
          <p:cNvSpPr txBox="1"/>
          <p:nvPr/>
        </p:nvSpPr>
        <p:spPr>
          <a:xfrm>
            <a:off x="5479709" y="4562264"/>
            <a:ext cx="1232582" cy="369332"/>
          </a:xfrm>
          <a:prstGeom prst="rect">
            <a:avLst/>
          </a:prstGeom>
          <a:noFill/>
        </p:spPr>
        <p:txBody>
          <a:bodyPr wrap="none" rtlCol="0">
            <a:spAutoFit/>
          </a:bodyPr>
          <a:lstStyle/>
          <a:p>
            <a:pPr algn="ctr"/>
            <a:r>
              <a:rPr lang="en-US" dirty="0"/>
              <a:t>Test results</a:t>
            </a:r>
          </a:p>
        </p:txBody>
      </p:sp>
      <p:cxnSp>
        <p:nvCxnSpPr>
          <p:cNvPr id="22" name="Straight Connector 21">
            <a:extLst>
              <a:ext uri="{FF2B5EF4-FFF2-40B4-BE49-F238E27FC236}">
                <a16:creationId xmlns:a16="http://schemas.microsoft.com/office/drawing/2014/main" id="{08EF78B1-A059-804F-4657-7ECC83C65F97}"/>
              </a:ext>
            </a:extLst>
          </p:cNvPr>
          <p:cNvCxnSpPr/>
          <p:nvPr/>
        </p:nvCxnSpPr>
        <p:spPr>
          <a:xfrm>
            <a:off x="10001912" y="3915394"/>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05CB0F-576D-8F07-8038-F0B68DD248F0}"/>
              </a:ext>
            </a:extLst>
          </p:cNvPr>
          <p:cNvCxnSpPr>
            <a:cxnSpLocks/>
          </p:cNvCxnSpPr>
          <p:nvPr/>
        </p:nvCxnSpPr>
        <p:spPr>
          <a:xfrm flipH="1">
            <a:off x="9791639" y="3915394"/>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FA77E3-B428-87D5-6527-CBE744A2E41E}"/>
              </a:ext>
            </a:extLst>
          </p:cNvPr>
          <p:cNvCxnSpPr>
            <a:cxnSpLocks/>
          </p:cNvCxnSpPr>
          <p:nvPr/>
        </p:nvCxnSpPr>
        <p:spPr>
          <a:xfrm flipH="1">
            <a:off x="9581366" y="3915394"/>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47880F6-33A6-087E-5AEE-2699BC63280F}"/>
              </a:ext>
            </a:extLst>
          </p:cNvPr>
          <p:cNvCxnSpPr>
            <a:cxnSpLocks/>
          </p:cNvCxnSpPr>
          <p:nvPr/>
        </p:nvCxnSpPr>
        <p:spPr>
          <a:xfrm>
            <a:off x="10009171" y="3915394"/>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C87ECD1-FA06-801A-4D61-3962D412E43C}"/>
              </a:ext>
            </a:extLst>
          </p:cNvPr>
          <p:cNvCxnSpPr>
            <a:cxnSpLocks/>
          </p:cNvCxnSpPr>
          <p:nvPr/>
        </p:nvCxnSpPr>
        <p:spPr>
          <a:xfrm>
            <a:off x="10001912" y="3914870"/>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EC16A9A-F6EF-5656-AF17-E494CAE08FB7}"/>
              </a:ext>
            </a:extLst>
          </p:cNvPr>
          <p:cNvGrpSpPr/>
          <p:nvPr/>
        </p:nvGrpSpPr>
        <p:grpSpPr>
          <a:xfrm flipV="1">
            <a:off x="9581366" y="3412501"/>
            <a:ext cx="854153" cy="495342"/>
            <a:chOff x="8924933" y="4910558"/>
            <a:chExt cx="854153" cy="495342"/>
          </a:xfrm>
        </p:grpSpPr>
        <p:cxnSp>
          <p:nvCxnSpPr>
            <p:cNvPr id="27" name="Straight Connector 26">
              <a:extLst>
                <a:ext uri="{FF2B5EF4-FFF2-40B4-BE49-F238E27FC236}">
                  <a16:creationId xmlns:a16="http://schemas.microsoft.com/office/drawing/2014/main" id="{45639ECE-9846-6A85-B532-3A3D8F3B7714}"/>
                </a:ext>
              </a:extLst>
            </p:cNvPr>
            <p:cNvCxnSpPr/>
            <p:nvPr/>
          </p:nvCxnSpPr>
          <p:spPr>
            <a:xfrm>
              <a:off x="9345479" y="4911082"/>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24E5754-560D-29AB-DC0A-14CC39385A66}"/>
                </a:ext>
              </a:extLst>
            </p:cNvPr>
            <p:cNvCxnSpPr>
              <a:cxnSpLocks/>
            </p:cNvCxnSpPr>
            <p:nvPr/>
          </p:nvCxnSpPr>
          <p:spPr>
            <a:xfrm flipH="1">
              <a:off x="9135206" y="4911082"/>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B27DC1C-4DFB-5D3F-3721-B149A609B7F4}"/>
                </a:ext>
              </a:extLst>
            </p:cNvPr>
            <p:cNvCxnSpPr>
              <a:cxnSpLocks/>
            </p:cNvCxnSpPr>
            <p:nvPr/>
          </p:nvCxnSpPr>
          <p:spPr>
            <a:xfrm flipH="1">
              <a:off x="8924933" y="4911082"/>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1E7D9C-3747-AF3A-C98E-53E73474F502}"/>
                </a:ext>
              </a:extLst>
            </p:cNvPr>
            <p:cNvCxnSpPr>
              <a:cxnSpLocks/>
            </p:cNvCxnSpPr>
            <p:nvPr/>
          </p:nvCxnSpPr>
          <p:spPr>
            <a:xfrm>
              <a:off x="9352738" y="4911082"/>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A34ABD6-471B-D13F-0875-24C289D0EAF2}"/>
                </a:ext>
              </a:extLst>
            </p:cNvPr>
            <p:cNvCxnSpPr>
              <a:cxnSpLocks/>
            </p:cNvCxnSpPr>
            <p:nvPr/>
          </p:nvCxnSpPr>
          <p:spPr>
            <a:xfrm>
              <a:off x="9345479" y="4910558"/>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7A312EE7-0DE7-C055-312E-EA359E0687B9}"/>
              </a:ext>
            </a:extLst>
          </p:cNvPr>
          <p:cNvSpPr txBox="1"/>
          <p:nvPr/>
        </p:nvSpPr>
        <p:spPr>
          <a:xfrm>
            <a:off x="9541877" y="2939118"/>
            <a:ext cx="938527" cy="369332"/>
          </a:xfrm>
          <a:prstGeom prst="rect">
            <a:avLst/>
          </a:prstGeom>
          <a:noFill/>
        </p:spPr>
        <p:txBody>
          <a:bodyPr wrap="none" rtlCol="0">
            <a:spAutoFit/>
          </a:bodyPr>
          <a:lstStyle/>
          <a:p>
            <a:pPr algn="ctr"/>
            <a:r>
              <a:rPr lang="en-US" dirty="0"/>
              <a:t>Patients</a:t>
            </a:r>
          </a:p>
        </p:txBody>
      </p:sp>
      <p:sp>
        <p:nvSpPr>
          <p:cNvPr id="34" name="TextBox 33">
            <a:extLst>
              <a:ext uri="{FF2B5EF4-FFF2-40B4-BE49-F238E27FC236}">
                <a16:creationId xmlns:a16="http://schemas.microsoft.com/office/drawing/2014/main" id="{3F9DCB21-738D-7CFC-7A05-79C5BA5D94AD}"/>
              </a:ext>
            </a:extLst>
          </p:cNvPr>
          <p:cNvSpPr txBox="1"/>
          <p:nvPr/>
        </p:nvSpPr>
        <p:spPr>
          <a:xfrm>
            <a:off x="9441915" y="4562264"/>
            <a:ext cx="1138453" cy="369332"/>
          </a:xfrm>
          <a:prstGeom prst="rect">
            <a:avLst/>
          </a:prstGeom>
          <a:noFill/>
        </p:spPr>
        <p:txBody>
          <a:bodyPr wrap="none" rtlCol="0">
            <a:spAutoFit/>
          </a:bodyPr>
          <a:lstStyle/>
          <a:p>
            <a:pPr algn="ctr"/>
            <a:r>
              <a:rPr lang="en-US" dirty="0"/>
              <a:t>Physicians</a:t>
            </a:r>
          </a:p>
        </p:txBody>
      </p:sp>
      <p:grpSp>
        <p:nvGrpSpPr>
          <p:cNvPr id="66" name="Group 65">
            <a:extLst>
              <a:ext uri="{FF2B5EF4-FFF2-40B4-BE49-F238E27FC236}">
                <a16:creationId xmlns:a16="http://schemas.microsoft.com/office/drawing/2014/main" id="{A4D26D08-71B8-A251-0BD0-00166726CFE9}"/>
              </a:ext>
            </a:extLst>
          </p:cNvPr>
          <p:cNvGrpSpPr/>
          <p:nvPr/>
        </p:nvGrpSpPr>
        <p:grpSpPr>
          <a:xfrm>
            <a:off x="1227526" y="5128729"/>
            <a:ext cx="2006314" cy="1200329"/>
            <a:chOff x="1077051" y="5128729"/>
            <a:chExt cx="2006314" cy="1200329"/>
          </a:xfrm>
        </p:grpSpPr>
        <p:sp>
          <p:nvSpPr>
            <p:cNvPr id="50" name="TextBox 49">
              <a:extLst>
                <a:ext uri="{FF2B5EF4-FFF2-40B4-BE49-F238E27FC236}">
                  <a16:creationId xmlns:a16="http://schemas.microsoft.com/office/drawing/2014/main" id="{105DD5DA-9653-9F6B-5C05-03D9AC3D52B7}"/>
                </a:ext>
              </a:extLst>
            </p:cNvPr>
            <p:cNvSpPr txBox="1"/>
            <p:nvPr/>
          </p:nvSpPr>
          <p:spPr>
            <a:xfrm>
              <a:off x="1422846"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55" name="Picture 54">
              <a:extLst>
                <a:ext uri="{FF2B5EF4-FFF2-40B4-BE49-F238E27FC236}">
                  <a16:creationId xmlns:a16="http://schemas.microsoft.com/office/drawing/2014/main" id="{7711CFC6-4900-2959-8486-F42B4DC4AECD}"/>
                </a:ext>
              </a:extLst>
            </p:cNvPr>
            <p:cNvPicPr>
              <a:picLocks noChangeAspect="1"/>
            </p:cNvPicPr>
            <p:nvPr/>
          </p:nvPicPr>
          <p:blipFill>
            <a:blip r:embed="rId3"/>
            <a:stretch>
              <a:fillRect/>
            </a:stretch>
          </p:blipFill>
          <p:spPr>
            <a:xfrm>
              <a:off x="1077051" y="5206000"/>
              <a:ext cx="303549" cy="303549"/>
            </a:xfrm>
            <a:prstGeom prst="rect">
              <a:avLst/>
            </a:prstGeom>
          </p:spPr>
        </p:pic>
        <p:pic>
          <p:nvPicPr>
            <p:cNvPr id="58" name="Picture 57">
              <a:extLst>
                <a:ext uri="{FF2B5EF4-FFF2-40B4-BE49-F238E27FC236}">
                  <a16:creationId xmlns:a16="http://schemas.microsoft.com/office/drawing/2014/main" id="{0FCBAF88-0885-2EC1-52A7-D80D237B7E23}"/>
                </a:ext>
              </a:extLst>
            </p:cNvPr>
            <p:cNvPicPr>
              <a:picLocks noChangeAspect="1"/>
            </p:cNvPicPr>
            <p:nvPr/>
          </p:nvPicPr>
          <p:blipFill>
            <a:blip r:embed="rId3"/>
            <a:stretch>
              <a:fillRect/>
            </a:stretch>
          </p:blipFill>
          <p:spPr>
            <a:xfrm>
              <a:off x="1079658" y="5583066"/>
              <a:ext cx="303549" cy="303549"/>
            </a:xfrm>
            <a:prstGeom prst="rect">
              <a:avLst/>
            </a:prstGeom>
          </p:spPr>
        </p:pic>
        <p:pic>
          <p:nvPicPr>
            <p:cNvPr id="59" name="Picture 58">
              <a:extLst>
                <a:ext uri="{FF2B5EF4-FFF2-40B4-BE49-F238E27FC236}">
                  <a16:creationId xmlns:a16="http://schemas.microsoft.com/office/drawing/2014/main" id="{7D3FB4C4-2FA6-47A0-A31C-B705C42E30F5}"/>
                </a:ext>
              </a:extLst>
            </p:cNvPr>
            <p:cNvPicPr>
              <a:picLocks noChangeAspect="1"/>
            </p:cNvPicPr>
            <p:nvPr/>
          </p:nvPicPr>
          <p:blipFill>
            <a:blip r:embed="rId3"/>
            <a:stretch>
              <a:fillRect/>
            </a:stretch>
          </p:blipFill>
          <p:spPr>
            <a:xfrm>
              <a:off x="1080498" y="5956063"/>
              <a:ext cx="303549" cy="303549"/>
            </a:xfrm>
            <a:prstGeom prst="rect">
              <a:avLst/>
            </a:prstGeom>
          </p:spPr>
        </p:pic>
      </p:grpSp>
      <p:grpSp>
        <p:nvGrpSpPr>
          <p:cNvPr id="67" name="Group 66">
            <a:extLst>
              <a:ext uri="{FF2B5EF4-FFF2-40B4-BE49-F238E27FC236}">
                <a16:creationId xmlns:a16="http://schemas.microsoft.com/office/drawing/2014/main" id="{CE3E13D5-4557-51B7-349B-305C118EFFF6}"/>
              </a:ext>
            </a:extLst>
          </p:cNvPr>
          <p:cNvGrpSpPr/>
          <p:nvPr/>
        </p:nvGrpSpPr>
        <p:grpSpPr>
          <a:xfrm>
            <a:off x="5121779" y="5128729"/>
            <a:ext cx="1964908" cy="1200329"/>
            <a:chOff x="4959729" y="5128729"/>
            <a:chExt cx="1964908" cy="1200329"/>
          </a:xfrm>
        </p:grpSpPr>
        <p:sp>
          <p:nvSpPr>
            <p:cNvPr id="51" name="TextBox 50">
              <a:extLst>
                <a:ext uri="{FF2B5EF4-FFF2-40B4-BE49-F238E27FC236}">
                  <a16:creationId xmlns:a16="http://schemas.microsoft.com/office/drawing/2014/main" id="{616CB38D-8B06-63FC-30AE-66D7BFAB569D}"/>
                </a:ext>
              </a:extLst>
            </p:cNvPr>
            <p:cNvSpPr txBox="1"/>
            <p:nvPr/>
          </p:nvSpPr>
          <p:spPr>
            <a:xfrm>
              <a:off x="5264118"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0" name="Picture 59">
              <a:extLst>
                <a:ext uri="{FF2B5EF4-FFF2-40B4-BE49-F238E27FC236}">
                  <a16:creationId xmlns:a16="http://schemas.microsoft.com/office/drawing/2014/main" id="{F211ADC4-4B23-C5EF-DE6B-7BEBC1642FED}"/>
                </a:ext>
              </a:extLst>
            </p:cNvPr>
            <p:cNvPicPr>
              <a:picLocks noChangeAspect="1"/>
            </p:cNvPicPr>
            <p:nvPr/>
          </p:nvPicPr>
          <p:blipFill>
            <a:blip r:embed="rId3"/>
            <a:stretch>
              <a:fillRect/>
            </a:stretch>
          </p:blipFill>
          <p:spPr>
            <a:xfrm>
              <a:off x="4959729" y="5583066"/>
              <a:ext cx="303549" cy="303549"/>
            </a:xfrm>
            <a:prstGeom prst="rect">
              <a:avLst/>
            </a:prstGeom>
          </p:spPr>
        </p:pic>
        <p:pic>
          <p:nvPicPr>
            <p:cNvPr id="61" name="Picture 60">
              <a:extLst>
                <a:ext uri="{FF2B5EF4-FFF2-40B4-BE49-F238E27FC236}">
                  <a16:creationId xmlns:a16="http://schemas.microsoft.com/office/drawing/2014/main" id="{C3E9A490-6F05-0E68-BD37-3724DF881EAF}"/>
                </a:ext>
              </a:extLst>
            </p:cNvPr>
            <p:cNvPicPr>
              <a:picLocks noChangeAspect="1"/>
            </p:cNvPicPr>
            <p:nvPr/>
          </p:nvPicPr>
          <p:blipFill>
            <a:blip r:embed="rId3"/>
            <a:stretch>
              <a:fillRect/>
            </a:stretch>
          </p:blipFill>
          <p:spPr>
            <a:xfrm>
              <a:off x="4960569" y="5956063"/>
              <a:ext cx="303549" cy="303549"/>
            </a:xfrm>
            <a:prstGeom prst="rect">
              <a:avLst/>
            </a:prstGeom>
          </p:spPr>
        </p:pic>
        <p:pic>
          <p:nvPicPr>
            <p:cNvPr id="63" name="Picture 62">
              <a:extLst>
                <a:ext uri="{FF2B5EF4-FFF2-40B4-BE49-F238E27FC236}">
                  <a16:creationId xmlns:a16="http://schemas.microsoft.com/office/drawing/2014/main" id="{6521DD55-9AD4-3C10-E3A1-255A48B05C33}"/>
                </a:ext>
              </a:extLst>
            </p:cNvPr>
            <p:cNvPicPr>
              <a:picLocks noChangeAspect="1"/>
            </p:cNvPicPr>
            <p:nvPr/>
          </p:nvPicPr>
          <p:blipFill>
            <a:blip r:embed="rId4"/>
            <a:stretch>
              <a:fillRect/>
            </a:stretch>
          </p:blipFill>
          <p:spPr>
            <a:xfrm>
              <a:off x="4959729" y="5225040"/>
              <a:ext cx="303549" cy="303549"/>
            </a:xfrm>
            <a:prstGeom prst="rect">
              <a:avLst/>
            </a:prstGeom>
          </p:spPr>
        </p:pic>
      </p:grpSp>
      <p:grpSp>
        <p:nvGrpSpPr>
          <p:cNvPr id="68" name="Group 67">
            <a:extLst>
              <a:ext uri="{FF2B5EF4-FFF2-40B4-BE49-F238E27FC236}">
                <a16:creationId xmlns:a16="http://schemas.microsoft.com/office/drawing/2014/main" id="{83AE7879-9126-D8D5-62E0-FF3D2E32386C}"/>
              </a:ext>
            </a:extLst>
          </p:cNvPr>
          <p:cNvGrpSpPr/>
          <p:nvPr/>
        </p:nvGrpSpPr>
        <p:grpSpPr>
          <a:xfrm>
            <a:off x="9021756" y="5128729"/>
            <a:ext cx="1964070" cy="1200329"/>
            <a:chOff x="8906006" y="5128729"/>
            <a:chExt cx="1964070" cy="1200329"/>
          </a:xfrm>
        </p:grpSpPr>
        <p:sp>
          <p:nvSpPr>
            <p:cNvPr id="52" name="TextBox 51">
              <a:extLst>
                <a:ext uri="{FF2B5EF4-FFF2-40B4-BE49-F238E27FC236}">
                  <a16:creationId xmlns:a16="http://schemas.microsoft.com/office/drawing/2014/main" id="{CC91C24F-5359-6ED5-6C24-84D284FF3594}"/>
                </a:ext>
              </a:extLst>
            </p:cNvPr>
            <p:cNvSpPr txBox="1"/>
            <p:nvPr/>
          </p:nvSpPr>
          <p:spPr>
            <a:xfrm>
              <a:off x="9209557"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2" name="Picture 61">
              <a:extLst>
                <a:ext uri="{FF2B5EF4-FFF2-40B4-BE49-F238E27FC236}">
                  <a16:creationId xmlns:a16="http://schemas.microsoft.com/office/drawing/2014/main" id="{09E093F4-1AD9-D98D-1004-C1B77CBA2837}"/>
                </a:ext>
              </a:extLst>
            </p:cNvPr>
            <p:cNvPicPr>
              <a:picLocks noChangeAspect="1"/>
            </p:cNvPicPr>
            <p:nvPr/>
          </p:nvPicPr>
          <p:blipFill>
            <a:blip r:embed="rId3"/>
            <a:stretch>
              <a:fillRect/>
            </a:stretch>
          </p:blipFill>
          <p:spPr>
            <a:xfrm>
              <a:off x="8906008" y="5956063"/>
              <a:ext cx="303549" cy="303549"/>
            </a:xfrm>
            <a:prstGeom prst="rect">
              <a:avLst/>
            </a:prstGeom>
          </p:spPr>
        </p:pic>
        <p:pic>
          <p:nvPicPr>
            <p:cNvPr id="64" name="Picture 63">
              <a:extLst>
                <a:ext uri="{FF2B5EF4-FFF2-40B4-BE49-F238E27FC236}">
                  <a16:creationId xmlns:a16="http://schemas.microsoft.com/office/drawing/2014/main" id="{ACFB3381-9025-A3CC-BD4D-E58B868ECFF9}"/>
                </a:ext>
              </a:extLst>
            </p:cNvPr>
            <p:cNvPicPr>
              <a:picLocks noChangeAspect="1"/>
            </p:cNvPicPr>
            <p:nvPr/>
          </p:nvPicPr>
          <p:blipFill>
            <a:blip r:embed="rId4"/>
            <a:stretch>
              <a:fillRect/>
            </a:stretch>
          </p:blipFill>
          <p:spPr>
            <a:xfrm>
              <a:off x="8906007" y="5225040"/>
              <a:ext cx="303549" cy="303549"/>
            </a:xfrm>
            <a:prstGeom prst="rect">
              <a:avLst/>
            </a:prstGeom>
          </p:spPr>
        </p:pic>
        <p:pic>
          <p:nvPicPr>
            <p:cNvPr id="65" name="Picture 64">
              <a:extLst>
                <a:ext uri="{FF2B5EF4-FFF2-40B4-BE49-F238E27FC236}">
                  <a16:creationId xmlns:a16="http://schemas.microsoft.com/office/drawing/2014/main" id="{8FF826B4-85AB-7D94-936D-BE663BB8BDFC}"/>
                </a:ext>
              </a:extLst>
            </p:cNvPr>
            <p:cNvPicPr>
              <a:picLocks noChangeAspect="1"/>
            </p:cNvPicPr>
            <p:nvPr/>
          </p:nvPicPr>
          <p:blipFill>
            <a:blip r:embed="rId4"/>
            <a:stretch>
              <a:fillRect/>
            </a:stretch>
          </p:blipFill>
          <p:spPr>
            <a:xfrm>
              <a:off x="8906006" y="5583066"/>
              <a:ext cx="303549" cy="303549"/>
            </a:xfrm>
            <a:prstGeom prst="rect">
              <a:avLst/>
            </a:prstGeom>
          </p:spPr>
        </p:pic>
      </p:grpSp>
      <p:sp>
        <p:nvSpPr>
          <p:cNvPr id="7" name="TextBox 6">
            <a:extLst>
              <a:ext uri="{FF2B5EF4-FFF2-40B4-BE49-F238E27FC236}">
                <a16:creationId xmlns:a16="http://schemas.microsoft.com/office/drawing/2014/main" id="{BB4696B0-8C8B-995C-02D1-344EF5176E2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2175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5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up)">
                                      <p:cBhvr>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2C984-D179-574B-A9D6-5330D18B9352}"/>
              </a:ext>
            </a:extLst>
          </p:cNvPr>
          <p:cNvSpPr>
            <a:spLocks noGrp="1"/>
          </p:cNvSpPr>
          <p:nvPr>
            <p:ph type="title"/>
          </p:nvPr>
        </p:nvSpPr>
        <p:spPr/>
        <p:txBody>
          <a:bodyPr/>
          <a:lstStyle/>
          <a:p>
            <a:r>
              <a:rPr lang="en-US" dirty="0"/>
              <a:t>Relational databases</a:t>
            </a:r>
          </a:p>
        </p:txBody>
      </p:sp>
      <p:sp>
        <p:nvSpPr>
          <p:cNvPr id="3" name="Content Placeholder 2">
            <a:extLst>
              <a:ext uri="{FF2B5EF4-FFF2-40B4-BE49-F238E27FC236}">
                <a16:creationId xmlns:a16="http://schemas.microsoft.com/office/drawing/2014/main" id="{FF273CA2-AC0B-8C48-AF60-CD3F80BAC0F2}"/>
              </a:ext>
            </a:extLst>
          </p:cNvPr>
          <p:cNvSpPr>
            <a:spLocks noGrp="1"/>
          </p:cNvSpPr>
          <p:nvPr>
            <p:ph idx="1"/>
          </p:nvPr>
        </p:nvSpPr>
        <p:spPr>
          <a:xfrm>
            <a:off x="816166" y="1784252"/>
            <a:ext cx="3236089" cy="5076502"/>
          </a:xfrm>
        </p:spPr>
        <p:txBody>
          <a:bodyPr>
            <a:normAutofit fontScale="92500" lnSpcReduction="10000"/>
          </a:bodyPr>
          <a:lstStyle/>
          <a:p>
            <a:r>
              <a:rPr lang="en-US" sz="2000" dirty="0"/>
              <a:t>Codd’s rules (1985)</a:t>
            </a:r>
          </a:p>
          <a:p>
            <a:r>
              <a:rPr lang="en-US" sz="2000" dirty="0"/>
              <a:t>Multiple linked tables</a:t>
            </a:r>
          </a:p>
          <a:p>
            <a:r>
              <a:rPr lang="en-US" sz="2000" dirty="0"/>
              <a:t>Tables represent “entities”</a:t>
            </a:r>
          </a:p>
          <a:p>
            <a:r>
              <a:rPr lang="en-US" sz="2000" dirty="0"/>
              <a:t>Links are relationships</a:t>
            </a:r>
          </a:p>
          <a:p>
            <a:r>
              <a:rPr lang="en-US" sz="2000" dirty="0"/>
              <a:t>Flexible cardinality</a:t>
            </a:r>
          </a:p>
          <a:p>
            <a:r>
              <a:rPr lang="en-US" sz="2000" dirty="0"/>
              <a:t>Slower updating and retrieval than hierarchical*</a:t>
            </a:r>
          </a:p>
          <a:p>
            <a:r>
              <a:rPr lang="en-US" sz="2000" dirty="0"/>
              <a:t>Multiple query paths </a:t>
            </a:r>
            <a:br>
              <a:rPr lang="en-US" sz="2000" dirty="0"/>
            </a:br>
            <a:r>
              <a:rPr lang="en-US" sz="2000" dirty="0"/>
              <a:t>with decent performance</a:t>
            </a:r>
          </a:p>
          <a:p>
            <a:r>
              <a:rPr lang="en-US" sz="2000" dirty="0"/>
              <a:t>Transactional/rollback (“ACID”)</a:t>
            </a:r>
          </a:p>
          <a:p>
            <a:r>
              <a:rPr lang="en-US" sz="2000" dirty="0"/>
              <a:t>SQL query language</a:t>
            </a:r>
          </a:p>
          <a:p>
            <a:r>
              <a:rPr lang="en-US" sz="2000" dirty="0"/>
              <a:t>Epic Clarity, Cerner, </a:t>
            </a:r>
            <a:br>
              <a:rPr lang="en-US" sz="2000" dirty="0"/>
            </a:br>
            <a:r>
              <a:rPr lang="en-US" sz="2000" dirty="0" err="1"/>
              <a:t>CoPath</a:t>
            </a:r>
            <a:r>
              <a:rPr lang="en-US" sz="2000" dirty="0"/>
              <a:t> APLIS</a:t>
            </a:r>
          </a:p>
        </p:txBody>
      </p:sp>
      <p:pic>
        <p:nvPicPr>
          <p:cNvPr id="5" name="Picture 4">
            <a:extLst>
              <a:ext uri="{FF2B5EF4-FFF2-40B4-BE49-F238E27FC236}">
                <a16:creationId xmlns:a16="http://schemas.microsoft.com/office/drawing/2014/main" id="{E8E733D6-318B-F943-937C-0AADA02290C4}"/>
              </a:ext>
            </a:extLst>
          </p:cNvPr>
          <p:cNvPicPr>
            <a:picLocks noChangeAspect="1"/>
          </p:cNvPicPr>
          <p:nvPr/>
        </p:nvPicPr>
        <p:blipFill>
          <a:blip r:embed="rId3"/>
          <a:stretch>
            <a:fillRect/>
          </a:stretch>
        </p:blipFill>
        <p:spPr>
          <a:xfrm>
            <a:off x="4226586" y="1778206"/>
            <a:ext cx="7105180" cy="5076502"/>
          </a:xfrm>
          <a:prstGeom prst="rect">
            <a:avLst/>
          </a:prstGeom>
          <a:ln>
            <a:solidFill>
              <a:schemeClr val="bg2">
                <a:lumMod val="90000"/>
              </a:schemeClr>
            </a:solidFill>
          </a:ln>
          <a:effectLst>
            <a:outerShdw blurRad="50800" dist="38100" dir="5400000" algn="t" rotWithShape="0">
              <a:prstClr val="black">
                <a:alpha val="40000"/>
              </a:prstClr>
            </a:outerShdw>
          </a:effectLst>
        </p:spPr>
      </p:pic>
      <p:grpSp>
        <p:nvGrpSpPr>
          <p:cNvPr id="4" name="Group 3">
            <a:extLst>
              <a:ext uri="{FF2B5EF4-FFF2-40B4-BE49-F238E27FC236}">
                <a16:creationId xmlns:a16="http://schemas.microsoft.com/office/drawing/2014/main" id="{F77E46D2-E58C-EA48-964A-46D4B5C0E96E}"/>
              </a:ext>
            </a:extLst>
          </p:cNvPr>
          <p:cNvGrpSpPr/>
          <p:nvPr/>
        </p:nvGrpSpPr>
        <p:grpSpPr>
          <a:xfrm>
            <a:off x="5066801" y="2501772"/>
            <a:ext cx="702366" cy="1510748"/>
            <a:chOff x="5088835" y="2186609"/>
            <a:chExt cx="702366" cy="1510748"/>
          </a:xfrm>
        </p:grpSpPr>
        <p:sp>
          <p:nvSpPr>
            <p:cNvPr id="6" name="TextBox 5">
              <a:extLst>
                <a:ext uri="{FF2B5EF4-FFF2-40B4-BE49-F238E27FC236}">
                  <a16:creationId xmlns:a16="http://schemas.microsoft.com/office/drawing/2014/main" id="{765CF53F-A128-864C-A521-4ECFB03FF3EB}"/>
                </a:ext>
              </a:extLst>
            </p:cNvPr>
            <p:cNvSpPr txBox="1"/>
            <p:nvPr/>
          </p:nvSpPr>
          <p:spPr>
            <a:xfrm>
              <a:off x="5155095" y="2186609"/>
              <a:ext cx="603499" cy="369332"/>
            </a:xfrm>
            <a:prstGeom prst="rect">
              <a:avLst/>
            </a:prstGeom>
            <a:noFill/>
          </p:spPr>
          <p:txBody>
            <a:bodyPr wrap="none" rtlCol="0">
              <a:spAutoFit/>
            </a:bodyPr>
            <a:lstStyle/>
            <a:p>
              <a:r>
                <a:rPr lang="en-US" dirty="0">
                  <a:solidFill>
                    <a:srgbClr val="C00000"/>
                  </a:solidFill>
                </a:rPr>
                <a:t>Labs</a:t>
              </a:r>
            </a:p>
          </p:txBody>
        </p:sp>
        <p:sp>
          <p:nvSpPr>
            <p:cNvPr id="7" name="Rectangle 6">
              <a:extLst>
                <a:ext uri="{FF2B5EF4-FFF2-40B4-BE49-F238E27FC236}">
                  <a16:creationId xmlns:a16="http://schemas.microsoft.com/office/drawing/2014/main" id="{761CE005-F1FF-204C-B0CE-236A81A3B706}"/>
                </a:ext>
              </a:extLst>
            </p:cNvPr>
            <p:cNvSpPr/>
            <p:nvPr/>
          </p:nvSpPr>
          <p:spPr>
            <a:xfrm>
              <a:off x="5088835" y="2483807"/>
              <a:ext cx="702366" cy="1213550"/>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7D91B85B-5685-99E5-2342-6F3A25C9AB5C}"/>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355053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AC6-9023-2440-9DF9-ACD679958977}"/>
              </a:ext>
            </a:extLst>
          </p:cNvPr>
          <p:cNvSpPr>
            <a:spLocks noGrp="1"/>
          </p:cNvSpPr>
          <p:nvPr>
            <p:ph type="title"/>
          </p:nvPr>
        </p:nvSpPr>
        <p:spPr/>
        <p:txBody>
          <a:bodyPr/>
          <a:lstStyle/>
          <a:p>
            <a:r>
              <a:rPr lang="en-US" dirty="0"/>
              <a:t>RDB keys, relations, and cardinality</a:t>
            </a:r>
          </a:p>
        </p:txBody>
      </p:sp>
      <p:sp>
        <p:nvSpPr>
          <p:cNvPr id="3" name="Content Placeholder 2">
            <a:extLst>
              <a:ext uri="{FF2B5EF4-FFF2-40B4-BE49-F238E27FC236}">
                <a16:creationId xmlns:a16="http://schemas.microsoft.com/office/drawing/2014/main" id="{DECF3EC2-5E22-8942-A8A2-8FD8F9CE1A3A}"/>
              </a:ext>
            </a:extLst>
          </p:cNvPr>
          <p:cNvSpPr>
            <a:spLocks noGrp="1"/>
          </p:cNvSpPr>
          <p:nvPr>
            <p:ph idx="1"/>
          </p:nvPr>
        </p:nvSpPr>
        <p:spPr>
          <a:xfrm>
            <a:off x="838200" y="2032157"/>
            <a:ext cx="3796460" cy="4460718"/>
          </a:xfrm>
        </p:spPr>
        <p:txBody>
          <a:bodyPr>
            <a:normAutofit/>
          </a:bodyPr>
          <a:lstStyle/>
          <a:p>
            <a:r>
              <a:rPr lang="en-US" sz="2400" b="1" dirty="0"/>
              <a:t>Shared keys</a:t>
            </a:r>
            <a:r>
              <a:rPr lang="en-US" sz="2400" dirty="0"/>
              <a:t> define links between tables (</a:t>
            </a:r>
            <a:r>
              <a:rPr lang="en-US" sz="2400" b="1" dirty="0"/>
              <a:t>relations</a:t>
            </a:r>
            <a:r>
              <a:rPr lang="en-US" sz="2400" dirty="0"/>
              <a:t>)</a:t>
            </a:r>
          </a:p>
          <a:p>
            <a:pPr lvl="1"/>
            <a:r>
              <a:rPr lang="en-US" sz="2000" dirty="0"/>
              <a:t>Primary key (PK)</a:t>
            </a:r>
          </a:p>
          <a:p>
            <a:pPr lvl="1"/>
            <a:r>
              <a:rPr lang="en-US" sz="2000" dirty="0"/>
              <a:t>Foreign key (FK)</a:t>
            </a:r>
          </a:p>
          <a:p>
            <a:pPr lvl="1"/>
            <a:r>
              <a:rPr lang="en-US" sz="2000" dirty="0"/>
              <a:t>Matching on shared data</a:t>
            </a:r>
          </a:p>
          <a:p>
            <a:pPr>
              <a:spcBef>
                <a:spcPts val="2200"/>
              </a:spcBef>
            </a:pPr>
            <a:r>
              <a:rPr lang="en-US" sz="2400" b="1" dirty="0"/>
              <a:t>Cardinality</a:t>
            </a:r>
          </a:p>
          <a:p>
            <a:pPr lvl="1"/>
            <a:r>
              <a:rPr lang="en-US" sz="2000" dirty="0"/>
              <a:t>1 to many (*)</a:t>
            </a:r>
          </a:p>
          <a:p>
            <a:pPr lvl="1"/>
            <a:r>
              <a:rPr lang="en-US" sz="2000" dirty="0"/>
              <a:t>Many to 1</a:t>
            </a:r>
          </a:p>
          <a:p>
            <a:pPr lvl="1"/>
            <a:r>
              <a:rPr lang="en-US" sz="2000" dirty="0"/>
              <a:t>Many to many</a:t>
            </a:r>
          </a:p>
          <a:p>
            <a:pPr lvl="1"/>
            <a:r>
              <a:rPr lang="en-US" sz="2000" dirty="0"/>
              <a:t>1 to 1 (not shown)</a:t>
            </a:r>
          </a:p>
          <a:p>
            <a:pPr lvl="1"/>
            <a:r>
              <a:rPr lang="en-US" sz="2000" dirty="0"/>
              <a:t>Optionality (0..)</a:t>
            </a:r>
          </a:p>
        </p:txBody>
      </p:sp>
      <p:grpSp>
        <p:nvGrpSpPr>
          <p:cNvPr id="16" name="Group 15">
            <a:extLst>
              <a:ext uri="{FF2B5EF4-FFF2-40B4-BE49-F238E27FC236}">
                <a16:creationId xmlns:a16="http://schemas.microsoft.com/office/drawing/2014/main" id="{7B443E44-FF03-CD4B-9A7E-B19951ED8BBA}"/>
              </a:ext>
            </a:extLst>
          </p:cNvPr>
          <p:cNvGrpSpPr/>
          <p:nvPr/>
        </p:nvGrpSpPr>
        <p:grpSpPr>
          <a:xfrm>
            <a:off x="4784655" y="2277268"/>
            <a:ext cx="2584178" cy="1050232"/>
            <a:chOff x="4870170" y="2207522"/>
            <a:chExt cx="2584178" cy="1050232"/>
          </a:xfrm>
        </p:grpSpPr>
        <p:sp>
          <p:nvSpPr>
            <p:cNvPr id="4" name="Rectangle 3">
              <a:extLst>
                <a:ext uri="{FF2B5EF4-FFF2-40B4-BE49-F238E27FC236}">
                  <a16:creationId xmlns:a16="http://schemas.microsoft.com/office/drawing/2014/main" id="{EFDB6FBC-1590-D144-BB93-08100F84AE53}"/>
                </a:ext>
              </a:extLst>
            </p:cNvPr>
            <p:cNvSpPr/>
            <p:nvPr/>
          </p:nvSpPr>
          <p:spPr>
            <a:xfrm>
              <a:off x="4876798" y="2214145"/>
              <a:ext cx="257092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52B815B-BC78-0B49-968A-C4FD4CE616E6}"/>
                </a:ext>
              </a:extLst>
            </p:cNvPr>
            <p:cNvSpPr txBox="1"/>
            <p:nvPr/>
          </p:nvSpPr>
          <p:spPr>
            <a:xfrm>
              <a:off x="5689886" y="2214145"/>
              <a:ext cx="944746" cy="369332"/>
            </a:xfrm>
            <a:prstGeom prst="rect">
              <a:avLst/>
            </a:prstGeom>
            <a:noFill/>
          </p:spPr>
          <p:txBody>
            <a:bodyPr wrap="none" rtlCol="0">
              <a:spAutoFit/>
            </a:bodyPr>
            <a:lstStyle/>
            <a:p>
              <a:pPr algn="ctr"/>
              <a:r>
                <a:rPr lang="en-US" dirty="0"/>
                <a:t>PATIENT</a:t>
              </a:r>
            </a:p>
          </p:txBody>
        </p:sp>
        <p:sp>
          <p:nvSpPr>
            <p:cNvPr id="6" name="TextBox 5">
              <a:extLst>
                <a:ext uri="{FF2B5EF4-FFF2-40B4-BE49-F238E27FC236}">
                  <a16:creationId xmlns:a16="http://schemas.microsoft.com/office/drawing/2014/main" id="{57968A7C-3AAE-8449-A397-B7D76F57E906}"/>
                </a:ext>
              </a:extLst>
            </p:cNvPr>
            <p:cNvSpPr txBox="1"/>
            <p:nvPr/>
          </p:nvSpPr>
          <p:spPr>
            <a:xfrm>
              <a:off x="4870170" y="2573540"/>
              <a:ext cx="2306401" cy="369332"/>
            </a:xfrm>
            <a:prstGeom prst="rect">
              <a:avLst/>
            </a:prstGeom>
            <a:noFill/>
          </p:spPr>
          <p:txBody>
            <a:bodyPr wrap="none" rtlCol="0">
              <a:spAutoFit/>
            </a:bodyPr>
            <a:lstStyle/>
            <a:p>
              <a:r>
                <a:rPr lang="en-US" dirty="0" err="1"/>
                <a:t>Pat_ID</a:t>
              </a:r>
              <a:r>
                <a:rPr lang="en-US" dirty="0"/>
                <a:t>   MRN   Name…</a:t>
              </a:r>
            </a:p>
          </p:txBody>
        </p:sp>
        <p:sp>
          <p:nvSpPr>
            <p:cNvPr id="7" name="Rectangle 6">
              <a:extLst>
                <a:ext uri="{FF2B5EF4-FFF2-40B4-BE49-F238E27FC236}">
                  <a16:creationId xmlns:a16="http://schemas.microsoft.com/office/drawing/2014/main" id="{DA839212-1F38-A444-80F2-16BF748D4FEB}"/>
                </a:ext>
              </a:extLst>
            </p:cNvPr>
            <p:cNvSpPr/>
            <p:nvPr/>
          </p:nvSpPr>
          <p:spPr>
            <a:xfrm>
              <a:off x="4883426" y="2207522"/>
              <a:ext cx="2570922"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77F4B6DB-633A-914A-8A17-370016818E37}"/>
              </a:ext>
            </a:extLst>
          </p:cNvPr>
          <p:cNvGrpSpPr/>
          <p:nvPr/>
        </p:nvGrpSpPr>
        <p:grpSpPr>
          <a:xfrm>
            <a:off x="8848679" y="2282220"/>
            <a:ext cx="2808998" cy="1050232"/>
            <a:chOff x="8594034" y="2207522"/>
            <a:chExt cx="2808998" cy="1050232"/>
          </a:xfrm>
        </p:grpSpPr>
        <p:sp>
          <p:nvSpPr>
            <p:cNvPr id="8" name="Rectangle 7">
              <a:extLst>
                <a:ext uri="{FF2B5EF4-FFF2-40B4-BE49-F238E27FC236}">
                  <a16:creationId xmlns:a16="http://schemas.microsoft.com/office/drawing/2014/main" id="{26E0559D-703E-CB46-B49B-B3CCDFE71FC2}"/>
                </a:ext>
              </a:extLst>
            </p:cNvPr>
            <p:cNvSpPr/>
            <p:nvPr/>
          </p:nvSpPr>
          <p:spPr>
            <a:xfrm>
              <a:off x="8600662" y="2214145"/>
              <a:ext cx="2802370"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ED8F372-28D0-9E4F-B38E-0529889BA26E}"/>
                </a:ext>
              </a:extLst>
            </p:cNvPr>
            <p:cNvSpPr txBox="1"/>
            <p:nvPr/>
          </p:nvSpPr>
          <p:spPr>
            <a:xfrm>
              <a:off x="9356067" y="2214145"/>
              <a:ext cx="1290418" cy="369332"/>
            </a:xfrm>
            <a:prstGeom prst="rect">
              <a:avLst/>
            </a:prstGeom>
            <a:noFill/>
          </p:spPr>
          <p:txBody>
            <a:bodyPr wrap="none" rtlCol="0">
              <a:spAutoFit/>
            </a:bodyPr>
            <a:lstStyle/>
            <a:p>
              <a:pPr algn="ctr"/>
              <a:r>
                <a:rPr lang="en-US" dirty="0"/>
                <a:t>PHYSICIANS</a:t>
              </a:r>
            </a:p>
          </p:txBody>
        </p:sp>
        <p:sp>
          <p:nvSpPr>
            <p:cNvPr id="10" name="TextBox 9">
              <a:extLst>
                <a:ext uri="{FF2B5EF4-FFF2-40B4-BE49-F238E27FC236}">
                  <a16:creationId xmlns:a16="http://schemas.microsoft.com/office/drawing/2014/main" id="{524D3EC2-4174-AE4A-A908-F81249DAED80}"/>
                </a:ext>
              </a:extLst>
            </p:cNvPr>
            <p:cNvSpPr txBox="1"/>
            <p:nvPr/>
          </p:nvSpPr>
          <p:spPr>
            <a:xfrm>
              <a:off x="8594034" y="2573540"/>
              <a:ext cx="2802370" cy="369332"/>
            </a:xfrm>
            <a:prstGeom prst="rect">
              <a:avLst/>
            </a:prstGeom>
            <a:noFill/>
          </p:spPr>
          <p:txBody>
            <a:bodyPr wrap="none" rtlCol="0">
              <a:spAutoFit/>
            </a:bodyPr>
            <a:lstStyle/>
            <a:p>
              <a:r>
                <a:rPr lang="en-US" dirty="0" err="1"/>
                <a:t>Phys_ID</a:t>
              </a:r>
              <a:r>
                <a:rPr lang="en-US" dirty="0"/>
                <a:t>   Name   Specialty…</a:t>
              </a:r>
            </a:p>
          </p:txBody>
        </p:sp>
        <p:sp>
          <p:nvSpPr>
            <p:cNvPr id="11" name="Rectangle 10">
              <a:extLst>
                <a:ext uri="{FF2B5EF4-FFF2-40B4-BE49-F238E27FC236}">
                  <a16:creationId xmlns:a16="http://schemas.microsoft.com/office/drawing/2014/main" id="{6F320246-FC0D-224F-9DDD-A3CEC1398AC0}"/>
                </a:ext>
              </a:extLst>
            </p:cNvPr>
            <p:cNvSpPr/>
            <p:nvPr/>
          </p:nvSpPr>
          <p:spPr>
            <a:xfrm>
              <a:off x="8607289" y="2207522"/>
              <a:ext cx="2789109"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F8DCECE-071E-EB44-835F-509EC523582C}"/>
              </a:ext>
            </a:extLst>
          </p:cNvPr>
          <p:cNvGrpSpPr/>
          <p:nvPr/>
        </p:nvGrpSpPr>
        <p:grpSpPr>
          <a:xfrm>
            <a:off x="6505810" y="4400500"/>
            <a:ext cx="3273419" cy="1050232"/>
            <a:chOff x="6373628" y="4420369"/>
            <a:chExt cx="3273419" cy="1050232"/>
          </a:xfrm>
        </p:grpSpPr>
        <p:sp>
          <p:nvSpPr>
            <p:cNvPr id="12" name="Rectangle 11">
              <a:extLst>
                <a:ext uri="{FF2B5EF4-FFF2-40B4-BE49-F238E27FC236}">
                  <a16:creationId xmlns:a16="http://schemas.microsoft.com/office/drawing/2014/main" id="{6ACEC40C-4C98-064A-ACFE-6FA4EF01E607}"/>
                </a:ext>
              </a:extLst>
            </p:cNvPr>
            <p:cNvSpPr/>
            <p:nvPr/>
          </p:nvSpPr>
          <p:spPr>
            <a:xfrm>
              <a:off x="6380255" y="4426992"/>
              <a:ext cx="326679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4AC94196-04B5-9C43-B345-06FB5D866FC3}"/>
                </a:ext>
              </a:extLst>
            </p:cNvPr>
            <p:cNvSpPr txBox="1"/>
            <p:nvPr/>
          </p:nvSpPr>
          <p:spPr>
            <a:xfrm>
              <a:off x="7271072" y="4426992"/>
              <a:ext cx="1468415" cy="369332"/>
            </a:xfrm>
            <a:prstGeom prst="rect">
              <a:avLst/>
            </a:prstGeom>
            <a:noFill/>
          </p:spPr>
          <p:txBody>
            <a:bodyPr wrap="none" rtlCol="0">
              <a:spAutoFit/>
            </a:bodyPr>
            <a:lstStyle/>
            <a:p>
              <a:pPr algn="ctr"/>
              <a:r>
                <a:rPr lang="en-US" dirty="0"/>
                <a:t>ENCOUNTERS</a:t>
              </a:r>
            </a:p>
          </p:txBody>
        </p:sp>
        <p:sp>
          <p:nvSpPr>
            <p:cNvPr id="14" name="TextBox 13">
              <a:extLst>
                <a:ext uri="{FF2B5EF4-FFF2-40B4-BE49-F238E27FC236}">
                  <a16:creationId xmlns:a16="http://schemas.microsoft.com/office/drawing/2014/main" id="{0032C568-04EB-2F45-B619-D2EA025C258E}"/>
                </a:ext>
              </a:extLst>
            </p:cNvPr>
            <p:cNvSpPr txBox="1"/>
            <p:nvPr/>
          </p:nvSpPr>
          <p:spPr>
            <a:xfrm>
              <a:off x="6373628" y="4786387"/>
              <a:ext cx="3266792" cy="369332"/>
            </a:xfrm>
            <a:prstGeom prst="rect">
              <a:avLst/>
            </a:prstGeom>
            <a:noFill/>
          </p:spPr>
          <p:txBody>
            <a:bodyPr wrap="none" rtlCol="0">
              <a:spAutoFit/>
            </a:bodyPr>
            <a:lstStyle/>
            <a:p>
              <a:r>
                <a:rPr lang="en-US" dirty="0" err="1"/>
                <a:t>Enc_ID</a:t>
              </a:r>
              <a:r>
                <a:rPr lang="en-US" dirty="0"/>
                <a:t>   Date   </a:t>
              </a:r>
              <a:r>
                <a:rPr lang="en-US" dirty="0" err="1"/>
                <a:t>Pat_ID</a:t>
              </a:r>
              <a:r>
                <a:rPr lang="en-US" dirty="0"/>
                <a:t>   </a:t>
              </a:r>
              <a:r>
                <a:rPr lang="en-US" dirty="0" err="1"/>
                <a:t>Phys_ID</a:t>
              </a:r>
              <a:r>
                <a:rPr lang="en-US" dirty="0"/>
                <a:t>…</a:t>
              </a:r>
            </a:p>
          </p:txBody>
        </p:sp>
        <p:sp>
          <p:nvSpPr>
            <p:cNvPr id="15" name="Rectangle 14">
              <a:extLst>
                <a:ext uri="{FF2B5EF4-FFF2-40B4-BE49-F238E27FC236}">
                  <a16:creationId xmlns:a16="http://schemas.microsoft.com/office/drawing/2014/main" id="{9965F158-4A5F-2D49-92D4-37D8E7E6DE8A}"/>
                </a:ext>
              </a:extLst>
            </p:cNvPr>
            <p:cNvSpPr/>
            <p:nvPr/>
          </p:nvSpPr>
          <p:spPr>
            <a:xfrm>
              <a:off x="6386884" y="4420369"/>
              <a:ext cx="3253536"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F0CCC3E1-E760-6BD3-4BF5-1407570F6BE2}"/>
              </a:ext>
            </a:extLst>
          </p:cNvPr>
          <p:cNvGrpSpPr/>
          <p:nvPr/>
        </p:nvGrpSpPr>
        <p:grpSpPr>
          <a:xfrm>
            <a:off x="5233235" y="3338092"/>
            <a:ext cx="4511669" cy="2461017"/>
            <a:chOff x="5233235" y="3587467"/>
            <a:chExt cx="4511669" cy="2461017"/>
          </a:xfrm>
        </p:grpSpPr>
        <p:sp>
          <p:nvSpPr>
            <p:cNvPr id="72" name="TextBox 71">
              <a:extLst>
                <a:ext uri="{FF2B5EF4-FFF2-40B4-BE49-F238E27FC236}">
                  <a16:creationId xmlns:a16="http://schemas.microsoft.com/office/drawing/2014/main" id="{5BC1588F-5065-8042-915F-26DBCF55E4BA}"/>
                </a:ext>
              </a:extLst>
            </p:cNvPr>
            <p:cNvSpPr txBox="1"/>
            <p:nvPr/>
          </p:nvSpPr>
          <p:spPr>
            <a:xfrm>
              <a:off x="5233235" y="3587467"/>
              <a:ext cx="301686" cy="357712"/>
            </a:xfrm>
            <a:prstGeom prst="rect">
              <a:avLst/>
            </a:prstGeom>
            <a:noFill/>
          </p:spPr>
          <p:txBody>
            <a:bodyPr wrap="none" rtlCol="0">
              <a:spAutoFit/>
            </a:bodyPr>
            <a:lstStyle/>
            <a:p>
              <a:r>
                <a:rPr lang="en-US" dirty="0"/>
                <a:t>1</a:t>
              </a:r>
            </a:p>
          </p:txBody>
        </p:sp>
        <p:sp>
          <p:nvSpPr>
            <p:cNvPr id="73" name="TextBox 72">
              <a:extLst>
                <a:ext uri="{FF2B5EF4-FFF2-40B4-BE49-F238E27FC236}">
                  <a16:creationId xmlns:a16="http://schemas.microsoft.com/office/drawing/2014/main" id="{AE0E6849-6BBE-CF4D-B323-AD10EFE33C18}"/>
                </a:ext>
              </a:extLst>
            </p:cNvPr>
            <p:cNvSpPr txBox="1"/>
            <p:nvPr/>
          </p:nvSpPr>
          <p:spPr>
            <a:xfrm>
              <a:off x="9430841" y="3587467"/>
              <a:ext cx="301686" cy="357712"/>
            </a:xfrm>
            <a:prstGeom prst="rect">
              <a:avLst/>
            </a:prstGeom>
            <a:noFill/>
          </p:spPr>
          <p:txBody>
            <a:bodyPr wrap="none" rtlCol="0">
              <a:spAutoFit/>
            </a:bodyPr>
            <a:lstStyle/>
            <a:p>
              <a:r>
                <a:rPr lang="en-US" dirty="0"/>
                <a:t>1</a:t>
              </a:r>
            </a:p>
          </p:txBody>
        </p:sp>
        <p:sp>
          <p:nvSpPr>
            <p:cNvPr id="74" name="TextBox 73">
              <a:extLst>
                <a:ext uri="{FF2B5EF4-FFF2-40B4-BE49-F238E27FC236}">
                  <a16:creationId xmlns:a16="http://schemas.microsoft.com/office/drawing/2014/main" id="{68639DB4-B8D5-074D-807B-C5EA1D4C3E56}"/>
                </a:ext>
              </a:extLst>
            </p:cNvPr>
            <p:cNvSpPr txBox="1"/>
            <p:nvPr/>
          </p:nvSpPr>
          <p:spPr>
            <a:xfrm>
              <a:off x="8381129" y="5690772"/>
              <a:ext cx="532518" cy="357712"/>
            </a:xfrm>
            <a:prstGeom prst="rect">
              <a:avLst/>
            </a:prstGeom>
            <a:noFill/>
          </p:spPr>
          <p:txBody>
            <a:bodyPr wrap="none" rtlCol="0">
              <a:spAutoFit/>
            </a:bodyPr>
            <a:lstStyle/>
            <a:p>
              <a:r>
                <a:rPr lang="en-US" dirty="0"/>
                <a:t>0..*</a:t>
              </a:r>
            </a:p>
          </p:txBody>
        </p:sp>
        <p:sp>
          <p:nvSpPr>
            <p:cNvPr id="75" name="TextBox 74">
              <a:extLst>
                <a:ext uri="{FF2B5EF4-FFF2-40B4-BE49-F238E27FC236}">
                  <a16:creationId xmlns:a16="http://schemas.microsoft.com/office/drawing/2014/main" id="{8904120E-CCB3-944B-8BB9-B62C7AE7AD41}"/>
                </a:ext>
              </a:extLst>
            </p:cNvPr>
            <p:cNvSpPr txBox="1"/>
            <p:nvPr/>
          </p:nvSpPr>
          <p:spPr>
            <a:xfrm>
              <a:off x="9212386" y="5690772"/>
              <a:ext cx="532518" cy="357712"/>
            </a:xfrm>
            <a:prstGeom prst="rect">
              <a:avLst/>
            </a:prstGeom>
            <a:noFill/>
          </p:spPr>
          <p:txBody>
            <a:bodyPr wrap="none" rtlCol="0">
              <a:spAutoFit/>
            </a:bodyPr>
            <a:lstStyle/>
            <a:p>
              <a:r>
                <a:rPr lang="en-US" dirty="0"/>
                <a:t>0..*</a:t>
              </a:r>
            </a:p>
          </p:txBody>
        </p:sp>
      </p:grpSp>
      <p:grpSp>
        <p:nvGrpSpPr>
          <p:cNvPr id="25" name="Group 24">
            <a:extLst>
              <a:ext uri="{FF2B5EF4-FFF2-40B4-BE49-F238E27FC236}">
                <a16:creationId xmlns:a16="http://schemas.microsoft.com/office/drawing/2014/main" id="{3EDE3293-5A6E-5F70-DDC0-88C8AF28C15D}"/>
              </a:ext>
            </a:extLst>
          </p:cNvPr>
          <p:cNvGrpSpPr/>
          <p:nvPr/>
        </p:nvGrpSpPr>
        <p:grpSpPr>
          <a:xfrm>
            <a:off x="8073294" y="3798939"/>
            <a:ext cx="1263471" cy="588237"/>
            <a:chOff x="8073294" y="4048314"/>
            <a:chExt cx="1263471" cy="588237"/>
          </a:xfrm>
        </p:grpSpPr>
        <p:grpSp>
          <p:nvGrpSpPr>
            <p:cNvPr id="85" name="Group 84">
              <a:extLst>
                <a:ext uri="{FF2B5EF4-FFF2-40B4-BE49-F238E27FC236}">
                  <a16:creationId xmlns:a16="http://schemas.microsoft.com/office/drawing/2014/main" id="{1DCA11A7-5C67-7440-A623-7F8CE49F832F}"/>
                </a:ext>
              </a:extLst>
            </p:cNvPr>
            <p:cNvGrpSpPr/>
            <p:nvPr/>
          </p:nvGrpSpPr>
          <p:grpSpPr>
            <a:xfrm>
              <a:off x="8073294" y="4048314"/>
              <a:ext cx="417102" cy="576393"/>
              <a:chOff x="8859080" y="1254201"/>
              <a:chExt cx="417102" cy="576393"/>
            </a:xfrm>
          </p:grpSpPr>
          <p:sp>
            <p:nvSpPr>
              <p:cNvPr id="77" name="TextBox 76">
                <a:extLst>
                  <a:ext uri="{FF2B5EF4-FFF2-40B4-BE49-F238E27FC236}">
                    <a16:creationId xmlns:a16="http://schemas.microsoft.com/office/drawing/2014/main" id="{91249D78-8C44-604F-8680-77007AB9AA8E}"/>
                  </a:ext>
                </a:extLst>
              </p:cNvPr>
              <p:cNvSpPr txBox="1"/>
              <p:nvPr/>
            </p:nvSpPr>
            <p:spPr>
              <a:xfrm>
                <a:off x="8859080" y="1254201"/>
                <a:ext cx="417102" cy="369332"/>
              </a:xfrm>
              <a:prstGeom prst="rect">
                <a:avLst/>
              </a:prstGeom>
              <a:noFill/>
            </p:spPr>
            <p:txBody>
              <a:bodyPr wrap="none" rtlCol="0">
                <a:spAutoFit/>
              </a:bodyPr>
              <a:lstStyle/>
              <a:p>
                <a:r>
                  <a:rPr lang="en-US" b="1" dirty="0">
                    <a:solidFill>
                      <a:srgbClr val="C00000"/>
                    </a:solidFill>
                  </a:rPr>
                  <a:t>FK</a:t>
                </a:r>
              </a:p>
            </p:txBody>
          </p:sp>
          <p:cxnSp>
            <p:nvCxnSpPr>
              <p:cNvPr id="83" name="Straight Arrow Connector 82">
                <a:extLst>
                  <a:ext uri="{FF2B5EF4-FFF2-40B4-BE49-F238E27FC236}">
                    <a16:creationId xmlns:a16="http://schemas.microsoft.com/office/drawing/2014/main" id="{3D8F7A10-2D08-9640-9C05-853A89C80400}"/>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E637884-1B0C-1647-84BA-52AB89D28BE3}"/>
                </a:ext>
              </a:extLst>
            </p:cNvPr>
            <p:cNvGrpSpPr/>
            <p:nvPr/>
          </p:nvGrpSpPr>
          <p:grpSpPr>
            <a:xfrm>
              <a:off x="8919663" y="4060158"/>
              <a:ext cx="417102" cy="576393"/>
              <a:chOff x="8859080" y="1254201"/>
              <a:chExt cx="417102" cy="576393"/>
            </a:xfrm>
          </p:grpSpPr>
          <p:sp>
            <p:nvSpPr>
              <p:cNvPr id="93" name="TextBox 92">
                <a:extLst>
                  <a:ext uri="{FF2B5EF4-FFF2-40B4-BE49-F238E27FC236}">
                    <a16:creationId xmlns:a16="http://schemas.microsoft.com/office/drawing/2014/main" id="{8D5C84CC-A855-B94F-BA30-CE5B397E1904}"/>
                  </a:ext>
                </a:extLst>
              </p:cNvPr>
              <p:cNvSpPr txBox="1"/>
              <p:nvPr/>
            </p:nvSpPr>
            <p:spPr>
              <a:xfrm>
                <a:off x="8859080" y="1254201"/>
                <a:ext cx="417102" cy="369332"/>
              </a:xfrm>
              <a:prstGeom prst="rect">
                <a:avLst/>
              </a:prstGeom>
              <a:solidFill>
                <a:schemeClr val="bg1"/>
              </a:solidFill>
            </p:spPr>
            <p:txBody>
              <a:bodyPr wrap="none" rtlCol="0">
                <a:spAutoFit/>
              </a:bodyPr>
              <a:lstStyle/>
              <a:p>
                <a:r>
                  <a:rPr lang="en-US" b="1" dirty="0">
                    <a:solidFill>
                      <a:srgbClr val="C00000"/>
                    </a:solidFill>
                  </a:rPr>
                  <a:t>FK</a:t>
                </a:r>
              </a:p>
            </p:txBody>
          </p:sp>
          <p:cxnSp>
            <p:nvCxnSpPr>
              <p:cNvPr id="94" name="Straight Arrow Connector 93">
                <a:extLst>
                  <a:ext uri="{FF2B5EF4-FFF2-40B4-BE49-F238E27FC236}">
                    <a16:creationId xmlns:a16="http://schemas.microsoft.com/office/drawing/2014/main" id="{9179D735-2381-4C46-AB40-5201C2F3F32A}"/>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4" name="Group 23">
            <a:extLst>
              <a:ext uri="{FF2B5EF4-FFF2-40B4-BE49-F238E27FC236}">
                <a16:creationId xmlns:a16="http://schemas.microsoft.com/office/drawing/2014/main" id="{79FB2BD1-4C76-B335-310D-17E63609DC18}"/>
              </a:ext>
            </a:extLst>
          </p:cNvPr>
          <p:cNvGrpSpPr/>
          <p:nvPr/>
        </p:nvGrpSpPr>
        <p:grpSpPr>
          <a:xfrm>
            <a:off x="4893279" y="1699835"/>
            <a:ext cx="4677966" cy="2687938"/>
            <a:chOff x="4893279" y="1949210"/>
            <a:chExt cx="4677966" cy="2687938"/>
          </a:xfrm>
        </p:grpSpPr>
        <p:grpSp>
          <p:nvGrpSpPr>
            <p:cNvPr id="84" name="Group 83">
              <a:extLst>
                <a:ext uri="{FF2B5EF4-FFF2-40B4-BE49-F238E27FC236}">
                  <a16:creationId xmlns:a16="http://schemas.microsoft.com/office/drawing/2014/main" id="{DA46290D-3011-8046-87E6-28D4141B1EDC}"/>
                </a:ext>
              </a:extLst>
            </p:cNvPr>
            <p:cNvGrpSpPr/>
            <p:nvPr/>
          </p:nvGrpSpPr>
          <p:grpSpPr>
            <a:xfrm>
              <a:off x="4893279" y="1950219"/>
              <a:ext cx="537667" cy="569801"/>
              <a:chOff x="4517343" y="1461262"/>
              <a:chExt cx="537667" cy="569801"/>
            </a:xfrm>
          </p:grpSpPr>
          <p:sp>
            <p:nvSpPr>
              <p:cNvPr id="76" name="TextBox 75">
                <a:extLst>
                  <a:ext uri="{FF2B5EF4-FFF2-40B4-BE49-F238E27FC236}">
                    <a16:creationId xmlns:a16="http://schemas.microsoft.com/office/drawing/2014/main" id="{D1AEAC91-E16D-AD43-B075-14FF2933941B}"/>
                  </a:ext>
                </a:extLst>
              </p:cNvPr>
              <p:cNvSpPr txBox="1"/>
              <p:nvPr/>
            </p:nvSpPr>
            <p:spPr>
              <a:xfrm>
                <a:off x="4517343" y="146126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1" name="Straight Arrow Connector 80">
                <a:extLst>
                  <a:ext uri="{FF2B5EF4-FFF2-40B4-BE49-F238E27FC236}">
                    <a16:creationId xmlns:a16="http://schemas.microsoft.com/office/drawing/2014/main" id="{28FC4C9A-A042-B04B-B437-6AC685BC63FA}"/>
                  </a:ext>
                </a:extLst>
              </p:cNvPr>
              <p:cNvCxnSpPr>
                <a:cxnSpLocks/>
              </p:cNvCxnSpPr>
              <p:nvPr/>
            </p:nvCxnSpPr>
            <p:spPr>
              <a:xfrm>
                <a:off x="4772925" y="175421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A56DB51-5E77-D544-B0BE-AF095CB9ABB5}"/>
                </a:ext>
              </a:extLst>
            </p:cNvPr>
            <p:cNvGrpSpPr/>
            <p:nvPr/>
          </p:nvGrpSpPr>
          <p:grpSpPr>
            <a:xfrm>
              <a:off x="9033578" y="1949210"/>
              <a:ext cx="537667" cy="569801"/>
              <a:chOff x="5385446" y="1484412"/>
              <a:chExt cx="537667" cy="569801"/>
            </a:xfrm>
          </p:grpSpPr>
          <p:sp>
            <p:nvSpPr>
              <p:cNvPr id="87" name="TextBox 86">
                <a:extLst>
                  <a:ext uri="{FF2B5EF4-FFF2-40B4-BE49-F238E27FC236}">
                    <a16:creationId xmlns:a16="http://schemas.microsoft.com/office/drawing/2014/main" id="{5FDDB5BF-888D-F349-AF4E-0F79D6F241FE}"/>
                  </a:ext>
                </a:extLst>
              </p:cNvPr>
              <p:cNvSpPr txBox="1"/>
              <p:nvPr/>
            </p:nvSpPr>
            <p:spPr>
              <a:xfrm>
                <a:off x="5385446" y="14844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8" name="Straight Arrow Connector 87">
                <a:extLst>
                  <a:ext uri="{FF2B5EF4-FFF2-40B4-BE49-F238E27FC236}">
                    <a16:creationId xmlns:a16="http://schemas.microsoft.com/office/drawing/2014/main" id="{B9B9E7F7-FCDC-9049-B184-7B8B2DE241C4}"/>
                  </a:ext>
                </a:extLst>
              </p:cNvPr>
              <p:cNvCxnSpPr>
                <a:cxnSpLocks/>
              </p:cNvCxnSpPr>
              <p:nvPr/>
            </p:nvCxnSpPr>
            <p:spPr>
              <a:xfrm>
                <a:off x="5641028" y="17773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BF446C2C-8A73-C643-BD82-18E4B423C2DD}"/>
                </a:ext>
              </a:extLst>
            </p:cNvPr>
            <p:cNvGrpSpPr/>
            <p:nvPr/>
          </p:nvGrpSpPr>
          <p:grpSpPr>
            <a:xfrm>
              <a:off x="6652894" y="4067347"/>
              <a:ext cx="537667" cy="569801"/>
              <a:chOff x="5107653" y="1438112"/>
              <a:chExt cx="537667" cy="569801"/>
            </a:xfrm>
          </p:grpSpPr>
          <p:sp>
            <p:nvSpPr>
              <p:cNvPr id="90" name="TextBox 89">
                <a:extLst>
                  <a:ext uri="{FF2B5EF4-FFF2-40B4-BE49-F238E27FC236}">
                    <a16:creationId xmlns:a16="http://schemas.microsoft.com/office/drawing/2014/main" id="{BD204120-8999-124F-8268-E83D9B19CAFB}"/>
                  </a:ext>
                </a:extLst>
              </p:cNvPr>
              <p:cNvSpPr txBox="1"/>
              <p:nvPr/>
            </p:nvSpPr>
            <p:spPr>
              <a:xfrm>
                <a:off x="5107653" y="14381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91" name="Straight Arrow Connector 90">
                <a:extLst>
                  <a:ext uri="{FF2B5EF4-FFF2-40B4-BE49-F238E27FC236}">
                    <a16:creationId xmlns:a16="http://schemas.microsoft.com/office/drawing/2014/main" id="{83E8EFE0-BF5B-3544-B27A-C98CDF92960B}"/>
                  </a:ext>
                </a:extLst>
              </p:cNvPr>
              <p:cNvCxnSpPr>
                <a:cxnSpLocks/>
              </p:cNvCxnSpPr>
              <p:nvPr/>
            </p:nvCxnSpPr>
            <p:spPr>
              <a:xfrm>
                <a:off x="5363235" y="17310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6" name="Group 25">
            <a:extLst>
              <a:ext uri="{FF2B5EF4-FFF2-40B4-BE49-F238E27FC236}">
                <a16:creationId xmlns:a16="http://schemas.microsoft.com/office/drawing/2014/main" id="{8A46C9DC-B620-C4E1-7AEB-C39796C30035}"/>
              </a:ext>
            </a:extLst>
          </p:cNvPr>
          <p:cNvGrpSpPr/>
          <p:nvPr/>
        </p:nvGrpSpPr>
        <p:grpSpPr>
          <a:xfrm>
            <a:off x="5185458" y="3327202"/>
            <a:ext cx="5185458" cy="2720051"/>
            <a:chOff x="5185458" y="3576577"/>
            <a:chExt cx="5185458" cy="2720051"/>
          </a:xfrm>
        </p:grpSpPr>
        <p:sp>
          <p:nvSpPr>
            <p:cNvPr id="22" name="Freeform 21">
              <a:extLst>
                <a:ext uri="{FF2B5EF4-FFF2-40B4-BE49-F238E27FC236}">
                  <a16:creationId xmlns:a16="http://schemas.microsoft.com/office/drawing/2014/main" id="{15A82F0F-C512-AEDF-7060-9616526F8F30}"/>
                </a:ext>
              </a:extLst>
            </p:cNvPr>
            <p:cNvSpPr/>
            <p:nvPr/>
          </p:nvSpPr>
          <p:spPr>
            <a:xfrm>
              <a:off x="5185458" y="3588152"/>
              <a:ext cx="3148314" cy="2708476"/>
            </a:xfrm>
            <a:custGeom>
              <a:avLst/>
              <a:gdLst>
                <a:gd name="connsiteX0" fmla="*/ 0 w 3148314"/>
                <a:gd name="connsiteY0" fmla="*/ 0 h 2708476"/>
                <a:gd name="connsiteX1" fmla="*/ 0 w 3148314"/>
                <a:gd name="connsiteY1" fmla="*/ 2708476 h 2708476"/>
                <a:gd name="connsiteX2" fmla="*/ 3148314 w 3148314"/>
                <a:gd name="connsiteY2" fmla="*/ 2708476 h 2708476"/>
                <a:gd name="connsiteX3" fmla="*/ 3148314 w 3148314"/>
                <a:gd name="connsiteY3" fmla="*/ 2118167 h 2708476"/>
              </a:gdLst>
              <a:ahLst/>
              <a:cxnLst>
                <a:cxn ang="0">
                  <a:pos x="connsiteX0" y="connsiteY0"/>
                </a:cxn>
                <a:cxn ang="0">
                  <a:pos x="connsiteX1" y="connsiteY1"/>
                </a:cxn>
                <a:cxn ang="0">
                  <a:pos x="connsiteX2" y="connsiteY2"/>
                </a:cxn>
                <a:cxn ang="0">
                  <a:pos x="connsiteX3" y="connsiteY3"/>
                </a:cxn>
              </a:cxnLst>
              <a:rect l="l" t="t" r="r" b="b"/>
              <a:pathLst>
                <a:path w="3148314" h="2708476">
                  <a:moveTo>
                    <a:pt x="0" y="0"/>
                  </a:moveTo>
                  <a:lnTo>
                    <a:pt x="0" y="2708476"/>
                  </a:lnTo>
                  <a:lnTo>
                    <a:pt x="3148314" y="2708476"/>
                  </a:lnTo>
                  <a:lnTo>
                    <a:pt x="3148314" y="2118167"/>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96F10382-76D3-BBF3-5B45-57680A75FAC2}"/>
                </a:ext>
              </a:extLst>
            </p:cNvPr>
            <p:cNvSpPr/>
            <p:nvPr/>
          </p:nvSpPr>
          <p:spPr>
            <a:xfrm>
              <a:off x="9167149" y="3576577"/>
              <a:ext cx="1203767" cy="2708476"/>
            </a:xfrm>
            <a:custGeom>
              <a:avLst/>
              <a:gdLst>
                <a:gd name="connsiteX0" fmla="*/ 208345 w 1203767"/>
                <a:gd name="connsiteY0" fmla="*/ 0 h 2708476"/>
                <a:gd name="connsiteX1" fmla="*/ 208345 w 1203767"/>
                <a:gd name="connsiteY1" fmla="*/ 405114 h 2708476"/>
                <a:gd name="connsiteX2" fmla="*/ 1203767 w 1203767"/>
                <a:gd name="connsiteY2" fmla="*/ 405114 h 2708476"/>
                <a:gd name="connsiteX3" fmla="*/ 1203767 w 1203767"/>
                <a:gd name="connsiteY3" fmla="*/ 2708476 h 2708476"/>
                <a:gd name="connsiteX4" fmla="*/ 0 w 1203767"/>
                <a:gd name="connsiteY4" fmla="*/ 2708476 h 2708476"/>
                <a:gd name="connsiteX5" fmla="*/ 0 w 1203767"/>
                <a:gd name="connsiteY5" fmla="*/ 2141316 h 2708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3767" h="2708476">
                  <a:moveTo>
                    <a:pt x="208345" y="0"/>
                  </a:moveTo>
                  <a:lnTo>
                    <a:pt x="208345" y="405114"/>
                  </a:lnTo>
                  <a:lnTo>
                    <a:pt x="1203767" y="405114"/>
                  </a:lnTo>
                  <a:lnTo>
                    <a:pt x="1203767" y="2708476"/>
                  </a:lnTo>
                  <a:lnTo>
                    <a:pt x="0" y="2708476"/>
                  </a:lnTo>
                  <a:lnTo>
                    <a:pt x="0" y="2141316"/>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11017209-2BC6-BF08-4B22-F3593841C1FF}"/>
              </a:ext>
            </a:extLst>
          </p:cNvPr>
          <p:cNvSpPr txBox="1"/>
          <p:nvPr/>
        </p:nvSpPr>
        <p:spPr>
          <a:xfrm>
            <a:off x="5928167"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0" name="TextBox 29">
            <a:extLst>
              <a:ext uri="{FF2B5EF4-FFF2-40B4-BE49-F238E27FC236}">
                <a16:creationId xmlns:a16="http://schemas.microsoft.com/office/drawing/2014/main" id="{D0CAA221-726E-747A-13A8-30A5D322D554}"/>
              </a:ext>
            </a:extLst>
          </p:cNvPr>
          <p:cNvSpPr txBox="1"/>
          <p:nvPr/>
        </p:nvSpPr>
        <p:spPr>
          <a:xfrm>
            <a:off x="10138716"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1" name="TextBox 30">
            <a:extLst>
              <a:ext uri="{FF2B5EF4-FFF2-40B4-BE49-F238E27FC236}">
                <a16:creationId xmlns:a16="http://schemas.microsoft.com/office/drawing/2014/main" id="{9A5E807D-D8E8-07BD-4377-103F52351DCF}"/>
              </a:ext>
            </a:extLst>
          </p:cNvPr>
          <p:cNvSpPr txBox="1"/>
          <p:nvPr/>
        </p:nvSpPr>
        <p:spPr>
          <a:xfrm>
            <a:off x="7978000" y="5001324"/>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19" name="TextBox 18">
            <a:extLst>
              <a:ext uri="{FF2B5EF4-FFF2-40B4-BE49-F238E27FC236}">
                <a16:creationId xmlns:a16="http://schemas.microsoft.com/office/drawing/2014/main" id="{03E980F1-4AD1-B8BD-7668-4F1577D9040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442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25FA-AEBA-D74F-B62A-D8DF32138B18}"/>
              </a:ext>
            </a:extLst>
          </p:cNvPr>
          <p:cNvSpPr>
            <a:spLocks noGrp="1"/>
          </p:cNvSpPr>
          <p:nvPr>
            <p:ph type="title"/>
          </p:nvPr>
        </p:nvSpPr>
        <p:spPr/>
        <p:txBody>
          <a:bodyPr/>
          <a:lstStyle/>
          <a:p>
            <a:r>
              <a:rPr lang="en-US" dirty="0"/>
              <a:t>Describing RDB structure and contents</a:t>
            </a:r>
          </a:p>
        </p:txBody>
      </p:sp>
      <p:sp>
        <p:nvSpPr>
          <p:cNvPr id="3" name="Content Placeholder 2">
            <a:extLst>
              <a:ext uri="{FF2B5EF4-FFF2-40B4-BE49-F238E27FC236}">
                <a16:creationId xmlns:a16="http://schemas.microsoft.com/office/drawing/2014/main" id="{FF5F9CCB-7BFE-8B49-9292-C5052A972A80}"/>
              </a:ext>
            </a:extLst>
          </p:cNvPr>
          <p:cNvSpPr>
            <a:spLocks noGrp="1"/>
          </p:cNvSpPr>
          <p:nvPr>
            <p:ph idx="1"/>
          </p:nvPr>
        </p:nvSpPr>
        <p:spPr>
          <a:xfrm>
            <a:off x="885886" y="1900004"/>
            <a:ext cx="10515600" cy="4667250"/>
          </a:xfrm>
        </p:spPr>
        <p:txBody>
          <a:bodyPr>
            <a:normAutofit/>
          </a:bodyPr>
          <a:lstStyle/>
          <a:p>
            <a:pPr>
              <a:lnSpc>
                <a:spcPct val="100000"/>
              </a:lnSpc>
            </a:pPr>
            <a:r>
              <a:rPr lang="en-US" b="1" dirty="0"/>
              <a:t>Schema:</a:t>
            </a:r>
            <a:r>
              <a:rPr lang="en-US" dirty="0"/>
              <a:t> table structure with relations</a:t>
            </a:r>
            <a:br>
              <a:rPr lang="en-US" dirty="0"/>
            </a:br>
            <a:r>
              <a:rPr lang="en-US" dirty="0"/>
              <a:t>and required data types</a:t>
            </a:r>
          </a:p>
          <a:p>
            <a:pPr lvl="1">
              <a:lnSpc>
                <a:spcPct val="100000"/>
              </a:lnSpc>
            </a:pPr>
            <a:r>
              <a:rPr lang="en-US" dirty="0"/>
              <a:t>Entity-relationship (ER) diagram</a:t>
            </a:r>
          </a:p>
          <a:p>
            <a:pPr lvl="1">
              <a:lnSpc>
                <a:spcPct val="100000"/>
              </a:lnSpc>
            </a:pPr>
            <a:r>
              <a:rPr lang="en-US" dirty="0"/>
              <a:t>Normalized schema (“normal form”)</a:t>
            </a:r>
          </a:p>
          <a:p>
            <a:pPr lvl="2">
              <a:lnSpc>
                <a:spcPct val="100000"/>
              </a:lnSpc>
            </a:pPr>
            <a:r>
              <a:rPr lang="en-US" dirty="0"/>
              <a:t>Optimum structure without inappropriate</a:t>
            </a:r>
            <a:br>
              <a:rPr lang="en-US" dirty="0"/>
            </a:br>
            <a:r>
              <a:rPr lang="en-US" dirty="0"/>
              <a:t>data dependencies or redundancy</a:t>
            </a:r>
          </a:p>
          <a:p>
            <a:pPr lvl="2">
              <a:lnSpc>
                <a:spcPct val="100000"/>
              </a:lnSpc>
            </a:pPr>
            <a:r>
              <a:rPr lang="en-US" dirty="0"/>
              <a:t>Relaxed in practice for speed</a:t>
            </a:r>
          </a:p>
          <a:p>
            <a:pPr>
              <a:lnSpc>
                <a:spcPct val="100000"/>
              </a:lnSpc>
              <a:spcBef>
                <a:spcPts val="2200"/>
              </a:spcBef>
            </a:pPr>
            <a:r>
              <a:rPr lang="en-US" b="1" dirty="0"/>
              <a:t>Data dictionary:</a:t>
            </a:r>
            <a:r>
              <a:rPr lang="en-US" dirty="0"/>
              <a:t> list of data elements</a:t>
            </a:r>
            <a:br>
              <a:rPr lang="en-US" dirty="0"/>
            </a:br>
            <a:r>
              <a:rPr lang="en-US" dirty="0"/>
              <a:t>(column names)</a:t>
            </a:r>
          </a:p>
        </p:txBody>
      </p:sp>
      <p:pic>
        <p:nvPicPr>
          <p:cNvPr id="5" name="Picture 4">
            <a:extLst>
              <a:ext uri="{FF2B5EF4-FFF2-40B4-BE49-F238E27FC236}">
                <a16:creationId xmlns:a16="http://schemas.microsoft.com/office/drawing/2014/main" id="{C90EF588-1731-4A4A-BEAF-21E7B0310D9F}"/>
              </a:ext>
            </a:extLst>
          </p:cNvPr>
          <p:cNvPicPr>
            <a:picLocks noChangeAspect="1"/>
          </p:cNvPicPr>
          <p:nvPr/>
        </p:nvPicPr>
        <p:blipFill>
          <a:blip r:embed="rId3"/>
          <a:stretch>
            <a:fillRect/>
          </a:stretch>
        </p:blipFill>
        <p:spPr>
          <a:xfrm>
            <a:off x="7034890" y="2508530"/>
            <a:ext cx="4344682" cy="3104184"/>
          </a:xfrm>
          <a:prstGeom prst="rect">
            <a:avLst/>
          </a:prstGeom>
          <a:solidFill>
            <a:schemeClr val="bg2">
              <a:lumMod val="75000"/>
            </a:schemeClr>
          </a:solidFill>
          <a:ln>
            <a:solidFill>
              <a:schemeClr val="bg2">
                <a:lumMod val="75000"/>
              </a:schemeClr>
            </a:solidFill>
          </a:ln>
          <a:effectLst>
            <a:outerShdw blurRad="50800" dist="38100" dir="5400000" algn="t" rotWithShape="0">
              <a:prstClr val="black">
                <a:alpha val="40000"/>
              </a:prstClr>
            </a:outerShdw>
          </a:effectLst>
        </p:spPr>
      </p:pic>
      <p:sp>
        <p:nvSpPr>
          <p:cNvPr id="4" name="TextBox 3">
            <a:extLst>
              <a:ext uri="{FF2B5EF4-FFF2-40B4-BE49-F238E27FC236}">
                <a16:creationId xmlns:a16="http://schemas.microsoft.com/office/drawing/2014/main" id="{8AA2953C-BFE6-BF89-1B5A-39EB988DD210}"/>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7049365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AAF-E2B7-1F41-84B0-FE4648D5FA92}"/>
              </a:ext>
            </a:extLst>
          </p:cNvPr>
          <p:cNvSpPr>
            <a:spLocks noGrp="1"/>
          </p:cNvSpPr>
          <p:nvPr>
            <p:ph type="title"/>
          </p:nvPr>
        </p:nvSpPr>
        <p:spPr/>
        <p:txBody>
          <a:bodyPr/>
          <a:lstStyle/>
          <a:p>
            <a:r>
              <a:rPr lang="en-US" dirty="0"/>
              <a:t>RDB Query: Structured Query Language (SQL)</a:t>
            </a:r>
          </a:p>
        </p:txBody>
      </p:sp>
      <p:sp>
        <p:nvSpPr>
          <p:cNvPr id="3" name="Content Placeholder 2">
            <a:extLst>
              <a:ext uri="{FF2B5EF4-FFF2-40B4-BE49-F238E27FC236}">
                <a16:creationId xmlns:a16="http://schemas.microsoft.com/office/drawing/2014/main" id="{D1A56DF2-8252-E141-92B3-2E8367E07261}"/>
              </a:ext>
            </a:extLst>
          </p:cNvPr>
          <p:cNvSpPr>
            <a:spLocks noGrp="1"/>
          </p:cNvSpPr>
          <p:nvPr>
            <p:ph idx="1"/>
          </p:nvPr>
        </p:nvSpPr>
        <p:spPr>
          <a:xfrm>
            <a:off x="838200" y="1990878"/>
            <a:ext cx="10515600" cy="4667250"/>
          </a:xfrm>
        </p:spPr>
        <p:txBody>
          <a:bodyPr>
            <a:normAutofit fontScale="92500" lnSpcReduction="10000"/>
          </a:bodyPr>
          <a:lstStyle/>
          <a:p>
            <a:r>
              <a:rPr lang="en-US" dirty="0"/>
              <a:t>Standard (sort of) query language for all relational databases</a:t>
            </a:r>
          </a:p>
          <a:p>
            <a:r>
              <a:rPr lang="en-US" dirty="0"/>
              <a:t>Statements for creating, managing, updating, querying, deleting records</a:t>
            </a:r>
          </a:p>
          <a:p>
            <a:r>
              <a:rPr lang="en-US" dirty="0"/>
              <a:t>Query </a:t>
            </a:r>
            <a:r>
              <a:rPr lang="en-US" b="1" dirty="0"/>
              <a:t>statement</a:t>
            </a:r>
            <a:r>
              <a:rPr lang="en-US" dirty="0"/>
              <a:t>:</a:t>
            </a:r>
          </a:p>
          <a:p>
            <a:endParaRPr lang="en-US" dirty="0"/>
          </a:p>
          <a:p>
            <a:endParaRPr lang="en-US" dirty="0"/>
          </a:p>
          <a:p>
            <a:endParaRPr lang="en-US" dirty="0"/>
          </a:p>
          <a:p>
            <a:r>
              <a:rPr lang="en-US" dirty="0"/>
              <a:t>…returns a single table of matching data elements</a:t>
            </a:r>
          </a:p>
          <a:p>
            <a:r>
              <a:rPr lang="en-US" dirty="0"/>
              <a:t>JOIN tables using matching key values to query multiple tables</a:t>
            </a:r>
          </a:p>
        </p:txBody>
      </p:sp>
      <p:sp>
        <p:nvSpPr>
          <p:cNvPr id="4" name="TextBox 3">
            <a:extLst>
              <a:ext uri="{FF2B5EF4-FFF2-40B4-BE49-F238E27FC236}">
                <a16:creationId xmlns:a16="http://schemas.microsoft.com/office/drawing/2014/main" id="{B3D9D178-72B4-DC40-A245-CF03AB1B00E8}"/>
              </a:ext>
            </a:extLst>
          </p:cNvPr>
          <p:cNvSpPr txBox="1"/>
          <p:nvPr/>
        </p:nvSpPr>
        <p:spPr>
          <a:xfrm>
            <a:off x="4638260" y="3207026"/>
            <a:ext cx="6241775" cy="1815882"/>
          </a:xfrm>
          <a:prstGeom prst="rect">
            <a:avLst/>
          </a:prstGeom>
          <a:no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a:t>
            </a:r>
          </a:p>
          <a:p>
            <a:r>
              <a:rPr lang="en-US" sz="2800" dirty="0"/>
              <a:t>WHERE &lt;query parameters&gt;</a:t>
            </a:r>
          </a:p>
          <a:p>
            <a:r>
              <a:rPr lang="en-US" sz="2800" dirty="0"/>
              <a:t>ORDER BY &lt;sorting parameters&gt;</a:t>
            </a:r>
          </a:p>
        </p:txBody>
      </p:sp>
      <p:sp>
        <p:nvSpPr>
          <p:cNvPr id="5" name="TextBox 4">
            <a:extLst>
              <a:ext uri="{FF2B5EF4-FFF2-40B4-BE49-F238E27FC236}">
                <a16:creationId xmlns:a16="http://schemas.microsoft.com/office/drawing/2014/main" id="{0F5A265F-FF83-AB4A-8226-7766DD5AAABD}"/>
              </a:ext>
            </a:extLst>
          </p:cNvPr>
          <p:cNvSpPr txBox="1"/>
          <p:nvPr/>
        </p:nvSpPr>
        <p:spPr>
          <a:xfrm>
            <a:off x="4638259" y="3207026"/>
            <a:ext cx="6241775" cy="1815882"/>
          </a:xfrm>
          <a:prstGeom prst="rect">
            <a:avLst/>
          </a:prstGeom>
          <a:solidFill>
            <a:schemeClr val="bg1"/>
          </a:solid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 JOIN &lt;table&gt; ON &lt;column&gt;</a:t>
            </a:r>
          </a:p>
          <a:p>
            <a:r>
              <a:rPr lang="en-US" sz="2800" dirty="0"/>
              <a:t>WHERE &lt;query parameters&gt;</a:t>
            </a:r>
          </a:p>
          <a:p>
            <a:r>
              <a:rPr lang="en-US" sz="2800" dirty="0"/>
              <a:t>ORDER BY &lt;sorting parameters&gt;</a:t>
            </a:r>
          </a:p>
        </p:txBody>
      </p:sp>
      <p:sp>
        <p:nvSpPr>
          <p:cNvPr id="6" name="TextBox 5">
            <a:extLst>
              <a:ext uri="{FF2B5EF4-FFF2-40B4-BE49-F238E27FC236}">
                <a16:creationId xmlns:a16="http://schemas.microsoft.com/office/drawing/2014/main" id="{39796B3E-8587-36BE-9DF7-C6FA5078AC93}"/>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3790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
          <p:cNvSpPr txBox="1">
            <a:spLocks noGrp="1"/>
          </p:cNvSpPr>
          <p:nvPr>
            <p:ph type="title"/>
          </p:nvPr>
        </p:nvSpPr>
        <p:spPr>
          <a:xfrm>
            <a:off x="857254" y="810488"/>
            <a:ext cx="10477491" cy="74739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111111"/>
              <a:buNone/>
            </a:pPr>
            <a:r>
              <a:rPr lang="en-US" dirty="0"/>
              <a:t>Relational databases May Utilize a “Tidy” Representation of Data</a:t>
            </a:r>
            <a:endParaRPr dirty="0"/>
          </a:p>
        </p:txBody>
      </p:sp>
      <p:graphicFrame>
        <p:nvGraphicFramePr>
          <p:cNvPr id="374" name="Google Shape;374;p2"/>
          <p:cNvGraphicFramePr/>
          <p:nvPr>
            <p:extLst>
              <p:ext uri="{D42A27DB-BD31-4B8C-83A1-F6EECF244321}">
                <p14:modId xmlns:p14="http://schemas.microsoft.com/office/powerpoint/2010/main" val="828394828"/>
              </p:ext>
            </p:extLst>
          </p:nvPr>
        </p:nvGraphicFramePr>
        <p:xfrm>
          <a:off x="411163" y="2132053"/>
          <a:ext cx="11369650" cy="4555775"/>
        </p:xfrm>
        <a:graphic>
          <a:graphicData uri="http://schemas.openxmlformats.org/drawingml/2006/table">
            <a:tbl>
              <a:tblPr firstRow="1" bandRow="1">
                <a:noFill/>
              </a:tblPr>
              <a:tblGrid>
                <a:gridCol w="1179275">
                  <a:extLst>
                    <a:ext uri="{9D8B030D-6E8A-4147-A177-3AD203B41FA5}">
                      <a16:colId xmlns:a16="http://schemas.microsoft.com/office/drawing/2014/main" val="20000"/>
                    </a:ext>
                  </a:extLst>
                </a:gridCol>
                <a:gridCol w="1060175">
                  <a:extLst>
                    <a:ext uri="{9D8B030D-6E8A-4147-A177-3AD203B41FA5}">
                      <a16:colId xmlns:a16="http://schemas.microsoft.com/office/drawing/2014/main" val="20001"/>
                    </a:ext>
                  </a:extLst>
                </a:gridCol>
                <a:gridCol w="1285450">
                  <a:extLst>
                    <a:ext uri="{9D8B030D-6E8A-4147-A177-3AD203B41FA5}">
                      <a16:colId xmlns:a16="http://schemas.microsoft.com/office/drawing/2014/main" val="20002"/>
                    </a:ext>
                  </a:extLst>
                </a:gridCol>
                <a:gridCol w="1391475">
                  <a:extLst>
                    <a:ext uri="{9D8B030D-6E8A-4147-A177-3AD203B41FA5}">
                      <a16:colId xmlns:a16="http://schemas.microsoft.com/office/drawing/2014/main" val="20003"/>
                    </a:ext>
                  </a:extLst>
                </a:gridCol>
                <a:gridCol w="1086675">
                  <a:extLst>
                    <a:ext uri="{9D8B030D-6E8A-4147-A177-3AD203B41FA5}">
                      <a16:colId xmlns:a16="http://schemas.microsoft.com/office/drawing/2014/main" val="20004"/>
                    </a:ext>
                  </a:extLst>
                </a:gridCol>
                <a:gridCol w="1391475">
                  <a:extLst>
                    <a:ext uri="{9D8B030D-6E8A-4147-A177-3AD203B41FA5}">
                      <a16:colId xmlns:a16="http://schemas.microsoft.com/office/drawing/2014/main" val="20005"/>
                    </a:ext>
                  </a:extLst>
                </a:gridCol>
                <a:gridCol w="1844725">
                  <a:extLst>
                    <a:ext uri="{9D8B030D-6E8A-4147-A177-3AD203B41FA5}">
                      <a16:colId xmlns:a16="http://schemas.microsoft.com/office/drawing/2014/main" val="20006"/>
                    </a:ext>
                  </a:extLst>
                </a:gridCol>
                <a:gridCol w="1304125">
                  <a:extLst>
                    <a:ext uri="{9D8B030D-6E8A-4147-A177-3AD203B41FA5}">
                      <a16:colId xmlns:a16="http://schemas.microsoft.com/office/drawing/2014/main" val="20007"/>
                    </a:ext>
                  </a:extLst>
                </a:gridCol>
                <a:gridCol w="826275">
                  <a:extLst>
                    <a:ext uri="{9D8B030D-6E8A-4147-A177-3AD203B41FA5}">
                      <a16:colId xmlns:a16="http://schemas.microsoft.com/office/drawing/2014/main" val="20008"/>
                    </a:ext>
                  </a:extLst>
                </a:gridCol>
              </a:tblGrid>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 </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aphicFrame>
        <p:nvGraphicFramePr>
          <p:cNvPr id="375" name="Google Shape;375;p2"/>
          <p:cNvGraphicFramePr/>
          <p:nvPr>
            <p:extLst>
              <p:ext uri="{D42A27DB-BD31-4B8C-83A1-F6EECF244321}">
                <p14:modId xmlns:p14="http://schemas.microsoft.com/office/powerpoint/2010/main" val="616302164"/>
              </p:ext>
            </p:extLst>
          </p:nvPr>
        </p:nvGraphicFramePr>
        <p:xfrm>
          <a:off x="197138" y="2141831"/>
          <a:ext cx="5163900" cy="1490100"/>
        </p:xfrm>
        <a:graphic>
          <a:graphicData uri="http://schemas.openxmlformats.org/drawingml/2006/table">
            <a:tbl>
              <a:tblPr firstRow="1" bandRow="1">
                <a:noFill/>
              </a:tblPr>
              <a:tblGrid>
                <a:gridCol w="1290975">
                  <a:extLst>
                    <a:ext uri="{9D8B030D-6E8A-4147-A177-3AD203B41FA5}">
                      <a16:colId xmlns:a16="http://schemas.microsoft.com/office/drawing/2014/main" val="20000"/>
                    </a:ext>
                  </a:extLst>
                </a:gridCol>
                <a:gridCol w="1290975">
                  <a:extLst>
                    <a:ext uri="{9D8B030D-6E8A-4147-A177-3AD203B41FA5}">
                      <a16:colId xmlns:a16="http://schemas.microsoft.com/office/drawing/2014/main" val="20001"/>
                    </a:ext>
                  </a:extLst>
                </a:gridCol>
                <a:gridCol w="1290975">
                  <a:extLst>
                    <a:ext uri="{9D8B030D-6E8A-4147-A177-3AD203B41FA5}">
                      <a16:colId xmlns:a16="http://schemas.microsoft.com/office/drawing/2014/main" val="20002"/>
                    </a:ext>
                  </a:extLst>
                </a:gridCol>
                <a:gridCol w="129097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extLst>
                  <a:ext uri="{0D108BD9-81ED-4DB2-BD59-A6C34878D82A}">
                    <a16:rowId xmlns:a16="http://schemas.microsoft.com/office/drawing/2014/main" val="10002"/>
                  </a:ext>
                </a:extLst>
              </a:tr>
            </a:tbl>
          </a:graphicData>
        </a:graphic>
      </p:graphicFrame>
      <p:graphicFrame>
        <p:nvGraphicFramePr>
          <p:cNvPr id="376" name="Google Shape;376;p2"/>
          <p:cNvGraphicFramePr/>
          <p:nvPr>
            <p:extLst>
              <p:ext uri="{D42A27DB-BD31-4B8C-83A1-F6EECF244321}">
                <p14:modId xmlns:p14="http://schemas.microsoft.com/office/powerpoint/2010/main" val="1827765384"/>
              </p:ext>
            </p:extLst>
          </p:nvPr>
        </p:nvGraphicFramePr>
        <p:xfrm>
          <a:off x="5974566" y="2932140"/>
          <a:ext cx="6020300" cy="2831250"/>
        </p:xfrm>
        <a:graphic>
          <a:graphicData uri="http://schemas.openxmlformats.org/drawingml/2006/table">
            <a:tbl>
              <a:tblPr firstRow="1" bandRow="1">
                <a:noFill/>
              </a:tblPr>
              <a:tblGrid>
                <a:gridCol w="1505075">
                  <a:extLst>
                    <a:ext uri="{9D8B030D-6E8A-4147-A177-3AD203B41FA5}">
                      <a16:colId xmlns:a16="http://schemas.microsoft.com/office/drawing/2014/main" val="20000"/>
                    </a:ext>
                  </a:extLst>
                </a:gridCol>
                <a:gridCol w="1505075">
                  <a:extLst>
                    <a:ext uri="{9D8B030D-6E8A-4147-A177-3AD203B41FA5}">
                      <a16:colId xmlns:a16="http://schemas.microsoft.com/office/drawing/2014/main" val="20001"/>
                    </a:ext>
                  </a:extLst>
                </a:gridCol>
                <a:gridCol w="1312225">
                  <a:extLst>
                    <a:ext uri="{9D8B030D-6E8A-4147-A177-3AD203B41FA5}">
                      <a16:colId xmlns:a16="http://schemas.microsoft.com/office/drawing/2014/main" val="20002"/>
                    </a:ext>
                  </a:extLst>
                </a:gridCol>
                <a:gridCol w="169792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extLst>
                  <a:ext uri="{0D108BD9-81ED-4DB2-BD59-A6C34878D82A}">
                    <a16:rowId xmlns:a16="http://schemas.microsoft.com/office/drawing/2014/main" val="10002"/>
                  </a:ext>
                </a:extLst>
              </a:tr>
              <a:tr h="1778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extLst>
                  <a:ext uri="{0D108BD9-81ED-4DB2-BD59-A6C34878D82A}">
                    <a16:rowId xmlns:a16="http://schemas.microsoft.com/office/drawing/2014/main" val="10003"/>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extLst>
                  <a:ext uri="{0D108BD9-81ED-4DB2-BD59-A6C34878D82A}">
                    <a16:rowId xmlns:a16="http://schemas.microsoft.com/office/drawing/2014/main" val="10004"/>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extLst>
                  <a:ext uri="{0D108BD9-81ED-4DB2-BD59-A6C34878D82A}">
                    <a16:rowId xmlns:a16="http://schemas.microsoft.com/office/drawing/2014/main" val="10005"/>
                  </a:ext>
                </a:extLst>
              </a:tr>
            </a:tbl>
          </a:graphicData>
        </a:graphic>
      </p:graphicFrame>
      <p:graphicFrame>
        <p:nvGraphicFramePr>
          <p:cNvPr id="377" name="Google Shape;377;p2"/>
          <p:cNvGraphicFramePr/>
          <p:nvPr>
            <p:extLst>
              <p:ext uri="{D42A27DB-BD31-4B8C-83A1-F6EECF244321}">
                <p14:modId xmlns:p14="http://schemas.microsoft.com/office/powerpoint/2010/main" val="4266439102"/>
              </p:ext>
            </p:extLst>
          </p:nvPr>
        </p:nvGraphicFramePr>
        <p:xfrm>
          <a:off x="1085057" y="3619611"/>
          <a:ext cx="3388075" cy="3150970"/>
        </p:xfrm>
        <a:graphic>
          <a:graphicData uri="http://schemas.openxmlformats.org/drawingml/2006/table">
            <a:tbl>
              <a:tblPr firstRow="1" bandRow="1">
                <a:noFill/>
              </a:tblPr>
              <a:tblGrid>
                <a:gridCol w="1320750">
                  <a:extLst>
                    <a:ext uri="{9D8B030D-6E8A-4147-A177-3AD203B41FA5}">
                      <a16:colId xmlns:a16="http://schemas.microsoft.com/office/drawing/2014/main" val="20000"/>
                    </a:ext>
                  </a:extLst>
                </a:gridCol>
                <a:gridCol w="1272200">
                  <a:extLst>
                    <a:ext uri="{9D8B030D-6E8A-4147-A177-3AD203B41FA5}">
                      <a16:colId xmlns:a16="http://schemas.microsoft.com/office/drawing/2014/main" val="20001"/>
                    </a:ext>
                  </a:extLst>
                </a:gridCol>
                <a:gridCol w="795125">
                  <a:extLst>
                    <a:ext uri="{9D8B030D-6E8A-4147-A177-3AD203B41FA5}">
                      <a16:colId xmlns:a16="http://schemas.microsoft.com/office/drawing/2014/main" val="20002"/>
                    </a:ext>
                  </a:extLst>
                </a:gridCol>
              </a:tblGrid>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341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pSp>
        <p:nvGrpSpPr>
          <p:cNvPr id="378" name="Google Shape;378;p2"/>
          <p:cNvGrpSpPr/>
          <p:nvPr/>
        </p:nvGrpSpPr>
        <p:grpSpPr>
          <a:xfrm>
            <a:off x="808383" y="1844968"/>
            <a:ext cx="5771321" cy="1087172"/>
            <a:chOff x="808383" y="1580564"/>
            <a:chExt cx="5771321" cy="1087172"/>
          </a:xfrm>
        </p:grpSpPr>
        <p:cxnSp>
          <p:nvCxnSpPr>
            <p:cNvPr id="379" name="Google Shape;379;p2"/>
            <p:cNvCxnSpPr/>
            <p:nvPr/>
          </p:nvCxnSpPr>
          <p:spPr>
            <a:xfrm>
              <a:off x="808383" y="1580564"/>
              <a:ext cx="0" cy="365175"/>
            </a:xfrm>
            <a:prstGeom prst="straightConnector1">
              <a:avLst/>
            </a:prstGeom>
            <a:noFill/>
            <a:ln w="57150" cap="flat" cmpd="sng">
              <a:solidFill>
                <a:srgbClr val="AE1A1F"/>
              </a:solidFill>
              <a:prstDash val="solid"/>
              <a:round/>
              <a:headEnd type="none" w="sm" len="sm"/>
              <a:tailEnd type="triangle" w="med" len="med"/>
            </a:ln>
          </p:spPr>
        </p:cxnSp>
        <p:cxnSp>
          <p:nvCxnSpPr>
            <p:cNvPr id="380" name="Google Shape;380;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1" name="Google Shape;381;p2"/>
            <p:cNvCxnSpPr/>
            <p:nvPr/>
          </p:nvCxnSpPr>
          <p:spPr>
            <a:xfrm>
              <a:off x="808383" y="1580564"/>
              <a:ext cx="5771321" cy="0"/>
            </a:xfrm>
            <a:prstGeom prst="straightConnector1">
              <a:avLst/>
            </a:prstGeom>
            <a:noFill/>
            <a:ln w="57150" cap="flat" cmpd="sng">
              <a:solidFill>
                <a:srgbClr val="AE1A1F"/>
              </a:solidFill>
              <a:prstDash val="solid"/>
              <a:round/>
              <a:headEnd type="none" w="sm" len="sm"/>
              <a:tailEnd type="none" w="sm" len="sm"/>
            </a:ln>
          </p:spPr>
        </p:cxnSp>
      </p:grpSp>
      <p:grpSp>
        <p:nvGrpSpPr>
          <p:cNvPr id="382" name="Google Shape;382;p2"/>
          <p:cNvGrpSpPr/>
          <p:nvPr/>
        </p:nvGrpSpPr>
        <p:grpSpPr>
          <a:xfrm>
            <a:off x="1643270" y="1824703"/>
            <a:ext cx="6603460" cy="1734255"/>
            <a:chOff x="-23756" y="1580564"/>
            <a:chExt cx="6603460" cy="1734255"/>
          </a:xfrm>
        </p:grpSpPr>
        <p:cxnSp>
          <p:nvCxnSpPr>
            <p:cNvPr id="383" name="Google Shape;383;p2"/>
            <p:cNvCxnSpPr/>
            <p:nvPr/>
          </p:nvCxnSpPr>
          <p:spPr>
            <a:xfrm>
              <a:off x="-23756" y="1580564"/>
              <a:ext cx="1" cy="1734255"/>
            </a:xfrm>
            <a:prstGeom prst="straightConnector1">
              <a:avLst/>
            </a:prstGeom>
            <a:noFill/>
            <a:ln w="57150" cap="flat" cmpd="sng">
              <a:solidFill>
                <a:srgbClr val="AE1A1F"/>
              </a:solidFill>
              <a:prstDash val="solid"/>
              <a:round/>
              <a:headEnd type="none" w="sm" len="sm"/>
              <a:tailEnd type="triangle" w="med" len="med"/>
            </a:ln>
          </p:spPr>
        </p:cxnSp>
        <p:cxnSp>
          <p:nvCxnSpPr>
            <p:cNvPr id="384" name="Google Shape;384;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5" name="Google Shape;385;p2"/>
            <p:cNvCxnSpPr/>
            <p:nvPr/>
          </p:nvCxnSpPr>
          <p:spPr>
            <a:xfrm>
              <a:off x="-23756" y="1580564"/>
              <a:ext cx="6603460" cy="0"/>
            </a:xfrm>
            <a:prstGeom prst="straightConnector1">
              <a:avLst/>
            </a:prstGeom>
            <a:noFill/>
            <a:ln w="57150" cap="flat" cmpd="sng">
              <a:solidFill>
                <a:srgbClr val="AE1A1F"/>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37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2"/>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1"/>
                                          </p:stCondLst>
                                        </p:cTn>
                                        <p:tgtEl>
                                          <p:spTgt spid="37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1"/>
                                          </p:stCondLst>
                                        </p:cTn>
                                        <p:tgtEl>
                                          <p:spTgt spid="37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7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1"/>
                                          </p:stCondLst>
                                        </p:cTn>
                                        <p:tgtEl>
                                          <p:spTgt spid="37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1"/>
                                          </p:stCondLst>
                                        </p:cTn>
                                        <p:tgtEl>
                                          <p:spTgt spid="38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1"/>
                                          </p:stCondLst>
                                        </p:cTn>
                                        <p:tgtEl>
                                          <p:spTgt spid="37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92060" y="3312353"/>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353738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6D4F0-714B-1EBA-1A56-EFECF61754B9}"/>
              </a:ext>
            </a:extLst>
          </p:cNvPr>
          <p:cNvSpPr>
            <a:spLocks noGrp="1"/>
          </p:cNvSpPr>
          <p:nvPr>
            <p:ph type="title"/>
          </p:nvPr>
        </p:nvSpPr>
        <p:spPr/>
        <p:txBody>
          <a:bodyPr/>
          <a:lstStyle/>
          <a:p>
            <a:r>
              <a:rPr lang="en-US" dirty="0"/>
              <a:t>Consider a single data set with 4 variables</a:t>
            </a:r>
          </a:p>
        </p:txBody>
      </p:sp>
      <p:sp>
        <p:nvSpPr>
          <p:cNvPr id="3" name="Content Placeholder 2">
            <a:extLst>
              <a:ext uri="{FF2B5EF4-FFF2-40B4-BE49-F238E27FC236}">
                <a16:creationId xmlns:a16="http://schemas.microsoft.com/office/drawing/2014/main" id="{4261FF2D-003E-36BC-FA72-DF8A20ADBA7C}"/>
              </a:ext>
            </a:extLst>
          </p:cNvPr>
          <p:cNvSpPr>
            <a:spLocks noGrp="1"/>
          </p:cNvSpPr>
          <p:nvPr>
            <p:ph idx="1"/>
          </p:nvPr>
        </p:nvSpPr>
        <p:spPr/>
        <p:txBody>
          <a:bodyPr/>
          <a:lstStyle/>
          <a:p>
            <a:pPr lvl="1">
              <a:buFont typeface="Arial" panose="020B0604020202020204" pitchFamily="34" charset="0"/>
              <a:buChar char="•"/>
            </a:pPr>
            <a:r>
              <a:rPr lang="en-US" sz="3200" dirty="0"/>
              <a:t> country</a:t>
            </a:r>
          </a:p>
          <a:p>
            <a:pPr lvl="1">
              <a:buFont typeface="Arial" panose="020B0604020202020204" pitchFamily="34" charset="0"/>
              <a:buChar char="•"/>
            </a:pPr>
            <a:r>
              <a:rPr lang="en-US" sz="3200" dirty="0"/>
              <a:t> year</a:t>
            </a:r>
          </a:p>
          <a:p>
            <a:pPr lvl="1">
              <a:buFont typeface="Arial" panose="020B0604020202020204" pitchFamily="34" charset="0"/>
              <a:buChar char="•"/>
            </a:pPr>
            <a:r>
              <a:rPr lang="en-US" sz="3200" dirty="0"/>
              <a:t> population</a:t>
            </a:r>
          </a:p>
          <a:p>
            <a:pPr lvl="1">
              <a:buFont typeface="Arial" panose="020B0604020202020204" pitchFamily="34" charset="0"/>
              <a:buChar char="•"/>
            </a:pPr>
            <a:r>
              <a:rPr lang="en-US" sz="3200" dirty="0"/>
              <a:t> cases</a:t>
            </a:r>
          </a:p>
          <a:p>
            <a:pPr lvl="1">
              <a:buFont typeface="Arial" panose="020B0604020202020204" pitchFamily="34" charset="0"/>
              <a:buChar char="•"/>
            </a:pPr>
            <a:endParaRPr lang="en-US" sz="3200" dirty="0"/>
          </a:p>
          <a:p>
            <a:pPr marL="128016" lvl="1" indent="0">
              <a:buNone/>
            </a:pPr>
            <a:r>
              <a:rPr lang="en-US" sz="3200" dirty="0"/>
              <a:t>Public health data set intended to represent the cases of a disease in a population by country and year</a:t>
            </a:r>
          </a:p>
          <a:p>
            <a:endParaRPr lang="en-US" dirty="0"/>
          </a:p>
        </p:txBody>
      </p:sp>
    </p:spTree>
    <p:extLst>
      <p:ext uri="{BB962C8B-B14F-4D97-AF65-F5344CB8AC3E}">
        <p14:creationId xmlns:p14="http://schemas.microsoft.com/office/powerpoint/2010/main" val="21746199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3095-2D79-80A0-C942-D923B3EBA503}"/>
              </a:ext>
            </a:extLst>
          </p:cNvPr>
          <p:cNvSpPr>
            <a:spLocks noGrp="1"/>
          </p:cNvSpPr>
          <p:nvPr>
            <p:ph type="title"/>
          </p:nvPr>
        </p:nvSpPr>
        <p:spPr/>
        <p:txBody>
          <a:bodyPr/>
          <a:lstStyle/>
          <a:p>
            <a:r>
              <a:rPr lang="en-US" dirty="0"/>
              <a:t>Representation 1</a:t>
            </a:r>
          </a:p>
        </p:txBody>
      </p:sp>
      <p:sp>
        <p:nvSpPr>
          <p:cNvPr id="4" name="Content Placeholder 2">
            <a:extLst>
              <a:ext uri="{FF2B5EF4-FFF2-40B4-BE49-F238E27FC236}">
                <a16:creationId xmlns:a16="http://schemas.microsoft.com/office/drawing/2014/main" id="{DA62C03A-AEA8-7B5B-9EB5-112ABA49215A}"/>
              </a:ext>
            </a:extLst>
          </p:cNvPr>
          <p:cNvSpPr>
            <a:spLocks noGrp="1"/>
          </p:cNvSpPr>
          <p:nvPr>
            <p:ph idx="1"/>
          </p:nvPr>
        </p:nvSpPr>
        <p:spPr>
          <a:xfrm>
            <a:off x="1" y="1848254"/>
            <a:ext cx="12315216" cy="5009745"/>
          </a:xfrm>
        </p:spPr>
        <p:txBody>
          <a:bodyPr>
            <a:normAutofit fontScale="47500" lnSpcReduction="20000"/>
          </a:bodyPr>
          <a:lstStyle/>
          <a:p>
            <a:pPr lvl="0" indent="0" algn="ctr">
              <a:buNone/>
            </a:pPr>
            <a:r>
              <a:rPr dirty="0">
                <a:latin typeface="Courier"/>
              </a:rPr>
              <a:t>## # A </a:t>
            </a:r>
            <a:r>
              <a:rPr dirty="0" err="1">
                <a:latin typeface="Courier"/>
              </a:rPr>
              <a:t>tibble</a:t>
            </a:r>
            <a:r>
              <a:rPr dirty="0">
                <a:latin typeface="Courier"/>
              </a:rPr>
              <a:t>: 12 x 4
##    country      year type            count
##    &lt;</a:t>
            </a:r>
            <a:r>
              <a:rPr dirty="0" err="1">
                <a:latin typeface="Courier"/>
              </a:rPr>
              <a:t>chr</a:t>
            </a:r>
            <a:r>
              <a:rPr dirty="0">
                <a:latin typeface="Courier"/>
              </a:rPr>
              <a:t>&gt;       &lt;int&gt; &lt;</a:t>
            </a:r>
            <a:r>
              <a:rPr dirty="0" err="1">
                <a:latin typeface="Courier"/>
              </a:rPr>
              <a:t>chr</a:t>
            </a:r>
            <a:r>
              <a:rPr dirty="0">
                <a:latin typeface="Courier"/>
              </a:rPr>
              <a:t>&gt;           &lt;int&gt;
##  1 Afghanistan  1999 cases             745
##  2 Afghanistan  1999 population   19987071
##  3 Afghanistan  2000 cases            2666
##  4 Afghanistan  2000 population   20595360
##  5 Brazil       1999 cases           37737
##  6 Brazil       1999 population  172006362
##  7 Brazil       2000 cases           80488
##  8 Brazil       2000 population  174504898
##  9 China        1999 cases          212258
## 10 China        1999 population 1272915272
## 11 China        2000 cases          213766
## 12 China        2000 population 1280428583</a:t>
            </a:r>
          </a:p>
        </p:txBody>
      </p:sp>
    </p:spTree>
    <p:extLst>
      <p:ext uri="{BB962C8B-B14F-4D97-AF65-F5344CB8AC3E}">
        <p14:creationId xmlns:p14="http://schemas.microsoft.com/office/powerpoint/2010/main" val="35049071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7BE-CD15-E64E-DA9D-FE8F959DC90C}"/>
              </a:ext>
            </a:extLst>
          </p:cNvPr>
          <p:cNvSpPr>
            <a:spLocks noGrp="1"/>
          </p:cNvSpPr>
          <p:nvPr>
            <p:ph type="title"/>
          </p:nvPr>
        </p:nvSpPr>
        <p:spPr/>
        <p:txBody>
          <a:bodyPr/>
          <a:lstStyle/>
          <a:p>
            <a:r>
              <a:rPr lang="en-US" dirty="0"/>
              <a:t>Representation 2</a:t>
            </a:r>
          </a:p>
        </p:txBody>
      </p:sp>
      <p:sp>
        <p:nvSpPr>
          <p:cNvPr id="4" name="Content Placeholder 2">
            <a:extLst>
              <a:ext uri="{FF2B5EF4-FFF2-40B4-BE49-F238E27FC236}">
                <a16:creationId xmlns:a16="http://schemas.microsoft.com/office/drawing/2014/main" id="{D09D3C08-AB53-75C9-0083-AEF27C657DF5}"/>
              </a:ext>
            </a:extLst>
          </p:cNvPr>
          <p:cNvSpPr>
            <a:spLocks noGrp="1"/>
          </p:cNvSpPr>
          <p:nvPr>
            <p:ph idx="1"/>
          </p:nvPr>
        </p:nvSpPr>
        <p:spPr>
          <a:xfrm>
            <a:off x="1274323" y="1867710"/>
            <a:ext cx="11167872" cy="4990289"/>
          </a:xfrm>
        </p:spPr>
        <p:txBody>
          <a:bodyPr>
            <a:normAutofit fontScale="92500" lnSpcReduction="10000"/>
          </a:bodyPr>
          <a:lstStyle/>
          <a:p>
            <a:pPr lvl="0" indent="0">
              <a:buNone/>
            </a:pPr>
            <a:r>
              <a:rPr dirty="0">
                <a:latin typeface="Courier"/>
              </a:rPr>
              <a:t>## # A </a:t>
            </a:r>
            <a:r>
              <a:rPr dirty="0" err="1">
                <a:latin typeface="Courier"/>
              </a:rPr>
              <a:t>tibble</a:t>
            </a:r>
            <a:r>
              <a:rPr dirty="0">
                <a:latin typeface="Courier"/>
              </a:rPr>
              <a:t>: 6 x 3
##   country      year rate             
## * &lt;</a:t>
            </a:r>
            <a:r>
              <a:rPr dirty="0" err="1">
                <a:latin typeface="Courier"/>
              </a:rPr>
              <a:t>chr</a:t>
            </a:r>
            <a:r>
              <a:rPr dirty="0">
                <a:latin typeface="Courier"/>
              </a:rPr>
              <a:t>&gt;       &lt;int&gt; &lt;</a:t>
            </a:r>
            <a:r>
              <a:rPr dirty="0" err="1">
                <a:latin typeface="Courier"/>
              </a:rPr>
              <a:t>chr</a:t>
            </a:r>
            <a:r>
              <a:rPr dirty="0">
                <a:latin typeface="Courier"/>
              </a:rPr>
              <a:t>&gt;            
## 1 Afghanistan  1999 745/19987071     
## 2 Afghanistan  2000 2666/20595360    
## 3 Brazil       1999 37737/172006362  
## 4 Brazil       2000 80488/174504898  
## 5 China        1999 212258/1272915272
## 6 China        2000 213766/1280428583</a:t>
            </a:r>
          </a:p>
        </p:txBody>
      </p:sp>
    </p:spTree>
    <p:extLst>
      <p:ext uri="{BB962C8B-B14F-4D97-AF65-F5344CB8AC3E}">
        <p14:creationId xmlns:p14="http://schemas.microsoft.com/office/powerpoint/2010/main" val="7405531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B8506-825B-7746-9C84-4C3D6C255307}"/>
              </a:ext>
            </a:extLst>
          </p:cNvPr>
          <p:cNvSpPr>
            <a:spLocks noGrp="1"/>
          </p:cNvSpPr>
          <p:nvPr>
            <p:ph type="title"/>
          </p:nvPr>
        </p:nvSpPr>
        <p:spPr/>
        <p:txBody>
          <a:bodyPr/>
          <a:lstStyle/>
          <a:p>
            <a:r>
              <a:rPr lang="en-US" dirty="0"/>
              <a:t>Representation 3 is Tidy</a:t>
            </a:r>
          </a:p>
        </p:txBody>
      </p:sp>
      <p:sp>
        <p:nvSpPr>
          <p:cNvPr id="4" name="Content Placeholder 2">
            <a:extLst>
              <a:ext uri="{FF2B5EF4-FFF2-40B4-BE49-F238E27FC236}">
                <a16:creationId xmlns:a16="http://schemas.microsoft.com/office/drawing/2014/main" id="{46666062-30C4-5B1D-2C6C-0DCAF6560EF6}"/>
              </a:ext>
            </a:extLst>
          </p:cNvPr>
          <p:cNvSpPr>
            <a:spLocks noGrp="1"/>
          </p:cNvSpPr>
          <p:nvPr>
            <p:ph idx="1"/>
          </p:nvPr>
        </p:nvSpPr>
        <p:spPr>
          <a:xfrm>
            <a:off x="1312164" y="2068490"/>
            <a:ext cx="9144000" cy="4860498"/>
          </a:xfrm>
        </p:spPr>
        <p:txBody>
          <a:bodyPr>
            <a:normAutofit fontScale="85000" lnSpcReduction="10000"/>
          </a:bodyPr>
          <a:lstStyle/>
          <a:p>
            <a:pPr lvl="0" indent="0">
              <a:buNone/>
            </a:pPr>
            <a:r>
              <a:rPr dirty="0">
                <a:latin typeface="Courier"/>
              </a:rPr>
              <a:t>## # A </a:t>
            </a:r>
            <a:r>
              <a:rPr dirty="0" err="1">
                <a:latin typeface="Courier"/>
              </a:rPr>
              <a:t>tibble</a:t>
            </a:r>
            <a:r>
              <a:rPr dirty="0">
                <a:latin typeface="Courier"/>
              </a:rPr>
              <a:t>: 6 x 4
##   country      year  cases population
##   &lt;</a:t>
            </a:r>
            <a:r>
              <a:rPr dirty="0" err="1">
                <a:latin typeface="Courier"/>
              </a:rPr>
              <a:t>chr</a:t>
            </a:r>
            <a:r>
              <a:rPr dirty="0">
                <a:latin typeface="Courier"/>
              </a:rPr>
              <a:t>&gt;       &lt;int&gt;  &lt;int&gt;      &lt;int&gt;
## 1 Afghanistan  1999    745   19987071
## 2 Afghanistan  2000   2666   20595360
## 3 Brazil       1999  37737  172006362
## 4 Brazil       2000  80488  174504898
## 5 China        1999 212258 1272915272
## 6 China        2000 213766 1280428583</a:t>
            </a:r>
          </a:p>
        </p:txBody>
      </p:sp>
    </p:spTree>
    <p:extLst>
      <p:ext uri="{BB962C8B-B14F-4D97-AF65-F5344CB8AC3E}">
        <p14:creationId xmlns:p14="http://schemas.microsoft.com/office/powerpoint/2010/main" val="24061937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AA9D2-06E6-51FE-64EB-9B527B11B4BE}"/>
              </a:ext>
            </a:extLst>
          </p:cNvPr>
          <p:cNvSpPr>
            <a:spLocks noGrp="1"/>
          </p:cNvSpPr>
          <p:nvPr>
            <p:ph type="title"/>
          </p:nvPr>
        </p:nvSpPr>
        <p:spPr/>
        <p:txBody>
          <a:bodyPr/>
          <a:lstStyle/>
          <a:p>
            <a:r>
              <a:rPr lang="en-US" dirty="0"/>
              <a:t>Why keep things tidy?</a:t>
            </a:r>
          </a:p>
        </p:txBody>
      </p:sp>
      <p:sp>
        <p:nvSpPr>
          <p:cNvPr id="3" name="Content Placeholder 2">
            <a:extLst>
              <a:ext uri="{FF2B5EF4-FFF2-40B4-BE49-F238E27FC236}">
                <a16:creationId xmlns:a16="http://schemas.microsoft.com/office/drawing/2014/main" id="{7D51DA6C-9430-53C4-C3E8-7EC17AEA3B10}"/>
              </a:ext>
            </a:extLst>
          </p:cNvPr>
          <p:cNvSpPr>
            <a:spLocks noGrp="1"/>
          </p:cNvSpPr>
          <p:nvPr>
            <p:ph idx="1"/>
          </p:nvPr>
        </p:nvSpPr>
        <p:spPr/>
        <p:txBody>
          <a:bodyPr/>
          <a:lstStyle/>
          <a:p>
            <a:r>
              <a:rPr lang="en-US" dirty="0"/>
              <a:t> Consistent mental model for data = common data manipulation becomes easier</a:t>
            </a:r>
          </a:p>
          <a:p>
            <a:r>
              <a:rPr lang="en-US" dirty="0"/>
              <a:t> Many tools in R (and Excel + other languages) make it very easy to do sophisticated analysis and visualization with tidy data</a:t>
            </a:r>
          </a:p>
          <a:p>
            <a:r>
              <a:rPr lang="en-US" dirty="0"/>
              <a:t> Databases that store data from clinical information systems often already represent data in a tidy form</a:t>
            </a:r>
          </a:p>
        </p:txBody>
      </p:sp>
    </p:spTree>
    <p:extLst>
      <p:ext uri="{BB962C8B-B14F-4D97-AF65-F5344CB8AC3E}">
        <p14:creationId xmlns:p14="http://schemas.microsoft.com/office/powerpoint/2010/main" val="22982949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86902" y="3270620"/>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589051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Tidy or Not Tidy?</a:t>
            </a:r>
          </a:p>
        </p:txBody>
      </p:sp>
      <p:sp>
        <p:nvSpPr>
          <p:cNvPr id="4" name="Text Placeholder 3"/>
          <p:cNvSpPr>
            <a:spLocks noGrp="1"/>
          </p:cNvSpPr>
          <p:nvPr>
            <p:ph idx="1"/>
          </p:nvPr>
        </p:nvSpPr>
        <p:spPr/>
        <p:txBody>
          <a:bodyPr>
            <a:normAutofit lnSpcReduction="10000"/>
          </a:bodyPr>
          <a:lstStyle/>
          <a:p>
            <a:pPr>
              <a:buFont typeface="Wingdings" pitchFamily="2" charset="2"/>
              <a:buChar char="§"/>
            </a:pPr>
            <a:r>
              <a:rPr lang="en-US" dirty="0"/>
              <a:t>Compare chem_data.csv (long) and chem_data_wide.csv (wide).</a:t>
            </a:r>
          </a:p>
          <a:p>
            <a:pPr>
              <a:buFont typeface="Wingdings" pitchFamily="2" charset="2"/>
              <a:buChar char="§"/>
            </a:pPr>
            <a:r>
              <a:rPr lang="en-US" dirty="0"/>
              <a:t>Answer three written questions in module_1_exercises.qmd:</a:t>
            </a:r>
          </a:p>
          <a:p>
            <a:pPr>
              <a:buFont typeface="Wingdings" pitchFamily="2" charset="2"/>
              <a:buChar char="§"/>
            </a:pPr>
            <a:r>
              <a:rPr lang="en-US" dirty="0"/>
              <a:t>Which tidy principle does the wide format bend?</a:t>
            </a:r>
          </a:p>
          <a:p>
            <a:pPr>
              <a:buFont typeface="Wingdings" pitchFamily="2" charset="2"/>
              <a:buChar char="§"/>
            </a:pPr>
            <a:r>
              <a:rPr lang="en-US" dirty="0"/>
              <a:t>When is each format easier to use?</a:t>
            </a:r>
          </a:p>
          <a:p>
            <a:pPr>
              <a:buFont typeface="Wingdings" pitchFamily="2" charset="2"/>
              <a:buChar char="§"/>
            </a:pPr>
            <a:r>
              <a:rPr lang="en-US" dirty="0"/>
              <a:t>What would you need to do to a wide file before analyzing it in R?</a:t>
            </a:r>
          </a:p>
        </p:txBody>
      </p:sp>
      <p:sp>
        <p:nvSpPr>
          <p:cNvPr id="2" name="TextBox 1">
            <a:extLst>
              <a:ext uri="{FF2B5EF4-FFF2-40B4-BE49-F238E27FC236}">
                <a16:creationId xmlns:a16="http://schemas.microsoft.com/office/drawing/2014/main" id="{50F471E3-E9F2-36D5-CC27-FB64EC0BD59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245A-2325-C2F4-7881-DC3413B5EC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997ACF-0754-8EAB-986D-69C68FC9FAC7}"/>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16217399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C8772-C86F-DFE7-C4D6-133EC2BB472A}"/>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A254C384-5256-518E-FCD3-212DEED89772}"/>
              </a:ext>
            </a:extLst>
          </p:cNvPr>
          <p:cNvSpPr>
            <a:spLocks noGrp="1"/>
          </p:cNvSpPr>
          <p:nvPr>
            <p:ph idx="1"/>
          </p:nvPr>
        </p:nvSpPr>
        <p:spPr/>
        <p:txBody>
          <a:bodyPr/>
          <a:lstStyle/>
          <a:p>
            <a:r>
              <a:rPr lang="en-US" dirty="0"/>
              <a:t> James Harrison, Introduction to Pathology Informatics, Session 8: Cybersecurity, API Distribution 1.0, 2023. Available at: </a:t>
            </a:r>
            <a:r>
              <a:rPr lang="en-US" u="sng" dirty="0">
                <a:hlinkClick r:id="rId2"/>
              </a:rPr>
              <a:t>https://www.pathologyinformatics.org/teaching-slide-sets</a:t>
            </a:r>
            <a:endParaRPr lang="en-US" u="sng" dirty="0"/>
          </a:p>
          <a:p>
            <a:r>
              <a:rPr lang="en-US" dirty="0"/>
              <a:t> Robert </a:t>
            </a:r>
            <a:r>
              <a:rPr lang="en-US" dirty="0" err="1"/>
              <a:t>Benirschke</a:t>
            </a:r>
            <a:r>
              <a:rPr lang="en-US" dirty="0"/>
              <a:t> &amp; Chris McCudden for slides adapted from ADLM Data Science Certificate</a:t>
            </a:r>
          </a:p>
        </p:txBody>
      </p:sp>
    </p:spTree>
    <p:extLst>
      <p:ext uri="{BB962C8B-B14F-4D97-AF65-F5344CB8AC3E}">
        <p14:creationId xmlns:p14="http://schemas.microsoft.com/office/powerpoint/2010/main" val="310577211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68522</TotalTime>
  <Words>4541</Words>
  <Application>Microsoft Macintosh PowerPoint</Application>
  <PresentationFormat>Widescreen</PresentationFormat>
  <Paragraphs>721</Paragraphs>
  <Slides>64</Slides>
  <Notes>31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64</vt:i4>
      </vt:variant>
    </vt:vector>
  </HeadingPairs>
  <TitlesOfParts>
    <vt:vector size="73" baseType="lpstr">
      <vt:lpstr>Arial</vt:lpstr>
      <vt:lpstr>Calibri</vt:lpstr>
      <vt:lpstr>Courier</vt:lpstr>
      <vt:lpstr>Courier New</vt:lpstr>
      <vt:lpstr>Tw Cen MT</vt:lpstr>
      <vt:lpstr>Tw Cen MT Condensed</vt:lpstr>
      <vt:lpstr>Wingdings</vt:lpstr>
      <vt:lpstr>Wingdings 3</vt:lpstr>
      <vt:lpstr>Integral</vt:lpstr>
      <vt:lpstr>Data Literacy and Management Basics</vt:lpstr>
      <vt:lpstr>PowerPoint Presentation</vt:lpstr>
      <vt:lpstr>PowerPoint Presentation</vt:lpstr>
      <vt:lpstr>Disclosure of Relevant Financial Relationships</vt:lpstr>
      <vt:lpstr>Relevant Financial Relationships</vt:lpstr>
      <vt:lpstr>PowerPoint Presentation</vt:lpstr>
      <vt:lpstr>The DIKW Pyramid</vt:lpstr>
      <vt:lpstr>Data Science Background</vt:lpstr>
      <vt:lpstr>What is data science?</vt:lpstr>
      <vt:lpstr>Computational tools support a broad lifecycle to manage a broad range of data </vt:lpstr>
      <vt:lpstr>Statistics helps us interpret data based on expectations</vt:lpstr>
      <vt:lpstr>Data Analytics IS a SUBSET of Data Science</vt:lpstr>
      <vt:lpstr>Data Science Can be Categorized By How the Data is Applied</vt:lpstr>
      <vt:lpstr>Descriptive Analytics Are Becoming More Common Across Healthcare Settings</vt:lpstr>
      <vt:lpstr>Predictive Analytics Are Emerging In Multiple Domains</vt:lpstr>
      <vt:lpstr>What is the Role of the Laboratorian?</vt:lpstr>
      <vt:lpstr>Where Does Our Data Come From?</vt:lpstr>
      <vt:lpstr>Data in informatics</vt:lpstr>
      <vt:lpstr>Data representation</vt:lpstr>
      <vt:lpstr>Structured data</vt:lpstr>
      <vt:lpstr>Simple (primitive) data types</vt:lpstr>
      <vt:lpstr>How many ways can “100” be represented in a computer?</vt:lpstr>
      <vt:lpstr>Representation has functional implications</vt:lpstr>
      <vt:lpstr>Beyond Primitive Data Types</vt:lpstr>
      <vt:lpstr>We report urinalysis results as 1+, 2+, etc.   Which data type are these results?</vt:lpstr>
      <vt:lpstr>How are complex data types constructed?</vt:lpstr>
      <vt:lpstr>Dates and Times Are Important Complex Data Types</vt:lpstr>
      <vt:lpstr>Vectors &amp; Matrices</vt:lpstr>
      <vt:lpstr>Vectors &amp; Matrices</vt:lpstr>
      <vt:lpstr>Data Frames</vt:lpstr>
      <vt:lpstr>What is a data model?</vt:lpstr>
      <vt:lpstr>How do computers store data?</vt:lpstr>
      <vt:lpstr>Storing data in files</vt:lpstr>
      <vt:lpstr>Delimited files</vt:lpstr>
      <vt:lpstr>Structured text</vt:lpstr>
      <vt:lpstr>Before We Start: Orienting in RStudio</vt:lpstr>
      <vt:lpstr>PowerPoint Presentation</vt:lpstr>
      <vt:lpstr>PowerPoint Presentation</vt:lpstr>
      <vt:lpstr>PowerPoint Presentation</vt:lpstr>
      <vt:lpstr>Spot the Data Types</vt:lpstr>
      <vt:lpstr>Principles of TIDY Data</vt:lpstr>
      <vt:lpstr>Databases: Data storage plus</vt:lpstr>
      <vt:lpstr>Types of databases (by data organization)</vt:lpstr>
      <vt:lpstr>Why have different kinds of databases?</vt:lpstr>
      <vt:lpstr>Relational databases</vt:lpstr>
      <vt:lpstr>RDB keys, relations, and cardinality</vt:lpstr>
      <vt:lpstr>Describing RDB structure and contents</vt:lpstr>
      <vt:lpstr>RDB Query: Structured Query Language (SQL)</vt:lpstr>
      <vt:lpstr>Relational databases May Utilize a “Tidy” Representation of Data</vt:lpstr>
      <vt:lpstr>Tidy Data Summarized</vt:lpstr>
      <vt:lpstr>Consider a single data set with 4 variables</vt:lpstr>
      <vt:lpstr>Representation 1</vt:lpstr>
      <vt:lpstr>Representation 2</vt:lpstr>
      <vt:lpstr>Representation 3 is Tidy</vt:lpstr>
      <vt:lpstr>Why keep things tidy?</vt:lpstr>
      <vt:lpstr>Tidy Data Summarized</vt:lpstr>
      <vt:lpstr>Tidy or Not Tidy?</vt:lpstr>
      <vt:lpstr>Tips for Generating Your Own Data</vt:lpstr>
      <vt:lpstr>Building your own data set</vt:lpstr>
      <vt:lpstr>Naming Variables</vt:lpstr>
      <vt:lpstr>Respect Data Types When Creating Variables</vt:lpstr>
      <vt:lpstr>Consistency is Critical for Analyzing Categorical Variables</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31</cp:revision>
  <dcterms:created xsi:type="dcterms:W3CDTF">2022-06-28T07:45:18Z</dcterms:created>
  <dcterms:modified xsi:type="dcterms:W3CDTF">2026-10-04T19:23:37Z</dcterms:modified>
</cp:coreProperties>
</file>