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0"/>
  </p:notesMasterIdLst>
  <p:sldIdLst>
    <p:sldId id="256" r:id="rId2"/>
    <p:sldId id="640" r:id="rId3"/>
    <p:sldId id="648" r:id="rId4"/>
    <p:sldId id="642" r:id="rId5"/>
    <p:sldId id="659" r:id="rId13"/>
    <p:sldId id="714" r:id="rId67"/>
    <p:sldId id="715" r:id="rId68"/>
    <p:sldId id="712" r:id="rId54"/>
    <p:sldId id="713" r:id="rId55"/>
    <p:sldId id="643" r:id="rId6"/>
    <p:sldId id="666" r:id="rId7"/>
    <p:sldId id="667" r:id="rId8"/>
    <p:sldId id="668" r:id="rId9"/>
    <p:sldId id="669" r:id="rId10"/>
    <p:sldId id="670" r:id="rId11"/>
    <p:sldId id="699" r:id="rId12"/>
    <p:sldId id="663" r:id="rId14"/>
    <p:sldId id="665" r:id="rId15"/>
    <p:sldId id="664" r:id="rId16"/>
    <p:sldId id="644" r:id="rId17"/>
    <p:sldId id="675" r:id="rId18"/>
    <p:sldId id="674" r:id="rId19"/>
    <p:sldId id="689" r:id="rId46"/>
    <p:sldId id="709" r:id="rId47"/>
    <p:sldId id="710" r:id="rId48"/>
    <p:sldId id="711" r:id="rId49"/>
    <p:sldId id="716" r:id="rId69"/>
    <p:sldId id="700" r:id="rId20"/>
    <p:sldId id="676" r:id="rId21"/>
    <p:sldId id="677" r:id="rId22"/>
    <p:sldId id="672" r:id="rId23"/>
    <p:sldId id="645" r:id="rId24"/>
    <p:sldId id="696" r:id="rId25"/>
    <p:sldId id="695" r:id="rId26"/>
    <p:sldId id="688" r:id="rId42"/>
    <p:sldId id="704" r:id="rId43"/>
    <p:sldId id="701" r:id="rId27"/>
    <p:sldId id="678" r:id="rId28"/>
    <p:sldId id="679" r:id="rId29"/>
    <p:sldId id="680" r:id="rId30"/>
    <p:sldId id="489" r:id="rId52"/>
    <p:sldId id="503" r:id="rId51"/>
    <p:sldId id="706" r:id="rId53"/>
    <p:sldId id="707" r:id="rId56"/>
    <p:sldId id="708" r:id="rId57"/>
    <p:sldId id="646" r:id="rId31"/>
    <p:sldId id="697" r:id="rId32"/>
    <p:sldId id="690" r:id="rId44"/>
    <p:sldId id="705" r:id="rId45"/>
    <p:sldId id="702" r:id="rId33"/>
    <p:sldId id="681" r:id="rId34"/>
    <p:sldId id="682" r:id="rId35"/>
    <p:sldId id="698" r:id="rId36"/>
    <p:sldId id="683" r:id="rId37"/>
    <p:sldId id="671" r:id="rId38"/>
    <p:sldId id="717" r:id="rId70"/>
    <p:sldId id="718" r:id="rId71"/>
    <p:sldId id="686" r:id="rId39"/>
    <p:sldId id="687" r:id="rId40"/>
    <p:sldId id="647" r:id="rId41"/>
    <p:sldId id="719" r:id="rId72"/>
    <p:sldId id="490" r:id="rId58"/>
    <p:sldId id="694" r:id="rId50"/>
    <p:sldId id="641"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3AFEE6-B247-BD48-BC85-BA530981A394}" v="38" dt="2025-09-23T14:28:07.2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207"/>
    <p:restoredTop sz="88456"/>
  </p:normalViewPr>
  <p:slideViewPr>
    <p:cSldViewPr snapToGrid="0" snapToObjects="1">
      <p:cViewPr varScale="1">
        <p:scale>
          <a:sx n="82" d="100"/>
          <a:sy n="82" d="100"/>
        </p:scale>
        <p:origin x="184" y="632"/>
      </p:cViewPr>
      <p:guideLst>
        <p:guide orient="horz" pos="2448"/>
        <p:guide pos="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  <Relationship Id="rId67" Type="http://schemas.openxmlformats.org/officeDocument/2006/relationships/slide" Target="slides/slide59.xml"/>
  <Relationship Id="rId68" Type="http://schemas.openxmlformats.org/officeDocument/2006/relationships/slide" Target="slides/slide60.xml"/>
  <Relationship Id="rId69" Type="http://schemas.openxmlformats.org/officeDocument/2006/relationships/slide" Target="slides/slide61.xml"/>
  <Relationship Id="rId70" Type="http://schemas.openxmlformats.org/officeDocument/2006/relationships/slide" Target="slides/slide62.xml"/>
  <Relationship Id="rId71" Type="http://schemas.openxmlformats.org/officeDocument/2006/relationships/slide" Target="slides/slide63.xml"/>
  <Relationship Id="rId72" Type="http://schemas.openxmlformats.org/officeDocument/2006/relationships/slide" Target="slides/slide64.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mond, Shannon" userId="5b01a877-9415-4a21-8eeb-d6d3c2be6b18" providerId="ADAL" clId="{FEA7804B-FD21-59C4-8BB3-74F1FB3AA68A}"/>
    <pc:docChg chg="custSel addSld delSld modSld sldOrd">
      <pc:chgData name="Haymond, Shannon" userId="5b01a877-9415-4a21-8eeb-d6d3c2be6b18" providerId="ADAL" clId="{FEA7804B-FD21-59C4-8BB3-74F1FB3AA68A}" dt="2025-09-23T14:31:16.144" v="1497" actId="20577"/>
      <pc:docMkLst>
        <pc:docMk/>
      </pc:docMkLst>
      <pc:sldChg chg="modSp mod">
        <pc:chgData name="Haymond, Shannon" userId="5b01a877-9415-4a21-8eeb-d6d3c2be6b18" providerId="ADAL" clId="{FEA7804B-FD21-59C4-8BB3-74F1FB3AA68A}" dt="2025-09-23T14:25:59.508" v="1362" actId="20577"/>
        <pc:sldMkLst>
          <pc:docMk/>
          <pc:sldMk cId="4255144269" sldId="489"/>
        </pc:sldMkLst>
        <pc:spChg chg="mod">
          <ac:chgData name="Haymond, Shannon" userId="5b01a877-9415-4a21-8eeb-d6d3c2be6b18" providerId="ADAL" clId="{FEA7804B-FD21-59C4-8BB3-74F1FB3AA68A}" dt="2025-09-23T14:25:59.508" v="1362" actId="20577"/>
          <ac:spMkLst>
            <pc:docMk/>
            <pc:sldMk cId="4255144269" sldId="489"/>
            <ac:spMk id="3" creationId="{6155796F-ACB0-79BA-D5A1-7268DB89D70E}"/>
          </ac:spMkLst>
        </pc:spChg>
      </pc:sldChg>
      <pc:sldChg chg="modSp mod">
        <pc:chgData name="Haymond, Shannon" userId="5b01a877-9415-4a21-8eeb-d6d3c2be6b18" providerId="ADAL" clId="{FEA7804B-FD21-59C4-8BB3-74F1FB3AA68A}" dt="2025-09-23T14:31:16.144" v="1497" actId="20577"/>
        <pc:sldMkLst>
          <pc:docMk/>
          <pc:sldMk cId="4197558984" sldId="490"/>
        </pc:sldMkLst>
        <pc:spChg chg="mod">
          <ac:chgData name="Haymond, Shannon" userId="5b01a877-9415-4a21-8eeb-d6d3c2be6b18" providerId="ADAL" clId="{FEA7804B-FD21-59C4-8BB3-74F1FB3AA68A}" dt="2025-09-23T14:31:16.144" v="1497" actId="20577"/>
          <ac:spMkLst>
            <pc:docMk/>
            <pc:sldMk cId="4197558984" sldId="490"/>
            <ac:spMk id="3" creationId="{3F48E2B4-9123-4B3E-BF25-E61A4AED4DD4}"/>
          </ac:spMkLst>
        </pc:spChg>
      </pc:sldChg>
      <pc:sldChg chg="del">
        <pc:chgData name="Haymond, Shannon" userId="5b01a877-9415-4a21-8eeb-d6d3c2be6b18" providerId="ADAL" clId="{FEA7804B-FD21-59C4-8BB3-74F1FB3AA68A}" dt="2025-09-23T03:49:18.534" v="1" actId="2696"/>
        <pc:sldMkLst>
          <pc:docMk/>
          <pc:sldMk cId="3143385247" sldId="502"/>
        </pc:sldMkLst>
      </pc:sldChg>
      <pc:sldChg chg="addSp delSp modSp mod ord modNotesTx">
        <pc:chgData name="Haymond, Shannon" userId="5b01a877-9415-4a21-8eeb-d6d3c2be6b18" providerId="ADAL" clId="{FEA7804B-FD21-59C4-8BB3-74F1FB3AA68A}" dt="2025-09-23T14:29:25.045" v="1401" actId="20577"/>
        <pc:sldMkLst>
          <pc:docMk/>
          <pc:sldMk cId="2583988040" sldId="503"/>
        </pc:sldMkLst>
        <pc:spChg chg="mod">
          <ac:chgData name="Haymond, Shannon" userId="5b01a877-9415-4a21-8eeb-d6d3c2be6b18" providerId="ADAL" clId="{FEA7804B-FD21-59C4-8BB3-74F1FB3AA68A}" dt="2025-09-23T03:58:35.047" v="318" actId="20577"/>
          <ac:spMkLst>
            <pc:docMk/>
            <pc:sldMk cId="2583988040" sldId="503"/>
            <ac:spMk id="2" creationId="{159FD8C7-CC3E-4BAE-1582-CCD0FC4345AB}"/>
          </ac:spMkLst>
        </pc:spChg>
        <pc:spChg chg="mod">
          <ac:chgData name="Haymond, Shannon" userId="5b01a877-9415-4a21-8eeb-d6d3c2be6b18" providerId="ADAL" clId="{FEA7804B-FD21-59C4-8BB3-74F1FB3AA68A}" dt="2025-09-23T14:28:49.830" v="1386" actId="20577"/>
          <ac:spMkLst>
            <pc:docMk/>
            <pc:sldMk cId="2583988040" sldId="503"/>
            <ac:spMk id="4" creationId="{B30E2109-08F0-617F-F4B8-C9239847D644}"/>
          </ac:spMkLst>
        </pc:spChg>
        <pc:spChg chg="add mod">
          <ac:chgData name="Haymond, Shannon" userId="5b01a877-9415-4a21-8eeb-d6d3c2be6b18" providerId="ADAL" clId="{FEA7804B-FD21-59C4-8BB3-74F1FB3AA68A}" dt="2025-09-23T14:23:39.265" v="1201" actId="1076"/>
          <ac:spMkLst>
            <pc:docMk/>
            <pc:sldMk cId="2583988040" sldId="503"/>
            <ac:spMk id="5" creationId="{613DE77D-4649-E8ED-CBA9-572B6885069A}"/>
          </ac:spMkLst>
        </pc:spChg>
        <pc:spChg chg="add del">
          <ac:chgData name="Haymond, Shannon" userId="5b01a877-9415-4a21-8eeb-d6d3c2be6b18" providerId="ADAL" clId="{FEA7804B-FD21-59C4-8BB3-74F1FB3AA68A}" dt="2025-09-23T14:28:27.633" v="1365" actId="478"/>
          <ac:spMkLst>
            <pc:docMk/>
            <pc:sldMk cId="2583988040" sldId="503"/>
            <ac:spMk id="8" creationId="{CD479CDC-65E2-61F9-D212-FB5B26E8AE19}"/>
          </ac:spMkLst>
        </pc:spChg>
        <pc:spChg chg="mod">
          <ac:chgData name="Haymond, Shannon" userId="5b01a877-9415-4a21-8eeb-d6d3c2be6b18" providerId="ADAL" clId="{FEA7804B-FD21-59C4-8BB3-74F1FB3AA68A}" dt="2025-09-23T14:29:25.045" v="1401" actId="20577"/>
          <ac:spMkLst>
            <pc:docMk/>
            <pc:sldMk cId="2583988040" sldId="503"/>
            <ac:spMk id="9" creationId="{EB945653-26E3-334A-3A68-983C2FB30362}"/>
          </ac:spMkLst>
        </pc:spChg>
      </pc:sldChg>
      <pc:sldChg chg="del">
        <pc:chgData name="Haymond, Shannon" userId="5b01a877-9415-4a21-8eeb-d6d3c2be6b18" providerId="ADAL" clId="{FEA7804B-FD21-59C4-8BB3-74F1FB3AA68A}" dt="2025-09-23T03:44:27.711" v="0" actId="2696"/>
        <pc:sldMkLst>
          <pc:docMk/>
          <pc:sldMk cId="757895581" sldId="660"/>
        </pc:sldMkLst>
      </pc:sldChg>
      <pc:sldChg chg="modSp mod">
        <pc:chgData name="Haymond, Shannon" userId="5b01a877-9415-4a21-8eeb-d6d3c2be6b18" providerId="ADAL" clId="{FEA7804B-FD21-59C4-8BB3-74F1FB3AA68A}" dt="2025-09-23T12:40:12.691" v="602" actId="27636"/>
        <pc:sldMkLst>
          <pc:docMk/>
          <pc:sldMk cId="2292791884" sldId="688"/>
        </pc:sldMkLst>
        <pc:spChg chg="mod">
          <ac:chgData name="Haymond, Shannon" userId="5b01a877-9415-4a21-8eeb-d6d3c2be6b18" providerId="ADAL" clId="{FEA7804B-FD21-59C4-8BB3-74F1FB3AA68A}" dt="2025-09-23T12:40:12.691" v="602" actId="27636"/>
          <ac:spMkLst>
            <pc:docMk/>
            <pc:sldMk cId="2292791884" sldId="688"/>
            <ac:spMk id="3" creationId="{89934CEA-F223-6F01-1F4A-AF14234ECDF6}"/>
          </ac:spMkLst>
        </pc:spChg>
      </pc:sldChg>
      <pc:sldChg chg="modSp mod">
        <pc:chgData name="Haymond, Shannon" userId="5b01a877-9415-4a21-8eeb-d6d3c2be6b18" providerId="ADAL" clId="{FEA7804B-FD21-59C4-8BB3-74F1FB3AA68A}" dt="2025-09-23T13:08:32.971" v="893" actId="20577"/>
        <pc:sldMkLst>
          <pc:docMk/>
          <pc:sldMk cId="824701899" sldId="689"/>
        </pc:sldMkLst>
        <pc:spChg chg="mod">
          <ac:chgData name="Haymond, Shannon" userId="5b01a877-9415-4a21-8eeb-d6d3c2be6b18" providerId="ADAL" clId="{FEA7804B-FD21-59C4-8BB3-74F1FB3AA68A}" dt="2025-09-23T13:08:32.971" v="893" actId="20577"/>
          <ac:spMkLst>
            <pc:docMk/>
            <pc:sldMk cId="824701899" sldId="689"/>
            <ac:spMk id="3" creationId="{90AD906D-33C3-C78B-3F59-F87BD6EB5FC5}"/>
          </ac:spMkLst>
        </pc:spChg>
      </pc:sldChg>
      <pc:sldChg chg="modSp mod">
        <pc:chgData name="Haymond, Shannon" userId="5b01a877-9415-4a21-8eeb-d6d3c2be6b18" providerId="ADAL" clId="{FEA7804B-FD21-59C4-8BB3-74F1FB3AA68A}" dt="2025-09-23T13:34:39.481" v="916"/>
        <pc:sldMkLst>
          <pc:docMk/>
          <pc:sldMk cId="572830195" sldId="706"/>
        </pc:sldMkLst>
        <pc:spChg chg="mod">
          <ac:chgData name="Haymond, Shannon" userId="5b01a877-9415-4a21-8eeb-d6d3c2be6b18" providerId="ADAL" clId="{FEA7804B-FD21-59C4-8BB3-74F1FB3AA68A}" dt="2025-09-23T03:50:26.562" v="11" actId="20577"/>
          <ac:spMkLst>
            <pc:docMk/>
            <pc:sldMk cId="572830195" sldId="706"/>
            <ac:spMk id="2" creationId="{094BBFF9-31D3-6919-43D1-32F0858D6752}"/>
          </ac:spMkLst>
        </pc:spChg>
        <pc:spChg chg="mod">
          <ac:chgData name="Haymond, Shannon" userId="5b01a877-9415-4a21-8eeb-d6d3c2be6b18" providerId="ADAL" clId="{FEA7804B-FD21-59C4-8BB3-74F1FB3AA68A}" dt="2025-09-23T13:34:39.481" v="916"/>
          <ac:spMkLst>
            <pc:docMk/>
            <pc:sldMk cId="572830195" sldId="706"/>
            <ac:spMk id="3" creationId="{17640E5A-EFD6-6F8C-97F9-5A8B3862785F}"/>
          </ac:spMkLst>
        </pc:spChg>
      </pc:sldChg>
      <pc:sldChg chg="modSp new mod">
        <pc:chgData name="Haymond, Shannon" userId="5b01a877-9415-4a21-8eeb-d6d3c2be6b18" providerId="ADAL" clId="{FEA7804B-FD21-59C4-8BB3-74F1FB3AA68A}" dt="2025-09-23T03:55:10.486" v="244" actId="20577"/>
        <pc:sldMkLst>
          <pc:docMk/>
          <pc:sldMk cId="649513801" sldId="707"/>
        </pc:sldMkLst>
        <pc:spChg chg="mod">
          <ac:chgData name="Haymond, Shannon" userId="5b01a877-9415-4a21-8eeb-d6d3c2be6b18" providerId="ADAL" clId="{FEA7804B-FD21-59C4-8BB3-74F1FB3AA68A}" dt="2025-09-23T03:50:34.506" v="38" actId="20577"/>
          <ac:spMkLst>
            <pc:docMk/>
            <pc:sldMk cId="649513801" sldId="707"/>
            <ac:spMk id="2" creationId="{4E34BBEA-F147-2E52-4B53-C3D1BD058DC3}"/>
          </ac:spMkLst>
        </pc:spChg>
        <pc:spChg chg="mod">
          <ac:chgData name="Haymond, Shannon" userId="5b01a877-9415-4a21-8eeb-d6d3c2be6b18" providerId="ADAL" clId="{FEA7804B-FD21-59C4-8BB3-74F1FB3AA68A}" dt="2025-09-23T03:55:10.486" v="244" actId="20577"/>
          <ac:spMkLst>
            <pc:docMk/>
            <pc:sldMk cId="649513801" sldId="707"/>
            <ac:spMk id="3" creationId="{B773A6B2-0EC4-8714-9182-7D3749514BCD}"/>
          </ac:spMkLst>
        </pc:spChg>
      </pc:sldChg>
      <pc:sldChg chg="modSp new mod">
        <pc:chgData name="Haymond, Shannon" userId="5b01a877-9415-4a21-8eeb-d6d3c2be6b18" providerId="ADAL" clId="{FEA7804B-FD21-59C4-8BB3-74F1FB3AA68A}" dt="2025-09-23T14:18:32.381" v="1127" actId="20577"/>
        <pc:sldMkLst>
          <pc:docMk/>
          <pc:sldMk cId="2851807141" sldId="708"/>
        </pc:sldMkLst>
        <pc:spChg chg="mod">
          <ac:chgData name="Haymond, Shannon" userId="5b01a877-9415-4a21-8eeb-d6d3c2be6b18" providerId="ADAL" clId="{FEA7804B-FD21-59C4-8BB3-74F1FB3AA68A}" dt="2025-09-23T03:55:26.857" v="288" actId="20577"/>
          <ac:spMkLst>
            <pc:docMk/>
            <pc:sldMk cId="2851807141" sldId="708"/>
            <ac:spMk id="2" creationId="{14E99219-323C-1B81-7F2E-4A0B58697E90}"/>
          </ac:spMkLst>
        </pc:spChg>
        <pc:spChg chg="mod">
          <ac:chgData name="Haymond, Shannon" userId="5b01a877-9415-4a21-8eeb-d6d3c2be6b18" providerId="ADAL" clId="{FEA7804B-FD21-59C4-8BB3-74F1FB3AA68A}" dt="2025-09-23T14:18:32.381" v="1127" actId="20577"/>
          <ac:spMkLst>
            <pc:docMk/>
            <pc:sldMk cId="2851807141" sldId="708"/>
            <ac:spMk id="3" creationId="{BE5BA1D0-112F-CFD1-424B-ACE68D453BA8}"/>
          </ac:spMkLst>
        </pc:spChg>
      </pc:sldChg>
      <pc:sldChg chg="addSp delSp modSp new mod modClrScheme chgLayout modNotesTx">
        <pc:chgData name="Haymond, Shannon" userId="5b01a877-9415-4a21-8eeb-d6d3c2be6b18" providerId="ADAL" clId="{FEA7804B-FD21-59C4-8BB3-74F1FB3AA68A}" dt="2025-09-23T13:02:51.305" v="769" actId="20577"/>
        <pc:sldMkLst>
          <pc:docMk/>
          <pc:sldMk cId="709510701" sldId="709"/>
        </pc:sldMkLst>
        <pc:spChg chg="del mod ord">
          <ac:chgData name="Haymond, Shannon" userId="5b01a877-9415-4a21-8eeb-d6d3c2be6b18" providerId="ADAL" clId="{FEA7804B-FD21-59C4-8BB3-74F1FB3AA68A}" dt="2025-09-23T12:50:01.291" v="604" actId="700"/>
          <ac:spMkLst>
            <pc:docMk/>
            <pc:sldMk cId="709510701" sldId="709"/>
            <ac:spMk id="2" creationId="{9B051870-19FA-EFC9-34B9-74ABF11D2059}"/>
          </ac:spMkLst>
        </pc:spChg>
        <pc:spChg chg="del">
          <ac:chgData name="Haymond, Shannon" userId="5b01a877-9415-4a21-8eeb-d6d3c2be6b18" providerId="ADAL" clId="{FEA7804B-FD21-59C4-8BB3-74F1FB3AA68A}" dt="2025-09-23T12:50:01.291" v="604" actId="700"/>
          <ac:spMkLst>
            <pc:docMk/>
            <pc:sldMk cId="709510701" sldId="709"/>
            <ac:spMk id="3" creationId="{E675B938-A2D7-4F54-AD5C-903BAE1174EE}"/>
          </ac:spMkLst>
        </pc:spChg>
        <pc:spChg chg="add mod ord">
          <ac:chgData name="Haymond, Shannon" userId="5b01a877-9415-4a21-8eeb-d6d3c2be6b18" providerId="ADAL" clId="{FEA7804B-FD21-59C4-8BB3-74F1FB3AA68A}" dt="2025-09-23T13:02:51.305" v="769" actId="20577"/>
          <ac:spMkLst>
            <pc:docMk/>
            <pc:sldMk cId="709510701" sldId="709"/>
            <ac:spMk id="4" creationId="{AD816E61-AA2B-786B-C3CB-1537791626F3}"/>
          </ac:spMkLst>
        </pc:spChg>
        <pc:picChg chg="add mod">
          <ac:chgData name="Haymond, Shannon" userId="5b01a877-9415-4a21-8eeb-d6d3c2be6b18" providerId="ADAL" clId="{FEA7804B-FD21-59C4-8BB3-74F1FB3AA68A}" dt="2025-09-23T13:02:00.238" v="631" actId="1076"/>
          <ac:picMkLst>
            <pc:docMk/>
            <pc:sldMk cId="709510701" sldId="709"/>
            <ac:picMk id="6" creationId="{591B7847-0B99-C095-4870-42D29A91FB6D}"/>
          </ac:picMkLst>
        </pc:picChg>
        <pc:picChg chg="add del mod">
          <ac:chgData name="Haymond, Shannon" userId="5b01a877-9415-4a21-8eeb-d6d3c2be6b18" providerId="ADAL" clId="{FEA7804B-FD21-59C4-8BB3-74F1FB3AA68A}" dt="2025-09-23T13:01:43.099" v="625" actId="478"/>
          <ac:picMkLst>
            <pc:docMk/>
            <pc:sldMk cId="709510701" sldId="709"/>
            <ac:picMk id="8" creationId="{E6E37C1F-B446-33B5-9026-020ACD9C0A0C}"/>
          </ac:picMkLst>
        </pc:picChg>
        <pc:picChg chg="add del mod">
          <ac:chgData name="Haymond, Shannon" userId="5b01a877-9415-4a21-8eeb-d6d3c2be6b18" providerId="ADAL" clId="{FEA7804B-FD21-59C4-8BB3-74F1FB3AA68A}" dt="2025-09-23T13:01:45.024" v="626" actId="478"/>
          <ac:picMkLst>
            <pc:docMk/>
            <pc:sldMk cId="709510701" sldId="709"/>
            <ac:picMk id="10" creationId="{F5F1D850-D11D-F31E-E09C-F96D4BB78E66}"/>
          </ac:picMkLst>
        </pc:picChg>
        <pc:picChg chg="add mod">
          <ac:chgData name="Haymond, Shannon" userId="5b01a877-9415-4a21-8eeb-d6d3c2be6b18" providerId="ADAL" clId="{FEA7804B-FD21-59C4-8BB3-74F1FB3AA68A}" dt="2025-09-23T13:02:02.809" v="632" actId="1076"/>
          <ac:picMkLst>
            <pc:docMk/>
            <pc:sldMk cId="709510701" sldId="709"/>
            <ac:picMk id="12" creationId="{230CB963-2BED-E82F-FB37-E3F3ED8E38FE}"/>
          </ac:picMkLst>
        </pc:picChg>
      </pc:sldChg>
      <pc:sldChg chg="addSp modSp new del mod modClrScheme chgLayout">
        <pc:chgData name="Haymond, Shannon" userId="5b01a877-9415-4a21-8eeb-d6d3c2be6b18" providerId="ADAL" clId="{FEA7804B-FD21-59C4-8BB3-74F1FB3AA68A}" dt="2025-09-23T12:39:03.766" v="579" actId="2696"/>
        <pc:sldMkLst>
          <pc:docMk/>
          <pc:sldMk cId="4289515598" sldId="709"/>
        </pc:sldMkLst>
        <pc:spChg chg="mod ord">
          <ac:chgData name="Haymond, Shannon" userId="5b01a877-9415-4a21-8eeb-d6d3c2be6b18" providerId="ADAL" clId="{FEA7804B-FD21-59C4-8BB3-74F1FB3AA68A}" dt="2025-09-23T12:37:35.646" v="511" actId="700"/>
          <ac:spMkLst>
            <pc:docMk/>
            <pc:sldMk cId="4289515598" sldId="709"/>
            <ac:spMk id="2" creationId="{ECDA913F-6D03-8579-99D3-29F422DEFA5D}"/>
          </ac:spMkLst>
        </pc:spChg>
        <pc:spChg chg="add mod ord">
          <ac:chgData name="Haymond, Shannon" userId="5b01a877-9415-4a21-8eeb-d6d3c2be6b18" providerId="ADAL" clId="{FEA7804B-FD21-59C4-8BB3-74F1FB3AA68A}" dt="2025-09-23T12:37:35.646" v="511" actId="700"/>
          <ac:spMkLst>
            <pc:docMk/>
            <pc:sldMk cId="4289515598" sldId="709"/>
            <ac:spMk id="3" creationId="{B860A213-5E1A-2B34-768B-DF439DFB5A61}"/>
          </ac:spMkLst>
        </pc:spChg>
      </pc:sldChg>
      <pc:sldChg chg="add del">
        <pc:chgData name="Haymond, Shannon" userId="5b01a877-9415-4a21-8eeb-d6d3c2be6b18" providerId="ADAL" clId="{FEA7804B-FD21-59C4-8BB3-74F1FB3AA68A}" dt="2025-09-23T13:01:33.491" v="620"/>
        <pc:sldMkLst>
          <pc:docMk/>
          <pc:sldMk cId="552370170" sldId="710"/>
        </pc:sldMkLst>
      </pc:sldChg>
      <pc:sldChg chg="addSp delSp modSp add mod">
        <pc:chgData name="Haymond, Shannon" userId="5b01a877-9415-4a21-8eeb-d6d3c2be6b18" providerId="ADAL" clId="{FEA7804B-FD21-59C4-8BB3-74F1FB3AA68A}" dt="2025-09-23T13:03:44.994" v="842" actId="20577"/>
        <pc:sldMkLst>
          <pc:docMk/>
          <pc:sldMk cId="860285875" sldId="710"/>
        </pc:sldMkLst>
        <pc:spChg chg="mod">
          <ac:chgData name="Haymond, Shannon" userId="5b01a877-9415-4a21-8eeb-d6d3c2be6b18" providerId="ADAL" clId="{FEA7804B-FD21-59C4-8BB3-74F1FB3AA68A}" dt="2025-09-23T13:03:44.994" v="842" actId="20577"/>
          <ac:spMkLst>
            <pc:docMk/>
            <pc:sldMk cId="860285875" sldId="710"/>
            <ac:spMk id="4" creationId="{16A44B8D-7A9B-69A5-3D57-D9B5C01BC0AB}"/>
          </ac:spMkLst>
        </pc:spChg>
        <pc:picChg chg="add mod">
          <ac:chgData name="Haymond, Shannon" userId="5b01a877-9415-4a21-8eeb-d6d3c2be6b18" providerId="ADAL" clId="{FEA7804B-FD21-59C4-8BB3-74F1FB3AA68A}" dt="2025-09-23T13:03:14.975" v="775"/>
          <ac:picMkLst>
            <pc:docMk/>
            <pc:sldMk cId="860285875" sldId="710"/>
            <ac:picMk id="2" creationId="{85C337E4-0F72-EAF4-5360-849F412518BA}"/>
          </ac:picMkLst>
        </pc:picChg>
        <pc:picChg chg="del">
          <ac:chgData name="Haymond, Shannon" userId="5b01a877-9415-4a21-8eeb-d6d3c2be6b18" providerId="ADAL" clId="{FEA7804B-FD21-59C4-8BB3-74F1FB3AA68A}" dt="2025-09-23T13:03:06.497" v="773" actId="478"/>
          <ac:picMkLst>
            <pc:docMk/>
            <pc:sldMk cId="860285875" sldId="710"/>
            <ac:picMk id="6" creationId="{2D95F72C-09BD-615B-D17D-E97E357524AC}"/>
          </ac:picMkLst>
        </pc:picChg>
        <pc:picChg chg="mod">
          <ac:chgData name="Haymond, Shannon" userId="5b01a877-9415-4a21-8eeb-d6d3c2be6b18" providerId="ADAL" clId="{FEA7804B-FD21-59C4-8BB3-74F1FB3AA68A}" dt="2025-09-23T13:03:28.629" v="778" actId="14100"/>
          <ac:picMkLst>
            <pc:docMk/>
            <pc:sldMk cId="860285875" sldId="710"/>
            <ac:picMk id="8" creationId="{D51BFABB-072F-E4B5-4236-C3C2F860E827}"/>
          </ac:picMkLst>
        </pc:picChg>
        <pc:picChg chg="del">
          <ac:chgData name="Haymond, Shannon" userId="5b01a877-9415-4a21-8eeb-d6d3c2be6b18" providerId="ADAL" clId="{FEA7804B-FD21-59C4-8BB3-74F1FB3AA68A}" dt="2025-09-23T13:03:02.956" v="771" actId="478"/>
          <ac:picMkLst>
            <pc:docMk/>
            <pc:sldMk cId="860285875" sldId="710"/>
            <ac:picMk id="10" creationId="{5EDCDD5F-5B9E-393B-17CF-2880FDA32838}"/>
          </ac:picMkLst>
        </pc:picChg>
        <pc:picChg chg="del">
          <ac:chgData name="Haymond, Shannon" userId="5b01a877-9415-4a21-8eeb-d6d3c2be6b18" providerId="ADAL" clId="{FEA7804B-FD21-59C4-8BB3-74F1FB3AA68A}" dt="2025-09-23T13:03:00.795" v="770" actId="478"/>
          <ac:picMkLst>
            <pc:docMk/>
            <pc:sldMk cId="860285875" sldId="710"/>
            <ac:picMk id="12" creationId="{0F3E201B-79AF-7765-5ED6-144C976AE68F}"/>
          </ac:picMkLst>
        </pc:picChg>
      </pc:sldChg>
      <pc:sldChg chg="add del">
        <pc:chgData name="Haymond, Shannon" userId="5b01a877-9415-4a21-8eeb-d6d3c2be6b18" providerId="ADAL" clId="{FEA7804B-FD21-59C4-8BB3-74F1FB3AA68A}" dt="2025-09-23T13:01:37.889" v="623"/>
        <pc:sldMkLst>
          <pc:docMk/>
          <pc:sldMk cId="2134838597" sldId="711"/>
        </pc:sldMkLst>
      </pc:sldChg>
      <pc:sldChg chg="addSp delSp modSp add mod">
        <pc:chgData name="Haymond, Shannon" userId="5b01a877-9415-4a21-8eeb-d6d3c2be6b18" providerId="ADAL" clId="{FEA7804B-FD21-59C4-8BB3-74F1FB3AA68A}" dt="2025-09-23T13:05:16.329" v="848" actId="1076"/>
        <pc:sldMkLst>
          <pc:docMk/>
          <pc:sldMk cId="3154917535" sldId="711"/>
        </pc:sldMkLst>
        <pc:spChg chg="mod">
          <ac:chgData name="Haymond, Shannon" userId="5b01a877-9415-4a21-8eeb-d6d3c2be6b18" providerId="ADAL" clId="{FEA7804B-FD21-59C4-8BB3-74F1FB3AA68A}" dt="2025-09-23T13:04:05.513" v="846"/>
          <ac:spMkLst>
            <pc:docMk/>
            <pc:sldMk cId="3154917535" sldId="711"/>
            <ac:spMk id="4" creationId="{D1B20E02-0740-2766-BA15-7FD57ABBF31C}"/>
          </ac:spMkLst>
        </pc:spChg>
        <pc:picChg chg="add mod">
          <ac:chgData name="Haymond, Shannon" userId="5b01a877-9415-4a21-8eeb-d6d3c2be6b18" providerId="ADAL" clId="{FEA7804B-FD21-59C4-8BB3-74F1FB3AA68A}" dt="2025-09-23T13:04:09.822" v="847"/>
          <ac:picMkLst>
            <pc:docMk/>
            <pc:sldMk cId="3154917535" sldId="711"/>
            <ac:picMk id="2" creationId="{9CE8544C-F2E4-6818-C540-5165BF1579B2}"/>
          </ac:picMkLst>
        </pc:picChg>
        <pc:picChg chg="del">
          <ac:chgData name="Haymond, Shannon" userId="5b01a877-9415-4a21-8eeb-d6d3c2be6b18" providerId="ADAL" clId="{FEA7804B-FD21-59C4-8BB3-74F1FB3AA68A}" dt="2025-09-23T13:03:59.748" v="845" actId="478"/>
          <ac:picMkLst>
            <pc:docMk/>
            <pc:sldMk cId="3154917535" sldId="711"/>
            <ac:picMk id="6" creationId="{7784E2C1-9A11-1783-57BD-167BB011C7EB}"/>
          </ac:picMkLst>
        </pc:picChg>
        <pc:picChg chg="del">
          <ac:chgData name="Haymond, Shannon" userId="5b01a877-9415-4a21-8eeb-d6d3c2be6b18" providerId="ADAL" clId="{FEA7804B-FD21-59C4-8BB3-74F1FB3AA68A}" dt="2025-09-23T13:03:57.123" v="844" actId="478"/>
          <ac:picMkLst>
            <pc:docMk/>
            <pc:sldMk cId="3154917535" sldId="711"/>
            <ac:picMk id="8" creationId="{98097C56-77D5-127B-7554-03AF68C8BA04}"/>
          </ac:picMkLst>
        </pc:picChg>
        <pc:picChg chg="mod">
          <ac:chgData name="Haymond, Shannon" userId="5b01a877-9415-4a21-8eeb-d6d3c2be6b18" providerId="ADAL" clId="{FEA7804B-FD21-59C4-8BB3-74F1FB3AA68A}" dt="2025-09-23T13:05:16.329" v="848" actId="1076"/>
          <ac:picMkLst>
            <pc:docMk/>
            <pc:sldMk cId="3154917535" sldId="711"/>
            <ac:picMk id="10" creationId="{0047A3F7-F91F-5923-717E-E65BE431D928}"/>
          </ac:picMkLst>
        </pc:picChg>
        <pc:picChg chg="del">
          <ac:chgData name="Haymond, Shannon" userId="5b01a877-9415-4a21-8eeb-d6d3c2be6b18" providerId="ADAL" clId="{FEA7804B-FD21-59C4-8BB3-74F1FB3AA68A}" dt="2025-09-23T13:03:55.451" v="843" actId="478"/>
          <ac:picMkLst>
            <pc:docMk/>
            <pc:sldMk cId="3154917535" sldId="711"/>
            <ac:picMk id="12" creationId="{D5100345-B8E8-5305-05A8-A2259C53D331}"/>
          </ac:picMkLst>
        </pc:picChg>
      </pc:sldChg>
      <pc:sldChg chg="addSp delSp modSp new mod modClrScheme modAnim chgLayout">
        <pc:chgData name="Haymond, Shannon" userId="5b01a877-9415-4a21-8eeb-d6d3c2be6b18" providerId="ADAL" clId="{FEA7804B-FD21-59C4-8BB3-74F1FB3AA68A}" dt="2025-09-23T14:20:05.909" v="1195"/>
        <pc:sldMkLst>
          <pc:docMk/>
          <pc:sldMk cId="1048713264" sldId="712"/>
        </pc:sldMkLst>
        <pc:spChg chg="del mod ord">
          <ac:chgData name="Haymond, Shannon" userId="5b01a877-9415-4a21-8eeb-d6d3c2be6b18" providerId="ADAL" clId="{FEA7804B-FD21-59C4-8BB3-74F1FB3AA68A}" dt="2025-09-23T13:35:42.283" v="918" actId="700"/>
          <ac:spMkLst>
            <pc:docMk/>
            <pc:sldMk cId="1048713264" sldId="712"/>
            <ac:spMk id="2" creationId="{5A3CB8E5-CF9D-41A1-0AD0-A1320CF7D6D8}"/>
          </ac:spMkLst>
        </pc:spChg>
        <pc:spChg chg="del">
          <ac:chgData name="Haymond, Shannon" userId="5b01a877-9415-4a21-8eeb-d6d3c2be6b18" providerId="ADAL" clId="{FEA7804B-FD21-59C4-8BB3-74F1FB3AA68A}" dt="2025-09-23T13:35:42.283" v="918" actId="700"/>
          <ac:spMkLst>
            <pc:docMk/>
            <pc:sldMk cId="1048713264" sldId="712"/>
            <ac:spMk id="3" creationId="{0205F9AD-C780-8EE0-325E-F72103BF93AC}"/>
          </ac:spMkLst>
        </pc:spChg>
        <pc:spChg chg="add mod ord">
          <ac:chgData name="Haymond, Shannon" userId="5b01a877-9415-4a21-8eeb-d6d3c2be6b18" providerId="ADAL" clId="{FEA7804B-FD21-59C4-8BB3-74F1FB3AA68A}" dt="2025-09-23T14:14:32.282" v="1091" actId="20577"/>
          <ac:spMkLst>
            <pc:docMk/>
            <pc:sldMk cId="1048713264" sldId="712"/>
            <ac:spMk id="4" creationId="{B40D2978-997F-6929-137B-F8D69D7ECA5F}"/>
          </ac:spMkLst>
        </pc:spChg>
        <pc:spChg chg="add mod">
          <ac:chgData name="Haymond, Shannon" userId="5b01a877-9415-4a21-8eeb-d6d3c2be6b18" providerId="ADAL" clId="{FEA7804B-FD21-59C4-8BB3-74F1FB3AA68A}" dt="2025-09-23T14:14:52.625" v="1096" actId="1076"/>
          <ac:spMkLst>
            <pc:docMk/>
            <pc:sldMk cId="1048713264" sldId="712"/>
            <ac:spMk id="7" creationId="{F30C4F3E-0B03-D0DF-D94B-33C985C0FD54}"/>
          </ac:spMkLst>
        </pc:spChg>
        <pc:spChg chg="add mod">
          <ac:chgData name="Haymond, Shannon" userId="5b01a877-9415-4a21-8eeb-d6d3c2be6b18" providerId="ADAL" clId="{FEA7804B-FD21-59C4-8BB3-74F1FB3AA68A}" dt="2025-09-23T14:20:00.127" v="1194" actId="208"/>
          <ac:spMkLst>
            <pc:docMk/>
            <pc:sldMk cId="1048713264" sldId="712"/>
            <ac:spMk id="14" creationId="{3EBA11D0-7AA4-154A-E90B-526662DABECF}"/>
          </ac:spMkLst>
        </pc:spChg>
        <pc:spChg chg="add del mod">
          <ac:chgData name="Haymond, Shannon" userId="5b01a877-9415-4a21-8eeb-d6d3c2be6b18" providerId="ADAL" clId="{FEA7804B-FD21-59C4-8BB3-74F1FB3AA68A}" dt="2025-09-23T14:14:35.436" v="1093"/>
          <ac:spMkLst>
            <pc:docMk/>
            <pc:sldMk cId="1048713264" sldId="712"/>
            <ac:spMk id="15" creationId="{EA15F346-D8AA-52BD-3F53-4605EB608E3D}"/>
          </ac:spMkLst>
        </pc:spChg>
        <pc:spChg chg="add mod">
          <ac:chgData name="Haymond, Shannon" userId="5b01a877-9415-4a21-8eeb-d6d3c2be6b18" providerId="ADAL" clId="{FEA7804B-FD21-59C4-8BB3-74F1FB3AA68A}" dt="2025-09-23T14:19:52.999" v="1193" actId="207"/>
          <ac:spMkLst>
            <pc:docMk/>
            <pc:sldMk cId="1048713264" sldId="712"/>
            <ac:spMk id="16" creationId="{DE145D61-BE83-4F0D-0E9E-8E706AF41CB8}"/>
          </ac:spMkLst>
        </pc:spChg>
        <pc:picChg chg="add del mod">
          <ac:chgData name="Haymond, Shannon" userId="5b01a877-9415-4a21-8eeb-d6d3c2be6b18" providerId="ADAL" clId="{FEA7804B-FD21-59C4-8BB3-74F1FB3AA68A}" dt="2025-09-23T13:36:09.180" v="923" actId="478"/>
          <ac:picMkLst>
            <pc:docMk/>
            <pc:sldMk cId="1048713264" sldId="712"/>
            <ac:picMk id="6" creationId="{4A143915-A9E8-E5CA-895C-ED7CBEC6EBD2}"/>
          </ac:picMkLst>
        </pc:picChg>
        <pc:picChg chg="add del mod">
          <ac:chgData name="Haymond, Shannon" userId="5b01a877-9415-4a21-8eeb-d6d3c2be6b18" providerId="ADAL" clId="{FEA7804B-FD21-59C4-8BB3-74F1FB3AA68A}" dt="2025-09-23T13:51:05.013" v="971" actId="21"/>
          <ac:picMkLst>
            <pc:docMk/>
            <pc:sldMk cId="1048713264" sldId="712"/>
            <ac:picMk id="9" creationId="{53C6FAAA-876E-A4E9-9537-2780AB11868C}"/>
          </ac:picMkLst>
        </pc:picChg>
        <pc:picChg chg="add mod">
          <ac:chgData name="Haymond, Shannon" userId="5b01a877-9415-4a21-8eeb-d6d3c2be6b18" providerId="ADAL" clId="{FEA7804B-FD21-59C4-8BB3-74F1FB3AA68A}" dt="2025-09-23T13:51:38.026" v="979" actId="1076"/>
          <ac:picMkLst>
            <pc:docMk/>
            <pc:sldMk cId="1048713264" sldId="712"/>
            <ac:picMk id="11" creationId="{C8D2D64A-46CD-D274-B1F8-CE9B23CEB015}"/>
          </ac:picMkLst>
        </pc:picChg>
        <pc:picChg chg="add del mod">
          <ac:chgData name="Haymond, Shannon" userId="5b01a877-9415-4a21-8eeb-d6d3c2be6b18" providerId="ADAL" clId="{FEA7804B-FD21-59C4-8BB3-74F1FB3AA68A}" dt="2025-09-23T13:52:38.919" v="984" actId="478"/>
          <ac:picMkLst>
            <pc:docMk/>
            <pc:sldMk cId="1048713264" sldId="712"/>
            <ac:picMk id="13" creationId="{60F03D7E-990E-DC2C-DBF3-66F2927A0A81}"/>
          </ac:picMkLst>
        </pc:picChg>
      </pc:sldChg>
      <pc:sldChg chg="addSp delSp modSp new mod">
        <pc:chgData name="Haymond, Shannon" userId="5b01a877-9415-4a21-8eeb-d6d3c2be6b18" providerId="ADAL" clId="{FEA7804B-FD21-59C4-8BB3-74F1FB3AA68A}" dt="2025-09-23T14:01:33.483" v="1059" actId="1076"/>
        <pc:sldMkLst>
          <pc:docMk/>
          <pc:sldMk cId="807712877" sldId="713"/>
        </pc:sldMkLst>
        <pc:spChg chg="mod">
          <ac:chgData name="Haymond, Shannon" userId="5b01a877-9415-4a21-8eeb-d6d3c2be6b18" providerId="ADAL" clId="{FEA7804B-FD21-59C4-8BB3-74F1FB3AA68A}" dt="2025-09-23T14:01:20.165" v="1042" actId="20577"/>
          <ac:spMkLst>
            <pc:docMk/>
            <pc:sldMk cId="807712877" sldId="713"/>
            <ac:spMk id="2" creationId="{6ECDF06A-3851-E280-44CB-B0020510E9CB}"/>
          </ac:spMkLst>
        </pc:spChg>
        <pc:spChg chg="add mod">
          <ac:chgData name="Haymond, Shannon" userId="5b01a877-9415-4a21-8eeb-d6d3c2be6b18" providerId="ADAL" clId="{FEA7804B-FD21-59C4-8BB3-74F1FB3AA68A}" dt="2025-09-23T13:59:27.997" v="988" actId="14100"/>
          <ac:spMkLst>
            <pc:docMk/>
            <pc:sldMk cId="807712877" sldId="713"/>
            <ac:spMk id="5" creationId="{355548AE-E00B-5CE3-CE6A-56A3F0F072B3}"/>
          </ac:spMkLst>
        </pc:spChg>
        <pc:spChg chg="add mod">
          <ac:chgData name="Haymond, Shannon" userId="5b01a877-9415-4a21-8eeb-d6d3c2be6b18" providerId="ADAL" clId="{FEA7804B-FD21-59C4-8BB3-74F1FB3AA68A}" dt="2025-09-23T14:00:17.737" v="1013" actId="555"/>
          <ac:spMkLst>
            <pc:docMk/>
            <pc:sldMk cId="807712877" sldId="713"/>
            <ac:spMk id="6" creationId="{5D0293F6-1439-E6E2-9D16-6A2F74B56CDF}"/>
          </ac:spMkLst>
        </pc:spChg>
        <pc:spChg chg="add mod">
          <ac:chgData name="Haymond, Shannon" userId="5b01a877-9415-4a21-8eeb-d6d3c2be6b18" providerId="ADAL" clId="{FEA7804B-FD21-59C4-8BB3-74F1FB3AA68A}" dt="2025-09-23T14:00:17.737" v="1013" actId="555"/>
          <ac:spMkLst>
            <pc:docMk/>
            <pc:sldMk cId="807712877" sldId="713"/>
            <ac:spMk id="7" creationId="{B8092690-2697-B471-E2B8-0CBE3BDB572E}"/>
          </ac:spMkLst>
        </pc:spChg>
        <pc:spChg chg="add mod">
          <ac:chgData name="Haymond, Shannon" userId="5b01a877-9415-4a21-8eeb-d6d3c2be6b18" providerId="ADAL" clId="{FEA7804B-FD21-59C4-8BB3-74F1FB3AA68A}" dt="2025-09-23T14:00:17.737" v="1013" actId="555"/>
          <ac:spMkLst>
            <pc:docMk/>
            <pc:sldMk cId="807712877" sldId="713"/>
            <ac:spMk id="8" creationId="{449B6D52-1BED-1D20-A243-ED84FEAC0C6C}"/>
          </ac:spMkLst>
        </pc:spChg>
        <pc:spChg chg="add mod">
          <ac:chgData name="Haymond, Shannon" userId="5b01a877-9415-4a21-8eeb-d6d3c2be6b18" providerId="ADAL" clId="{FEA7804B-FD21-59C4-8BB3-74F1FB3AA68A}" dt="2025-09-23T14:01:06.554" v="1019" actId="1076"/>
          <ac:spMkLst>
            <pc:docMk/>
            <pc:sldMk cId="807712877" sldId="713"/>
            <ac:spMk id="9" creationId="{4FB91803-5CBE-B09F-328A-4FD957ED39AA}"/>
          </ac:spMkLst>
        </pc:spChg>
        <pc:spChg chg="add mod">
          <ac:chgData name="Haymond, Shannon" userId="5b01a877-9415-4a21-8eeb-d6d3c2be6b18" providerId="ADAL" clId="{FEA7804B-FD21-59C4-8BB3-74F1FB3AA68A}" dt="2025-09-23T14:01:33.483" v="1059" actId="1076"/>
          <ac:spMkLst>
            <pc:docMk/>
            <pc:sldMk cId="807712877" sldId="713"/>
            <ac:spMk id="10" creationId="{A7107C82-03CC-2A1C-A2EE-8A9375517DFB}"/>
          </ac:spMkLst>
        </pc:spChg>
        <pc:graphicFrameChg chg="add del mod">
          <ac:chgData name="Haymond, Shannon" userId="5b01a877-9415-4a21-8eeb-d6d3c2be6b18" providerId="ADAL" clId="{FEA7804B-FD21-59C4-8BB3-74F1FB3AA68A}" dt="2025-09-23T14:00:20.751" v="1014" actId="478"/>
          <ac:graphicFrameMkLst>
            <pc:docMk/>
            <pc:sldMk cId="807712877" sldId="713"/>
            <ac:graphicFrameMk id="4" creationId="{F4F1D0EA-2A8C-E46A-EBB6-EABFDA8DA7B5}"/>
          </ac:graphicFrameMkLst>
        </pc:graphicFrameChg>
        <pc:picChg chg="add mod">
          <ac:chgData name="Haymond, Shannon" userId="5b01a877-9415-4a21-8eeb-d6d3c2be6b18" providerId="ADAL" clId="{FEA7804B-FD21-59C4-8BB3-74F1FB3AA68A}" dt="2025-09-23T14:00:07.997" v="1012" actId="1076"/>
          <ac:picMkLst>
            <pc:docMk/>
            <pc:sldMk cId="807712877" sldId="713"/>
            <ac:picMk id="3" creationId="{3E80F7CE-8A40-8493-7766-9417C90E8C2E}"/>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9570B4-670B-42C9-BF91-46C153C563E6}"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5E3528A0-B309-4B59-A4EA-EA7B6F3CE18F}">
      <dgm:prSet/>
      <dgm:spPr/>
      <dgm:t>
        <a:bodyPr/>
        <a:lstStyle/>
        <a:p>
          <a:r>
            <a:rPr lang="en-US" b="1" baseline="0" dirty="0"/>
            <a:t>Planning &amp; Preparation</a:t>
          </a:r>
          <a:endParaRPr lang="en-US" dirty="0"/>
        </a:p>
      </dgm:t>
    </dgm:pt>
    <dgm:pt modelId="{8B4712FB-C0A1-44BB-9C34-2CDDCA580763}" type="parTrans" cxnId="{BC4E2CE0-EB4E-4DDA-806D-17211305B5CA}">
      <dgm:prSet/>
      <dgm:spPr/>
      <dgm:t>
        <a:bodyPr/>
        <a:lstStyle/>
        <a:p>
          <a:endParaRPr lang="en-US"/>
        </a:p>
      </dgm:t>
    </dgm:pt>
    <dgm:pt modelId="{6BBCB496-AA82-47F4-97EB-3D7E2C081066}" type="sibTrans" cxnId="{BC4E2CE0-EB4E-4DDA-806D-17211305B5CA}">
      <dgm:prSet phldrT="01" phldr="0"/>
      <dgm:spPr/>
      <dgm:t>
        <a:bodyPr/>
        <a:lstStyle/>
        <a:p>
          <a:r>
            <a:rPr lang="en-US" dirty="0"/>
            <a:t>01</a:t>
          </a:r>
        </a:p>
      </dgm:t>
    </dgm:pt>
    <dgm:pt modelId="{5747CD0B-C499-4FA8-A1B3-73536D484281}">
      <dgm:prSet/>
      <dgm:spPr/>
      <dgm:t>
        <a:bodyPr/>
        <a:lstStyle/>
        <a:p>
          <a:r>
            <a:rPr lang="en-US" b="1" baseline="0" dirty="0"/>
            <a:t>Mixing</a:t>
          </a:r>
          <a:endParaRPr lang="en-US" dirty="0"/>
        </a:p>
      </dgm:t>
    </dgm:pt>
    <dgm:pt modelId="{F02C2AE8-5BE4-4A9B-BA0C-2EAF2AC4CBD7}" type="parTrans" cxnId="{D98853CA-5FA3-4944-9BD2-1F9DB167DA47}">
      <dgm:prSet/>
      <dgm:spPr/>
      <dgm:t>
        <a:bodyPr/>
        <a:lstStyle/>
        <a:p>
          <a:endParaRPr lang="en-US"/>
        </a:p>
      </dgm:t>
    </dgm:pt>
    <dgm:pt modelId="{BF81BEB4-FAF5-43A7-9165-BD9A9348385E}" type="sibTrans" cxnId="{D98853CA-5FA3-4944-9BD2-1F9DB167DA47}">
      <dgm:prSet phldrT="02" phldr="0"/>
      <dgm:spPr/>
      <dgm:t>
        <a:bodyPr/>
        <a:lstStyle/>
        <a:p>
          <a:r>
            <a:rPr lang="en-US"/>
            <a:t>02</a:t>
          </a:r>
          <a:endParaRPr lang="en-US" dirty="0"/>
        </a:p>
      </dgm:t>
    </dgm:pt>
    <dgm:pt modelId="{629D0AB6-EA6C-46FB-8E97-D882A75D1B3A}">
      <dgm:prSet/>
      <dgm:spPr/>
      <dgm:t>
        <a:bodyPr/>
        <a:lstStyle/>
        <a:p>
          <a:r>
            <a:rPr lang="en-US" b="1" baseline="0" dirty="0"/>
            <a:t>Baking</a:t>
          </a:r>
          <a:endParaRPr lang="en-US" dirty="0"/>
        </a:p>
      </dgm:t>
    </dgm:pt>
    <dgm:pt modelId="{06A4ABDC-7D12-453E-AE39-7AFDD4F443CD}" type="parTrans" cxnId="{68F9DA97-3926-4C92-B2B7-2187113D0BBC}">
      <dgm:prSet/>
      <dgm:spPr/>
      <dgm:t>
        <a:bodyPr/>
        <a:lstStyle/>
        <a:p>
          <a:endParaRPr lang="en-US"/>
        </a:p>
      </dgm:t>
    </dgm:pt>
    <dgm:pt modelId="{CBF7A17A-8B5B-4217-A302-E472D582459D}" type="sibTrans" cxnId="{68F9DA97-3926-4C92-B2B7-2187113D0BBC}">
      <dgm:prSet phldrT="03" phldr="0"/>
      <dgm:spPr/>
      <dgm:t>
        <a:bodyPr/>
        <a:lstStyle/>
        <a:p>
          <a:r>
            <a:rPr lang="en-US"/>
            <a:t>03</a:t>
          </a:r>
          <a:endParaRPr lang="en-US" dirty="0"/>
        </a:p>
      </dgm:t>
    </dgm:pt>
    <dgm:pt modelId="{8209B384-235B-47F9-8BA5-8E42CAD3B100}">
      <dgm:prSet/>
      <dgm:spPr/>
      <dgm:t>
        <a:bodyPr/>
        <a:lstStyle/>
        <a:p>
          <a:r>
            <a:rPr lang="en-US" b="1" baseline="0" dirty="0"/>
            <a:t>Finishing</a:t>
          </a:r>
          <a:br>
            <a:rPr lang="en-US" baseline="0" dirty="0"/>
          </a:br>
          <a:endParaRPr lang="en-US" dirty="0"/>
        </a:p>
      </dgm:t>
    </dgm:pt>
    <dgm:pt modelId="{024DCA4C-740A-4C56-B457-507C462EC332}" type="sibTrans" cxnId="{F7B837F0-FF18-4CFB-A573-25BFE43069E6}">
      <dgm:prSet phldrT="04" phldr="0"/>
      <dgm:spPr/>
      <dgm:t>
        <a:bodyPr/>
        <a:lstStyle/>
        <a:p>
          <a:r>
            <a:rPr lang="en-US"/>
            <a:t>04</a:t>
          </a:r>
          <a:endParaRPr lang="en-US" dirty="0"/>
        </a:p>
      </dgm:t>
    </dgm:pt>
    <dgm:pt modelId="{C2AE047E-A7F8-431E-AA47-D57FD54650C6}" type="parTrans" cxnId="{F7B837F0-FF18-4CFB-A573-25BFE43069E6}">
      <dgm:prSet/>
      <dgm:spPr/>
      <dgm:t>
        <a:bodyPr/>
        <a:lstStyle/>
        <a:p>
          <a:endParaRPr lang="en-US"/>
        </a:p>
      </dgm:t>
    </dgm:pt>
    <dgm:pt modelId="{A1B01282-6C5F-D54F-8A37-842DE7124E6F}" type="pres">
      <dgm:prSet presAssocID="{D79570B4-670B-42C9-BF91-46C153C563E6}" presName="Name0" presStyleCnt="0">
        <dgm:presLayoutVars>
          <dgm:animLvl val="lvl"/>
          <dgm:resizeHandles val="exact"/>
        </dgm:presLayoutVars>
      </dgm:prSet>
      <dgm:spPr/>
    </dgm:pt>
    <dgm:pt modelId="{4EA46E5E-F962-D64F-8456-3E2A0ABA85BD}" type="pres">
      <dgm:prSet presAssocID="{5E3528A0-B309-4B59-A4EA-EA7B6F3CE18F}" presName="compositeNode" presStyleCnt="0">
        <dgm:presLayoutVars>
          <dgm:bulletEnabled val="1"/>
        </dgm:presLayoutVars>
      </dgm:prSet>
      <dgm:spPr/>
    </dgm:pt>
    <dgm:pt modelId="{D79C4E89-C40F-0848-8C46-678473DEC50A}" type="pres">
      <dgm:prSet presAssocID="{5E3528A0-B309-4B59-A4EA-EA7B6F3CE18F}" presName="bgRect" presStyleLbl="alignNode1" presStyleIdx="0" presStyleCnt="4"/>
      <dgm:spPr/>
    </dgm:pt>
    <dgm:pt modelId="{A9FDF445-B884-C14D-A823-65FDFB1EEA77}" type="pres">
      <dgm:prSet presAssocID="{6BBCB496-AA82-47F4-97EB-3D7E2C081066}" presName="sibTransNodeRect" presStyleLbl="alignNode1" presStyleIdx="0" presStyleCnt="4">
        <dgm:presLayoutVars>
          <dgm:chMax val="0"/>
          <dgm:bulletEnabled val="1"/>
        </dgm:presLayoutVars>
      </dgm:prSet>
      <dgm:spPr/>
    </dgm:pt>
    <dgm:pt modelId="{AECD05AC-5133-FA44-B5CF-E560FC471E6A}" type="pres">
      <dgm:prSet presAssocID="{5E3528A0-B309-4B59-A4EA-EA7B6F3CE18F}" presName="nodeRect" presStyleLbl="alignNode1" presStyleIdx="0" presStyleCnt="4">
        <dgm:presLayoutVars>
          <dgm:bulletEnabled val="1"/>
        </dgm:presLayoutVars>
      </dgm:prSet>
      <dgm:spPr/>
    </dgm:pt>
    <dgm:pt modelId="{EE3106F5-AD4E-794D-94EB-E191C2790281}" type="pres">
      <dgm:prSet presAssocID="{6BBCB496-AA82-47F4-97EB-3D7E2C081066}" presName="sibTrans" presStyleCnt="0"/>
      <dgm:spPr/>
    </dgm:pt>
    <dgm:pt modelId="{FF433C1D-EAE6-3949-8A51-14A6E989A2BD}" type="pres">
      <dgm:prSet presAssocID="{5747CD0B-C499-4FA8-A1B3-73536D484281}" presName="compositeNode" presStyleCnt="0">
        <dgm:presLayoutVars>
          <dgm:bulletEnabled val="1"/>
        </dgm:presLayoutVars>
      </dgm:prSet>
      <dgm:spPr/>
    </dgm:pt>
    <dgm:pt modelId="{6C921614-D9EF-0B4D-A20C-1314A317C0E5}" type="pres">
      <dgm:prSet presAssocID="{5747CD0B-C499-4FA8-A1B3-73536D484281}" presName="bgRect" presStyleLbl="alignNode1" presStyleIdx="1" presStyleCnt="4"/>
      <dgm:spPr/>
    </dgm:pt>
    <dgm:pt modelId="{52D91C4D-1B4F-734E-839C-E1CBEDA71742}" type="pres">
      <dgm:prSet presAssocID="{BF81BEB4-FAF5-43A7-9165-BD9A9348385E}" presName="sibTransNodeRect" presStyleLbl="alignNode1" presStyleIdx="1" presStyleCnt="4">
        <dgm:presLayoutVars>
          <dgm:chMax val="0"/>
          <dgm:bulletEnabled val="1"/>
        </dgm:presLayoutVars>
      </dgm:prSet>
      <dgm:spPr/>
    </dgm:pt>
    <dgm:pt modelId="{7418169E-1761-D549-BD3F-FFB4F75C253A}" type="pres">
      <dgm:prSet presAssocID="{5747CD0B-C499-4FA8-A1B3-73536D484281}" presName="nodeRect" presStyleLbl="alignNode1" presStyleIdx="1" presStyleCnt="4">
        <dgm:presLayoutVars>
          <dgm:bulletEnabled val="1"/>
        </dgm:presLayoutVars>
      </dgm:prSet>
      <dgm:spPr/>
    </dgm:pt>
    <dgm:pt modelId="{6B03BD0A-7FA7-844A-BD99-B7BE3C934676}" type="pres">
      <dgm:prSet presAssocID="{BF81BEB4-FAF5-43A7-9165-BD9A9348385E}" presName="sibTrans" presStyleCnt="0"/>
      <dgm:spPr/>
    </dgm:pt>
    <dgm:pt modelId="{5DA91468-416E-E445-AE9E-657BFF93E792}" type="pres">
      <dgm:prSet presAssocID="{629D0AB6-EA6C-46FB-8E97-D882A75D1B3A}" presName="compositeNode" presStyleCnt="0">
        <dgm:presLayoutVars>
          <dgm:bulletEnabled val="1"/>
        </dgm:presLayoutVars>
      </dgm:prSet>
      <dgm:spPr/>
    </dgm:pt>
    <dgm:pt modelId="{E22D8C13-0648-F742-957D-70008D06CCB1}" type="pres">
      <dgm:prSet presAssocID="{629D0AB6-EA6C-46FB-8E97-D882A75D1B3A}" presName="bgRect" presStyleLbl="alignNode1" presStyleIdx="2" presStyleCnt="4"/>
      <dgm:spPr/>
    </dgm:pt>
    <dgm:pt modelId="{5AE1F9E6-F08C-AC4A-BA81-B5081C764F4F}" type="pres">
      <dgm:prSet presAssocID="{CBF7A17A-8B5B-4217-A302-E472D582459D}" presName="sibTransNodeRect" presStyleLbl="alignNode1" presStyleIdx="2" presStyleCnt="4">
        <dgm:presLayoutVars>
          <dgm:chMax val="0"/>
          <dgm:bulletEnabled val="1"/>
        </dgm:presLayoutVars>
      </dgm:prSet>
      <dgm:spPr/>
    </dgm:pt>
    <dgm:pt modelId="{63A99BE1-C70A-7C43-9B47-A2B65A257D49}" type="pres">
      <dgm:prSet presAssocID="{629D0AB6-EA6C-46FB-8E97-D882A75D1B3A}" presName="nodeRect" presStyleLbl="alignNode1" presStyleIdx="2" presStyleCnt="4">
        <dgm:presLayoutVars>
          <dgm:bulletEnabled val="1"/>
        </dgm:presLayoutVars>
      </dgm:prSet>
      <dgm:spPr/>
    </dgm:pt>
    <dgm:pt modelId="{9FE4CDAF-0A25-3442-AE95-C5BBEB11A660}" type="pres">
      <dgm:prSet presAssocID="{CBF7A17A-8B5B-4217-A302-E472D582459D}" presName="sibTrans" presStyleCnt="0"/>
      <dgm:spPr/>
    </dgm:pt>
    <dgm:pt modelId="{93B16F2B-BEC9-5B41-9731-15C7EF3FD899}" type="pres">
      <dgm:prSet presAssocID="{8209B384-235B-47F9-8BA5-8E42CAD3B100}" presName="compositeNode" presStyleCnt="0">
        <dgm:presLayoutVars>
          <dgm:bulletEnabled val="1"/>
        </dgm:presLayoutVars>
      </dgm:prSet>
      <dgm:spPr/>
    </dgm:pt>
    <dgm:pt modelId="{772BA08D-630F-714A-8F18-26A4FF91B768}" type="pres">
      <dgm:prSet presAssocID="{8209B384-235B-47F9-8BA5-8E42CAD3B100}" presName="bgRect" presStyleLbl="alignNode1" presStyleIdx="3" presStyleCnt="4"/>
      <dgm:spPr/>
    </dgm:pt>
    <dgm:pt modelId="{9091DA31-5D66-A244-9AD0-638DA3954598}" type="pres">
      <dgm:prSet presAssocID="{024DCA4C-740A-4C56-B457-507C462EC332}" presName="sibTransNodeRect" presStyleLbl="alignNode1" presStyleIdx="3" presStyleCnt="4">
        <dgm:presLayoutVars>
          <dgm:chMax val="0"/>
          <dgm:bulletEnabled val="1"/>
        </dgm:presLayoutVars>
      </dgm:prSet>
      <dgm:spPr/>
    </dgm:pt>
    <dgm:pt modelId="{32618CCF-1E4B-8842-B584-70354685AF78}" type="pres">
      <dgm:prSet presAssocID="{8209B384-235B-47F9-8BA5-8E42CAD3B100}" presName="nodeRect" presStyleLbl="alignNode1" presStyleIdx="3" presStyleCnt="4">
        <dgm:presLayoutVars>
          <dgm:bulletEnabled val="1"/>
        </dgm:presLayoutVars>
      </dgm:prSet>
      <dgm:spPr/>
    </dgm:pt>
  </dgm:ptLst>
  <dgm:cxnLst>
    <dgm:cxn modelId="{1980FE11-2F93-BC41-BB9A-C1473187644A}" type="presOf" srcId="{629D0AB6-EA6C-46FB-8E97-D882A75D1B3A}" destId="{E22D8C13-0648-F742-957D-70008D06CCB1}" srcOrd="0" destOrd="0" presId="urn:microsoft.com/office/officeart/2016/7/layout/LinearBlockProcessNumbered"/>
    <dgm:cxn modelId="{BCD29616-04D9-3E4E-BFF1-574F359A7801}" type="presOf" srcId="{5747CD0B-C499-4FA8-A1B3-73536D484281}" destId="{7418169E-1761-D549-BD3F-FFB4F75C253A}" srcOrd="1" destOrd="0" presId="urn:microsoft.com/office/officeart/2016/7/layout/LinearBlockProcessNumbered"/>
    <dgm:cxn modelId="{438E7A22-CA29-4D4C-9CFE-DE3E6EDDA231}" type="presOf" srcId="{BF81BEB4-FAF5-43A7-9165-BD9A9348385E}" destId="{52D91C4D-1B4F-734E-839C-E1CBEDA71742}" srcOrd="0" destOrd="0" presId="urn:microsoft.com/office/officeart/2016/7/layout/LinearBlockProcessNumbered"/>
    <dgm:cxn modelId="{0F501C2B-78F3-0543-9B2C-981CCD6ED931}" type="presOf" srcId="{D79570B4-670B-42C9-BF91-46C153C563E6}" destId="{A1B01282-6C5F-D54F-8A37-842DE7124E6F}" srcOrd="0" destOrd="0" presId="urn:microsoft.com/office/officeart/2016/7/layout/LinearBlockProcessNumbered"/>
    <dgm:cxn modelId="{0089033A-33E8-3B47-99CC-612399F767E5}" type="presOf" srcId="{5E3528A0-B309-4B59-A4EA-EA7B6F3CE18F}" destId="{AECD05AC-5133-FA44-B5CF-E560FC471E6A}" srcOrd="1" destOrd="0" presId="urn:microsoft.com/office/officeart/2016/7/layout/LinearBlockProcessNumbered"/>
    <dgm:cxn modelId="{1D28593C-4D86-5E48-B3CD-E6CBA0CC7D72}" type="presOf" srcId="{8209B384-235B-47F9-8BA5-8E42CAD3B100}" destId="{772BA08D-630F-714A-8F18-26A4FF91B768}" srcOrd="0" destOrd="0" presId="urn:microsoft.com/office/officeart/2016/7/layout/LinearBlockProcessNumbered"/>
    <dgm:cxn modelId="{9B6BCD59-19BB-1542-910A-4285DD0C862A}" type="presOf" srcId="{CBF7A17A-8B5B-4217-A302-E472D582459D}" destId="{5AE1F9E6-F08C-AC4A-BA81-B5081C764F4F}" srcOrd="0" destOrd="0" presId="urn:microsoft.com/office/officeart/2016/7/layout/LinearBlockProcessNumbered"/>
    <dgm:cxn modelId="{12866363-2F2B-0E45-BDF5-3983BE5D6123}" type="presOf" srcId="{5747CD0B-C499-4FA8-A1B3-73536D484281}" destId="{6C921614-D9EF-0B4D-A20C-1314A317C0E5}" srcOrd="0" destOrd="0" presId="urn:microsoft.com/office/officeart/2016/7/layout/LinearBlockProcessNumbered"/>
    <dgm:cxn modelId="{1E92A665-6F8C-914C-8220-2F88C1F584A6}" type="presOf" srcId="{024DCA4C-740A-4C56-B457-507C462EC332}" destId="{9091DA31-5D66-A244-9AD0-638DA3954598}" srcOrd="0" destOrd="0" presId="urn:microsoft.com/office/officeart/2016/7/layout/LinearBlockProcessNumbered"/>
    <dgm:cxn modelId="{08E8EC92-02D8-E248-B6B5-D1B844400B3B}" type="presOf" srcId="{629D0AB6-EA6C-46FB-8E97-D882A75D1B3A}" destId="{63A99BE1-C70A-7C43-9B47-A2B65A257D49}" srcOrd="1" destOrd="0" presId="urn:microsoft.com/office/officeart/2016/7/layout/LinearBlockProcessNumbered"/>
    <dgm:cxn modelId="{68F9DA97-3926-4C92-B2B7-2187113D0BBC}" srcId="{D79570B4-670B-42C9-BF91-46C153C563E6}" destId="{629D0AB6-EA6C-46FB-8E97-D882A75D1B3A}" srcOrd="2" destOrd="0" parTransId="{06A4ABDC-7D12-453E-AE39-7AFDD4F443CD}" sibTransId="{CBF7A17A-8B5B-4217-A302-E472D582459D}"/>
    <dgm:cxn modelId="{908849BF-22CB-D44E-8DE7-B44E22AD9230}" type="presOf" srcId="{8209B384-235B-47F9-8BA5-8E42CAD3B100}" destId="{32618CCF-1E4B-8842-B584-70354685AF78}" srcOrd="1" destOrd="0" presId="urn:microsoft.com/office/officeart/2016/7/layout/LinearBlockProcessNumbered"/>
    <dgm:cxn modelId="{D98853CA-5FA3-4944-9BD2-1F9DB167DA47}" srcId="{D79570B4-670B-42C9-BF91-46C153C563E6}" destId="{5747CD0B-C499-4FA8-A1B3-73536D484281}" srcOrd="1" destOrd="0" parTransId="{F02C2AE8-5BE4-4A9B-BA0C-2EAF2AC4CBD7}" sibTransId="{BF81BEB4-FAF5-43A7-9165-BD9A9348385E}"/>
    <dgm:cxn modelId="{5C2627D2-BE81-6145-8DF0-8FCD55159B60}" type="presOf" srcId="{5E3528A0-B309-4B59-A4EA-EA7B6F3CE18F}" destId="{D79C4E89-C40F-0848-8C46-678473DEC50A}" srcOrd="0" destOrd="0" presId="urn:microsoft.com/office/officeart/2016/7/layout/LinearBlockProcessNumbered"/>
    <dgm:cxn modelId="{BC4E2CE0-EB4E-4DDA-806D-17211305B5CA}" srcId="{D79570B4-670B-42C9-BF91-46C153C563E6}" destId="{5E3528A0-B309-4B59-A4EA-EA7B6F3CE18F}" srcOrd="0" destOrd="0" parTransId="{8B4712FB-C0A1-44BB-9C34-2CDDCA580763}" sibTransId="{6BBCB496-AA82-47F4-97EB-3D7E2C081066}"/>
    <dgm:cxn modelId="{19CCBFE3-4BD4-854A-B8D9-D6F65204CED5}" type="presOf" srcId="{6BBCB496-AA82-47F4-97EB-3D7E2C081066}" destId="{A9FDF445-B884-C14D-A823-65FDFB1EEA77}" srcOrd="0" destOrd="0" presId="urn:microsoft.com/office/officeart/2016/7/layout/LinearBlockProcessNumbered"/>
    <dgm:cxn modelId="{F7B837F0-FF18-4CFB-A573-25BFE43069E6}" srcId="{D79570B4-670B-42C9-BF91-46C153C563E6}" destId="{8209B384-235B-47F9-8BA5-8E42CAD3B100}" srcOrd="3" destOrd="0" parTransId="{C2AE047E-A7F8-431E-AA47-D57FD54650C6}" sibTransId="{024DCA4C-740A-4C56-B457-507C462EC332}"/>
    <dgm:cxn modelId="{A657F072-9E0B-6946-A27B-0166CE31AE96}" type="presParOf" srcId="{A1B01282-6C5F-D54F-8A37-842DE7124E6F}" destId="{4EA46E5E-F962-D64F-8456-3E2A0ABA85BD}" srcOrd="0" destOrd="0" presId="urn:microsoft.com/office/officeart/2016/7/layout/LinearBlockProcessNumbered"/>
    <dgm:cxn modelId="{D4AB7B3A-9CB0-C44D-83E1-4F5BFF1C8695}" type="presParOf" srcId="{4EA46E5E-F962-D64F-8456-3E2A0ABA85BD}" destId="{D79C4E89-C40F-0848-8C46-678473DEC50A}" srcOrd="0" destOrd="0" presId="urn:microsoft.com/office/officeart/2016/7/layout/LinearBlockProcessNumbered"/>
    <dgm:cxn modelId="{CCA61944-1699-D34B-83EA-4892C03AC392}" type="presParOf" srcId="{4EA46E5E-F962-D64F-8456-3E2A0ABA85BD}" destId="{A9FDF445-B884-C14D-A823-65FDFB1EEA77}" srcOrd="1" destOrd="0" presId="urn:microsoft.com/office/officeart/2016/7/layout/LinearBlockProcessNumbered"/>
    <dgm:cxn modelId="{010FFED6-88A8-B247-93E3-8C6B9A1EF705}" type="presParOf" srcId="{4EA46E5E-F962-D64F-8456-3E2A0ABA85BD}" destId="{AECD05AC-5133-FA44-B5CF-E560FC471E6A}" srcOrd="2" destOrd="0" presId="urn:microsoft.com/office/officeart/2016/7/layout/LinearBlockProcessNumbered"/>
    <dgm:cxn modelId="{B9653720-827A-674B-9F00-5EE1867B50C1}" type="presParOf" srcId="{A1B01282-6C5F-D54F-8A37-842DE7124E6F}" destId="{EE3106F5-AD4E-794D-94EB-E191C2790281}" srcOrd="1" destOrd="0" presId="urn:microsoft.com/office/officeart/2016/7/layout/LinearBlockProcessNumbered"/>
    <dgm:cxn modelId="{543C5D94-0A94-254A-B7B1-54DEB502F187}" type="presParOf" srcId="{A1B01282-6C5F-D54F-8A37-842DE7124E6F}" destId="{FF433C1D-EAE6-3949-8A51-14A6E989A2BD}" srcOrd="2" destOrd="0" presId="urn:microsoft.com/office/officeart/2016/7/layout/LinearBlockProcessNumbered"/>
    <dgm:cxn modelId="{BBADC868-5326-F046-92F3-D73F3F5BECB5}" type="presParOf" srcId="{FF433C1D-EAE6-3949-8A51-14A6E989A2BD}" destId="{6C921614-D9EF-0B4D-A20C-1314A317C0E5}" srcOrd="0" destOrd="0" presId="urn:microsoft.com/office/officeart/2016/7/layout/LinearBlockProcessNumbered"/>
    <dgm:cxn modelId="{F0F557A9-C5D6-534B-AA7A-26CF5BB8A4D2}" type="presParOf" srcId="{FF433C1D-EAE6-3949-8A51-14A6E989A2BD}" destId="{52D91C4D-1B4F-734E-839C-E1CBEDA71742}" srcOrd="1" destOrd="0" presId="urn:microsoft.com/office/officeart/2016/7/layout/LinearBlockProcessNumbered"/>
    <dgm:cxn modelId="{40C355AD-9BEF-6A4E-BD13-7DE7448F5C7F}" type="presParOf" srcId="{FF433C1D-EAE6-3949-8A51-14A6E989A2BD}" destId="{7418169E-1761-D549-BD3F-FFB4F75C253A}" srcOrd="2" destOrd="0" presId="urn:microsoft.com/office/officeart/2016/7/layout/LinearBlockProcessNumbered"/>
    <dgm:cxn modelId="{3CBFC1B5-B5C8-CC4B-806E-D5817701800C}" type="presParOf" srcId="{A1B01282-6C5F-D54F-8A37-842DE7124E6F}" destId="{6B03BD0A-7FA7-844A-BD99-B7BE3C934676}" srcOrd="3" destOrd="0" presId="urn:microsoft.com/office/officeart/2016/7/layout/LinearBlockProcessNumbered"/>
    <dgm:cxn modelId="{32CC1D29-759C-244B-8C61-4BCB2D8AA95E}" type="presParOf" srcId="{A1B01282-6C5F-D54F-8A37-842DE7124E6F}" destId="{5DA91468-416E-E445-AE9E-657BFF93E792}" srcOrd="4" destOrd="0" presId="urn:microsoft.com/office/officeart/2016/7/layout/LinearBlockProcessNumbered"/>
    <dgm:cxn modelId="{5A48C1DB-AFF6-014F-93E2-9D45A1292C45}" type="presParOf" srcId="{5DA91468-416E-E445-AE9E-657BFF93E792}" destId="{E22D8C13-0648-F742-957D-70008D06CCB1}" srcOrd="0" destOrd="0" presId="urn:microsoft.com/office/officeart/2016/7/layout/LinearBlockProcessNumbered"/>
    <dgm:cxn modelId="{772C5832-3CB8-7447-89D6-C223BC863C07}" type="presParOf" srcId="{5DA91468-416E-E445-AE9E-657BFF93E792}" destId="{5AE1F9E6-F08C-AC4A-BA81-B5081C764F4F}" srcOrd="1" destOrd="0" presId="urn:microsoft.com/office/officeart/2016/7/layout/LinearBlockProcessNumbered"/>
    <dgm:cxn modelId="{5B932F0D-8481-1540-96DA-1FB3B2384BF6}" type="presParOf" srcId="{5DA91468-416E-E445-AE9E-657BFF93E792}" destId="{63A99BE1-C70A-7C43-9B47-A2B65A257D49}" srcOrd="2" destOrd="0" presId="urn:microsoft.com/office/officeart/2016/7/layout/LinearBlockProcessNumbered"/>
    <dgm:cxn modelId="{FD90FA99-4AC7-4143-9114-D52597C861CA}" type="presParOf" srcId="{A1B01282-6C5F-D54F-8A37-842DE7124E6F}" destId="{9FE4CDAF-0A25-3442-AE95-C5BBEB11A660}" srcOrd="5" destOrd="0" presId="urn:microsoft.com/office/officeart/2016/7/layout/LinearBlockProcessNumbered"/>
    <dgm:cxn modelId="{D95BE175-0E94-4541-9273-34A66992DCFB}" type="presParOf" srcId="{A1B01282-6C5F-D54F-8A37-842DE7124E6F}" destId="{93B16F2B-BEC9-5B41-9731-15C7EF3FD899}" srcOrd="6" destOrd="0" presId="urn:microsoft.com/office/officeart/2016/7/layout/LinearBlockProcessNumbered"/>
    <dgm:cxn modelId="{B398A100-7572-FF44-BDC1-D1D661CB2165}" type="presParOf" srcId="{93B16F2B-BEC9-5B41-9731-15C7EF3FD899}" destId="{772BA08D-630F-714A-8F18-26A4FF91B768}" srcOrd="0" destOrd="0" presId="urn:microsoft.com/office/officeart/2016/7/layout/LinearBlockProcessNumbered"/>
    <dgm:cxn modelId="{3EA22B32-D686-2A44-9837-17BF28E8922F}" type="presParOf" srcId="{93B16F2B-BEC9-5B41-9731-15C7EF3FD899}" destId="{9091DA31-5D66-A244-9AD0-638DA3954598}" srcOrd="1" destOrd="0" presId="urn:microsoft.com/office/officeart/2016/7/layout/LinearBlockProcessNumbered"/>
    <dgm:cxn modelId="{AC0A6FD4-E4D5-0A40-A01A-F06186EEDEB9}" type="presParOf" srcId="{93B16F2B-BEC9-5B41-9731-15C7EF3FD899}" destId="{32618CCF-1E4B-8842-B584-70354685AF7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4E89-C40F-0848-8C46-678473DEC50A}">
      <dsp:nvSpPr>
        <dsp:cNvPr id="0" name=""/>
        <dsp:cNvSpPr/>
      </dsp:nvSpPr>
      <dsp:spPr>
        <a:xfrm>
          <a:off x="189" y="635907"/>
          <a:ext cx="2292425" cy="2750910"/>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Planning &amp; Preparation</a:t>
          </a:r>
          <a:endParaRPr lang="en-US" sz="2600" kern="1200" dirty="0"/>
        </a:p>
      </dsp:txBody>
      <dsp:txXfrm>
        <a:off x="189" y="1736271"/>
        <a:ext cx="2292425" cy="1650546"/>
      </dsp:txXfrm>
    </dsp:sp>
    <dsp:sp modelId="{A9FDF445-B884-C14D-A823-65FDFB1EEA77}">
      <dsp:nvSpPr>
        <dsp:cNvPr id="0" name=""/>
        <dsp:cNvSpPr/>
      </dsp:nvSpPr>
      <dsp:spPr>
        <a:xfrm>
          <a:off x="189"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dirty="0"/>
            <a:t>01</a:t>
          </a:r>
        </a:p>
      </dsp:txBody>
      <dsp:txXfrm>
        <a:off x="189" y="635907"/>
        <a:ext cx="2292425" cy="1100364"/>
      </dsp:txXfrm>
    </dsp:sp>
    <dsp:sp modelId="{6C921614-D9EF-0B4D-A20C-1314A317C0E5}">
      <dsp:nvSpPr>
        <dsp:cNvPr id="0" name=""/>
        <dsp:cNvSpPr/>
      </dsp:nvSpPr>
      <dsp:spPr>
        <a:xfrm>
          <a:off x="2476008" y="635907"/>
          <a:ext cx="2292425" cy="2750910"/>
        </a:xfrm>
        <a:prstGeom prst="rect">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Mixing</a:t>
          </a:r>
          <a:endParaRPr lang="en-US" sz="2600" kern="1200" dirty="0"/>
        </a:p>
      </dsp:txBody>
      <dsp:txXfrm>
        <a:off x="2476008" y="1736271"/>
        <a:ext cx="2292425" cy="1650546"/>
      </dsp:txXfrm>
    </dsp:sp>
    <dsp:sp modelId="{52D91C4D-1B4F-734E-839C-E1CBEDA71742}">
      <dsp:nvSpPr>
        <dsp:cNvPr id="0" name=""/>
        <dsp:cNvSpPr/>
      </dsp:nvSpPr>
      <dsp:spPr>
        <a:xfrm>
          <a:off x="247600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endParaRPr lang="en-US" sz="6100" kern="1200" dirty="0"/>
        </a:p>
      </dsp:txBody>
      <dsp:txXfrm>
        <a:off x="2476008" y="635907"/>
        <a:ext cx="2292425" cy="1100364"/>
      </dsp:txXfrm>
    </dsp:sp>
    <dsp:sp modelId="{E22D8C13-0648-F742-957D-70008D06CCB1}">
      <dsp:nvSpPr>
        <dsp:cNvPr id="0" name=""/>
        <dsp:cNvSpPr/>
      </dsp:nvSpPr>
      <dsp:spPr>
        <a:xfrm>
          <a:off x="4951828" y="635907"/>
          <a:ext cx="2292425" cy="2750910"/>
        </a:xfrm>
        <a:prstGeom prst="rect">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Baking</a:t>
          </a:r>
          <a:endParaRPr lang="en-US" sz="2600" kern="1200" dirty="0"/>
        </a:p>
      </dsp:txBody>
      <dsp:txXfrm>
        <a:off x="4951828" y="1736271"/>
        <a:ext cx="2292425" cy="1650546"/>
      </dsp:txXfrm>
    </dsp:sp>
    <dsp:sp modelId="{5AE1F9E6-F08C-AC4A-BA81-B5081C764F4F}">
      <dsp:nvSpPr>
        <dsp:cNvPr id="0" name=""/>
        <dsp:cNvSpPr/>
      </dsp:nvSpPr>
      <dsp:spPr>
        <a:xfrm>
          <a:off x="495182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03</a:t>
          </a:r>
          <a:endParaRPr lang="en-US" sz="6100" kern="1200" dirty="0"/>
        </a:p>
      </dsp:txBody>
      <dsp:txXfrm>
        <a:off x="4951828" y="635907"/>
        <a:ext cx="2292425" cy="1100364"/>
      </dsp:txXfrm>
    </dsp:sp>
    <dsp:sp modelId="{772BA08D-630F-714A-8F18-26A4FF91B768}">
      <dsp:nvSpPr>
        <dsp:cNvPr id="0" name=""/>
        <dsp:cNvSpPr/>
      </dsp:nvSpPr>
      <dsp:spPr>
        <a:xfrm>
          <a:off x="7427647" y="635907"/>
          <a:ext cx="2292425" cy="2750910"/>
        </a:xfrm>
        <a:prstGeom prst="rect">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Finishing</a:t>
          </a:r>
          <a:br>
            <a:rPr lang="en-US" sz="2600" kern="1200" baseline="0" dirty="0"/>
          </a:br>
          <a:endParaRPr lang="en-US" sz="2600" kern="1200" dirty="0"/>
        </a:p>
      </dsp:txBody>
      <dsp:txXfrm>
        <a:off x="7427647" y="1736271"/>
        <a:ext cx="2292425" cy="1650546"/>
      </dsp:txXfrm>
    </dsp:sp>
    <dsp:sp modelId="{9091DA31-5D66-A244-9AD0-638DA3954598}">
      <dsp:nvSpPr>
        <dsp:cNvPr id="0" name=""/>
        <dsp:cNvSpPr/>
      </dsp:nvSpPr>
      <dsp:spPr>
        <a:xfrm>
          <a:off x="7427647"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endParaRPr lang="en-US" sz="6100" kern="1200" dirty="0"/>
        </a:p>
      </dsp:txBody>
      <dsp:txXfrm>
        <a:off x="7427647" y="635907"/>
        <a:ext cx="2292425" cy="1100364"/>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9/23/25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a:t>
            </a:fld>
            <a:endParaRPr lang="en-US"/>
          </a:p>
        </p:txBody>
      </p:sp>
    </p:spTree>
    <p:extLst>
      <p:ext uri="{BB962C8B-B14F-4D97-AF65-F5344CB8AC3E}">
        <p14:creationId xmlns:p14="http://schemas.microsoft.com/office/powerpoint/2010/main" val="103068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28A3E-4113-4E57-478B-429CEEA29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9F66B-9449-0EC9-BD38-BF9E770F9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948BE-0EC7-4D5B-F298-63699429CE2B}"/>
              </a:ext>
            </a:extLst>
          </p:cNvPr>
          <p:cNvSpPr>
            <a:spLocks noGrp="1"/>
          </p:cNvSpPr>
          <p:nvPr>
            <p:ph type="body" idx="1"/>
          </p:nvPr>
        </p:nvSpPr>
        <p:spPr/>
        <p:txBody>
          <a:bodyPr/>
          <a:lstStyle/>
          <a:p>
            <a:r>
              <a:rPr lang="en-US" dirty="0"/>
              <a:t>.</a:t>
            </a:r>
          </a:p>
          <a:p>
            <a:endParaRPr lang="en-US" dirty="0"/>
          </a:p>
        </p:txBody>
      </p:sp>
      <p:sp>
        <p:nvSpPr>
          <p:cNvPr id="4" name="Slide Number Placeholder 3">
            <a:extLst>
              <a:ext uri="{FF2B5EF4-FFF2-40B4-BE49-F238E27FC236}">
                <a16:creationId xmlns:a16="http://schemas.microsoft.com/office/drawing/2014/main" id="{6F253A33-F7C6-F06F-DB5B-02F6EB74DA81}"/>
              </a:ext>
            </a:extLst>
          </p:cNvPr>
          <p:cNvSpPr>
            <a:spLocks noGrp="1"/>
          </p:cNvSpPr>
          <p:nvPr>
            <p:ph type="sldNum" sz="quarter" idx="10"/>
          </p:nvPr>
        </p:nvSpPr>
        <p:spPr/>
        <p:txBody>
          <a:bodyPr/>
          <a:lstStyle/>
          <a:p>
            <a:fld id="{0A193586-FEB5-7C43-8F44-7EFAE4EECA28}" type="slidenum">
              <a:rPr lang="en-US" smtClean="0"/>
              <a:t>2</a:t>
            </a:fld>
            <a:endParaRPr lang="en-US"/>
          </a:p>
        </p:txBody>
      </p:sp>
    </p:spTree>
    <p:extLst>
      <p:ext uri="{BB962C8B-B14F-4D97-AF65-F5344CB8AC3E}">
        <p14:creationId xmlns:p14="http://schemas.microsoft.com/office/powerpoint/2010/main" val="1009985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latter two you don’t need to know how to code, you need to understand computational thinking so you are more effective at delivering your message or ideas to those who will translate it to a programming language and determine how to get it done. Understanding computational thinking will likely also improve your attempts to learn a programming language.</a:t>
            </a:r>
          </a:p>
        </p:txBody>
      </p:sp>
      <p:sp>
        <p:nvSpPr>
          <p:cNvPr id="4" name="Slide Number Placeholder 3"/>
          <p:cNvSpPr>
            <a:spLocks noGrp="1"/>
          </p:cNvSpPr>
          <p:nvPr>
            <p:ph type="sldNum" sz="quarter" idx="5"/>
          </p:nvPr>
        </p:nvSpPr>
        <p:spPr/>
        <p:txBody>
          <a:bodyPr/>
          <a:lstStyle/>
          <a:p>
            <a:fld id="{15564E20-9EA2-8947-B25E-DCABC392F652}" type="slidenum">
              <a:rPr lang="en-US" smtClean="0"/>
              <a:t>3</a:t>
            </a:fld>
            <a:endParaRPr lang="en-US"/>
          </a:p>
        </p:txBody>
      </p:sp>
    </p:spTree>
    <p:extLst>
      <p:ext uri="{BB962C8B-B14F-4D97-AF65-F5344CB8AC3E}">
        <p14:creationId xmlns:p14="http://schemas.microsoft.com/office/powerpoint/2010/main" val="937706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these skills must have right attitude and behaviors</a:t>
            </a:r>
          </a:p>
          <a:p>
            <a:endParaRPr lang="en-US" dirty="0"/>
          </a:p>
          <a:p>
            <a:r>
              <a:rPr lang="en-US" dirty="0"/>
              <a:t>Attitudes</a:t>
            </a:r>
          </a:p>
          <a:p>
            <a:r>
              <a:rPr lang="en-US" b="1" dirty="0"/>
              <a:t>Confident:</a:t>
            </a:r>
            <a:r>
              <a:rPr lang="en-US" dirty="0"/>
              <a:t> believing in one's own ability to solve problems</a:t>
            </a:r>
          </a:p>
          <a:p>
            <a:r>
              <a:rPr lang="en-US" b="1" dirty="0"/>
              <a:t>Communicative:</a:t>
            </a:r>
            <a:r>
              <a:rPr lang="en-US" dirty="0"/>
              <a:t> willing and able to communicate effectively with others.</a:t>
            </a:r>
          </a:p>
          <a:p>
            <a:r>
              <a:rPr lang="en-US" b="1" dirty="0"/>
              <a:t>Flexible:</a:t>
            </a:r>
            <a:r>
              <a:rPr lang="en-US" dirty="0"/>
              <a:t> able to deal with change and open-ended problems</a:t>
            </a:r>
          </a:p>
          <a:p>
            <a:r>
              <a:rPr lang="en-US" dirty="0"/>
              <a:t>Approaches</a:t>
            </a:r>
          </a:p>
          <a:p>
            <a:r>
              <a:rPr lang="en-US" b="1" dirty="0"/>
              <a:t>Tinkering:</a:t>
            </a:r>
            <a:r>
              <a:rPr lang="en-US" dirty="0"/>
              <a:t> experimenting and playing</a:t>
            </a:r>
          </a:p>
          <a:p>
            <a:r>
              <a:rPr lang="en-US" b="1" dirty="0"/>
              <a:t>Creating:</a:t>
            </a:r>
            <a:r>
              <a:rPr lang="en-US" dirty="0"/>
              <a:t> designing and making</a:t>
            </a:r>
          </a:p>
          <a:p>
            <a:r>
              <a:rPr lang="en-US" b="1" dirty="0"/>
              <a:t>Debugging:</a:t>
            </a:r>
            <a:r>
              <a:rPr lang="en-US" dirty="0"/>
              <a:t> finding and fixing errors</a:t>
            </a:r>
          </a:p>
          <a:p>
            <a:r>
              <a:rPr lang="en-US" b="1" dirty="0"/>
              <a:t>Persevering:</a:t>
            </a:r>
            <a:r>
              <a:rPr lang="en-US" dirty="0"/>
              <a:t> keeping going</a:t>
            </a:r>
          </a:p>
          <a:p>
            <a:r>
              <a:rPr lang="en-US" b="1" dirty="0"/>
              <a:t>Collaborating:</a:t>
            </a:r>
            <a:r>
              <a:rPr lang="en-US" dirty="0"/>
              <a:t> working together.</a:t>
            </a:r>
          </a:p>
        </p:txBody>
      </p:sp>
      <p:sp>
        <p:nvSpPr>
          <p:cNvPr id="4" name="Slide Number Placeholder 3"/>
          <p:cNvSpPr>
            <a:spLocks noGrp="1"/>
          </p:cNvSpPr>
          <p:nvPr>
            <p:ph type="sldNum" sz="quarter" idx="5"/>
          </p:nvPr>
        </p:nvSpPr>
        <p:spPr/>
        <p:txBody>
          <a:bodyPr/>
          <a:lstStyle/>
          <a:p>
            <a:fld id="{15564E20-9EA2-8947-B25E-DCABC392F652}" type="slidenum">
              <a:rPr lang="en-US" smtClean="0"/>
              <a:t>4</a:t>
            </a:fld>
            <a:endParaRPr lang="en-US"/>
          </a:p>
        </p:txBody>
      </p:sp>
    </p:spTree>
    <p:extLst>
      <p:ext uri="{BB962C8B-B14F-4D97-AF65-F5344CB8AC3E}">
        <p14:creationId xmlns:p14="http://schemas.microsoft.com/office/powerpoint/2010/main" val="979979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the process of breaking down a large, complex problem into smaller, more manageable parts. It is important because it makes the problem less overwhelming and easier to understand. Each smaller problem can be addressed individually, which is much more feasible than trying to solve the complex whole all at once.</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5</a:t>
            </a:fld>
            <a:endParaRPr lang="en-US"/>
          </a:p>
        </p:txBody>
      </p:sp>
    </p:spTree>
    <p:extLst>
      <p:ext uri="{BB962C8B-B14F-4D97-AF65-F5344CB8AC3E}">
        <p14:creationId xmlns:p14="http://schemas.microsoft.com/office/powerpoint/2010/main" val="3374701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dry ingredients: Measure and combine the flour, sugar, baking powder, and salt in one bowl. </a:t>
            </a:r>
          </a:p>
          <a:p>
            <a:r>
              <a:rPr lang="en-US" dirty="0"/>
              <a:t>Prepare wet ingredients: In another bowl, mix the eggs, milk, and oil. </a:t>
            </a:r>
          </a:p>
          <a:p>
            <a:r>
              <a:rPr lang="en-US" dirty="0"/>
              <a:t>Combine wet and dry: Gradually mix the wet ingredients into the dry ingredients, following the recipe's instructions for order and speed to prevent overmixing. </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8</a:t>
            </a:fld>
            <a:endParaRPr lang="en-US"/>
          </a:p>
        </p:txBody>
      </p:sp>
    </p:spTree>
    <p:extLst>
      <p:ext uri="{BB962C8B-B14F-4D97-AF65-F5344CB8AC3E}">
        <p14:creationId xmlns:p14="http://schemas.microsoft.com/office/powerpoint/2010/main" val="1287939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learners' lists and Claude's list. Steps 3 to 5 are where domain knowledge matters. Step 5 sets up the grain trap in the algorithm exercise. Do not reveal why yet.</a:t>
            </a:r>
          </a:p>
        </p:txBody>
      </p:sp>
      <p:sp>
        <p:nvSpPr>
          <p:cNvPr id="4" name="Slide Number Placeholder 3"/>
          <p:cNvSpPr>
            <a:spLocks noGrp="1"/>
          </p:cNvSpPr>
          <p:nvPr>
            <p:ph type="sldNum" sz="quarter" idx="5"/>
          </p:nvPr>
        </p:nvSpPr>
        <p:spPr/>
        <p:txBody>
          <a:bodyPr/>
          <a:lstStyle/>
          <a:p>
            <a:fld id="{15564E20-9EA2-8947-B25E-DCABC392F652}" type="slidenum">
              <a:rPr lang="en-US" smtClean="0"/>
              <a:t>14</a:t>
            </a:fld>
            <a:endParaRPr lang="en-US"/>
          </a:p>
        </p:txBody>
      </p:sp>
    </p:spTree>
    <p:extLst>
      <p:ext uri="{BB962C8B-B14F-4D97-AF65-F5344CB8AC3E}">
        <p14:creationId xmlns:p14="http://schemas.microsoft.com/office/powerpoint/2010/main" val="1353885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After decomposing problems, the problem solver will look for patterns among the parts. Recognizing patterns helps in identifying similarities or trends that can inform the solution. This is important because it can lead to solutions that solve not just one specific instance of a problem, but a whole class of problems.</a:t>
            </a:r>
          </a:p>
          <a:p>
            <a:endParaRPr lang="en-US" sz="1200" b="0" i="0" kern="1200" dirty="0">
              <a:solidFill>
                <a:schemeClr val="tx1"/>
              </a:solidFill>
              <a:effectLst/>
              <a:latin typeface="+mn-lt"/>
              <a:ea typeface="+mn-ea"/>
              <a:cs typeface="+mn-cs"/>
            </a:endParaRPr>
          </a:p>
          <a:p>
            <a:r>
              <a:rPr lang="en-US" dirty="0"/>
              <a:t>Look for motifs: weekday/weekend shifts, staffing transitions, maintenance windows. Feature ideas: rolling median, IQR, 95th percentile, slope, run length. Generalize by parameterizing thresholds—e.g., different SLAs for STAT vs routine. Beware Simpson’s paradox—always stratify.</a:t>
            </a:r>
          </a:p>
        </p:txBody>
      </p:sp>
      <p:sp>
        <p:nvSpPr>
          <p:cNvPr id="4" name="Slide Number Placeholder 3"/>
          <p:cNvSpPr>
            <a:spLocks noGrp="1"/>
          </p:cNvSpPr>
          <p:nvPr>
            <p:ph type="sldNum" sz="quarter" idx="5"/>
          </p:nvPr>
        </p:nvSpPr>
        <p:spPr/>
        <p:txBody>
          <a:bodyPr/>
          <a:lstStyle/>
          <a:p>
            <a:fld id="{15564E20-9EA2-8947-B25E-DCABC392F652}" type="slidenum">
              <a:rPr lang="en-US" smtClean="0"/>
              <a:t>16</a:t>
            </a:fld>
            <a:endParaRPr lang="en-US"/>
          </a:p>
        </p:txBody>
      </p:sp>
    </p:spTree>
    <p:extLst>
      <p:ext uri="{BB962C8B-B14F-4D97-AF65-F5344CB8AC3E}">
        <p14:creationId xmlns:p14="http://schemas.microsoft.com/office/powerpoint/2010/main" val="2345602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18</a:t>
            </a:fld>
            <a:endParaRPr lang="en-US"/>
          </a:p>
        </p:txBody>
      </p:sp>
    </p:spTree>
    <p:extLst>
      <p:ext uri="{BB962C8B-B14F-4D97-AF65-F5344CB8AC3E}">
        <p14:creationId xmlns:p14="http://schemas.microsoft.com/office/powerpoint/2010/main" val="1271438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design a script or dashboard element that calculates duration between two timestamps, you can apply it across </a:t>
            </a:r>
            <a:r>
              <a:rPr lang="en-US" i="1" dirty="0"/>
              <a:t>all</a:t>
            </a:r>
            <a:r>
              <a:rPr lang="en-US" dirty="0"/>
              <a:t> time-based KPIs.</a:t>
            </a:r>
          </a:p>
        </p:txBody>
      </p:sp>
      <p:sp>
        <p:nvSpPr>
          <p:cNvPr id="4" name="Slide Number Placeholder 3"/>
          <p:cNvSpPr>
            <a:spLocks noGrp="1"/>
          </p:cNvSpPr>
          <p:nvPr>
            <p:ph type="sldNum" sz="quarter" idx="5"/>
          </p:nvPr>
        </p:nvSpPr>
        <p:spPr/>
        <p:txBody>
          <a:bodyPr/>
          <a:lstStyle/>
          <a:p>
            <a:fld id="{15564E20-9EA2-8947-B25E-DCABC392F652}" type="slidenum">
              <a:rPr lang="en-US" smtClean="0"/>
              <a:t>22</a:t>
            </a:fld>
            <a:endParaRPr lang="en-US"/>
          </a:p>
        </p:txBody>
      </p:sp>
    </p:spTree>
    <p:extLst>
      <p:ext uri="{BB962C8B-B14F-4D97-AF65-F5344CB8AC3E}">
        <p14:creationId xmlns:p14="http://schemas.microsoft.com/office/powerpoint/2010/main" val="19757765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involves filtering out the unnecessary details and focusing on what’s important. Abstraction is important to the computational thinking process because it allows problem solvers to disregard the irrelevant and complex details that can clutter the thought process, thus simplifying the problem-solving steps. It helps define the problem without getting sidetracked by details that do not affect the outcome.</a:t>
            </a:r>
          </a:p>
          <a:p>
            <a:endParaRPr lang="en-US" sz="1200" b="0" i="0" kern="1200" dirty="0">
              <a:solidFill>
                <a:schemeClr val="tx1"/>
              </a:solidFill>
              <a:effectLst/>
              <a:latin typeface="+mn-lt"/>
              <a:ea typeface="+mn-ea"/>
              <a:cs typeface="+mn-cs"/>
            </a:endParaRPr>
          </a:p>
          <a:p>
            <a:r>
              <a:rPr lang="en-US" dirty="0"/>
              <a:t>Keep the dataset minimal but sufficient. Define entities (specimen, order, instrument-day), keys (</a:t>
            </a:r>
            <a:r>
              <a:rPr lang="en-US" dirty="0" err="1"/>
              <a:t>specimen_id</a:t>
            </a:r>
            <a:r>
              <a:rPr lang="en-US" dirty="0"/>
              <a:t>, </a:t>
            </a:r>
            <a:r>
              <a:rPr lang="en-US" dirty="0" err="1"/>
              <a:t>instrument_id</a:t>
            </a:r>
            <a:r>
              <a:rPr lang="en-US" dirty="0"/>
              <a:t>, location, day), and policies (units, time zones, missingness, handling canceled orders). Add fields only if they change decisions.</a:t>
            </a:r>
          </a:p>
          <a:p>
            <a:r>
              <a:rPr lang="en-US" dirty="0"/>
              <a:t>This schema is enough to compute TAT, stratify by context, and trend: </a:t>
            </a:r>
            <a:r>
              <a:rPr lang="en-US" dirty="0" err="1"/>
              <a:t>specimen_id</a:t>
            </a:r>
            <a:r>
              <a:rPr lang="en-US" dirty="0"/>
              <a:t>, order/collect/receive/</a:t>
            </a:r>
            <a:r>
              <a:rPr lang="en-US" dirty="0" err="1"/>
              <a:t>result_time</a:t>
            </a:r>
            <a:r>
              <a:rPr lang="en-US" dirty="0"/>
              <a:t>, </a:t>
            </a:r>
            <a:r>
              <a:rPr lang="en-US" dirty="0" err="1"/>
              <a:t>assay_code</a:t>
            </a:r>
            <a:r>
              <a:rPr lang="en-US" dirty="0"/>
              <a:t>, </a:t>
            </a:r>
            <a:r>
              <a:rPr lang="en-US" dirty="0" err="1"/>
              <a:t>instrument_id</a:t>
            </a:r>
            <a:r>
              <a:rPr lang="en-US" dirty="0"/>
              <a:t>, priority, </a:t>
            </a:r>
            <a:r>
              <a:rPr lang="en-US" dirty="0" err="1"/>
              <a:t>patient_location</a:t>
            </a:r>
            <a:r>
              <a:rPr lang="en-US" dirty="0"/>
              <a:t>, and derived </a:t>
            </a:r>
            <a:r>
              <a:rPr lang="en-US" dirty="0" err="1"/>
              <a:t>tat_minutes</a:t>
            </a:r>
            <a:r>
              <a:rPr lang="en-US" dirty="0"/>
              <a:t>. Extend later with </a:t>
            </a:r>
            <a:r>
              <a:rPr lang="en-US" dirty="0" err="1"/>
              <a:t>batch_id</a:t>
            </a:r>
            <a:r>
              <a:rPr lang="en-US" dirty="0"/>
              <a:t> or maintenance flags as needed.</a:t>
            </a:r>
          </a:p>
        </p:txBody>
      </p:sp>
      <p:sp>
        <p:nvSpPr>
          <p:cNvPr id="4" name="Slide Number Placeholder 3"/>
          <p:cNvSpPr>
            <a:spLocks noGrp="1"/>
          </p:cNvSpPr>
          <p:nvPr>
            <p:ph type="sldNum" sz="quarter" idx="5"/>
          </p:nvPr>
        </p:nvSpPr>
        <p:spPr/>
        <p:txBody>
          <a:bodyPr/>
          <a:lstStyle/>
          <a:p>
            <a:fld id="{15564E20-9EA2-8947-B25E-DCABC392F652}" type="slidenum">
              <a:rPr lang="en-US" smtClean="0"/>
              <a:t>23</a:t>
            </a:fld>
            <a:endParaRPr lang="en-US"/>
          </a:p>
        </p:txBody>
      </p:sp>
    </p:spTree>
    <p:extLst>
      <p:ext uri="{BB962C8B-B14F-4D97-AF65-F5344CB8AC3E}">
        <p14:creationId xmlns:p14="http://schemas.microsoft.com/office/powerpoint/2010/main" val="1733497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line in the description is what one row represents. If a learner omits it, ask: how many rows does one patient have? This line decides whether the counts in the algorithm exercise are right.</a:t>
            </a:r>
          </a:p>
          <a:p>
            <a:r>
              <a:rPr lang="en-US" dirty="0"/>
              <a:t>Not uploading the file is the habit to model. With real patient data, the description is the only safe option.</a:t>
            </a:r>
          </a:p>
        </p:txBody>
      </p:sp>
      <p:sp>
        <p:nvSpPr>
          <p:cNvPr id="4" name="Slide Number Placeholder 3"/>
          <p:cNvSpPr>
            <a:spLocks noGrp="1"/>
          </p:cNvSpPr>
          <p:nvPr>
            <p:ph type="sldNum" sz="quarter" idx="5"/>
          </p:nvPr>
        </p:nvSpPr>
        <p:spPr/>
        <p:txBody>
          <a:bodyPr/>
          <a:lstStyle/>
          <a:p>
            <a:fld id="{15564E20-9EA2-8947-B25E-DCABC392F652}" type="slidenum">
              <a:rPr lang="en-US" smtClean="0"/>
              <a:t>27</a:t>
            </a:fld>
            <a:endParaRPr lang="en-US"/>
          </a:p>
        </p:txBody>
      </p:sp>
    </p:spTree>
    <p:extLst>
      <p:ext uri="{BB962C8B-B14F-4D97-AF65-F5344CB8AC3E}">
        <p14:creationId xmlns:p14="http://schemas.microsoft.com/office/powerpoint/2010/main" val="3122753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C63DB-E181-7412-E355-0FB57B98F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61321-9E24-244D-04AE-BC0FA3A56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68A462-7913-F73A-FCC5-448BDB72E4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6EE916-2E87-F2EB-1E6D-2887C7261414}"/>
              </a:ext>
            </a:extLst>
          </p:cNvPr>
          <p:cNvSpPr>
            <a:spLocks noGrp="1"/>
          </p:cNvSpPr>
          <p:nvPr>
            <p:ph type="sldNum" sz="quarter" idx="5"/>
          </p:nvPr>
        </p:nvSpPr>
        <p:spPr/>
        <p:txBody>
          <a:bodyPr/>
          <a:lstStyle/>
          <a:p>
            <a:fld id="{15564E20-9EA2-8947-B25E-DCABC392F652}" type="slidenum">
              <a:rPr lang="en-US" smtClean="0"/>
              <a:t>29</a:t>
            </a:fld>
            <a:endParaRPr lang="en-US"/>
          </a:p>
        </p:txBody>
      </p:sp>
    </p:spTree>
    <p:extLst>
      <p:ext uri="{BB962C8B-B14F-4D97-AF65-F5344CB8AC3E}">
        <p14:creationId xmlns:p14="http://schemas.microsoft.com/office/powerpoint/2010/main" val="1521365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final component of computational thinking is about creating a clear, ordered series of instructions to solve a problem. This is important because having a well-defined set of steps ensures that the problem can be solved systematically and that the solution is repeatable. It also allows for the solution to be communicated to others easily—or even be automated.</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30</a:t>
            </a:fld>
            <a:endParaRPr lang="en-US"/>
          </a:p>
        </p:txBody>
      </p:sp>
    </p:spTree>
    <p:extLst>
      <p:ext uri="{BB962C8B-B14F-4D97-AF65-F5344CB8AC3E}">
        <p14:creationId xmlns:p14="http://schemas.microsoft.com/office/powerpoint/2010/main" val="2094747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TAT numbers do not depend on which tests a learner kept. Check n_patients first: if ICU shows 6,618 (or 1,103 times the number of tests), the learner fell into the grain trap. Do not fix it now. It is the debrief.</a:t>
            </a:r>
          </a:p>
        </p:txBody>
      </p:sp>
      <p:sp>
        <p:nvSpPr>
          <p:cNvPr id="4" name="Slide Number Placeholder 3"/>
          <p:cNvSpPr>
            <a:spLocks noGrp="1"/>
          </p:cNvSpPr>
          <p:nvPr>
            <p:ph type="sldNum" sz="quarter" idx="5"/>
          </p:nvPr>
        </p:nvSpPr>
        <p:spPr/>
        <p:txBody>
          <a:bodyPr/>
          <a:lstStyle/>
          <a:p>
            <a:fld id="{15564E20-9EA2-8947-B25E-DCABC392F652}" type="slidenum">
              <a:rPr lang="en-US" smtClean="0"/>
              <a:t>34</a:t>
            </a:fld>
            <a:endParaRPr lang="en-US"/>
          </a:p>
        </p:txBody>
      </p:sp>
    </p:spTree>
    <p:extLst>
      <p:ext uri="{BB962C8B-B14F-4D97-AF65-F5344CB8AC3E}">
        <p14:creationId xmlns:p14="http://schemas.microsoft.com/office/powerpoint/2010/main" val="26216897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5EBF7-1A6F-5CEC-FCCB-7BB9CD1CD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2BEB82-8325-2EA9-1603-D016AD8C3F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7FD47D-6D6D-7F23-9C39-FE0C8D599D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8A4C5E-C4FD-82FD-2D04-2D0FADA57452}"/>
              </a:ext>
            </a:extLst>
          </p:cNvPr>
          <p:cNvSpPr>
            <a:spLocks noGrp="1"/>
          </p:cNvSpPr>
          <p:nvPr>
            <p:ph type="sldNum" sz="quarter" idx="5"/>
          </p:nvPr>
        </p:nvSpPr>
        <p:spPr/>
        <p:txBody>
          <a:bodyPr/>
          <a:lstStyle/>
          <a:p>
            <a:fld id="{15564E20-9EA2-8947-B25E-DCABC392F652}" type="slidenum">
              <a:rPr lang="en-US" smtClean="0"/>
              <a:t>36</a:t>
            </a:fld>
            <a:endParaRPr lang="en-US"/>
          </a:p>
        </p:txBody>
      </p:sp>
    </p:spTree>
    <p:extLst>
      <p:ext uri="{BB962C8B-B14F-4D97-AF65-F5344CB8AC3E}">
        <p14:creationId xmlns:p14="http://schemas.microsoft.com/office/powerpoint/2010/main" val="28003066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a:t>is easily understood – is it fully </a:t>
            </a:r>
            <a:r>
              <a:rPr lang="en-US" i="1" dirty="0"/>
              <a:t>decomposed</a:t>
            </a:r>
            <a:r>
              <a:rPr lang="en-US" dirty="0"/>
              <a:t>?</a:t>
            </a:r>
          </a:p>
          <a:p>
            <a:pPr fontAlgn="base"/>
            <a:r>
              <a:rPr lang="en-US" dirty="0"/>
              <a:t>is complete – does it solve every aspect of the problem?</a:t>
            </a:r>
          </a:p>
          <a:p>
            <a:pPr fontAlgn="base"/>
            <a:r>
              <a:rPr lang="en-US" dirty="0"/>
              <a:t>is efficient – does it solve the problem, making best use of the available resources (</a:t>
            </a:r>
            <a:r>
              <a:rPr lang="en-US" dirty="0" err="1"/>
              <a:t>eg</a:t>
            </a:r>
            <a:r>
              <a:rPr lang="en-US" dirty="0"/>
              <a:t> as quickly as possible/using least space)?</a:t>
            </a:r>
          </a:p>
          <a:p>
            <a:pPr fontAlgn="base"/>
            <a:r>
              <a:rPr lang="en-US" dirty="0"/>
              <a:t>meets any </a:t>
            </a:r>
            <a:r>
              <a:rPr lang="en-US" i="1" dirty="0"/>
              <a:t>design criteria</a:t>
            </a:r>
            <a:r>
              <a:rPr lang="en-US" dirty="0"/>
              <a:t> we have been given</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37</a:t>
            </a:fld>
            <a:endParaRPr lang="en-US"/>
          </a:p>
        </p:txBody>
      </p:sp>
    </p:spTree>
    <p:extLst>
      <p:ext uri="{BB962C8B-B14F-4D97-AF65-F5344CB8AC3E}">
        <p14:creationId xmlns:p14="http://schemas.microsoft.com/office/powerpoint/2010/main" val="1039398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F80C3-3FCD-9508-4534-9C4820AEC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1D995-8BC0-9076-BDE5-D881F4453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059F0-C3D6-2C34-4FC5-21C19486DD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09537F-6263-C87E-EFBC-9ACE84E19169}"/>
              </a:ext>
            </a:extLst>
          </p:cNvPr>
          <p:cNvSpPr>
            <a:spLocks noGrp="1"/>
          </p:cNvSpPr>
          <p:nvPr>
            <p:ph type="sldNum" sz="quarter" idx="5"/>
          </p:nvPr>
        </p:nvSpPr>
        <p:spPr/>
        <p:txBody>
          <a:bodyPr/>
          <a:lstStyle/>
          <a:p>
            <a:fld id="{15564E20-9EA2-8947-B25E-DCABC392F652}" type="slidenum">
              <a:rPr lang="en-US" smtClean="0"/>
              <a:t>38</a:t>
            </a:fld>
            <a:endParaRPr lang="en-US"/>
          </a:p>
        </p:txBody>
      </p:sp>
    </p:spTree>
    <p:extLst>
      <p:ext uri="{BB962C8B-B14F-4D97-AF65-F5344CB8AC3E}">
        <p14:creationId xmlns:p14="http://schemas.microsoft.com/office/powerpoint/2010/main" val="38711211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and Sequences is to give students an appreciation of the level of detail and rigor that programming requires. In everyday life, we do things without thinking about all the steps we need to take to accomplish them, but it is not easy to make the steps of some simple operations clear to other people or objects (such as computers).</a:t>
            </a:r>
          </a:p>
          <a:p>
            <a:endParaRPr lang="en-US" dirty="0"/>
          </a:p>
          <a:p>
            <a:r>
              <a:rPr lang="en-US" dirty="0"/>
              <a:t>The Thinking Efficiently - Functions and For Loops topic is designed to give students an understanding how functions and for loops are used in everyday situations and how to use them to program problems. The Thinking Repeatedly - while loops and algorithms topic is for students to understand the difference between while loops and for loops and how algorithms are used in everyday situations. The final challenge competition is to integrate program fragments and present them in the form of a work to achieve the purpose of learning to use.</a:t>
            </a:r>
          </a:p>
          <a:p>
            <a:endParaRPr lang="en-US" dirty="0"/>
          </a:p>
          <a:p>
            <a:r>
              <a:rPr lang="en-US" sz="1200" kern="1200" dirty="0">
                <a:solidFill>
                  <a:schemeClr val="tx1"/>
                </a:solidFill>
                <a:effectLst/>
                <a:latin typeface="+mn-lt"/>
                <a:ea typeface="+mn-ea"/>
                <a:cs typeface="+mn-cs"/>
              </a:rPr>
              <a:t>following seven computational concepts, ordered in increasing</a:t>
            </a:r>
          </a:p>
          <a:p>
            <a:r>
              <a:rPr lang="en-US" sz="1200" kern="1200" dirty="0">
                <a:solidFill>
                  <a:schemeClr val="tx1"/>
                </a:solidFill>
                <a:effectLst/>
                <a:latin typeface="+mn-lt"/>
                <a:ea typeface="+mn-ea"/>
                <a:cs typeface="+mn-cs"/>
              </a:rPr>
              <a:t>difficulty: Basic directions and sequences; Loops–</a:t>
            </a:r>
          </a:p>
          <a:p>
            <a:r>
              <a:rPr lang="en-US" sz="1200" kern="1200" dirty="0">
                <a:solidFill>
                  <a:schemeClr val="tx1"/>
                </a:solidFill>
                <a:effectLst/>
                <a:latin typeface="+mn-lt"/>
                <a:ea typeface="+mn-ea"/>
                <a:cs typeface="+mn-cs"/>
              </a:rPr>
              <a:t>repeat times; Loops–repeat until; If–simple</a:t>
            </a:r>
          </a:p>
          <a:p>
            <a:r>
              <a:rPr lang="en-US" sz="1200" kern="1200" dirty="0">
                <a:solidFill>
                  <a:schemeClr val="tx1"/>
                </a:solidFill>
                <a:effectLst/>
                <a:latin typeface="+mn-lt"/>
                <a:ea typeface="+mn-ea"/>
                <a:cs typeface="+mn-cs"/>
              </a:rPr>
              <a:t>conditional; If/else–complex conditional; While</a:t>
            </a:r>
          </a:p>
          <a:p>
            <a:r>
              <a:rPr lang="en-US" sz="1200" kern="1200" dirty="0">
                <a:solidFill>
                  <a:schemeClr val="tx1"/>
                </a:solidFill>
                <a:effectLst/>
                <a:latin typeface="+mn-lt"/>
                <a:ea typeface="+mn-ea"/>
                <a:cs typeface="+mn-cs"/>
              </a:rPr>
              <a:t>conditional; Simple functions.</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40</a:t>
            </a:fld>
            <a:endParaRPr lang="en-US"/>
          </a:p>
        </p:txBody>
      </p:sp>
    </p:spTree>
    <p:extLst>
      <p:ext uri="{BB962C8B-B14F-4D97-AF65-F5344CB8AC3E}">
        <p14:creationId xmlns:p14="http://schemas.microsoft.com/office/powerpoint/2010/main" val="793457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41</a:t>
            </a:fld>
            <a:endParaRPr lang="en-US"/>
          </a:p>
        </p:txBody>
      </p:sp>
    </p:spTree>
    <p:extLst>
      <p:ext uri="{BB962C8B-B14F-4D97-AF65-F5344CB8AC3E}">
        <p14:creationId xmlns:p14="http://schemas.microsoft.com/office/powerpoint/2010/main" val="39103916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would you do this in Excel – copy and paste formula</a:t>
            </a:r>
          </a:p>
        </p:txBody>
      </p:sp>
      <p:sp>
        <p:nvSpPr>
          <p:cNvPr id="4" name="Slide Number Placeholder 3"/>
          <p:cNvSpPr>
            <a:spLocks noGrp="1"/>
          </p:cNvSpPr>
          <p:nvPr>
            <p:ph type="sldNum" sz="quarter" idx="5"/>
          </p:nvPr>
        </p:nvSpPr>
        <p:spPr/>
        <p:txBody>
          <a:bodyPr/>
          <a:lstStyle/>
          <a:p>
            <a:fld id="{15564E20-9EA2-8947-B25E-DCABC392F652}" type="slidenum">
              <a:rPr lang="en-US" smtClean="0"/>
              <a:t>46</a:t>
            </a:fld>
            <a:endParaRPr lang="en-US"/>
          </a:p>
        </p:txBody>
      </p:sp>
    </p:spTree>
    <p:extLst>
      <p:ext uri="{BB962C8B-B14F-4D97-AF65-F5344CB8AC3E}">
        <p14:creationId xmlns:p14="http://schemas.microsoft.com/office/powerpoint/2010/main" val="960458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D6FE0-2A07-3693-77D3-24DF9D10E1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7B664F-1BF7-AE80-3D1A-ABF45DE46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E99BD8-CDD6-F1E7-8192-81B29022EBC0}"/>
              </a:ext>
            </a:extLst>
          </p:cNvPr>
          <p:cNvSpPr>
            <a:spLocks noGrp="1"/>
          </p:cNvSpPr>
          <p:nvPr>
            <p:ph type="body" idx="1"/>
          </p:nvPr>
        </p:nvSpPr>
        <p:spPr/>
        <p:txBody>
          <a:bodyPr/>
          <a:lstStyle/>
          <a:p>
            <a:r>
              <a:rPr lang="en-US" dirty="0"/>
              <a:t>In the latter two you don’t need to know how to code, you need to understand computational thinking so you are more effective at delivering your message or ideas to those who will translate it to a programming language and determine how to get it done. Understanding computational thinking will likely also improve your attempts to learn a programming language.</a:t>
            </a:r>
          </a:p>
        </p:txBody>
      </p:sp>
      <p:sp>
        <p:nvSpPr>
          <p:cNvPr id="4" name="Slide Number Placeholder 3">
            <a:extLst>
              <a:ext uri="{FF2B5EF4-FFF2-40B4-BE49-F238E27FC236}">
                <a16:creationId xmlns:a16="http://schemas.microsoft.com/office/drawing/2014/main" id="{5770803C-24C6-086B-3284-3C6022390AF4}"/>
              </a:ext>
            </a:extLst>
          </p:cNvPr>
          <p:cNvSpPr>
            <a:spLocks noGrp="1"/>
          </p:cNvSpPr>
          <p:nvPr>
            <p:ph type="sldNum" sz="quarter" idx="5"/>
          </p:nvPr>
        </p:nvSpPr>
        <p:spPr/>
        <p:txBody>
          <a:bodyPr/>
          <a:lstStyle/>
          <a:p>
            <a:fld id="{15564E20-9EA2-8947-B25E-DCABC392F652}" type="slidenum">
              <a:rPr lang="en-US" smtClean="0"/>
              <a:t>49</a:t>
            </a:fld>
            <a:endParaRPr lang="en-US"/>
          </a:p>
        </p:txBody>
      </p:sp>
    </p:spTree>
    <p:extLst>
      <p:ext uri="{BB962C8B-B14F-4D97-AF65-F5344CB8AC3E}">
        <p14:creationId xmlns:p14="http://schemas.microsoft.com/office/powerpoint/2010/main" val="36836787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Reasoning models think through problems, connect ideas, and make a logical decision based on its information and the context you provide.</a:t>
            </a:r>
          </a:p>
          <a:p>
            <a:r>
              <a:rPr lang="en-US" sz="1200" b="0" i="0" u="none" strike="noStrike" kern="1200" dirty="0">
                <a:solidFill>
                  <a:schemeClr val="tx1"/>
                </a:solidFill>
                <a:effectLst/>
                <a:latin typeface="+mn-lt"/>
                <a:ea typeface="+mn-ea"/>
                <a:cs typeface="+mn-cs"/>
              </a:rPr>
              <a:t>Generally speaking, they’re useful for tasks that require:</a:t>
            </a:r>
          </a:p>
          <a:p>
            <a:r>
              <a:rPr lang="en-US" sz="1200" b="0" i="0" u="none" strike="noStrike" kern="1200" dirty="0">
                <a:solidFill>
                  <a:schemeClr val="tx1"/>
                </a:solidFill>
                <a:effectLst/>
                <a:latin typeface="+mn-lt"/>
                <a:ea typeface="+mn-ea"/>
                <a:cs typeface="+mn-cs"/>
              </a:rPr>
              <a:t>Deep problem-solving (e.g. calculating a math problem)</a:t>
            </a:r>
          </a:p>
          <a:p>
            <a:r>
              <a:rPr lang="en-US" sz="1200" b="0" i="0" u="none" strike="noStrike" kern="1200" dirty="0">
                <a:solidFill>
                  <a:schemeClr val="tx1"/>
                </a:solidFill>
                <a:effectLst/>
                <a:latin typeface="+mn-lt"/>
                <a:ea typeface="+mn-ea"/>
                <a:cs typeface="+mn-cs"/>
              </a:rPr>
              <a:t>Logical reasoning (e.g. optimizing and debugging code)</a:t>
            </a:r>
          </a:p>
          <a:p>
            <a:r>
              <a:rPr lang="en-US" sz="1200" b="0" i="0" u="none" strike="noStrike" kern="1200" dirty="0">
                <a:solidFill>
                  <a:schemeClr val="tx1"/>
                </a:solidFill>
                <a:effectLst/>
                <a:latin typeface="+mn-lt"/>
                <a:ea typeface="+mn-ea"/>
                <a:cs typeface="+mn-cs"/>
              </a:rPr>
              <a:t>Multi-step thinking (e.g. developing a strategy)</a:t>
            </a:r>
          </a:p>
          <a:p>
            <a:endParaRPr lang="en-US" dirty="0">
              <a:latin typeface="Calibri"/>
              <a:ea typeface="Calibri"/>
              <a:cs typeface="Calibri"/>
            </a:endParaRPr>
          </a:p>
          <a:p>
            <a:r>
              <a:rPr lang="en-US" sz="1200" b="0" i="0" u="none" strike="noStrike" kern="1200" dirty="0">
                <a:solidFill>
                  <a:schemeClr val="tx1"/>
                </a:solidFill>
                <a:effectLst/>
                <a:latin typeface="+mn-lt"/>
                <a:ea typeface="+mn-ea"/>
                <a:cs typeface="+mn-cs"/>
              </a:rPr>
              <a:t>Non-reasoning GPT models focus on providing a quick, simple response. They rely on patterns in data, but they don’t analyze deeply or reason through problems.</a:t>
            </a:r>
          </a:p>
          <a:p>
            <a:r>
              <a:rPr lang="en-US" sz="1200" b="0" i="0" u="none" strike="noStrike" kern="1200" dirty="0">
                <a:solidFill>
                  <a:schemeClr val="tx1"/>
                </a:solidFill>
                <a:effectLst/>
                <a:latin typeface="+mn-lt"/>
                <a:ea typeface="+mn-ea"/>
                <a:cs typeface="+mn-cs"/>
              </a:rPr>
              <a:t>Some tasks they’re useful for are:</a:t>
            </a:r>
          </a:p>
          <a:p>
            <a:r>
              <a:rPr lang="en-US" sz="1200" b="0" i="0" u="none" strike="noStrike" kern="1200" dirty="0">
                <a:solidFill>
                  <a:schemeClr val="tx1"/>
                </a:solidFill>
                <a:effectLst/>
                <a:latin typeface="+mn-lt"/>
                <a:ea typeface="+mn-ea"/>
                <a:cs typeface="+mn-cs"/>
              </a:rPr>
              <a:t>Fast responses (e.g. addressing a question to customer support)</a:t>
            </a:r>
          </a:p>
          <a:p>
            <a:r>
              <a:rPr lang="en-US" sz="1200" b="0" i="0" u="none" strike="noStrike" kern="1200" dirty="0">
                <a:solidFill>
                  <a:schemeClr val="tx1"/>
                </a:solidFill>
                <a:effectLst/>
                <a:latin typeface="+mn-lt"/>
                <a:ea typeface="+mn-ea"/>
                <a:cs typeface="+mn-cs"/>
              </a:rPr>
              <a:t>Simple tasks (e.g. creating the answer to a frequently asked question)</a:t>
            </a:r>
          </a:p>
          <a:p>
            <a:r>
              <a:rPr lang="en-US" sz="1200" b="0" i="0" u="none" strike="noStrike" kern="1200" dirty="0">
                <a:solidFill>
                  <a:schemeClr val="tx1"/>
                </a:solidFill>
                <a:effectLst/>
                <a:latin typeface="+mn-lt"/>
                <a:ea typeface="+mn-ea"/>
                <a:cs typeface="+mn-cs"/>
              </a:rPr>
              <a:t>Creative content (e.g. writing straightforward marketing copy)</a:t>
            </a:r>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23D9E233-B67C-415A-A411-B18F44B627AA}" type="slidenum">
              <a:rPr lang="en-US" smtClean="0"/>
              <a:t>50</a:t>
            </a:fld>
            <a:endParaRPr lang="en-US"/>
          </a:p>
        </p:txBody>
      </p:sp>
    </p:spTree>
    <p:extLst>
      <p:ext uri="{BB962C8B-B14F-4D97-AF65-F5344CB8AC3E}">
        <p14:creationId xmlns:p14="http://schemas.microsoft.com/office/powerpoint/2010/main" val="27542423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Also mention chain of thought</a:t>
            </a:r>
          </a:p>
          <a:p>
            <a:r>
              <a:rPr lang="en-US">
                <a:latin typeface="Calibri"/>
                <a:ea typeface="Calibri"/>
                <a:cs typeface="Calibri"/>
              </a:rPr>
              <a:t>Shannon</a:t>
            </a:r>
          </a:p>
        </p:txBody>
      </p:sp>
      <p:sp>
        <p:nvSpPr>
          <p:cNvPr id="4" name="Slide Number Placeholder 3"/>
          <p:cNvSpPr>
            <a:spLocks noGrp="1"/>
          </p:cNvSpPr>
          <p:nvPr>
            <p:ph type="sldNum" sz="quarter" idx="5"/>
          </p:nvPr>
        </p:nvSpPr>
        <p:spPr/>
        <p:txBody>
          <a:bodyPr/>
          <a:lstStyle/>
          <a:p>
            <a:fld id="{23D9E233-B67C-415A-A411-B18F44B627AA}" type="slidenum">
              <a:rPr lang="en-US" smtClean="0"/>
              <a:t>51</a:t>
            </a:fld>
            <a:endParaRPr lang="en-US"/>
          </a:p>
        </p:txBody>
      </p:sp>
    </p:spTree>
    <p:extLst>
      <p:ext uri="{BB962C8B-B14F-4D97-AF65-F5344CB8AC3E}">
        <p14:creationId xmlns:p14="http://schemas.microsoft.com/office/powerpoint/2010/main" val="31449085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Shannon</a:t>
            </a:r>
          </a:p>
        </p:txBody>
      </p:sp>
      <p:sp>
        <p:nvSpPr>
          <p:cNvPr id="4" name="Slide Number Placeholder 3"/>
          <p:cNvSpPr>
            <a:spLocks noGrp="1"/>
          </p:cNvSpPr>
          <p:nvPr>
            <p:ph type="sldNum" sz="quarter" idx="5"/>
          </p:nvPr>
        </p:nvSpPr>
        <p:spPr/>
        <p:txBody>
          <a:bodyPr/>
          <a:lstStyle/>
          <a:p>
            <a:fld id="{23D9E233-B67C-415A-A411-B18F44B627AA}" type="slidenum">
              <a:rPr lang="en-US" smtClean="0"/>
              <a:t>57</a:t>
            </a:fld>
            <a:endParaRPr lang="en-US"/>
          </a:p>
        </p:txBody>
      </p:sp>
    </p:spTree>
    <p:extLst>
      <p:ext uri="{BB962C8B-B14F-4D97-AF65-F5344CB8AC3E}">
        <p14:creationId xmlns:p14="http://schemas.microsoft.com/office/powerpoint/2010/main" val="9547499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542C0-2ADE-766B-0CCE-1A0AA5F4C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A66EA-A1E0-6DB9-6518-483A8D6CD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6BF0A9-3208-8566-F6D5-A4867D3AEDA0}"/>
              </a:ext>
            </a:extLst>
          </p:cNvPr>
          <p:cNvSpPr>
            <a:spLocks noGrp="1"/>
          </p:cNvSpPr>
          <p:nvPr>
            <p:ph type="body" idx="1"/>
          </p:nvPr>
        </p:nvSpPr>
        <p:spPr/>
        <p:txBody>
          <a:bodyPr/>
          <a:lstStyle/>
          <a:p>
            <a:r>
              <a:rPr lang="en-US" dirty="0"/>
              <a:t>.</a:t>
            </a:r>
          </a:p>
          <a:p>
            <a:endParaRPr lang="en-US" dirty="0"/>
          </a:p>
        </p:txBody>
      </p:sp>
      <p:sp>
        <p:nvSpPr>
          <p:cNvPr id="4" name="Slide Number Placeholder 3">
            <a:extLst>
              <a:ext uri="{FF2B5EF4-FFF2-40B4-BE49-F238E27FC236}">
                <a16:creationId xmlns:a16="http://schemas.microsoft.com/office/drawing/2014/main" id="{AC926C06-0D36-2CCB-8D4F-04D9D04EFB5C}"/>
              </a:ext>
            </a:extLst>
          </p:cNvPr>
          <p:cNvSpPr>
            <a:spLocks noGrp="1"/>
          </p:cNvSpPr>
          <p:nvPr>
            <p:ph type="sldNum" sz="quarter" idx="10"/>
          </p:nvPr>
        </p:nvSpPr>
        <p:spPr/>
        <p:txBody>
          <a:bodyPr/>
          <a:lstStyle/>
          <a:p>
            <a:fld id="{0A193586-FEB5-7C43-8F44-7EFAE4EECA28}" type="slidenum">
              <a:rPr lang="en-US" smtClean="0"/>
              <a:t>58</a:t>
            </a:fld>
            <a:endParaRPr lang="en-US"/>
          </a:p>
        </p:txBody>
      </p:sp>
    </p:spTree>
    <p:extLst>
      <p:ext uri="{BB962C8B-B14F-4D97-AF65-F5344CB8AC3E}">
        <p14:creationId xmlns:p14="http://schemas.microsoft.com/office/powerpoint/2010/main" val="642887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9/23/25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9/23/25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9/23/25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9/23/25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9/23/25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9/23/25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9/23/25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9/23/25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9/23/25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2.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5B3-39DD-0F84-9D56-A9F4D94D5C47}"/>
              </a:ext>
            </a:extLst>
          </p:cNvPr>
          <p:cNvSpPr>
            <a:spLocks noGrp="1"/>
          </p:cNvSpPr>
          <p:nvPr>
            <p:ph type="ctrTitle"/>
          </p:nvPr>
        </p:nvSpPr>
        <p:spPr/>
        <p:txBody>
          <a:bodyPr/>
          <a:lstStyle/>
          <a:p>
            <a:r>
              <a:rPr lang="en-US" b="1" cap="none" dirty="0"/>
              <a:t>Computational Thinking</a:t>
            </a:r>
          </a:p>
        </p:txBody>
      </p:sp>
      <p:sp>
        <p:nvSpPr>
          <p:cNvPr id="3" name="Subtitle 2">
            <a:extLst>
              <a:ext uri="{FF2B5EF4-FFF2-40B4-BE49-F238E27FC236}">
                <a16:creationId xmlns:a16="http://schemas.microsoft.com/office/drawing/2014/main" id="{683DFD6D-7CDF-8D74-9078-31CF84D69DE0}"/>
              </a:ext>
            </a:extLst>
          </p:cNvPr>
          <p:cNvSpPr>
            <a:spLocks noGrp="1"/>
          </p:cNvSpPr>
          <p:nvPr>
            <p:ph type="subTitle" idx="1"/>
          </p:nvPr>
        </p:nvSpPr>
        <p:spPr/>
        <p:txBody>
          <a:bodyPr>
            <a:normAutofit/>
          </a:bodyPr>
          <a:lstStyle/>
          <a:p>
            <a:r>
              <a:rPr lang="en-US" sz="2800" dirty="0"/>
              <a:t>Shannon Haymond</a:t>
            </a:r>
          </a:p>
        </p:txBody>
      </p:sp>
    </p:spTree>
    <p:extLst>
      <p:ext uri="{BB962C8B-B14F-4D97-AF65-F5344CB8AC3E}">
        <p14:creationId xmlns:p14="http://schemas.microsoft.com/office/powerpoint/2010/main" val="318091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D3C0D-C93F-F8D0-3222-303D56B8F2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1C9E6C-1ED2-3037-FC58-7809CD9451D6}"/>
              </a:ext>
            </a:extLst>
          </p:cNvPr>
          <p:cNvSpPr txBox="1"/>
          <p:nvPr/>
        </p:nvSpPr>
        <p:spPr>
          <a:xfrm>
            <a:off x="626225" y="201578"/>
            <a:ext cx="10939550" cy="6178999"/>
          </a:xfrm>
          <a:prstGeom prst="rect">
            <a:avLst/>
          </a:prstGeom>
          <a:noFill/>
        </p:spPr>
        <p:txBody>
          <a:bodyPr wrap="square" rtlCol="0">
            <a:spAutoFit/>
          </a:bodyPr>
          <a:lstStyle/>
          <a:p>
            <a:r>
              <a:rPr lang="en-US" sz="4000" dirty="0"/>
              <a:t>Lesson Goals</a:t>
            </a:r>
          </a:p>
          <a:p>
            <a:pPr marL="514350" marR="0" lvl="0" indent="-514350" rtl="0">
              <a:lnSpc>
                <a:spcPct val="107000"/>
              </a:lnSpc>
              <a:spcBef>
                <a:spcPts val="0"/>
              </a:spcBef>
              <a:spcAft>
                <a:spcPts val="0"/>
              </a:spcAft>
              <a:buFont typeface="+mj-lt"/>
              <a:buAutoNum type="arabicPeriod"/>
            </a:pPr>
            <a:r>
              <a:rPr lang="en-US" sz="3000" kern="100" dirty="0">
                <a:ea typeface="Calibri" panose="020F0502020204030204" pitchFamily="34" charset="0"/>
                <a:cs typeface="Arial" panose="020B0604020202020204" pitchFamily="34" charset="0"/>
              </a:rPr>
              <a:t>Develop computational thinking skills to more effectively utilize emerging digital technologies</a:t>
            </a:r>
          </a:p>
          <a:p>
            <a:pPr marR="0" lvl="0" rtl="0">
              <a:lnSpc>
                <a:spcPct val="107000"/>
              </a:lnSpc>
              <a:spcBef>
                <a:spcPts val="0"/>
              </a:spcBef>
              <a:spcAft>
                <a:spcPts val="0"/>
              </a:spcAft>
            </a:pPr>
            <a:endParaRPr lang="en-US" sz="3200" kern="100" dirty="0">
              <a:cs typeface="Arial" panose="020B0604020202020204" pitchFamily="34" charset="0"/>
            </a:endParaRPr>
          </a:p>
          <a:p>
            <a:pPr marR="0" lvl="0" rtl="0">
              <a:lnSpc>
                <a:spcPct val="107000"/>
              </a:lnSpc>
              <a:spcBef>
                <a:spcPts val="0"/>
              </a:spcBef>
              <a:spcAft>
                <a:spcPts val="0"/>
              </a:spcAft>
            </a:pPr>
            <a:r>
              <a:rPr lang="en-US" sz="4000" dirty="0"/>
              <a:t>Lesson Objectives</a:t>
            </a:r>
          </a:p>
          <a:p>
            <a:pPr marL="514350" indent="-514350">
              <a:buFontTx/>
              <a:buAutoNum type="arabicPeriod"/>
            </a:pPr>
            <a:r>
              <a:rPr lang="en-US" sz="3000" dirty="0"/>
              <a:t>Identify the key components of a complex problem and break it down into smaller, more manageable parts.</a:t>
            </a:r>
          </a:p>
          <a:p>
            <a:pPr marL="514350" indent="-514350">
              <a:buFontTx/>
              <a:buAutoNum type="arabicPeriod"/>
            </a:pPr>
            <a:r>
              <a:rPr lang="en-US" sz="3000" dirty="0"/>
              <a:t>Use patterns to predict future outcomes or generalize solutions.</a:t>
            </a:r>
          </a:p>
          <a:p>
            <a:pPr marL="514350" indent="-514350">
              <a:buFontTx/>
              <a:buAutoNum type="arabicPeriod"/>
            </a:pPr>
            <a:r>
              <a:rPr lang="en-US" sz="3000" dirty="0"/>
              <a:t>Create simplified models to represent complex systems.</a:t>
            </a:r>
          </a:p>
          <a:p>
            <a:pPr marL="514350" indent="-514350">
              <a:buFontTx/>
              <a:buAutoNum type="arabicPeriod"/>
            </a:pPr>
            <a:r>
              <a:rPr lang="en-US" sz="3000" dirty="0"/>
              <a:t>Design step-by-step instructions or algorithms to solve a problem.</a:t>
            </a:r>
          </a:p>
          <a:p>
            <a:pPr marL="514350" indent="-514350">
              <a:buFontTx/>
              <a:buAutoNum type="arabicPeriod"/>
            </a:pPr>
            <a:r>
              <a:rPr lang="en-US" sz="3000" dirty="0"/>
              <a:t>Describe basic coding concepts to better apply computational solutions.</a:t>
            </a:r>
          </a:p>
        </p:txBody>
      </p:sp>
    </p:spTree>
    <p:extLst>
      <p:ext uri="{BB962C8B-B14F-4D97-AF65-F5344CB8AC3E}">
        <p14:creationId xmlns:p14="http://schemas.microsoft.com/office/powerpoint/2010/main" val="3727985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7487-7585-2B09-7202-834D47BDE390}"/>
              </a:ext>
            </a:extLst>
          </p:cNvPr>
          <p:cNvSpPr>
            <a:spLocks noGrp="1"/>
          </p:cNvSpPr>
          <p:nvPr>
            <p:ph type="title"/>
          </p:nvPr>
        </p:nvSpPr>
        <p:spPr/>
        <p:txBody>
          <a:bodyPr/>
          <a:lstStyle/>
          <a:p>
            <a:r>
              <a:rPr lang="en-US" dirty="0"/>
              <a:t>What is computational thinking?</a:t>
            </a:r>
          </a:p>
        </p:txBody>
      </p:sp>
      <p:sp>
        <p:nvSpPr>
          <p:cNvPr id="3" name="Content Placeholder 2">
            <a:extLst>
              <a:ext uri="{FF2B5EF4-FFF2-40B4-BE49-F238E27FC236}">
                <a16:creationId xmlns:a16="http://schemas.microsoft.com/office/drawing/2014/main" id="{D0567B52-1637-9CB5-C6E9-1484C58B918A}"/>
              </a:ext>
            </a:extLst>
          </p:cNvPr>
          <p:cNvSpPr>
            <a:spLocks noGrp="1"/>
          </p:cNvSpPr>
          <p:nvPr>
            <p:ph idx="1"/>
          </p:nvPr>
        </p:nvSpPr>
        <p:spPr/>
        <p:txBody>
          <a:bodyPr>
            <a:normAutofit lnSpcReduction="10000"/>
          </a:bodyPr>
          <a:lstStyle/>
          <a:p>
            <a:pPr marL="0" indent="0">
              <a:buNone/>
            </a:pPr>
            <a:r>
              <a:rPr lang="en-US" i="1" dirty="0"/>
              <a:t>Formulating things with enough clarity, and in a systematic enough way, that one can tell a computer how to do them</a:t>
            </a:r>
          </a:p>
          <a:p>
            <a:pPr marL="0" indent="0">
              <a:buNone/>
            </a:pPr>
            <a:r>
              <a:rPr lang="en-US" dirty="0"/>
              <a:t>					- Stephen Wolfram</a:t>
            </a:r>
          </a:p>
          <a:p>
            <a:pPr marL="0" indent="0">
              <a:buNone/>
            </a:pPr>
            <a:endParaRPr lang="en-US" dirty="0"/>
          </a:p>
          <a:p>
            <a:pPr marL="0" indent="0">
              <a:buNone/>
            </a:pPr>
            <a:r>
              <a:rPr lang="en-US" dirty="0"/>
              <a:t>We tell computers how via language</a:t>
            </a:r>
          </a:p>
          <a:p>
            <a:pPr marL="412750" lvl="1" indent="-284163"/>
            <a:r>
              <a:rPr lang="en-US" dirty="0"/>
              <a:t>coding in programming language</a:t>
            </a:r>
          </a:p>
          <a:p>
            <a:pPr marL="412750" lvl="1" indent="-284163"/>
            <a:r>
              <a:rPr lang="en-US" dirty="0"/>
              <a:t>using data scientist interpreter</a:t>
            </a:r>
          </a:p>
          <a:p>
            <a:pPr marL="412750" lvl="1" indent="-284163"/>
            <a:r>
              <a:rPr lang="en-US" dirty="0"/>
              <a:t>low code/no code interface</a:t>
            </a:r>
          </a:p>
        </p:txBody>
      </p:sp>
    </p:spTree>
    <p:extLst>
      <p:ext uri="{BB962C8B-B14F-4D97-AF65-F5344CB8AC3E}">
        <p14:creationId xmlns:p14="http://schemas.microsoft.com/office/powerpoint/2010/main" val="187618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B7178-CCD3-D6A8-62E6-85CAF6D52979}"/>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82BD09AA-64F3-AE85-F782-36CE5567767A}"/>
              </a:ext>
            </a:extLst>
          </p:cNvPr>
          <p:cNvGraphicFramePr/>
          <p:nvPr>
            <p:extLst>
              <p:ext uri="{D42A27DB-BD31-4B8C-83A1-F6EECF244321}">
                <p14:modId xmlns:p14="http://schemas.microsoft.com/office/powerpoint/2010/main" val="1859057996"/>
              </p:ext>
            </p:extLst>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80039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94938-0C8E-1D42-BC37-B4C3360E88D3}"/>
              </a:ext>
            </a:extLst>
          </p:cNvPr>
          <p:cNvSpPr>
            <a:spLocks noGrp="1"/>
          </p:cNvSpPr>
          <p:nvPr>
            <p:ph type="title"/>
          </p:nvPr>
        </p:nvSpPr>
        <p:spPr/>
        <p:txBody>
          <a:bodyPr/>
          <a:lstStyle/>
          <a:p>
            <a:r>
              <a:rPr lang="en-US" dirty="0"/>
              <a:t>decomposition</a:t>
            </a:r>
          </a:p>
        </p:txBody>
      </p:sp>
      <p:sp>
        <p:nvSpPr>
          <p:cNvPr id="3" name="Content Placeholder 2">
            <a:extLst>
              <a:ext uri="{FF2B5EF4-FFF2-40B4-BE49-F238E27FC236}">
                <a16:creationId xmlns:a16="http://schemas.microsoft.com/office/drawing/2014/main" id="{E0B9AEF0-9308-D102-879B-6D61573221C9}"/>
              </a:ext>
            </a:extLst>
          </p:cNvPr>
          <p:cNvSpPr>
            <a:spLocks noGrp="1"/>
          </p:cNvSpPr>
          <p:nvPr>
            <p:ph idx="1"/>
          </p:nvPr>
        </p:nvSpPr>
        <p:spPr/>
        <p:txBody>
          <a:bodyPr>
            <a:normAutofit fontScale="92500"/>
          </a:bodyPr>
          <a:lstStyle/>
          <a:p>
            <a:pPr marL="0" indent="0">
              <a:buNone/>
            </a:pPr>
            <a:r>
              <a:rPr lang="en-US" dirty="0"/>
              <a:t>Break down a large, complex problem into smaller, more manageable parts to make it easier to understand and solve</a:t>
            </a:r>
          </a:p>
          <a:p>
            <a:pPr marL="0" indent="0">
              <a:buNone/>
            </a:pPr>
            <a:endParaRPr lang="en-US" dirty="0"/>
          </a:p>
          <a:p>
            <a:pPr marL="514350" indent="-514350">
              <a:buAutoNum type="arabicPeriod"/>
            </a:pPr>
            <a:r>
              <a:rPr lang="en-US" dirty="0"/>
              <a:t>Identify the main (large, complex) problem</a:t>
            </a:r>
          </a:p>
          <a:p>
            <a:pPr marL="514350" indent="-514350">
              <a:buAutoNum type="arabicPeriod"/>
            </a:pPr>
            <a:r>
              <a:rPr lang="en-US" dirty="0"/>
              <a:t>Break it down into smaller tasks</a:t>
            </a:r>
          </a:p>
          <a:p>
            <a:pPr marL="514350" indent="-514350">
              <a:buAutoNum type="arabicPeriod"/>
            </a:pPr>
            <a:r>
              <a:rPr lang="en-US" dirty="0"/>
              <a:t>Solve each sub-task</a:t>
            </a:r>
          </a:p>
          <a:p>
            <a:pPr marL="514350" indent="-514350">
              <a:buAutoNum type="arabicPeriod"/>
            </a:pPr>
            <a:r>
              <a:rPr lang="en-US" dirty="0"/>
              <a:t>Combine solutions to solve main problem</a:t>
            </a:r>
          </a:p>
          <a:p>
            <a:pPr marL="514350" indent="-514350">
              <a:buAutoNum type="arabicPeriod"/>
            </a:pPr>
            <a:endParaRPr lang="en-US" dirty="0"/>
          </a:p>
          <a:p>
            <a:pPr marL="0" indent="0">
              <a:buNone/>
            </a:pPr>
            <a:endParaRPr lang="en-US" dirty="0"/>
          </a:p>
          <a:p>
            <a:pPr marL="0" indent="0">
              <a:buNone/>
            </a:pPr>
            <a:endParaRPr lang="en-US" dirty="0"/>
          </a:p>
          <a:p>
            <a:pPr marL="0" indent="0">
              <a:buNone/>
            </a:pPr>
            <a:endParaRPr lang="en-US" dirty="0"/>
          </a:p>
          <a:p>
            <a:endParaRPr lang="en-US" b="1" dirty="0"/>
          </a:p>
        </p:txBody>
      </p:sp>
      <p:grpSp>
        <p:nvGrpSpPr>
          <p:cNvPr id="13" name="Group 12">
            <a:extLst>
              <a:ext uri="{FF2B5EF4-FFF2-40B4-BE49-F238E27FC236}">
                <a16:creationId xmlns:a16="http://schemas.microsoft.com/office/drawing/2014/main" id="{019A2274-4000-0712-23E8-4B983523DCB7}"/>
              </a:ext>
            </a:extLst>
          </p:cNvPr>
          <p:cNvGrpSpPr/>
          <p:nvPr/>
        </p:nvGrpSpPr>
        <p:grpSpPr>
          <a:xfrm>
            <a:off x="867228" y="882804"/>
            <a:ext cx="6342743" cy="782519"/>
            <a:chOff x="7024188" y="157380"/>
            <a:chExt cx="6342743" cy="782519"/>
          </a:xfrm>
        </p:grpSpPr>
        <p:grpSp>
          <p:nvGrpSpPr>
            <p:cNvPr id="9" name="Group 8">
              <a:extLst>
                <a:ext uri="{FF2B5EF4-FFF2-40B4-BE49-F238E27FC236}">
                  <a16:creationId xmlns:a16="http://schemas.microsoft.com/office/drawing/2014/main" id="{D0222C13-A331-22FF-FE0D-18CEB21D3731}"/>
                </a:ext>
              </a:extLst>
            </p:cNvPr>
            <p:cNvGrpSpPr/>
            <p:nvPr/>
          </p:nvGrpSpPr>
          <p:grpSpPr>
            <a:xfrm>
              <a:off x="7024188" y="157380"/>
              <a:ext cx="6342743" cy="782519"/>
              <a:chOff x="0" y="0"/>
              <a:chExt cx="6342743" cy="782519"/>
            </a:xfrm>
          </p:grpSpPr>
          <p:sp>
            <p:nvSpPr>
              <p:cNvPr id="11" name="Rounded Rectangle 10">
                <a:extLst>
                  <a:ext uri="{FF2B5EF4-FFF2-40B4-BE49-F238E27FC236}">
                    <a16:creationId xmlns:a16="http://schemas.microsoft.com/office/drawing/2014/main" id="{D33F1CE1-C7DB-EA52-829E-8D8F1F9DC680}"/>
                  </a:ext>
                </a:extLst>
              </p:cNvPr>
              <p:cNvSpPr/>
              <p:nvPr/>
            </p:nvSpPr>
            <p:spPr>
              <a:xfrm>
                <a:off x="0" y="0"/>
                <a:ext cx="6342743" cy="782519"/>
              </a:xfrm>
              <a:prstGeom prst="roundRect">
                <a:avLst>
                  <a:gd name="adj" fmla="val 10000"/>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dirty="0"/>
              </a:p>
            </p:txBody>
          </p:sp>
          <p:sp>
            <p:nvSpPr>
              <p:cNvPr id="12" name="Rounded Rectangle 4">
                <a:extLst>
                  <a:ext uri="{FF2B5EF4-FFF2-40B4-BE49-F238E27FC236}">
                    <a16:creationId xmlns:a16="http://schemas.microsoft.com/office/drawing/2014/main" id="{062DFD64-217E-56F2-501A-CC068A450C27}"/>
                  </a:ext>
                </a:extLst>
              </p:cNvPr>
              <p:cNvSpPr txBox="1"/>
              <p:nvPr/>
            </p:nvSpPr>
            <p:spPr>
              <a:xfrm>
                <a:off x="1346800" y="0"/>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p:txBody>
          </p:sp>
        </p:grpSp>
        <p:sp>
          <p:nvSpPr>
            <p:cNvPr id="10" name="Rounded Rectangle 9" descr="Puzzle pieces with solid fill">
              <a:extLst>
                <a:ext uri="{FF2B5EF4-FFF2-40B4-BE49-F238E27FC236}">
                  <a16:creationId xmlns:a16="http://schemas.microsoft.com/office/drawing/2014/main" id="{D274EA08-A055-FF4A-7CD1-8EF0FF13B5B5}"/>
                </a:ext>
              </a:extLst>
            </p:cNvPr>
            <p:cNvSpPr/>
            <p:nvPr/>
          </p:nvSpPr>
          <p:spPr>
            <a:xfrm>
              <a:off x="7102439" y="235631"/>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16000" b="-16000"/>
              </a:stretch>
            </a:blipFill>
          </p:spPr>
          <p:style>
            <a:lnRef idx="2">
              <a:schemeClr val="lt1">
                <a:hueOff val="0"/>
                <a:satOff val="0"/>
                <a:lumOff val="0"/>
                <a:alphaOff val="0"/>
              </a:schemeClr>
            </a:lnRef>
            <a:fillRef idx="1">
              <a:scrgbClr r="0" g="0" b="0"/>
            </a:fillRef>
            <a:effectRef idx="0">
              <a:schemeClr val="accent2">
                <a:tint val="50000"/>
                <a:hueOff val="0"/>
                <a:satOff val="0"/>
                <a:lumOff val="0"/>
                <a:alphaOff val="0"/>
              </a:schemeClr>
            </a:effectRef>
            <a:fontRef idx="minor">
              <a:schemeClr val="lt1">
                <a:hueOff val="0"/>
                <a:satOff val="0"/>
                <a:lumOff val="0"/>
                <a:alphaOff val="0"/>
              </a:schemeClr>
            </a:fontRef>
          </p:style>
          <p:txBody>
            <a:bodyPr/>
            <a:lstStyle/>
            <a:p>
              <a:endParaRPr lang="en-US"/>
            </a:p>
          </p:txBody>
        </p:sp>
      </p:grpSp>
    </p:spTree>
    <p:extLst>
      <p:ext uri="{BB962C8B-B14F-4D97-AF65-F5344CB8AC3E}">
        <p14:creationId xmlns:p14="http://schemas.microsoft.com/office/powerpoint/2010/main" val="207193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54D41-4440-1C18-858E-8C750D6EB780}"/>
              </a:ext>
            </a:extLst>
          </p:cNvPr>
          <p:cNvSpPr>
            <a:spLocks noGrp="1"/>
          </p:cNvSpPr>
          <p:nvPr>
            <p:ph type="title"/>
          </p:nvPr>
        </p:nvSpPr>
        <p:spPr/>
        <p:txBody>
          <a:bodyPr/>
          <a:lstStyle/>
          <a:p>
            <a:r>
              <a:rPr lang="en-US" dirty="0"/>
              <a:t>Decomposing the act of Baking cupcakes</a:t>
            </a:r>
          </a:p>
        </p:txBody>
      </p:sp>
      <p:graphicFrame>
        <p:nvGraphicFramePr>
          <p:cNvPr id="4" name="Content Placeholder 2">
            <a:extLst>
              <a:ext uri="{FF2B5EF4-FFF2-40B4-BE49-F238E27FC236}">
                <a16:creationId xmlns:a16="http://schemas.microsoft.com/office/drawing/2014/main" id="{B5565ED4-7585-549A-19EE-8C91D0A80311}"/>
              </a:ext>
            </a:extLst>
          </p:cNvPr>
          <p:cNvGraphicFramePr>
            <a:graphicFrameLocks/>
          </p:cNvGraphicFramePr>
          <p:nvPr>
            <p:extLst>
              <p:ext uri="{D42A27DB-BD31-4B8C-83A1-F6EECF244321}">
                <p14:modId xmlns:p14="http://schemas.microsoft.com/office/powerpoint/2010/main" val="484794850"/>
              </p:ext>
            </p:extLst>
          </p:nvPr>
        </p:nvGraphicFramePr>
        <p:xfrm>
          <a:off x="1235869" y="2084832"/>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a16="http://schemas.microsoft.com/office/drawing/2014/main" id="{8E426B5F-0206-10DC-CF82-5BCED20326DE}"/>
              </a:ext>
            </a:extLst>
          </p:cNvPr>
          <p:cNvPicPr>
            <a:picLocks noChangeAspect="1"/>
          </p:cNvPicPr>
          <p:nvPr/>
        </p:nvPicPr>
        <p:blipFill>
          <a:blip r:embed="rId7"/>
          <a:stretch>
            <a:fillRect/>
          </a:stretch>
        </p:blipFill>
        <p:spPr>
          <a:xfrm>
            <a:off x="10374630" y="0"/>
            <a:ext cx="1828800" cy="1849257"/>
          </a:xfrm>
          <a:prstGeom prst="rect">
            <a:avLst/>
          </a:prstGeom>
        </p:spPr>
      </p:pic>
    </p:spTree>
    <p:extLst>
      <p:ext uri="{BB962C8B-B14F-4D97-AF65-F5344CB8AC3E}">
        <p14:creationId xmlns:p14="http://schemas.microsoft.com/office/powerpoint/2010/main" val="2090791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FE7B7-04E6-672F-6303-E9EF5CFB9E24}"/>
              </a:ext>
            </a:extLst>
          </p:cNvPr>
          <p:cNvSpPr>
            <a:spLocks noGrp="1"/>
          </p:cNvSpPr>
          <p:nvPr>
            <p:ph type="title"/>
          </p:nvPr>
        </p:nvSpPr>
        <p:spPr/>
        <p:txBody>
          <a:bodyPr/>
          <a:lstStyle/>
          <a:p>
            <a:r>
              <a:rPr lang="en-US" dirty="0"/>
              <a:t>Cupcakes: planning &amp; preparation</a:t>
            </a:r>
          </a:p>
        </p:txBody>
      </p:sp>
      <p:sp>
        <p:nvSpPr>
          <p:cNvPr id="3" name="Content Placeholder 2">
            <a:extLst>
              <a:ext uri="{FF2B5EF4-FFF2-40B4-BE49-F238E27FC236}">
                <a16:creationId xmlns:a16="http://schemas.microsoft.com/office/drawing/2014/main" id="{2F586A1E-9B3B-2F5E-47F2-C23670E49143}"/>
              </a:ext>
            </a:extLst>
          </p:cNvPr>
          <p:cNvSpPr>
            <a:spLocks noGrp="1"/>
          </p:cNvSpPr>
          <p:nvPr>
            <p:ph idx="1"/>
          </p:nvPr>
        </p:nvSpPr>
        <p:spPr/>
        <p:txBody>
          <a:bodyPr>
            <a:normAutofit/>
          </a:bodyPr>
          <a:lstStyle/>
          <a:p>
            <a:pPr marL="241300" indent="-241300"/>
            <a:r>
              <a:rPr lang="en-US" dirty="0"/>
              <a:t>Select the recipe</a:t>
            </a:r>
          </a:p>
          <a:p>
            <a:pPr marL="241300" indent="-241300"/>
            <a:r>
              <a:rPr lang="en-US" dirty="0"/>
              <a:t>Gather ingredients</a:t>
            </a:r>
          </a:p>
          <a:p>
            <a:pPr marL="241300" indent="-241300"/>
            <a:r>
              <a:rPr lang="en-US" dirty="0"/>
              <a:t>Collect kitchen supplies, tools, and equipment</a:t>
            </a:r>
          </a:p>
          <a:p>
            <a:pPr marL="241300" indent="-241300"/>
            <a:r>
              <a:rPr lang="en-US" dirty="0"/>
              <a:t>Preheat the oven</a:t>
            </a:r>
          </a:p>
        </p:txBody>
      </p:sp>
    </p:spTree>
    <p:extLst>
      <p:ext uri="{BB962C8B-B14F-4D97-AF65-F5344CB8AC3E}">
        <p14:creationId xmlns:p14="http://schemas.microsoft.com/office/powerpoint/2010/main" val="419320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D441A-8492-C303-D899-A6858CEC3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B67BF-FEB6-D3DA-59BC-937D89207C69}"/>
              </a:ext>
            </a:extLst>
          </p:cNvPr>
          <p:cNvSpPr>
            <a:spLocks noGrp="1"/>
          </p:cNvSpPr>
          <p:nvPr>
            <p:ph type="title"/>
          </p:nvPr>
        </p:nvSpPr>
        <p:spPr/>
        <p:txBody>
          <a:bodyPr/>
          <a:lstStyle/>
          <a:p>
            <a:r>
              <a:rPr lang="en-US" dirty="0"/>
              <a:t>Cupcakes: Mixing</a:t>
            </a:r>
          </a:p>
        </p:txBody>
      </p:sp>
      <p:sp>
        <p:nvSpPr>
          <p:cNvPr id="3" name="Content Placeholder 2">
            <a:extLst>
              <a:ext uri="{FF2B5EF4-FFF2-40B4-BE49-F238E27FC236}">
                <a16:creationId xmlns:a16="http://schemas.microsoft.com/office/drawing/2014/main" id="{6EBB7CEB-F396-F572-8A89-F746BC6173BA}"/>
              </a:ext>
            </a:extLst>
          </p:cNvPr>
          <p:cNvSpPr>
            <a:spLocks noGrp="1"/>
          </p:cNvSpPr>
          <p:nvPr>
            <p:ph idx="1"/>
          </p:nvPr>
        </p:nvSpPr>
        <p:spPr/>
        <p:txBody>
          <a:bodyPr/>
          <a:lstStyle/>
          <a:p>
            <a:pPr marL="241300" indent="-241300"/>
            <a:r>
              <a:rPr lang="en-US" dirty="0"/>
              <a:t>Prepare dry ingredients</a:t>
            </a:r>
          </a:p>
          <a:p>
            <a:pPr marL="241300" indent="-241300"/>
            <a:r>
              <a:rPr lang="en-US" dirty="0"/>
              <a:t>Prepare wet ingredients</a:t>
            </a:r>
          </a:p>
          <a:p>
            <a:pPr marL="241300" indent="-241300"/>
            <a:r>
              <a:rPr lang="en-US" dirty="0"/>
              <a:t>Combine wet and dry ingredients</a:t>
            </a:r>
          </a:p>
        </p:txBody>
      </p:sp>
    </p:spTree>
    <p:extLst>
      <p:ext uri="{BB962C8B-B14F-4D97-AF65-F5344CB8AC3E}">
        <p14:creationId xmlns:p14="http://schemas.microsoft.com/office/powerpoint/2010/main" val="3716697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DFD1B-E954-DA2D-EA44-0C56767E4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4CC65-590B-B014-8803-78D163803017}"/>
              </a:ext>
            </a:extLst>
          </p:cNvPr>
          <p:cNvSpPr>
            <a:spLocks noGrp="1"/>
          </p:cNvSpPr>
          <p:nvPr>
            <p:ph type="title"/>
          </p:nvPr>
        </p:nvSpPr>
        <p:spPr/>
        <p:txBody>
          <a:bodyPr/>
          <a:lstStyle/>
          <a:p>
            <a:r>
              <a:rPr lang="en-US" dirty="0"/>
              <a:t>Cupcakes: Baking</a:t>
            </a:r>
          </a:p>
        </p:txBody>
      </p:sp>
      <p:sp>
        <p:nvSpPr>
          <p:cNvPr id="3" name="Content Placeholder 2">
            <a:extLst>
              <a:ext uri="{FF2B5EF4-FFF2-40B4-BE49-F238E27FC236}">
                <a16:creationId xmlns:a16="http://schemas.microsoft.com/office/drawing/2014/main" id="{71B6AF02-CFBF-7A1A-CE43-1602B43B60C4}"/>
              </a:ext>
            </a:extLst>
          </p:cNvPr>
          <p:cNvSpPr>
            <a:spLocks noGrp="1"/>
          </p:cNvSpPr>
          <p:nvPr>
            <p:ph idx="1"/>
          </p:nvPr>
        </p:nvSpPr>
        <p:spPr/>
        <p:txBody>
          <a:bodyPr>
            <a:normAutofit/>
          </a:bodyPr>
          <a:lstStyle/>
          <a:p>
            <a:pPr marL="285750" indent="-285750"/>
            <a:r>
              <a:rPr lang="en-US" dirty="0"/>
              <a:t>Prepare the pan</a:t>
            </a:r>
          </a:p>
          <a:p>
            <a:pPr marL="285750" indent="-285750"/>
            <a:r>
              <a:rPr lang="en-US" dirty="0"/>
              <a:t>Pour the batter </a:t>
            </a:r>
          </a:p>
          <a:p>
            <a:pPr marL="285750" indent="-285750"/>
            <a:r>
              <a:rPr lang="en-US" dirty="0"/>
              <a:t>Bake for required time</a:t>
            </a:r>
          </a:p>
          <a:p>
            <a:pPr marL="285750" indent="-285750"/>
            <a:r>
              <a:rPr lang="en-US" dirty="0"/>
              <a:t>Check for doneness</a:t>
            </a:r>
          </a:p>
          <a:p>
            <a:pPr marL="285750" indent="-285750"/>
            <a:r>
              <a:rPr lang="en-US" dirty="0"/>
              <a:t>When done remove pan from oven</a:t>
            </a:r>
          </a:p>
          <a:p>
            <a:pPr marL="285750" indent="-285750"/>
            <a:endParaRPr lang="en-US" dirty="0"/>
          </a:p>
        </p:txBody>
      </p:sp>
    </p:spTree>
    <p:extLst>
      <p:ext uri="{BB962C8B-B14F-4D97-AF65-F5344CB8AC3E}">
        <p14:creationId xmlns:p14="http://schemas.microsoft.com/office/powerpoint/2010/main" val="131324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55AA1-E964-9690-FF92-5C92423C2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998C9-A471-14C5-7463-AC72AD69A010}"/>
              </a:ext>
            </a:extLst>
          </p:cNvPr>
          <p:cNvSpPr>
            <a:spLocks noGrp="1"/>
          </p:cNvSpPr>
          <p:nvPr>
            <p:ph type="title"/>
          </p:nvPr>
        </p:nvSpPr>
        <p:spPr/>
        <p:txBody>
          <a:bodyPr/>
          <a:lstStyle/>
          <a:p>
            <a:r>
              <a:rPr lang="en-US" dirty="0"/>
              <a:t>Cupcakes: finishing</a:t>
            </a:r>
          </a:p>
        </p:txBody>
      </p:sp>
      <p:sp>
        <p:nvSpPr>
          <p:cNvPr id="3" name="Content Placeholder 2">
            <a:extLst>
              <a:ext uri="{FF2B5EF4-FFF2-40B4-BE49-F238E27FC236}">
                <a16:creationId xmlns:a16="http://schemas.microsoft.com/office/drawing/2014/main" id="{4DB83757-1E26-7894-20C0-B07CFB38F591}"/>
              </a:ext>
            </a:extLst>
          </p:cNvPr>
          <p:cNvSpPr>
            <a:spLocks noGrp="1"/>
          </p:cNvSpPr>
          <p:nvPr>
            <p:ph idx="1"/>
          </p:nvPr>
        </p:nvSpPr>
        <p:spPr/>
        <p:txBody>
          <a:bodyPr/>
          <a:lstStyle/>
          <a:p>
            <a:pPr marL="285750" indent="-285750"/>
            <a:r>
              <a:rPr lang="en-US" dirty="0"/>
              <a:t>Remove cupcakes from pan</a:t>
            </a:r>
          </a:p>
          <a:p>
            <a:pPr marL="285750" indent="-285750"/>
            <a:r>
              <a:rPr lang="en-US" dirty="0"/>
              <a:t>Cool the cupcakes</a:t>
            </a:r>
          </a:p>
          <a:p>
            <a:pPr marL="285750" indent="-285750"/>
            <a:r>
              <a:rPr lang="en-US" dirty="0"/>
              <a:t>Decorate cupcakes</a:t>
            </a:r>
          </a:p>
        </p:txBody>
      </p:sp>
    </p:spTree>
    <p:extLst>
      <p:ext uri="{BB962C8B-B14F-4D97-AF65-F5344CB8AC3E}">
        <p14:creationId xmlns:p14="http://schemas.microsoft.com/office/powerpoint/2010/main" val="2782819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3F1A8-E4C6-4B24-E120-A64FC0B3820E}"/>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6B8143AF-7AC0-609C-19F9-66A3612D4535}"/>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1321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Today's lab case</a:t>
            </a:r>
          </a:p>
        </p:txBody>
      </p:sp>
      <p:sp>
        <p:nvSpPr>
          <p:cNvPr id="12" name="TextBox 12"/>
          <p:cNvSpPr txBox="1"/>
          <p:nvPr/>
        </p:nvSpPr>
        <p:spPr>
          <a:xfrm>
            <a:off x="1024128" y="2103120"/>
            <a:ext cx="5852160" cy="3566160"/>
          </a:xfrm>
          <a:prstGeom prst="rect">
            <a:avLst/>
          </a:prstGeom>
          <a:noFill/>
        </p:spPr>
        <p:txBody>
          <a:bodyPr wrap="square" lIns="91440" tIns="91440" rIns="91440" bIns="91440" rtlCol="0" anchor="t">
            <a:normAutofit/>
          </a:bodyPr>
          <a:lstStyle/>
          <a:p>
            <a:pPr marL="0" indent="0">
              <a:spcAft>
                <a:spcPts val="1200"/>
              </a:spcAft>
              <a:buNone/>
            </a:pPr>
            <a:r>
              <a:rPr lang="en-US" dirty="0" sz="2000"/>
              <a:t>ICU clinicians say their chemistry results come back slower than results for other units.</a:t>
            </a:r>
          </a:p>
          <a:p>
            <a:pPr marL="0" indent="0">
              <a:spcAft>
                <a:spcPts val="600"/>
              </a:spcAft>
              <a:buNone/>
            </a:pPr>
            <a:r>
              <a:rPr lang="en-US" dirty="0" sz="2000" b="1"/>
              <a:t>The lab director asks:</a:t>
            </a:r>
          </a:p>
          <a:p>
            <a:pPr marL="0" indent="0">
              <a:spcAft>
                <a:spcPts val="400"/>
              </a:spcAft>
              <a:buNone/>
            </a:pPr>
            <a:r>
              <a:rPr lang="en-US" dirty="0" sz="2000" b="1"/>
              <a:t xml:space="preserve">Q1. </a:t>
            </a:r>
            <a:r>
              <a:rPr lang="en-US" dirty="0" sz="2000"/>
              <a:t>Does turnaround time (TAT) differ by patient type?</a:t>
            </a:r>
          </a:p>
          <a:p>
            <a:pPr marL="0" indent="0">
              <a:spcAft>
                <a:spcPts val="0"/>
              </a:spcAft>
              <a:buNone/>
            </a:pPr>
            <a:r>
              <a:rPr lang="en-US" dirty="0" sz="2000" b="1"/>
              <a:t xml:space="preserve">Q2. </a:t>
            </a:r>
            <a:r>
              <a:rPr lang="en-US" dirty="0" sz="2000"/>
              <a:t>Are we meeting a 3-hour collect-to-verify goal?</a:t>
            </a:r>
          </a:p>
        </p:txBody>
      </p:sp>
      <p:sp>
        <p:nvSpPr>
          <p:cNvPr id="13" name="TextBox 13"/>
          <p:cNvSpPr txBox="1"/>
          <p:nvPr/>
        </p:nvSpPr>
        <p:spPr>
          <a:xfrm>
            <a:off x="7223760" y="2240280"/>
            <a:ext cx="3749039" cy="3200400"/>
          </a:xfrm>
          <a:prstGeom prst="rect">
            <a:avLst/>
          </a:prstGeom>
          <a:solidFill>
            <a:srgbClr val="EEF3F6"/>
          </a:solidFill>
        </p:spPr>
        <p:txBody>
          <a:bodyPr wrap="square" lIns="137160" tIns="137160" rIns="137160" bIns="137160" rtlCol="0" anchor="t">
            <a:normAutofit/>
          </a:bodyPr>
          <a:lstStyle/>
          <a:p>
            <a:pPr marL="0" indent="0">
              <a:buNone/>
            </a:pPr>
            <a:r>
              <a:rPr lang="en-US" dirty="0" sz="1600">
                <a:solidFill>
                  <a:srgbClr val="1F2A30"/>
                </a:solidFill>
                <a:latin typeface="Courier New"/>
                <a:cs typeface="Courier New"/>
              </a:rPr>
              <a:t>chem_data.csv</a:t>
            </a:r>
          </a:p>
          <a:p>
            <a:pPr marL="0" indent="0">
              <a:buNone/>
            </a:pPr>
            <a:r>
              <a:rPr lang="en-US" dirty="0" sz="1600">
                <a:solidFill>
                  <a:srgbClr val="1F2A30"/>
                </a:solidFill>
                <a:latin typeface="Courier New"/>
                <a:cs typeface="Courier New"/>
              </a:rPr>
              <a:t xml:space="preserve"> </a:t>
            </a:r>
          </a:p>
          <a:p>
            <a:pPr marL="0" indent="0">
              <a:buNone/>
            </a:pPr>
            <a:r>
              <a:rPr lang="en-US" dirty="0" sz="1600">
                <a:solidFill>
                  <a:srgbClr val="1F2A30"/>
                </a:solidFill>
                <a:latin typeface="Courier New"/>
                <a:cs typeface="Courier New"/>
              </a:rPr>
              <a:t>Synthetic chemistry results</a:t>
            </a:r>
          </a:p>
          <a:p>
            <a:pPr marL="0" indent="0">
              <a:buNone/>
            </a:pPr>
            <a:r>
              <a:rPr lang="en-US" dirty="0" sz="1600">
                <a:solidFill>
                  <a:srgbClr val="1F2A30"/>
                </a:solidFill>
                <a:latin typeface="Courier New"/>
                <a:cs typeface="Courier New"/>
              </a:rPr>
              <a:t>6,481 patients</a:t>
            </a:r>
          </a:p>
          <a:p>
            <a:pPr marL="0" indent="0">
              <a:buNone/>
            </a:pPr>
            <a:r>
              <a:rPr lang="en-US" dirty="0" sz="1600">
                <a:solidFill>
                  <a:srgbClr val="1F2A30"/>
                </a:solidFill>
                <a:latin typeface="Courier New"/>
                <a:cs typeface="Courier New"/>
              </a:rPr>
              <a:t>24 tests per patient</a:t>
            </a:r>
          </a:p>
          <a:p>
            <a:pPr marL="0" indent="0">
              <a:buNone/>
            </a:pPr>
            <a:r>
              <a:rPr lang="en-US" dirty="0" sz="1600">
                <a:solidFill>
                  <a:srgbClr val="1F2A30"/>
                </a:solidFill>
                <a:latin typeface="Courier New"/>
                <a:cs typeface="Courier New"/>
              </a:rPr>
              <a:t xml:space="preserve"> </a:t>
            </a:r>
          </a:p>
          <a:p>
            <a:pPr marL="0" indent="0">
              <a:buNone/>
            </a:pPr>
            <a:r>
              <a:rPr lang="en-US" dirty="0" sz="1600">
                <a:solidFill>
                  <a:srgbClr val="1F2A30"/>
                </a:solidFill>
                <a:latin typeface="Courier New"/>
                <a:cs typeface="Courier New"/>
              </a:rPr>
              <a:t>Tools today:</a:t>
            </a:r>
          </a:p>
          <a:p>
            <a:pPr marL="0" indent="0">
              <a:buNone/>
            </a:pPr>
            <a:r>
              <a:rPr lang="en-US" dirty="0" sz="1600">
                <a:solidFill>
                  <a:srgbClr val="1F2A30"/>
                </a:solidFill>
                <a:latin typeface="Courier New"/>
                <a:cs typeface="Courier New"/>
              </a:rPr>
              <a:t xml:space="preserve">  RStudio</a:t>
            </a:r>
          </a:p>
          <a:p>
            <a:pPr marL="0" indent="0">
              <a:buNone/>
            </a:pPr>
            <a:r>
              <a:rPr lang="en-US" dirty="0" sz="1600">
                <a:solidFill>
                  <a:srgbClr val="1F2A30"/>
                </a:solidFill>
                <a:latin typeface="Courier New"/>
                <a:cs typeface="Courier New"/>
              </a:rPr>
              <a:t xml:space="preserve">  Claude (free account)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Decomposition</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dirty="0" sz="3600" b="1">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dirty="0" sz="1800" b="1">
                <a:solidFill>
                  <a:srgbClr val="1B7FA6"/>
                </a:solidFill>
              </a:rPr>
              <a:t>Objective 1: Break a complex problem into smaller, manageable parts</a:t>
            </a:r>
          </a:p>
        </p:txBody>
      </p:sp>
      <p:sp>
        <p:nvSpPr>
          <p:cNvPr id="14" name="TextBox 14"/>
          <p:cNvSpPr txBox="1"/>
          <p:nvPr/>
        </p:nvSpPr>
        <p:spPr>
          <a:xfrm>
            <a:off x="1024128" y="2423160"/>
            <a:ext cx="5394960" cy="347472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dirty="0" sz="1700" b="1"/>
              <a:t xml:space="preserve">On your own first (5 min): </a:t>
            </a:r>
            <a:r>
              <a:rPr lang="en-US" dirty="0" sz="1700"/>
              <a:t>list the sub-tasks needed to answer Q1 and Q2. Use the handout.</a:t>
            </a:r>
          </a:p>
          <a:p>
            <a:pPr marL="457200" lvl="0" indent="-457200">
              <a:spcAft>
                <a:spcPts val="600"/>
              </a:spcAft>
              <a:buFont typeface="+mj-lt"/>
              <a:buAutoNum type="arabicPeriod"/>
            </a:pPr>
            <a:r>
              <a:rPr lang="en-US" dirty="0" sz="1700"/>
              <a:t>For each sub-task, note its input and its output.</a:t>
            </a:r>
          </a:p>
          <a:p>
            <a:pPr marL="457200" lvl="0" indent="-457200">
              <a:spcAft>
                <a:spcPts val="600"/>
              </a:spcAft>
              <a:buFont typeface="+mj-lt"/>
              <a:buAutoNum type="arabicPeriod"/>
            </a:pPr>
            <a:r>
              <a:rPr lang="en-US" dirty="0" sz="1700"/>
              <a:t>Then ask Claude (prompt at right).</a:t>
            </a:r>
          </a:p>
          <a:p>
            <a:pPr marL="457200" lvl="0" indent="-457200">
              <a:spcAft>
                <a:spcPts val="600"/>
              </a:spcAft>
              <a:buFont typeface="+mj-lt"/>
              <a:buAutoNum type="arabicPeriod"/>
            </a:pPr>
            <a:r>
              <a:rPr lang="en-US" dirty="0" sz="1700"/>
              <a:t>Compare the lists. What did Claude miss that only a lab person would know? What did you miss?</a:t>
            </a:r>
          </a:p>
          <a:p>
            <a:pPr marL="457200" lvl="0" indent="-457200">
              <a:spcAft>
                <a:spcPts val="600"/>
              </a:spcAft>
              <a:buFont typeface="+mj-lt"/>
              <a:buAutoNum type="arabicPeriod"/>
            </a:pPr>
            <a:r>
              <a:rPr lang="en-US" dirty="0" sz="1700"/>
              <a:t>Share one difference with the group.</a:t>
            </a:r>
          </a:p>
        </p:txBody>
      </p:sp>
      <p:sp>
        <p:nvSpPr>
          <p:cNvPr id="15" name="TextBox 15"/>
          <p:cNvSpPr txBox="1"/>
          <p:nvPr/>
        </p:nvSpPr>
        <p:spPr>
          <a:xfrm>
            <a:off x="6629400" y="2468879"/>
            <a:ext cx="4526280" cy="3246120"/>
          </a:xfrm>
          <a:prstGeom prst="rect">
            <a:avLst/>
          </a:prstGeom>
          <a:solidFill>
            <a:srgbClr val="EEF3F6"/>
          </a:solidFill>
        </p:spPr>
        <p:txBody>
          <a:bodyPr wrap="square" lIns="137160" tIns="137160" rIns="137160" bIns="137160" rtlCol="0" anchor="t">
            <a:normAutofit/>
          </a:bodyPr>
          <a:lstStyle/>
          <a:p>
            <a:pPr marL="0" indent="0">
              <a:buNone/>
            </a:pPr>
            <a:r>
              <a:rPr lang="en-US" dirty="0" sz="1500">
                <a:solidFill>
                  <a:srgbClr val="1F2A30"/>
                </a:solidFill>
                <a:latin typeface="Courier New"/>
                <a:cs typeface="Courier New"/>
              </a:rPr>
              <a:t>I work in a clinical lab.</a:t>
            </a:r>
          </a:p>
          <a:p>
            <a:pPr marL="0" indent="0">
              <a:buNone/>
            </a:pPr>
            <a:r>
              <a:rPr lang="en-US" dirty="0" sz="1500">
                <a:solidFill>
                  <a:srgbClr val="1F2A30"/>
                </a:solidFill>
                <a:latin typeface="Courier New"/>
                <a:cs typeface="Courier New"/>
              </a:rPr>
              <a:t>I need to find out whether</a:t>
            </a:r>
          </a:p>
          <a:p>
            <a:pPr marL="0" indent="0">
              <a:buNone/>
            </a:pPr>
            <a:r>
              <a:rPr lang="en-US" dirty="0" sz="1500">
                <a:solidFill>
                  <a:srgbClr val="1F2A30"/>
                </a:solidFill>
                <a:latin typeface="Courier New"/>
                <a:cs typeface="Courier New"/>
              </a:rPr>
              <a:t>turnaround time differs by</a:t>
            </a:r>
          </a:p>
          <a:p>
            <a:pPr marL="0" indent="0">
              <a:buNone/>
            </a:pPr>
            <a:r>
              <a:rPr lang="en-US" dirty="0" sz="1500">
                <a:solidFill>
                  <a:srgbClr val="1F2A30"/>
                </a:solidFill>
                <a:latin typeface="Courier New"/>
                <a:cs typeface="Courier New"/>
              </a:rPr>
              <a:t>patient type, and whether we</a:t>
            </a:r>
          </a:p>
          <a:p>
            <a:pPr marL="0" indent="0">
              <a:buNone/>
            </a:pPr>
            <a:r>
              <a:rPr lang="en-US" dirty="0" sz="1500">
                <a:solidFill>
                  <a:srgbClr val="1F2A30"/>
                </a:solidFill>
                <a:latin typeface="Courier New"/>
                <a:cs typeface="Courier New"/>
              </a:rPr>
              <a:t>meet a 3-hour collect-to-verify</a:t>
            </a:r>
          </a:p>
          <a:p>
            <a:pPr marL="0" indent="0">
              <a:buNone/>
            </a:pPr>
            <a:r>
              <a:rPr lang="en-US" dirty="0" sz="1500">
                <a:solidFill>
                  <a:srgbClr val="1F2A30"/>
                </a:solidFill>
                <a:latin typeface="Courier New"/>
                <a:cs typeface="Courier New"/>
              </a:rPr>
              <a:t>goal. Break this problem into</a:t>
            </a:r>
          </a:p>
          <a:p>
            <a:pPr marL="0" indent="0">
              <a:buNone/>
            </a:pPr>
            <a:r>
              <a:rPr lang="en-US" dirty="0" sz="1500">
                <a:solidFill>
                  <a:srgbClr val="1F2A30"/>
                </a:solidFill>
                <a:latin typeface="Courier New"/>
                <a:cs typeface="Courier New"/>
              </a:rPr>
              <a:t>smaller sub-tasks. List the</a:t>
            </a:r>
          </a:p>
          <a:p>
            <a:pPr marL="0" indent="0">
              <a:buNone/>
            </a:pPr>
            <a:r>
              <a:rPr lang="en-US" dirty="0" sz="1500">
                <a:solidFill>
                  <a:srgbClr val="1F2A30"/>
                </a:solidFill>
                <a:latin typeface="Courier New"/>
                <a:cs typeface="Courier New"/>
              </a:rPr>
              <a:t>input and output of each.</a:t>
            </a:r>
          </a:p>
          <a:p>
            <a:pPr marL="0" indent="0">
              <a:buNone/>
            </a:pPr>
            <a:r>
              <a:rPr lang="en-US" dirty="0" sz="1500">
                <a:solidFill>
                  <a:srgbClr val="1F2A30"/>
                </a:solidFill>
                <a:latin typeface="Courier New"/>
                <a:cs typeface="Courier New"/>
              </a:rPr>
              <a:t>Do not write code.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Model sub-tasks</a:t>
            </a:r>
          </a:p>
        </p:txBody>
      </p:sp>
      <p:sp>
        <p:nvSpPr>
          <p:cNvPr id="12" name="TextBox 12"/>
          <p:cNvSpPr txBox="1"/>
          <p:nvPr/>
        </p:nvSpPr>
        <p:spPr>
          <a:xfrm>
            <a:off x="1024128" y="2103120"/>
            <a:ext cx="6766560" cy="3749039"/>
          </a:xfrm>
          <a:prstGeom prst="rect">
            <a:avLst/>
          </a:prstGeom>
          <a:noFill/>
        </p:spPr>
        <p:txBody>
          <a:bodyPr wrap="square" lIns="91440" tIns="91440" rIns="91440" bIns="91440" rtlCol="0" anchor="t">
            <a:normAutofit/>
          </a:bodyPr>
          <a:lstStyle/>
          <a:p>
            <a:pPr marL="457200" lvl="0" indent="-457200">
              <a:spcAft>
                <a:spcPts val="300"/>
              </a:spcAft>
              <a:buFont typeface="+mj-lt"/>
              <a:buAutoNum type="arabicPeriod"/>
            </a:pPr>
            <a:r>
              <a:rPr lang="en-US" dirty="0" sz="1700"/>
              <a:t>Define TAT: collect to verify, in hours</a:t>
            </a:r>
          </a:p>
          <a:p>
            <a:pPr marL="457200" lvl="0" indent="-457200">
              <a:spcAft>
                <a:spcPts val="300"/>
              </a:spcAft>
              <a:buFont typeface="+mj-lt"/>
              <a:buAutoNum type="arabicPeriod"/>
            </a:pPr>
            <a:r>
              <a:rPr lang="en-US" dirty="0" sz="1700"/>
              <a:t>Load the data and check its structure</a:t>
            </a:r>
          </a:p>
          <a:p>
            <a:pPr marL="457200" lvl="0" indent="-457200">
              <a:spcAft>
                <a:spcPts val="300"/>
              </a:spcAft>
              <a:buFont typeface="+mj-lt"/>
              <a:buAutoNum type="arabicPeriod"/>
            </a:pPr>
            <a:r>
              <a:rPr lang="en-US" dirty="0" sz="1700" b="1"/>
              <a:t>Decide what one row is (one test result, not one patient)</a:t>
            </a:r>
          </a:p>
          <a:p>
            <a:pPr marL="457200" lvl="0" indent="-457200">
              <a:spcAft>
                <a:spcPts val="300"/>
              </a:spcAft>
              <a:buFont typeface="+mj-lt"/>
              <a:buAutoNum type="arabicPeriod"/>
            </a:pPr>
            <a:r>
              <a:rPr lang="en-US" dirty="0" sz="1700" b="1"/>
              <a:t>Decide how to handle missing patient type</a:t>
            </a:r>
          </a:p>
          <a:p>
            <a:pPr marL="457200" lvl="0" indent="-457200">
              <a:spcAft>
                <a:spcPts val="300"/>
              </a:spcAft>
              <a:buFont typeface="+mj-lt"/>
              <a:buAutoNum type="arabicPeriod"/>
            </a:pPr>
            <a:r>
              <a:rPr lang="en-US" dirty="0" sz="1700" b="1"/>
              <a:t>Reduce to one row per patient before counting</a:t>
            </a:r>
          </a:p>
          <a:p>
            <a:pPr marL="457200" lvl="0" indent="-457200">
              <a:spcAft>
                <a:spcPts val="300"/>
              </a:spcAft>
              <a:buFont typeface="+mj-lt"/>
              <a:buAutoNum type="arabicPeriod"/>
            </a:pPr>
            <a:r>
              <a:rPr lang="en-US" dirty="0" sz="1700"/>
              <a:t>Group by patient type and summarize: n, median, 90th percentile</a:t>
            </a:r>
          </a:p>
          <a:p>
            <a:pPr marL="457200" lvl="0" indent="-457200">
              <a:spcAft>
                <a:spcPts val="300"/>
              </a:spcAft>
              <a:buFont typeface="+mj-lt"/>
              <a:buAutoNum type="arabicPeriod"/>
            </a:pPr>
            <a:r>
              <a:rPr lang="en-US" dirty="0" sz="1700"/>
              <a:t>Calculate % of patients over 3 hours</a:t>
            </a:r>
          </a:p>
          <a:p>
            <a:pPr marL="457200" lvl="0" indent="-457200">
              <a:spcAft>
                <a:spcPts val="300"/>
              </a:spcAft>
              <a:buFont typeface="+mj-lt"/>
              <a:buAutoNum type="arabicPeriod"/>
            </a:pPr>
            <a:r>
              <a:rPr lang="en-US" dirty="0" sz="1700"/>
              <a:t>Check that the result makes sense</a:t>
            </a:r>
          </a:p>
        </p:txBody>
      </p:sp>
      <p:sp>
        <p:nvSpPr>
          <p:cNvPr id="13" name="TextBox 13"/>
          <p:cNvSpPr txBox="1"/>
          <p:nvPr/>
        </p:nvSpPr>
        <p:spPr>
          <a:xfrm>
            <a:off x="8092440" y="2240280"/>
            <a:ext cx="3017520" cy="1463040"/>
          </a:xfrm>
          <a:prstGeom prst="rect">
            <a:avLst/>
          </a:prstGeom>
          <a:solidFill>
            <a:srgbClr val="EEF3F6"/>
          </a:solidFill>
        </p:spPr>
        <p:txBody>
          <a:bodyPr wrap="square" lIns="137160" tIns="137160" rIns="137160" bIns="137160" rtlCol="0" anchor="t">
            <a:normAutofit/>
          </a:bodyPr>
          <a:lstStyle/>
          <a:p>
            <a:pPr marL="0" indent="0">
              <a:spcAft>
                <a:spcPts val="0"/>
              </a:spcAft>
              <a:buNone/>
            </a:pPr>
            <a:r>
              <a:rPr lang="en-US" dirty="0" sz="1600" b="1"/>
              <a:t>Bold</a:t>
            </a:r>
            <a:r>
              <a:rPr lang="en-US" dirty="0" sz="1600"/>
              <a:t xml:space="preserve"> = needs lab knowledge of the data. A generic answer often skips these.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94809-B0D5-124C-B2EB-280312CB9B74}"/>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61F20066-EC7F-97DD-A6D8-F79279731F61}"/>
              </a:ext>
            </a:extLst>
          </p:cNvPr>
          <p:cNvSpPr>
            <a:spLocks noGrp="1"/>
          </p:cNvSpPr>
          <p:nvPr>
            <p:ph idx="1"/>
          </p:nvPr>
        </p:nvSpPr>
        <p:spPr/>
        <p:txBody>
          <a:bodyPr>
            <a:normAutofit fontScale="92500" lnSpcReduction="20000"/>
          </a:bodyPr>
          <a:lstStyle/>
          <a:p>
            <a:pPr marL="241300" indent="-241300"/>
            <a:r>
              <a:rPr lang="en-US" dirty="0"/>
              <a:t>Anticipate necessary components, required expertise, data access, tools</a:t>
            </a:r>
          </a:p>
          <a:p>
            <a:pPr marL="241300" indent="-241300"/>
            <a:r>
              <a:rPr lang="en-US" dirty="0"/>
              <a:t>Start to define user requirement and identify constraints and potential blockers</a:t>
            </a:r>
          </a:p>
          <a:p>
            <a:pPr marL="241300" indent="-241300"/>
            <a:r>
              <a:rPr lang="en-US" dirty="0"/>
              <a:t>Helps clarify the job and makes it more manageable</a:t>
            </a:r>
          </a:p>
          <a:p>
            <a:pPr marL="241300" indent="-241300"/>
            <a:endParaRPr lang="en-US" dirty="0"/>
          </a:p>
          <a:p>
            <a:pPr marL="241300" indent="-241300"/>
            <a:r>
              <a:rPr lang="en-US" b="1" dirty="0"/>
              <a:t>Computational examples: </a:t>
            </a:r>
            <a:r>
              <a:rPr lang="en-US" dirty="0"/>
              <a:t>writing code in chunks and splitting by task (reading data, graphing), distributed work of virtual machines, bioinformatic pipelines</a:t>
            </a:r>
          </a:p>
          <a:p>
            <a:endParaRPr lang="en-US" dirty="0"/>
          </a:p>
        </p:txBody>
      </p:sp>
    </p:spTree>
    <p:extLst>
      <p:ext uri="{BB962C8B-B14F-4D97-AF65-F5344CB8AC3E}">
        <p14:creationId xmlns:p14="http://schemas.microsoft.com/office/powerpoint/2010/main" val="2561100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68378-300E-D915-415B-B8C4DA83E060}"/>
              </a:ext>
            </a:extLst>
          </p:cNvPr>
          <p:cNvSpPr>
            <a:spLocks noGrp="1"/>
          </p:cNvSpPr>
          <p:nvPr>
            <p:ph type="title"/>
          </p:nvPr>
        </p:nvSpPr>
        <p:spPr/>
        <p:txBody>
          <a:bodyPr/>
          <a:lstStyle/>
          <a:p>
            <a:r>
              <a:rPr lang="en-US" dirty="0"/>
              <a:t>Pattern recognition</a:t>
            </a:r>
          </a:p>
        </p:txBody>
      </p:sp>
      <p:sp>
        <p:nvSpPr>
          <p:cNvPr id="3" name="Content Placeholder 2">
            <a:extLst>
              <a:ext uri="{FF2B5EF4-FFF2-40B4-BE49-F238E27FC236}">
                <a16:creationId xmlns:a16="http://schemas.microsoft.com/office/drawing/2014/main" id="{F9FD8879-E39D-B8B4-C0A0-DAD329F5D0CC}"/>
              </a:ext>
            </a:extLst>
          </p:cNvPr>
          <p:cNvSpPr>
            <a:spLocks noGrp="1"/>
          </p:cNvSpPr>
          <p:nvPr>
            <p:ph idx="1"/>
          </p:nvPr>
        </p:nvSpPr>
        <p:spPr/>
        <p:txBody>
          <a:bodyPr>
            <a:normAutofit/>
          </a:bodyPr>
          <a:lstStyle/>
          <a:p>
            <a:pPr marL="0" indent="0">
              <a:buNone/>
            </a:pPr>
            <a:r>
              <a:rPr lang="en-US" dirty="0"/>
              <a:t>Identify recurring patterns or trends within a problem to help formulate solutions</a:t>
            </a:r>
          </a:p>
          <a:p>
            <a:pPr marL="0" indent="0">
              <a:buNone/>
            </a:pPr>
            <a:endParaRPr lang="en-US" dirty="0"/>
          </a:p>
          <a:p>
            <a:pPr marL="514350" indent="-514350">
              <a:buAutoNum type="arabicPeriod"/>
            </a:pPr>
            <a:r>
              <a:rPr lang="en-US" dirty="0"/>
              <a:t>Look for common characteristics, motifs, and trends</a:t>
            </a:r>
          </a:p>
          <a:p>
            <a:pPr marL="514350" indent="-514350">
              <a:buAutoNum type="arabicPeriod"/>
            </a:pPr>
            <a:r>
              <a:rPr lang="en-US" dirty="0"/>
              <a:t>Use pattern to identify solution</a:t>
            </a:r>
          </a:p>
          <a:p>
            <a:pPr marL="514350" indent="-514350">
              <a:buAutoNum type="arabicPeriod"/>
            </a:pPr>
            <a:r>
              <a:rPr lang="en-US" dirty="0"/>
              <a:t>Generalize solution across pattern in sub-tasks but also in other problems</a:t>
            </a:r>
          </a:p>
        </p:txBody>
      </p:sp>
      <p:grpSp>
        <p:nvGrpSpPr>
          <p:cNvPr id="4" name="Group 3">
            <a:extLst>
              <a:ext uri="{FF2B5EF4-FFF2-40B4-BE49-F238E27FC236}">
                <a16:creationId xmlns:a16="http://schemas.microsoft.com/office/drawing/2014/main" id="{36A71F02-4560-480F-B0A1-58FAA9DA02AD}"/>
              </a:ext>
            </a:extLst>
          </p:cNvPr>
          <p:cNvGrpSpPr/>
          <p:nvPr/>
        </p:nvGrpSpPr>
        <p:grpSpPr>
          <a:xfrm>
            <a:off x="876300" y="886261"/>
            <a:ext cx="6342743" cy="782519"/>
            <a:chOff x="0" y="860771"/>
            <a:chExt cx="6342743" cy="782519"/>
          </a:xfrm>
        </p:grpSpPr>
        <p:sp>
          <p:nvSpPr>
            <p:cNvPr id="6" name="Rounded Rectangle 5">
              <a:extLst>
                <a:ext uri="{FF2B5EF4-FFF2-40B4-BE49-F238E27FC236}">
                  <a16:creationId xmlns:a16="http://schemas.microsoft.com/office/drawing/2014/main" id="{3DC3338E-9E05-7535-6DC7-7FC0581331E9}"/>
                </a:ext>
              </a:extLst>
            </p:cNvPr>
            <p:cNvSpPr/>
            <p:nvPr/>
          </p:nvSpPr>
          <p:spPr>
            <a:xfrm>
              <a:off x="0" y="860771"/>
              <a:ext cx="6342743" cy="782519"/>
            </a:xfrm>
            <a:prstGeom prst="roundRect">
              <a:avLst>
                <a:gd name="adj" fmla="val 10000"/>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C6259C79-C5C8-63BB-E779-66E6CA6DE447}"/>
                </a:ext>
              </a:extLst>
            </p:cNvPr>
            <p:cNvSpPr txBox="1"/>
            <p:nvPr/>
          </p:nvSpPr>
          <p:spPr>
            <a:xfrm>
              <a:off x="1346800" y="860771"/>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p:txBody>
        </p:sp>
      </p:grpSp>
      <p:sp>
        <p:nvSpPr>
          <p:cNvPr id="5" name="Rounded Rectangle 4" descr="Bar graph with upward trend with solid fill">
            <a:extLst>
              <a:ext uri="{FF2B5EF4-FFF2-40B4-BE49-F238E27FC236}">
                <a16:creationId xmlns:a16="http://schemas.microsoft.com/office/drawing/2014/main" id="{14A27668-9609-3163-1640-957BD9A2FF45}"/>
              </a:ext>
            </a:extLst>
          </p:cNvPr>
          <p:cNvSpPr/>
          <p:nvPr/>
        </p:nvSpPr>
        <p:spPr>
          <a:xfrm>
            <a:off x="954551" y="964513"/>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31000" b="-31000"/>
            </a:stretch>
          </a:blipFill>
        </p:spPr>
        <p:style>
          <a:lnRef idx="2">
            <a:schemeClr val="lt1">
              <a:hueOff val="0"/>
              <a:satOff val="0"/>
              <a:lumOff val="0"/>
              <a:alphaOff val="0"/>
            </a:schemeClr>
          </a:lnRef>
          <a:fillRef idx="1">
            <a:scrgbClr r="0" g="0" b="0"/>
          </a:fillRef>
          <a:effectRef idx="0">
            <a:schemeClr val="accent3">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2507183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0563D26-9CD2-150B-6F40-DEFC79EDDEF0}"/>
              </a:ext>
            </a:extLst>
          </p:cNvPr>
          <p:cNvSpPr>
            <a:spLocks noGrp="1"/>
          </p:cNvSpPr>
          <p:nvPr>
            <p:ph type="title"/>
          </p:nvPr>
        </p:nvSpPr>
        <p:spPr/>
        <p:txBody>
          <a:bodyPr/>
          <a:lstStyle/>
          <a:p>
            <a:r>
              <a:rPr lang="en-US" dirty="0"/>
              <a:t>Recognizing patterns in sub-tasks</a:t>
            </a:r>
          </a:p>
        </p:txBody>
      </p:sp>
      <p:sp>
        <p:nvSpPr>
          <p:cNvPr id="8" name="Content Placeholder 7">
            <a:extLst>
              <a:ext uri="{FF2B5EF4-FFF2-40B4-BE49-F238E27FC236}">
                <a16:creationId xmlns:a16="http://schemas.microsoft.com/office/drawing/2014/main" id="{DEF0FEE9-D047-2CE3-48AF-FA15661521CE}"/>
              </a:ext>
            </a:extLst>
          </p:cNvPr>
          <p:cNvSpPr>
            <a:spLocks noGrp="1"/>
          </p:cNvSpPr>
          <p:nvPr>
            <p:ph idx="1"/>
          </p:nvPr>
        </p:nvSpPr>
        <p:spPr/>
        <p:txBody>
          <a:bodyPr/>
          <a:lstStyle/>
          <a:p>
            <a:pPr marL="241300" indent="-241300"/>
            <a:r>
              <a:rPr lang="en-US" dirty="0"/>
              <a:t>We’ll need to gather ingredients, for each ingredient this involves:</a:t>
            </a:r>
          </a:p>
          <a:p>
            <a:pPr marL="424180" lvl="2" indent="-241300"/>
            <a:r>
              <a:rPr lang="en-US" sz="2800" dirty="0"/>
              <a:t>Identifying (naming) the ingredient</a:t>
            </a:r>
          </a:p>
          <a:p>
            <a:pPr marL="424180" lvl="2" indent="-241300"/>
            <a:r>
              <a:rPr lang="en-US" sz="2800" dirty="0"/>
              <a:t>Specifying the amount needed</a:t>
            </a:r>
          </a:p>
          <a:p>
            <a:pPr marL="424180" lvl="2" indent="-241300"/>
            <a:r>
              <a:rPr lang="en-US" sz="2800" dirty="0"/>
              <a:t>Measuring the amount needed</a:t>
            </a:r>
          </a:p>
          <a:p>
            <a:pPr marL="241300" lvl="1" indent="-241300"/>
            <a:endParaRPr lang="en-US" dirty="0"/>
          </a:p>
          <a:p>
            <a:pPr marL="241300" indent="-241300"/>
            <a:r>
              <a:rPr lang="en-US" dirty="0"/>
              <a:t>We can then apply this method to each ingredient</a:t>
            </a:r>
          </a:p>
        </p:txBody>
      </p:sp>
    </p:spTree>
    <p:extLst>
      <p:ext uri="{BB962C8B-B14F-4D97-AF65-F5344CB8AC3E}">
        <p14:creationId xmlns:p14="http://schemas.microsoft.com/office/powerpoint/2010/main" val="3659765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4C986-4499-B4F7-4D5D-F5C290F82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FC23B-EEA6-3CC8-02E3-DDE125EA2B72}"/>
              </a:ext>
            </a:extLst>
          </p:cNvPr>
          <p:cNvSpPr>
            <a:spLocks noGrp="1"/>
          </p:cNvSpPr>
          <p:nvPr>
            <p:ph type="title"/>
          </p:nvPr>
        </p:nvSpPr>
        <p:spPr/>
        <p:txBody>
          <a:bodyPr/>
          <a:lstStyle/>
          <a:p>
            <a:r>
              <a:rPr lang="en-US" dirty="0"/>
              <a:t>Recognizing patterns across problems</a:t>
            </a:r>
          </a:p>
        </p:txBody>
      </p:sp>
      <p:sp>
        <p:nvSpPr>
          <p:cNvPr id="5" name="Content Placeholder 4">
            <a:extLst>
              <a:ext uri="{FF2B5EF4-FFF2-40B4-BE49-F238E27FC236}">
                <a16:creationId xmlns:a16="http://schemas.microsoft.com/office/drawing/2014/main" id="{B365F16B-7B5B-9F3A-C966-F68AFAD91643}"/>
              </a:ext>
            </a:extLst>
          </p:cNvPr>
          <p:cNvSpPr>
            <a:spLocks noGrp="1"/>
          </p:cNvSpPr>
          <p:nvPr>
            <p:ph sz="half" idx="2"/>
          </p:nvPr>
        </p:nvSpPr>
        <p:spPr/>
        <p:txBody>
          <a:bodyPr>
            <a:normAutofit/>
          </a:bodyPr>
          <a:lstStyle/>
          <a:p>
            <a:pPr marL="241300" indent="-241300"/>
            <a:endParaRPr lang="en-US" dirty="0"/>
          </a:p>
          <a:p>
            <a:pPr marL="241300" indent="-241300"/>
            <a:endParaRPr lang="en-US" dirty="0"/>
          </a:p>
          <a:p>
            <a:endParaRPr lang="en-US" dirty="0"/>
          </a:p>
        </p:txBody>
      </p:sp>
      <p:graphicFrame>
        <p:nvGraphicFramePr>
          <p:cNvPr id="3" name="Content Placeholder 2">
            <a:extLst>
              <a:ext uri="{FF2B5EF4-FFF2-40B4-BE49-F238E27FC236}">
                <a16:creationId xmlns:a16="http://schemas.microsoft.com/office/drawing/2014/main" id="{C5DB123C-58E2-9EB5-F848-84209C998D3F}"/>
              </a:ext>
            </a:extLst>
          </p:cNvPr>
          <p:cNvGraphicFramePr>
            <a:graphicFrameLocks noGrp="1"/>
          </p:cNvGraphicFramePr>
          <p:nvPr>
            <p:ph sz="quarter" idx="4"/>
            <p:extLst>
              <p:ext uri="{D42A27DB-BD31-4B8C-83A1-F6EECF244321}">
                <p14:modId xmlns:p14="http://schemas.microsoft.com/office/powerpoint/2010/main" val="1050906533"/>
              </p:ext>
            </p:extLst>
          </p:nvPr>
        </p:nvGraphicFramePr>
        <p:xfrm>
          <a:off x="815340" y="2809774"/>
          <a:ext cx="10561320" cy="3657600"/>
        </p:xfrm>
        <a:graphic>
          <a:graphicData uri="http://schemas.openxmlformats.org/drawingml/2006/table">
            <a:tbl>
              <a:tblPr firstRow="1" bandRow="1">
                <a:tableStyleId>{2D5ABB26-0587-4C30-8999-92F81FD0307C}</a:tableStyleId>
              </a:tblPr>
              <a:tblGrid>
                <a:gridCol w="5638800">
                  <a:extLst>
                    <a:ext uri="{9D8B030D-6E8A-4147-A177-3AD203B41FA5}">
                      <a16:colId xmlns:a16="http://schemas.microsoft.com/office/drawing/2014/main" val="4262801093"/>
                    </a:ext>
                  </a:extLst>
                </a:gridCol>
                <a:gridCol w="457200">
                  <a:extLst>
                    <a:ext uri="{9D8B030D-6E8A-4147-A177-3AD203B41FA5}">
                      <a16:colId xmlns:a16="http://schemas.microsoft.com/office/drawing/2014/main" val="662881655"/>
                    </a:ext>
                  </a:extLst>
                </a:gridCol>
                <a:gridCol w="4465320">
                  <a:extLst>
                    <a:ext uri="{9D8B030D-6E8A-4147-A177-3AD203B41FA5}">
                      <a16:colId xmlns:a16="http://schemas.microsoft.com/office/drawing/2014/main" val="19786313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Select the recipe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the pan</a:t>
                      </a:r>
                    </a:p>
                  </a:txBody>
                  <a:tcPr/>
                </a:tc>
                <a:extLst>
                  <a:ext uri="{0D108BD9-81ED-4DB2-BD59-A6C34878D82A}">
                    <a16:rowId xmlns:a16="http://schemas.microsoft.com/office/drawing/2014/main" val="39592532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Gather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Pour the batter </a:t>
                      </a:r>
                    </a:p>
                  </a:txBody>
                  <a:tcPr/>
                </a:tc>
                <a:extLst>
                  <a:ext uri="{0D108BD9-81ED-4DB2-BD59-A6C34878D82A}">
                    <a16:rowId xmlns:a16="http://schemas.microsoft.com/office/drawing/2014/main" val="34809415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Collect kitchen supplies, tools, and equipment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Bake for required time</a:t>
                      </a:r>
                    </a:p>
                  </a:txBody>
                  <a:tcPr/>
                </a:tc>
                <a:extLst>
                  <a:ext uri="{0D108BD9-81ED-4DB2-BD59-A6C34878D82A}">
                    <a16:rowId xmlns:a16="http://schemas.microsoft.com/office/drawing/2014/main" val="18957454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Preheat the oven</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Check for doneness</a:t>
                      </a:r>
                    </a:p>
                  </a:txBody>
                  <a:tcPr/>
                </a:tc>
                <a:extLst>
                  <a:ext uri="{0D108BD9-81ED-4DB2-BD59-A6C34878D82A}">
                    <a16:rowId xmlns:a16="http://schemas.microsoft.com/office/drawing/2014/main" val="1862172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dry ingredients</a:t>
                      </a:r>
                    </a:p>
                  </a:txBody>
                  <a:tcP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When done remove pan from oven</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1504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wet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T w="12700" cap="flat" cmpd="sng" algn="ctr">
                      <a:no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Remove items from pan</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684669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Combine wet and dry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Cool items</a:t>
                      </a:r>
                    </a:p>
                  </a:txBody>
                  <a:tcPr/>
                </a:tc>
                <a:extLst>
                  <a:ext uri="{0D108BD9-81ED-4DB2-BD59-A6C34878D82A}">
                    <a16:rowId xmlns:a16="http://schemas.microsoft.com/office/drawing/2014/main" val="4227449694"/>
                  </a:ext>
                </a:extLst>
              </a:tr>
              <a:tr h="370840">
                <a:tc>
                  <a:txBody>
                    <a:bodyPr/>
                    <a:lstStyle/>
                    <a:p>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Decorate items</a:t>
                      </a:r>
                    </a:p>
                  </a:txBody>
                  <a:tcPr/>
                </a:tc>
                <a:extLst>
                  <a:ext uri="{0D108BD9-81ED-4DB2-BD59-A6C34878D82A}">
                    <a16:rowId xmlns:a16="http://schemas.microsoft.com/office/drawing/2014/main" val="1437854126"/>
                  </a:ext>
                </a:extLst>
              </a:tr>
            </a:tbl>
          </a:graphicData>
        </a:graphic>
      </p:graphicFrame>
      <p:sp>
        <p:nvSpPr>
          <p:cNvPr id="12" name="TextBox 11">
            <a:extLst>
              <a:ext uri="{FF2B5EF4-FFF2-40B4-BE49-F238E27FC236}">
                <a16:creationId xmlns:a16="http://schemas.microsoft.com/office/drawing/2014/main" id="{52905A28-7C61-F9D6-E469-0D36FF765500}"/>
              </a:ext>
            </a:extLst>
          </p:cNvPr>
          <p:cNvSpPr txBox="1"/>
          <p:nvPr/>
        </p:nvSpPr>
        <p:spPr>
          <a:xfrm>
            <a:off x="876300" y="1946717"/>
            <a:ext cx="7466403" cy="646331"/>
          </a:xfrm>
          <a:prstGeom prst="rect">
            <a:avLst/>
          </a:prstGeom>
          <a:noFill/>
        </p:spPr>
        <p:txBody>
          <a:bodyPr wrap="none" rtlCol="0">
            <a:spAutoFit/>
          </a:bodyPr>
          <a:lstStyle/>
          <a:p>
            <a:r>
              <a:rPr lang="en-US" sz="3600" b="1" dirty="0">
                <a:solidFill>
                  <a:schemeClr val="accent1"/>
                </a:solidFill>
              </a:rPr>
              <a:t>Baking a cake vs cupcakes vs muffins</a:t>
            </a:r>
          </a:p>
        </p:txBody>
      </p:sp>
      <p:pic>
        <p:nvPicPr>
          <p:cNvPr id="13" name="Picture 12">
            <a:extLst>
              <a:ext uri="{FF2B5EF4-FFF2-40B4-BE49-F238E27FC236}">
                <a16:creationId xmlns:a16="http://schemas.microsoft.com/office/drawing/2014/main" id="{6C29AA70-43AD-768B-4D37-E6F52C8AAB7C}"/>
              </a:ext>
            </a:extLst>
          </p:cNvPr>
          <p:cNvPicPr>
            <a:picLocks noChangeAspect="1"/>
          </p:cNvPicPr>
          <p:nvPr/>
        </p:nvPicPr>
        <p:blipFill>
          <a:blip r:embed="rId3"/>
          <a:stretch>
            <a:fillRect/>
          </a:stretch>
        </p:blipFill>
        <p:spPr>
          <a:xfrm>
            <a:off x="10363200" y="0"/>
            <a:ext cx="1828800" cy="1849256"/>
          </a:xfrm>
          <a:prstGeom prst="rect">
            <a:avLst/>
          </a:prstGeom>
        </p:spPr>
      </p:pic>
    </p:spTree>
    <p:extLst>
      <p:ext uri="{BB962C8B-B14F-4D97-AF65-F5344CB8AC3E}">
        <p14:creationId xmlns:p14="http://schemas.microsoft.com/office/powerpoint/2010/main" val="1473533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BEB5F9-138A-EF52-2938-2782A72A5373}"/>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Rectangle 6">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1B4B0F-6D44-C786-2C70-27602FB34984}"/>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30C2824A-E1E5-C4E9-3C4E-52A240A1A2F0}"/>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9" name="Straight Connector 8">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1165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Pattern recognition</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dirty="0" sz="3600" b="1">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dirty="0" sz="1800" b="1">
                <a:solidFill>
                  <a:srgbClr val="1B7FA6"/>
                </a:solidFill>
              </a:rPr>
              <a:t>Objective 2: Use patterns to generalize a solution</a:t>
            </a:r>
          </a:p>
        </p:txBody>
      </p:sp>
      <p:sp>
        <p:nvSpPr>
          <p:cNvPr id="14" name="TextBox 14"/>
          <p:cNvSpPr txBox="1"/>
          <p:nvPr/>
        </p:nvSpPr>
        <p:spPr>
          <a:xfrm>
            <a:off x="1024128" y="2423160"/>
            <a:ext cx="5394960" cy="347472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dirty="0" sz="1700"/>
              <a:t>Run the starter code in Exercise 2. It works for glucose in ICU patients only.</a:t>
            </a:r>
          </a:p>
          <a:p>
            <a:pPr marL="457200" lvl="0" indent="-457200">
              <a:spcAft>
                <a:spcPts val="200"/>
              </a:spcAft>
              <a:buFont typeface="+mj-lt"/>
              <a:buAutoNum type="arabicPeriod"/>
            </a:pPr>
            <a:r>
              <a:rPr lang="en-US" dirty="0" sz="1700"/>
              <a:t>Paste the starter code into Claude. Ask it to generalize:</a:t>
            </a:r>
          </a:p>
          <a:p>
            <a:pPr marL="628650" lvl="1" indent="-285750">
              <a:spcAft>
                <a:spcPts val="200"/>
              </a:spcAft>
              <a:buFont typeface="Arial"/>
              <a:buChar char="•"/>
            </a:pPr>
            <a:r>
              <a:rPr lang="en-US" dirty="0" sz="1600"/>
              <a:t>A) every patient type, glucose only</a:t>
            </a:r>
          </a:p>
          <a:p>
            <a:pPr marL="628650" lvl="1" indent="-285750">
              <a:spcAft>
                <a:spcPts val="600"/>
              </a:spcAft>
              <a:buFont typeface="Arial"/>
              <a:buChar char="•"/>
            </a:pPr>
            <a:r>
              <a:rPr lang="en-US" dirty="0" sz="1600"/>
              <a:t>B) every test you kept, every patient type</a:t>
            </a:r>
          </a:p>
          <a:p>
            <a:pPr marL="457200" lvl="0" indent="-457200">
              <a:spcAft>
                <a:spcPts val="600"/>
              </a:spcAft>
              <a:buFont typeface="+mj-lt"/>
              <a:buAutoNum type="arabicPeriod"/>
            </a:pPr>
            <a:r>
              <a:rPr lang="en-US" dirty="0" sz="1700"/>
              <a:t>Run each version. How many rows? Compare the medians.</a:t>
            </a:r>
          </a:p>
          <a:p>
            <a:pPr marL="457200" lvl="0" indent="-457200">
              <a:spcAft>
                <a:spcPts val="600"/>
              </a:spcAft>
              <a:buFont typeface="+mj-lt"/>
              <a:buAutoNum type="arabicPeriod"/>
            </a:pPr>
            <a:r>
              <a:rPr lang="en-US" dirty="0" sz="1700"/>
              <a:t>Which words in the code did the generalizing?</a:t>
            </a:r>
          </a:p>
        </p:txBody>
      </p:sp>
      <p:sp>
        <p:nvSpPr>
          <p:cNvPr id="15" name="TextBox 15"/>
          <p:cNvSpPr txBox="1"/>
          <p:nvPr/>
        </p:nvSpPr>
        <p:spPr>
          <a:xfrm>
            <a:off x="6629400" y="2468879"/>
            <a:ext cx="4526280" cy="2377440"/>
          </a:xfrm>
          <a:prstGeom prst="rect">
            <a:avLst/>
          </a:prstGeom>
          <a:solidFill>
            <a:srgbClr val="EEF3F6"/>
          </a:solidFill>
        </p:spPr>
        <p:txBody>
          <a:bodyPr wrap="square" lIns="137160" tIns="137160" rIns="137160" bIns="137160" rtlCol="0" anchor="t">
            <a:normAutofit/>
          </a:bodyPr>
          <a:lstStyle/>
          <a:p>
            <a:pPr marL="0" indent="0">
              <a:buNone/>
            </a:pPr>
            <a:r>
              <a:rPr lang="en-US" dirty="0" sz="1400">
                <a:solidFill>
                  <a:srgbClr val="1F2A30"/>
                </a:solidFill>
                <a:latin typeface="Courier New"/>
                <a:cs typeface="Courier New"/>
              </a:rPr>
              <a:t># starter code</a:t>
            </a:r>
          </a:p>
          <a:p>
            <a:pPr marL="0" indent="0">
              <a:buNone/>
            </a:pPr>
            <a:r>
              <a:rPr lang="en-US" dirty="0" sz="1400">
                <a:solidFill>
                  <a:srgbClr val="1F2A30"/>
                </a:solidFill>
                <a:latin typeface="Courier New"/>
                <a:cs typeface="Courier New"/>
              </a:rPr>
              <a:t>chem |&gt;</a:t>
            </a:r>
          </a:p>
          <a:p>
            <a:pPr marL="0" indent="0">
              <a:buNone/>
            </a:pPr>
            <a:r>
              <a:rPr lang="en-US" dirty="0" sz="1400">
                <a:solidFill>
                  <a:srgbClr val="1F2A30"/>
                </a:solidFill>
                <a:latin typeface="Courier New"/>
                <a:cs typeface="Courier New"/>
              </a:rPr>
              <a:t xml:space="preserve">  filter(test == "glucose",</a:t>
            </a:r>
          </a:p>
          <a:p>
            <a:pPr marL="0" indent="0">
              <a:buNone/>
            </a:pPr>
            <a:r>
              <a:rPr lang="en-US" dirty="0" sz="1400">
                <a:solidFill>
                  <a:srgbClr val="1F2A30"/>
                </a:solidFill>
                <a:latin typeface="Courier New"/>
                <a:cs typeface="Courier New"/>
              </a:rPr>
              <a:t xml:space="preserve">         pat_type == "icu") |&gt;</a:t>
            </a:r>
          </a:p>
          <a:p>
            <a:pPr marL="0" indent="0">
              <a:buNone/>
            </a:pPr>
            <a:r>
              <a:rPr lang="en-US" dirty="0" sz="1400">
                <a:solidFill>
                  <a:srgbClr val="1F2A30"/>
                </a:solidFill>
                <a:latin typeface="Courier New"/>
                <a:cs typeface="Courier New"/>
              </a:rPr>
              <a:t xml:space="preserve">  summarize(</a:t>
            </a:r>
          </a:p>
          <a:p>
            <a:pPr marL="0" indent="0">
              <a:buNone/>
            </a:pPr>
            <a:r>
              <a:rPr lang="en-US" dirty="0" sz="1400">
                <a:solidFill>
                  <a:srgbClr val="1F2A30"/>
                </a:solidFill>
                <a:latin typeface="Courier New"/>
                <a:cs typeface="Courier New"/>
              </a:rPr>
              <a:t xml:space="preserve">    n_results = n(),</a:t>
            </a:r>
          </a:p>
          <a:p>
            <a:pPr marL="0" indent="0">
              <a:buNone/>
            </a:pPr>
            <a:r>
              <a:rPr lang="en-US" dirty="0" sz="1400">
                <a:solidFill>
                  <a:srgbClr val="1F2A30"/>
                </a:solidFill>
                <a:latin typeface="Courier New"/>
                <a:cs typeface="Courier New"/>
              </a:rPr>
              <a:t xml:space="preserve">    median_value = median(value))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Pattern: what you should see</a:t>
            </a:r>
          </a:p>
        </p:txBody>
      </p:sp>
      <p:sp>
        <p:nvSpPr>
          <p:cNvPr id="12" name="TextBox 12"/>
          <p:cNvSpPr txBox="1"/>
          <p:nvPr/>
        </p:nvSpPr>
        <p:spPr>
          <a:xfrm>
            <a:off x="1024128" y="2103120"/>
            <a:ext cx="6035040" cy="3749039"/>
          </a:xfrm>
          <a:prstGeom prst="rect">
            <a:avLst/>
          </a:prstGeom>
          <a:solidFill>
            <a:srgbClr val="EEF3F6"/>
          </a:solidFill>
        </p:spPr>
        <p:txBody>
          <a:bodyPr wrap="square" lIns="137160" tIns="137160" rIns="137160" bIns="137160" rtlCol="0" anchor="t">
            <a:normAutofit/>
          </a:bodyPr>
          <a:lstStyle/>
          <a:p>
            <a:pPr marL="0" indent="0">
              <a:buNone/>
            </a:pPr>
            <a:r>
              <a:rPr lang="en-US" dirty="0" sz="1300">
                <a:solidFill>
                  <a:srgbClr val="1F2A30"/>
                </a:solidFill>
                <a:latin typeface="Courier New"/>
                <a:cs typeface="Courier New"/>
              </a:rPr>
              <a:t>chem |&gt;</a:t>
            </a:r>
          </a:p>
          <a:p>
            <a:pPr marL="0" indent="0">
              <a:buNone/>
            </a:pPr>
            <a:r>
              <a:rPr lang="en-US" dirty="0" sz="1300">
                <a:solidFill>
                  <a:srgbClr val="1F2A30"/>
                </a:solidFill>
                <a:latin typeface="Courier New"/>
                <a:cs typeface="Courier New"/>
              </a:rPr>
              <a:t xml:space="preserve">  filter(test == "glucose") |&gt;</a:t>
            </a:r>
          </a:p>
          <a:p>
            <a:pPr marL="0" indent="0">
              <a:buNone/>
            </a:pPr>
            <a:r>
              <a:rPr lang="en-US" dirty="0" sz="1300">
                <a:solidFill>
                  <a:srgbClr val="1F2A30"/>
                </a:solidFill>
                <a:latin typeface="Courier New"/>
                <a:cs typeface="Courier New"/>
              </a:rPr>
              <a:t xml:space="preserve">  group_by(pat_type) |&gt;</a:t>
            </a:r>
          </a:p>
          <a:p>
            <a:pPr marL="0" indent="0">
              <a:buNone/>
            </a:pPr>
            <a:r>
              <a:rPr lang="en-US" dirty="0" sz="1300">
                <a:solidFill>
                  <a:srgbClr val="1F2A30"/>
                </a:solidFill>
                <a:latin typeface="Courier New"/>
                <a:cs typeface="Courier New"/>
              </a:rPr>
              <a:t xml:space="preserve">  summarize(n_results = n(),</a:t>
            </a:r>
          </a:p>
          <a:p>
            <a:pPr marL="0" indent="0">
              <a:buNone/>
            </a:pPr>
            <a:r>
              <a:rPr lang="en-US" dirty="0" sz="1300">
                <a:solidFill>
                  <a:srgbClr val="1F2A30"/>
                </a:solidFill>
                <a:latin typeface="Courier New"/>
                <a:cs typeface="Courier New"/>
              </a:rPr>
              <a:t xml:space="preserve">            median_value = median(value))</a:t>
            </a:r>
          </a:p>
          <a:p>
            <a:pPr marL="0" indent="0">
              <a:buNone/>
            </a:pPr>
            <a:r>
              <a:rPr lang="en-US" dirty="0" sz="1300">
                <a:solidFill>
                  <a:srgbClr val="1F2A30"/>
                </a:solidFill>
                <a:latin typeface="Courier New"/>
                <a:cs typeface="Courier New"/>
              </a:rPr>
              <a:t xml:space="preserve"> </a:t>
            </a:r>
          </a:p>
          <a:p>
            <a:pPr marL="0" indent="0">
              <a:buNone/>
            </a:pPr>
            <a:r>
              <a:rPr lang="en-US" dirty="0" sz="1300">
                <a:solidFill>
                  <a:srgbClr val="1F2A30"/>
                </a:solidFill>
                <a:latin typeface="Courier New"/>
                <a:cs typeface="Courier New"/>
              </a:rPr>
              <a:t xml:space="preserve">  pat_type      n_results median_value</a:t>
            </a:r>
          </a:p>
          <a:p>
            <a:pPr marL="0" indent="0">
              <a:buNone/>
            </a:pPr>
            <a:r>
              <a:rPr lang="en-US" dirty="0" sz="1300">
                <a:solidFill>
                  <a:srgbClr val="1F2A30"/>
                </a:solidFill>
                <a:latin typeface="Courier New"/>
                <a:cs typeface="Courier New"/>
              </a:rPr>
              <a:t>1 cancer center      1059           92</a:t>
            </a:r>
          </a:p>
          <a:p>
            <a:pPr marL="0" indent="0">
              <a:buNone/>
            </a:pPr>
            <a:r>
              <a:rPr lang="en-US" dirty="0" sz="1300">
                <a:solidFill>
                  <a:srgbClr val="1F2A30"/>
                </a:solidFill>
                <a:latin typeface="Courier New"/>
                <a:cs typeface="Courier New"/>
              </a:rPr>
              <a:t>2 client             1092           92</a:t>
            </a:r>
          </a:p>
          <a:p>
            <a:pPr marL="0" indent="0">
              <a:buNone/>
            </a:pPr>
            <a:r>
              <a:rPr lang="en-US" dirty="0" sz="1300">
                <a:solidFill>
                  <a:srgbClr val="1F2A30"/>
                </a:solidFill>
                <a:latin typeface="Courier New"/>
                <a:cs typeface="Courier New"/>
              </a:rPr>
              <a:t>3 icu                1103           92</a:t>
            </a:r>
          </a:p>
          <a:p>
            <a:pPr marL="0" indent="0">
              <a:buNone/>
            </a:pPr>
            <a:r>
              <a:rPr lang="en-US" dirty="0" sz="1300">
                <a:solidFill>
                  <a:srgbClr val="1F2A30"/>
                </a:solidFill>
                <a:latin typeface="Courier New"/>
                <a:cs typeface="Courier New"/>
              </a:rPr>
              <a:t>4 inpatient          1067           92</a:t>
            </a:r>
          </a:p>
          <a:p>
            <a:pPr marL="0" indent="0">
              <a:buNone/>
            </a:pPr>
            <a:r>
              <a:rPr lang="en-US" dirty="0" sz="1300">
                <a:solidFill>
                  <a:srgbClr val="1F2A30"/>
                </a:solidFill>
                <a:latin typeface="Courier New"/>
                <a:cs typeface="Courier New"/>
              </a:rPr>
              <a:t>5 outpatient         1072           92</a:t>
            </a:r>
          </a:p>
          <a:p>
            <a:pPr marL="0" indent="0">
              <a:buNone/>
            </a:pPr>
            <a:r>
              <a:rPr lang="en-US" dirty="0" sz="1300">
                <a:solidFill>
                  <a:srgbClr val="1F2A30"/>
                </a:solidFill>
                <a:latin typeface="Courier New"/>
                <a:cs typeface="Courier New"/>
              </a:rPr>
              <a:t>6 NA                 1088           92</a:t>
            </a:r>
          </a:p>
        </p:txBody>
      </p:sp>
      <p:sp>
        <p:nvSpPr>
          <p:cNvPr id="13" name="TextBox 13"/>
          <p:cNvSpPr txBox="1"/>
          <p:nvPr/>
        </p:nvSpPr>
        <p:spPr>
          <a:xfrm>
            <a:off x="7315200" y="2103120"/>
            <a:ext cx="3840480" cy="3749039"/>
          </a:xfrm>
          <a:prstGeom prst="rect">
            <a:avLst/>
          </a:prstGeom>
          <a:noFill/>
        </p:spPr>
        <p:txBody>
          <a:bodyPr wrap="square" lIns="91440" tIns="91440" rIns="91440" bIns="91440" rtlCol="0" anchor="t">
            <a:normAutofit/>
          </a:bodyPr>
          <a:lstStyle/>
          <a:p>
            <a:pPr marL="285750" lvl="0" indent="-285750">
              <a:spcAft>
                <a:spcPts val="600"/>
              </a:spcAft>
              <a:buFont typeface="Arial"/>
              <a:buChar char="•"/>
            </a:pPr>
            <a:r>
              <a:rPr lang="en-US" dirty="0" sz="1700"/>
              <a:t xml:space="preserve">One </a:t>
            </a:r>
            <a:r>
              <a:rPr lang="en-US" dirty="0" sz="1700">
                <a:latin typeface="Courier New"/>
                <a:cs typeface="Courier New"/>
              </a:rPr>
              <a:t>filter()</a:t>
            </a:r>
            <a:r>
              <a:rPr lang="en-US" dirty="0" sz="1700"/>
              <a:t xml:space="preserve"> condition became one </a:t>
            </a:r>
            <a:r>
              <a:rPr lang="en-US" dirty="0" sz="1700">
                <a:latin typeface="Courier New"/>
                <a:cs typeface="Courier New"/>
              </a:rPr>
              <a:t>group_by()</a:t>
            </a:r>
            <a:r>
              <a:rPr lang="en-US" dirty="0" sz="1700"/>
              <a:t>. The same code now covers every group.</a:t>
            </a:r>
          </a:p>
          <a:p>
            <a:pPr marL="285750" lvl="0" indent="-285750">
              <a:spcAft>
                <a:spcPts val="600"/>
              </a:spcAft>
              <a:buFont typeface="Arial"/>
              <a:buChar char="•"/>
            </a:pPr>
            <a:r>
              <a:rPr lang="en-US" dirty="0" sz="1700"/>
              <a:t>Version B: tests × patient types rows. 6 tests gives 36 rows.</a:t>
            </a:r>
          </a:p>
          <a:p>
            <a:pPr marL="285750" lvl="0" indent="-285750">
              <a:spcAft>
                <a:spcPts val="600"/>
              </a:spcAft>
              <a:buFont typeface="Arial"/>
              <a:buChar char="•"/>
            </a:pPr>
            <a:r>
              <a:rPr lang="en-US" dirty="0" sz="1700"/>
              <a:t>Missing patient type shows up as its own group (NA).</a:t>
            </a:r>
          </a:p>
          <a:p>
            <a:pPr marL="285750" lvl="0" indent="-285750">
              <a:spcAft>
                <a:spcPts val="600"/>
              </a:spcAft>
              <a:buFont typeface="Arial"/>
              <a:buChar char="•"/>
            </a:pPr>
            <a:r>
              <a:rPr lang="en-US" dirty="0" sz="1700"/>
              <a:t>Medians are nearly identical everywhere. Remember that.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96A1-4349-1191-10E2-1B84F33732A4}"/>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22D56438-18FE-116C-43B0-75F76C02ED07}"/>
              </a:ext>
            </a:extLst>
          </p:cNvPr>
          <p:cNvSpPr>
            <a:spLocks noGrp="1"/>
          </p:cNvSpPr>
          <p:nvPr>
            <p:ph idx="1"/>
          </p:nvPr>
        </p:nvSpPr>
        <p:spPr/>
        <p:txBody>
          <a:bodyPr>
            <a:normAutofit fontScale="92500" lnSpcReduction="20000"/>
          </a:bodyPr>
          <a:lstStyle/>
          <a:p>
            <a:pPr marL="241300" indent="-241300"/>
            <a:r>
              <a:rPr lang="en-US" dirty="0"/>
              <a:t>Identifying similarities or trends can inform solution that may be generalized to solve classes of problems vs single</a:t>
            </a:r>
          </a:p>
          <a:p>
            <a:pPr marL="241300" indent="-241300"/>
            <a:r>
              <a:rPr lang="en-US" dirty="0"/>
              <a:t>Addressing patterns with a shared solution ensures consistency and scalability</a:t>
            </a:r>
          </a:p>
          <a:p>
            <a:pPr marL="241300" indent="-241300"/>
            <a:r>
              <a:rPr lang="en-US" dirty="0"/>
              <a:t>Improve persistence and efficiency when faced with solving new problems</a:t>
            </a:r>
          </a:p>
          <a:p>
            <a:pPr marL="241300" indent="-241300"/>
            <a:endParaRPr lang="en-US" dirty="0"/>
          </a:p>
          <a:p>
            <a:pPr marL="241300" indent="-241300"/>
            <a:r>
              <a:rPr lang="en-US" b="1" dirty="0"/>
              <a:t>Computational examples: </a:t>
            </a:r>
            <a:r>
              <a:rPr lang="en-US" dirty="0"/>
              <a:t>solving optimization problems using gradient descent, applying loops to iterate over items</a:t>
            </a:r>
          </a:p>
        </p:txBody>
      </p:sp>
    </p:spTree>
    <p:extLst>
      <p:ext uri="{BB962C8B-B14F-4D97-AF65-F5344CB8AC3E}">
        <p14:creationId xmlns:p14="http://schemas.microsoft.com/office/powerpoint/2010/main" val="2217996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C6257-E23B-B275-5ADC-3A4E01E5C554}"/>
              </a:ext>
            </a:extLst>
          </p:cNvPr>
          <p:cNvSpPr>
            <a:spLocks noGrp="1"/>
          </p:cNvSpPr>
          <p:nvPr>
            <p:ph type="title"/>
          </p:nvPr>
        </p:nvSpPr>
        <p:spPr/>
        <p:txBody>
          <a:bodyPr/>
          <a:lstStyle/>
          <a:p>
            <a:r>
              <a:rPr lang="en-US" dirty="0"/>
              <a:t>abstraction</a:t>
            </a:r>
          </a:p>
        </p:txBody>
      </p:sp>
      <p:sp>
        <p:nvSpPr>
          <p:cNvPr id="3" name="Content Placeholder 2">
            <a:extLst>
              <a:ext uri="{FF2B5EF4-FFF2-40B4-BE49-F238E27FC236}">
                <a16:creationId xmlns:a16="http://schemas.microsoft.com/office/drawing/2014/main" id="{1EE056A3-FE4D-EF87-666B-9B309864B4DB}"/>
              </a:ext>
            </a:extLst>
          </p:cNvPr>
          <p:cNvSpPr>
            <a:spLocks noGrp="1"/>
          </p:cNvSpPr>
          <p:nvPr>
            <p:ph idx="1"/>
          </p:nvPr>
        </p:nvSpPr>
        <p:spPr>
          <a:xfrm>
            <a:off x="1024128" y="2286000"/>
            <a:ext cx="10101072" cy="4023360"/>
          </a:xfrm>
        </p:spPr>
        <p:txBody>
          <a:bodyPr>
            <a:normAutofit/>
          </a:bodyPr>
          <a:lstStyle/>
          <a:p>
            <a:pPr marL="0" indent="0">
              <a:buNone/>
            </a:pPr>
            <a:r>
              <a:rPr lang="en-US" dirty="0"/>
              <a:t>Focus on the essential details and ignore the irrelevant information to create a generalized understanding of the problem and solution. </a:t>
            </a:r>
          </a:p>
          <a:p>
            <a:endParaRPr lang="en-US" dirty="0"/>
          </a:p>
          <a:p>
            <a:pPr marL="514350" indent="-514350">
              <a:buAutoNum type="arabicPeriod"/>
            </a:pPr>
            <a:r>
              <a:rPr lang="en-US" dirty="0"/>
              <a:t>Identify essential information needed to solve the problem</a:t>
            </a:r>
          </a:p>
          <a:p>
            <a:pPr marL="514350" indent="-514350">
              <a:buAutoNum type="arabicPeriod"/>
            </a:pPr>
            <a:r>
              <a:rPr lang="en-US" dirty="0"/>
              <a:t>Filter unnecessary details</a:t>
            </a:r>
          </a:p>
          <a:p>
            <a:pPr marL="514350" indent="-514350">
              <a:buAutoNum type="arabicPeriod"/>
            </a:pPr>
            <a:r>
              <a:rPr lang="en-US" dirty="0"/>
              <a:t>Form a model that will be used to solve problem</a:t>
            </a:r>
          </a:p>
        </p:txBody>
      </p:sp>
      <p:grpSp>
        <p:nvGrpSpPr>
          <p:cNvPr id="4" name="Group 3">
            <a:extLst>
              <a:ext uri="{FF2B5EF4-FFF2-40B4-BE49-F238E27FC236}">
                <a16:creationId xmlns:a16="http://schemas.microsoft.com/office/drawing/2014/main" id="{8AEF553A-106B-D8F2-8BF4-F59CBF1BCD3B}"/>
              </a:ext>
            </a:extLst>
          </p:cNvPr>
          <p:cNvGrpSpPr/>
          <p:nvPr/>
        </p:nvGrpSpPr>
        <p:grpSpPr>
          <a:xfrm>
            <a:off x="876300" y="886261"/>
            <a:ext cx="6342743" cy="782519"/>
            <a:chOff x="0" y="1721542"/>
            <a:chExt cx="6342743" cy="782519"/>
          </a:xfrm>
        </p:grpSpPr>
        <p:sp>
          <p:nvSpPr>
            <p:cNvPr id="6" name="Rounded Rectangle 5">
              <a:extLst>
                <a:ext uri="{FF2B5EF4-FFF2-40B4-BE49-F238E27FC236}">
                  <a16:creationId xmlns:a16="http://schemas.microsoft.com/office/drawing/2014/main" id="{F92FFA44-B632-D0AD-6C4B-EB4783A03C50}"/>
                </a:ext>
              </a:extLst>
            </p:cNvPr>
            <p:cNvSpPr/>
            <p:nvPr/>
          </p:nvSpPr>
          <p:spPr>
            <a:xfrm>
              <a:off x="0" y="1721542"/>
              <a:ext cx="6342743" cy="782519"/>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6F359B4F-10C9-595A-0B1B-70B42EE600A1}"/>
                </a:ext>
              </a:extLst>
            </p:cNvPr>
            <p:cNvSpPr txBox="1"/>
            <p:nvPr/>
          </p:nvSpPr>
          <p:spPr>
            <a:xfrm>
              <a:off x="1346800" y="1721542"/>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p:txBody>
        </p:sp>
      </p:grpSp>
      <p:sp>
        <p:nvSpPr>
          <p:cNvPr id="5" name="Rounded Rectangle 4" descr="Filter with solid fill">
            <a:extLst>
              <a:ext uri="{FF2B5EF4-FFF2-40B4-BE49-F238E27FC236}">
                <a16:creationId xmlns:a16="http://schemas.microsoft.com/office/drawing/2014/main" id="{81CE967B-2E99-7B3B-BF69-E15079AB1A09}"/>
              </a:ext>
            </a:extLst>
          </p:cNvPr>
          <p:cNvSpPr/>
          <p:nvPr/>
        </p:nvSpPr>
        <p:spPr>
          <a:xfrm>
            <a:off x="954551" y="964513"/>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10000" b="-10000"/>
            </a:stretch>
          </a:blipFill>
        </p:spPr>
        <p:style>
          <a:lnRef idx="2">
            <a:schemeClr val="lt1">
              <a:hueOff val="0"/>
              <a:satOff val="0"/>
              <a:lumOff val="0"/>
              <a:alphaOff val="0"/>
            </a:schemeClr>
          </a:lnRef>
          <a:fillRef idx="1">
            <a:scrgbClr r="0" g="0" b="0"/>
          </a:fillRef>
          <a:effectRef idx="0">
            <a:schemeClr val="accent4">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3530589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153B6-3748-0BDF-99C5-9377CB1F7311}"/>
              </a:ext>
            </a:extLst>
          </p:cNvPr>
          <p:cNvSpPr>
            <a:spLocks noGrp="1"/>
          </p:cNvSpPr>
          <p:nvPr>
            <p:ph type="title"/>
          </p:nvPr>
        </p:nvSpPr>
        <p:spPr>
          <a:xfrm>
            <a:off x="1024128" y="585216"/>
            <a:ext cx="10558272" cy="1499616"/>
          </a:xfrm>
        </p:spPr>
        <p:txBody>
          <a:bodyPr/>
          <a:lstStyle/>
          <a:p>
            <a:r>
              <a:rPr lang="en-US" dirty="0"/>
              <a:t>Abstracting the science of baking</a:t>
            </a:r>
          </a:p>
        </p:txBody>
      </p:sp>
      <p:sp>
        <p:nvSpPr>
          <p:cNvPr id="3" name="Content Placeholder 2">
            <a:extLst>
              <a:ext uri="{FF2B5EF4-FFF2-40B4-BE49-F238E27FC236}">
                <a16:creationId xmlns:a16="http://schemas.microsoft.com/office/drawing/2014/main" id="{94B06159-CCAA-95B2-0BFC-13187A7F67FD}"/>
              </a:ext>
            </a:extLst>
          </p:cNvPr>
          <p:cNvSpPr>
            <a:spLocks noGrp="1"/>
          </p:cNvSpPr>
          <p:nvPr>
            <p:ph idx="1"/>
          </p:nvPr>
        </p:nvSpPr>
        <p:spPr/>
        <p:txBody>
          <a:bodyPr/>
          <a:lstStyle/>
          <a:p>
            <a:pPr marL="0" indent="0">
              <a:buNone/>
            </a:pPr>
            <a:endParaRPr lang="en-US" dirty="0"/>
          </a:p>
          <a:p>
            <a:pPr marL="0" indent="0">
              <a:buNone/>
            </a:pPr>
            <a:r>
              <a:rPr lang="en-US" dirty="0"/>
              <a:t>Instead of thinking about the details of the chemistry of cooking or the physics and mechanics of the oven’s operations, we follow a recipe and operate the oven’s controls</a:t>
            </a:r>
          </a:p>
        </p:txBody>
      </p:sp>
    </p:spTree>
    <p:extLst>
      <p:ext uri="{BB962C8B-B14F-4D97-AF65-F5344CB8AC3E}">
        <p14:creationId xmlns:p14="http://schemas.microsoft.com/office/powerpoint/2010/main" val="2968273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Basic recipe: a model for baking</a:t>
            </a:r>
          </a:p>
        </p:txBody>
      </p:sp>
      <p:pic>
        <p:nvPicPr>
          <p:cNvPr id="7" name="Picture 6">
            <a:extLst>
              <a:ext uri="{FF2B5EF4-FFF2-40B4-BE49-F238E27FC236}">
                <a16:creationId xmlns:a16="http://schemas.microsoft.com/office/drawing/2014/main" id="{1FE6765F-2670-3224-5281-C86F8D2D60AC}"/>
              </a:ext>
            </a:extLst>
          </p:cNvPr>
          <p:cNvPicPr>
            <a:picLocks noChangeAspect="1"/>
          </p:cNvPicPr>
          <p:nvPr/>
        </p:nvPicPr>
        <p:blipFill>
          <a:blip r:embed="rId2"/>
          <a:stretch>
            <a:fillRect/>
          </a:stretch>
        </p:blipFill>
        <p:spPr>
          <a:xfrm>
            <a:off x="10611889" y="0"/>
            <a:ext cx="1587731" cy="1828800"/>
          </a:xfrm>
          <a:prstGeom prst="rect">
            <a:avLst/>
          </a:prstGeom>
        </p:spPr>
      </p:pic>
      <p:sp>
        <p:nvSpPr>
          <p:cNvPr id="12" name="TextBox 12"/>
          <p:cNvSpPr txBox="1"/>
          <p:nvPr/>
        </p:nvSpPr>
        <p:spPr>
          <a:xfrm>
            <a:off x="1024128" y="2103120"/>
            <a:ext cx="4572000" cy="2926080"/>
          </a:xfrm>
          <a:prstGeom prst="rect">
            <a:avLst/>
          </a:prstGeom>
          <a:solidFill>
            <a:srgbClr val="EEF3F6"/>
          </a:solidFill>
        </p:spPr>
        <p:txBody>
          <a:bodyPr wrap="square" lIns="182880" tIns="182880" rIns="182880" bIns="182880" rtlCol="0" anchor="t">
            <a:normAutofit/>
          </a:bodyPr>
          <a:lstStyle/>
          <a:p>
            <a:pPr marL="0" indent="0">
              <a:spcAft>
                <a:spcPts val="600"/>
              </a:spcAft>
              <a:buNone/>
            </a:pPr>
            <a:r>
              <a:rPr lang="en-US" dirty="0" sz="2000" b="1"/>
              <a:t>Keep: the model</a:t>
            </a:r>
          </a:p>
          <a:p>
            <a:pPr marL="285750" lvl="0" indent="-285750">
              <a:spcAft>
                <a:spcPts val="300"/>
              </a:spcAft>
              <a:buFont typeface="Arial"/>
              <a:buChar char="•"/>
            </a:pPr>
            <a:r>
              <a:rPr lang="en-US" dirty="0" sz="1800"/>
              <a:t>Ingredients go in</a:t>
            </a:r>
          </a:p>
          <a:p>
            <a:pPr marL="285750" lvl="0" indent="-285750">
              <a:spcAft>
                <a:spcPts val="300"/>
              </a:spcAft>
              <a:buFont typeface="Arial"/>
              <a:buChar char="•"/>
            </a:pPr>
            <a:r>
              <a:rPr lang="en-US" dirty="0" sz="1800"/>
              <a:t>Prepare and combine</a:t>
            </a:r>
          </a:p>
          <a:p>
            <a:pPr marL="285750" lvl="0" indent="-285750">
              <a:spcAft>
                <a:spcPts val="300"/>
              </a:spcAft>
              <a:buFont typeface="Arial"/>
              <a:buChar char="•"/>
            </a:pPr>
            <a:r>
              <a:rPr lang="en-US" dirty="0" sz="1800"/>
              <a:t>Bake at a temperature for a time</a:t>
            </a:r>
          </a:p>
          <a:p>
            <a:pPr marL="285750" lvl="0" indent="-285750">
              <a:spcAft>
                <a:spcPts val="300"/>
              </a:spcAft>
              <a:buFont typeface="Arial"/>
              <a:buChar char="•"/>
            </a:pPr>
            <a:r>
              <a:rPr lang="en-US" dirty="0" sz="1800"/>
              <a:t>Check for doneness</a:t>
            </a:r>
          </a:p>
          <a:p>
            <a:pPr marL="285750" lvl="0" indent="-285750">
              <a:spcAft>
                <a:spcPts val="0"/>
              </a:spcAft>
              <a:buFont typeface="Arial"/>
              <a:buChar char="•"/>
            </a:pPr>
            <a:r>
              <a:rPr lang="en-US" dirty="0" sz="1800"/>
              <a:t>Prepare for serving</a:t>
            </a:r>
          </a:p>
        </p:txBody>
      </p:sp>
      <p:sp>
        <p:nvSpPr>
          <p:cNvPr id="13" name="TextBox 13"/>
          <p:cNvSpPr txBox="1"/>
          <p:nvPr/>
        </p:nvSpPr>
        <p:spPr>
          <a:xfrm>
            <a:off x="5943600" y="2103120"/>
            <a:ext cx="4572000" cy="2926080"/>
          </a:xfrm>
          <a:prstGeom prst="rect">
            <a:avLst/>
          </a:prstGeom>
          <a:noFill/>
        </p:spPr>
        <p:txBody>
          <a:bodyPr wrap="square" lIns="182880" tIns="182880" rIns="182880" bIns="182880" rtlCol="0" anchor="t">
            <a:normAutofit/>
          </a:bodyPr>
          <a:lstStyle/>
          <a:p>
            <a:pPr marL="0" indent="0">
              <a:spcAft>
                <a:spcPts val="600"/>
              </a:spcAft>
              <a:buNone/>
            </a:pPr>
            <a:r>
              <a:rPr lang="en-US" dirty="0" sz="2000" b="1"/>
              <a:t>Leave out: the details</a:t>
            </a:r>
          </a:p>
          <a:p>
            <a:pPr marL="285750" lvl="0" indent="-285750">
              <a:spcAft>
                <a:spcPts val="300"/>
              </a:spcAft>
              <a:buFont typeface="Arial"/>
              <a:buChar char="•"/>
            </a:pPr>
            <a:r>
              <a:rPr lang="en-US" dirty="0" sz="1800"/>
              <a:t>Cake, cupcake, or muffin</a:t>
            </a:r>
          </a:p>
          <a:p>
            <a:pPr marL="285750" lvl="0" indent="-285750">
              <a:spcAft>
                <a:spcPts val="300"/>
              </a:spcAft>
              <a:buFont typeface="Arial"/>
              <a:buChar char="•"/>
            </a:pPr>
            <a:r>
              <a:rPr lang="en-US" dirty="0" sz="1800"/>
              <a:t>Which ingredients, how much</a:t>
            </a:r>
          </a:p>
          <a:p>
            <a:pPr marL="285750" lvl="0" indent="-285750">
              <a:spcAft>
                <a:spcPts val="300"/>
              </a:spcAft>
              <a:buFont typeface="Arial"/>
              <a:buChar char="•"/>
            </a:pPr>
            <a:r>
              <a:rPr lang="en-US" dirty="0" sz="1800"/>
              <a:t>Exact time and temperature</a:t>
            </a:r>
          </a:p>
          <a:p>
            <a:pPr marL="285750" lvl="0" indent="-285750">
              <a:spcAft>
                <a:spcPts val="300"/>
              </a:spcAft>
              <a:buFont typeface="Arial"/>
              <a:buChar char="•"/>
            </a:pPr>
            <a:r>
              <a:rPr lang="en-US" dirty="0" sz="1800"/>
              <a:t>Pan shape</a:t>
            </a:r>
          </a:p>
          <a:p>
            <a:pPr marL="285750" lvl="0" indent="-285750">
              <a:spcAft>
                <a:spcPts val="0"/>
              </a:spcAft>
              <a:buFont typeface="Arial"/>
              <a:buChar char="•"/>
            </a:pPr>
            <a:r>
              <a:rPr lang="en-US" dirty="0" sz="1800"/>
              <a:t>Flavor, frosting color</a:t>
            </a:r>
          </a:p>
        </p:txBody>
      </p:sp>
      <p:sp>
        <p:nvSpPr>
          <p:cNvPr id="14" name="TextBox 14"/>
          <p:cNvSpPr txBox="1"/>
          <p:nvPr/>
        </p:nvSpPr>
        <p:spPr>
          <a:xfrm>
            <a:off x="1024128" y="5257800"/>
            <a:ext cx="9509760" cy="548640"/>
          </a:xfrm>
          <a:prstGeom prst="rect">
            <a:avLst/>
          </a:prstGeom>
          <a:noFill/>
        </p:spPr>
        <p:txBody>
          <a:bodyPr wrap="square" lIns="0" tIns="0" rIns="0" bIns="0" rtlCol="0" anchor="t">
            <a:normAutofit/>
          </a:bodyPr>
          <a:lstStyle/>
          <a:p>
            <a:pPr marL="0" indent="0">
              <a:spcAft>
                <a:spcPts val="0"/>
              </a:spcAft>
              <a:buNone/>
            </a:pPr>
            <a:r>
              <a:rPr lang="en-US" dirty="0" sz="1800" i="1"/>
              <a:t>Our data model works the same way: keep only what answers the question.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9F0CCA-FE48-8405-A1A4-F94D735461A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A3420BA-466F-7A33-F411-990C743E6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0" name="Freeform 16">
            <a:extLst>
              <a:ext uri="{FF2B5EF4-FFF2-40B4-BE49-F238E27FC236}">
                <a16:creationId xmlns:a16="http://schemas.microsoft.com/office/drawing/2014/main" id="{0C988C58-FC6A-50CF-E85A-33A440BCC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Rectangle 11">
            <a:extLst>
              <a:ext uri="{FF2B5EF4-FFF2-40B4-BE49-F238E27FC236}">
                <a16:creationId xmlns:a16="http://schemas.microsoft.com/office/drawing/2014/main" id="{DD55625A-63F9-6BAE-34F2-8A58B2160F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BC180295-0016-34FF-3806-B99B4699F20D}"/>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06D9B05B-2F60-2B52-91D2-94EA5DBB7F9D}"/>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C05AB8D6-5CDA-AB11-50B3-3BB59F90D2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EFC18227-0BA1-B045-A8F5-DB8F3F373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3734463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Abstraction</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dirty="0" sz="3600" b="1">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dirty="0" sz="1800" b="1">
                <a:solidFill>
                  <a:srgbClr val="1B7FA6"/>
                </a:solidFill>
              </a:rPr>
              <a:t>Objective 3: Create a simplified model of a complex system</a:t>
            </a:r>
          </a:p>
        </p:txBody>
      </p:sp>
      <p:sp>
        <p:nvSpPr>
          <p:cNvPr id="14" name="TextBox 14"/>
          <p:cNvSpPr txBox="1"/>
          <p:nvPr/>
        </p:nvSpPr>
        <p:spPr>
          <a:xfrm>
            <a:off x="1024128" y="2423160"/>
            <a:ext cx="5394960" cy="347472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dirty="0" sz="1700" b="1"/>
              <a:t>Do not upload the data file.</a:t>
            </a:r>
            <a:r>
              <a:rPr lang="en-US" dirty="0" sz="1700"/>
              <a:t xml:space="preserve"> Describe it instead.</a:t>
            </a:r>
          </a:p>
          <a:p>
            <a:pPr marL="457200" lvl="0" indent="-457200">
              <a:spcAft>
                <a:spcPts val="600"/>
              </a:spcAft>
              <a:buFont typeface="+mj-lt"/>
              <a:buAutoNum type="arabicPeriod"/>
            </a:pPr>
            <a:r>
              <a:rPr lang="en-US" dirty="0" sz="1700"/>
              <a:t xml:space="preserve">Run </a:t>
            </a:r>
            <a:r>
              <a:rPr lang="en-US" dirty="0" sz="1700">
                <a:latin typeface="Courier New"/>
                <a:cs typeface="Courier New"/>
              </a:rPr>
              <a:t>glimpse(chem)</a:t>
            </a:r>
            <a:r>
              <a:rPr lang="en-US" dirty="0" sz="1700"/>
              <a:t>. Use it to fill in the data description on the handout.</a:t>
            </a:r>
          </a:p>
          <a:p>
            <a:pPr marL="457200" lvl="0" indent="-457200">
              <a:spcAft>
                <a:spcPts val="600"/>
              </a:spcAft>
              <a:buFont typeface="+mj-lt"/>
              <a:buAutoNum type="arabicPeriod"/>
            </a:pPr>
            <a:r>
              <a:rPr lang="en-US" dirty="0" sz="1700"/>
              <a:t>Include: what one row is, the columns you need, units, missing values, columns to ignore.</a:t>
            </a:r>
          </a:p>
          <a:p>
            <a:pPr marL="457200" lvl="0" indent="-457200">
              <a:spcAft>
                <a:spcPts val="600"/>
              </a:spcAft>
              <a:buFont typeface="+mj-lt"/>
              <a:buAutoNum type="arabicPeriod"/>
            </a:pPr>
            <a:r>
              <a:rPr lang="en-US" dirty="0" sz="1700"/>
              <a:t>Give Claude your description with the prompt at right.</a:t>
            </a:r>
          </a:p>
          <a:p>
            <a:pPr marL="457200" lvl="0" indent="-457200">
              <a:spcAft>
                <a:spcPts val="600"/>
              </a:spcAft>
              <a:buFont typeface="+mj-lt"/>
              <a:buAutoNum type="arabicPeriod"/>
            </a:pPr>
            <a:r>
              <a:rPr lang="en-US" dirty="0" sz="1700"/>
              <a:t>Answer its questions. Improve your description.</a:t>
            </a:r>
          </a:p>
        </p:txBody>
      </p:sp>
      <p:sp>
        <p:nvSpPr>
          <p:cNvPr id="15" name="TextBox 15"/>
          <p:cNvSpPr txBox="1"/>
          <p:nvPr/>
        </p:nvSpPr>
        <p:spPr>
          <a:xfrm>
            <a:off x="6629400" y="2468879"/>
            <a:ext cx="4526280" cy="2286000"/>
          </a:xfrm>
          <a:prstGeom prst="rect">
            <a:avLst/>
          </a:prstGeom>
          <a:solidFill>
            <a:srgbClr val="EEF3F6"/>
          </a:solidFill>
        </p:spPr>
        <p:txBody>
          <a:bodyPr wrap="square" lIns="137160" tIns="137160" rIns="137160" bIns="137160" rtlCol="0" anchor="t">
            <a:normAutofit/>
          </a:bodyPr>
          <a:lstStyle/>
          <a:p>
            <a:pPr marL="0" indent="0">
              <a:buNone/>
            </a:pPr>
            <a:r>
              <a:rPr lang="en-US" dirty="0" sz="1500">
                <a:solidFill>
                  <a:srgbClr val="1F2A30"/>
                </a:solidFill>
                <a:latin typeface="Courier New"/>
                <a:cs typeface="Courier New"/>
              </a:rPr>
              <a:t>Here is a description of my</a:t>
            </a:r>
          </a:p>
          <a:p>
            <a:pPr marL="0" indent="0">
              <a:buNone/>
            </a:pPr>
            <a:r>
              <a:rPr lang="en-US" dirty="0" sz="1500">
                <a:solidFill>
                  <a:srgbClr val="1F2A30"/>
                </a:solidFill>
                <a:latin typeface="Courier New"/>
                <a:cs typeface="Courier New"/>
              </a:rPr>
              <a:t>data. Before writing any code,</a:t>
            </a:r>
          </a:p>
          <a:p>
            <a:pPr marL="0" indent="0">
              <a:buNone/>
            </a:pPr>
            <a:r>
              <a:rPr lang="en-US" dirty="0" sz="1500">
                <a:solidFill>
                  <a:srgbClr val="1F2A30"/>
                </a:solidFill>
                <a:latin typeface="Courier New"/>
                <a:cs typeface="Courier New"/>
              </a:rPr>
              <a:t>tell me what is unclear or</a:t>
            </a:r>
          </a:p>
          <a:p>
            <a:pPr marL="0" indent="0">
              <a:buNone/>
            </a:pPr>
            <a:r>
              <a:rPr lang="en-US" dirty="0" sz="1500">
                <a:solidFill>
                  <a:srgbClr val="1F2A30"/>
                </a:solidFill>
                <a:latin typeface="Courier New"/>
                <a:cs typeface="Courier New"/>
              </a:rPr>
              <a:t>missing. Ask me questions.</a:t>
            </a:r>
          </a:p>
          <a:p>
            <a:pPr marL="0" indent="0">
              <a:buNone/>
            </a:pPr>
            <a:r>
              <a:rPr lang="en-US" dirty="0" sz="1500">
                <a:solidFill>
                  <a:srgbClr val="1F2A30"/>
                </a:solidFill>
                <a:latin typeface="Courier New"/>
                <a:cs typeface="Courier New"/>
              </a:rPr>
              <a:t xml:space="preserve"> </a:t>
            </a:r>
          </a:p>
          <a:p>
            <a:pPr marL="0" indent="0">
              <a:buNone/>
            </a:pPr>
            <a:r>
              <a:rPr lang="en-US" dirty="0" sz="1500">
                <a:solidFill>
                  <a:srgbClr val="1F2A30"/>
                </a:solidFill>
                <a:latin typeface="Courier New"/>
                <a:cs typeface="Courier New"/>
              </a:rPr>
              <a:t>[paste your description]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Example data description</a:t>
            </a:r>
          </a:p>
        </p:txBody>
      </p:sp>
      <p:sp>
        <p:nvSpPr>
          <p:cNvPr id="12" name="TextBox 12"/>
          <p:cNvSpPr txBox="1"/>
          <p:nvPr/>
        </p:nvSpPr>
        <p:spPr>
          <a:xfrm>
            <a:off x="1024128" y="2103120"/>
            <a:ext cx="6858000" cy="3931920"/>
          </a:xfrm>
          <a:prstGeom prst="rect">
            <a:avLst/>
          </a:prstGeom>
          <a:solidFill>
            <a:srgbClr val="EEF3F6"/>
          </a:solidFill>
        </p:spPr>
        <p:txBody>
          <a:bodyPr wrap="square" lIns="137160" tIns="137160" rIns="137160" bIns="137160" rtlCol="0" anchor="t">
            <a:normAutofit/>
          </a:bodyPr>
          <a:lstStyle/>
          <a:p>
            <a:pPr marL="0" indent="0">
              <a:buNone/>
            </a:pPr>
            <a:r>
              <a:rPr lang="en-US" dirty="0" sz="1300">
                <a:solidFill>
                  <a:srgbClr val="1F2A30"/>
                </a:solidFill>
                <a:latin typeface="Courier New"/>
                <a:cs typeface="Courier New"/>
              </a:rPr>
              <a:t>Data: chem_subset.csv</a:t>
            </a:r>
          </a:p>
          <a:p>
            <a:pPr marL="0" indent="0">
              <a:buNone/>
            </a:pPr>
            <a:r>
              <a:rPr lang="en-US" dirty="0" sz="1300">
                <a:solidFill>
                  <a:srgbClr val="1F2A30"/>
                </a:solidFill>
                <a:latin typeface="Courier New"/>
                <a:cs typeface="Courier New"/>
              </a:rPr>
              <a:t>One row = one test result.</a:t>
            </a:r>
          </a:p>
          <a:p>
            <a:pPr marL="0" indent="0">
              <a:buNone/>
            </a:pPr>
            <a:r>
              <a:rPr lang="en-US" dirty="0" sz="1300">
                <a:solidFill>
                  <a:srgbClr val="1F2A30"/>
                </a:solidFill>
                <a:latin typeface="Courier New"/>
                <a:cs typeface="Courier New"/>
              </a:rPr>
              <a:t>Each patient has one specimen and several tests,</a:t>
            </a:r>
          </a:p>
          <a:p>
            <a:pPr marL="0" indent="0">
              <a:buNone/>
            </a:pPr>
            <a:r>
              <a:rPr lang="en-US" dirty="0" sz="1300">
                <a:solidFill>
                  <a:srgbClr val="1F2A30"/>
                </a:solidFill>
                <a:latin typeface="Courier New"/>
                <a:cs typeface="Courier New"/>
              </a:rPr>
              <a:t>so each patient appears on several rows.</a:t>
            </a:r>
          </a:p>
          <a:p>
            <a:pPr marL="0" indent="0">
              <a:buNone/>
            </a:pPr>
            <a:r>
              <a:rPr lang="en-US" dirty="0" sz="1300">
                <a:solidFill>
                  <a:srgbClr val="1F2A30"/>
                </a:solidFill>
                <a:latin typeface="Courier New"/>
                <a:cs typeface="Courier New"/>
              </a:rPr>
              <a:t xml:space="preserve"> </a:t>
            </a:r>
          </a:p>
          <a:p>
            <a:pPr marL="0" indent="0">
              <a:buNone/>
            </a:pPr>
            <a:r>
              <a:rPr lang="en-US" dirty="0" sz="1300">
                <a:solidFill>
                  <a:srgbClr val="1F2A30"/>
                </a:solidFill>
                <a:latin typeface="Courier New"/>
                <a:cs typeface="Courier New"/>
              </a:rPr>
              <a:t>Columns I need:</a:t>
            </a:r>
          </a:p>
          <a:p>
            <a:pPr marL="0" indent="0">
              <a:buNone/>
            </a:pPr>
            <a:r>
              <a:rPr lang="en-US" dirty="0" sz="1300">
                <a:solidFill>
                  <a:srgbClr val="1F2A30"/>
                </a:solidFill>
                <a:latin typeface="Courier New"/>
                <a:cs typeface="Courier New"/>
              </a:rPr>
              <a:t xml:space="preserve">  mrn          patient ID (number)</a:t>
            </a:r>
          </a:p>
          <a:p>
            <a:pPr marL="0" indent="0">
              <a:buNone/>
            </a:pPr>
            <a:r>
              <a:rPr lang="en-US" dirty="0" sz="1300">
                <a:solidFill>
                  <a:srgbClr val="1F2A30"/>
                </a:solidFill>
                <a:latin typeface="Courier New"/>
                <a:cs typeface="Courier New"/>
              </a:rPr>
              <a:t xml:space="preserve">  pat_type     icu, inpatient, outpatient, client,</a:t>
            </a:r>
          </a:p>
          <a:p>
            <a:pPr marL="0" indent="0">
              <a:buNone/>
            </a:pPr>
            <a:r>
              <a:rPr lang="en-US" dirty="0" sz="1300">
                <a:solidFill>
                  <a:srgbClr val="1F2A30"/>
                </a:solidFill>
                <a:latin typeface="Courier New"/>
                <a:cs typeface="Courier New"/>
              </a:rPr>
              <a:t xml:space="preserve">               cancer center (text; some missing)</a:t>
            </a:r>
          </a:p>
          <a:p>
            <a:pPr marL="0" indent="0">
              <a:buNone/>
            </a:pPr>
            <a:r>
              <a:rPr lang="en-US" dirty="0" sz="1300">
                <a:solidFill>
                  <a:srgbClr val="1F2A30"/>
                </a:solidFill>
                <a:latin typeface="Courier New"/>
                <a:cs typeface="Courier New"/>
              </a:rPr>
              <a:t xml:space="preserve">  col_rec_tat  collect to receive, hours (number)</a:t>
            </a:r>
          </a:p>
          <a:p>
            <a:pPr marL="0" indent="0">
              <a:buNone/>
            </a:pPr>
            <a:r>
              <a:rPr lang="en-US" dirty="0" sz="1300">
                <a:solidFill>
                  <a:srgbClr val="1F2A30"/>
                </a:solidFill>
                <a:latin typeface="Courier New"/>
                <a:cs typeface="Courier New"/>
              </a:rPr>
              <a:t xml:space="preserve">  rec_ver_tat  receive to verify, hours (number)</a:t>
            </a:r>
          </a:p>
          <a:p>
            <a:pPr marL="0" indent="0">
              <a:buNone/>
            </a:pPr>
            <a:r>
              <a:rPr lang="en-US" dirty="0" sz="1300">
                <a:solidFill>
                  <a:srgbClr val="1F2A30"/>
                </a:solidFill>
                <a:latin typeface="Courier New"/>
                <a:cs typeface="Courier New"/>
              </a:rPr>
              <a:t xml:space="preserve">  test, value  test name (text), result (number)</a:t>
            </a:r>
          </a:p>
          <a:p>
            <a:pPr marL="0" indent="0">
              <a:buNone/>
            </a:pPr>
            <a:r>
              <a:rPr lang="en-US" dirty="0" sz="1300">
                <a:solidFill>
                  <a:srgbClr val="1F2A30"/>
                </a:solidFill>
                <a:latin typeface="Courier New"/>
                <a:cs typeface="Courier New"/>
              </a:rPr>
              <a:t>TAT columns repeat on every row for a patient.</a:t>
            </a:r>
          </a:p>
          <a:p>
            <a:pPr marL="0" indent="0">
              <a:buNone/>
            </a:pPr>
            <a:r>
              <a:rPr lang="en-US" dirty="0" sz="1300">
                <a:solidFill>
                  <a:srgbClr val="1F2A30"/>
                </a:solidFill>
                <a:latin typeface="Courier New"/>
                <a:cs typeface="Courier New"/>
              </a:rPr>
              <a:t>Ignore: last_name, payor_groups, pregnancy status</a:t>
            </a:r>
          </a:p>
        </p:txBody>
      </p:sp>
      <p:sp>
        <p:nvSpPr>
          <p:cNvPr id="13" name="TextBox 13"/>
          <p:cNvSpPr txBox="1"/>
          <p:nvPr/>
        </p:nvSpPr>
        <p:spPr>
          <a:xfrm>
            <a:off x="8092440" y="2240280"/>
            <a:ext cx="3017520" cy="2926080"/>
          </a:xfrm>
          <a:prstGeom prst="rect">
            <a:avLst/>
          </a:prstGeom>
          <a:solidFill>
            <a:srgbClr val="EEF3F6"/>
          </a:solidFill>
        </p:spPr>
        <p:txBody>
          <a:bodyPr wrap="square" lIns="137160" tIns="137160" rIns="137160" bIns="137160" rtlCol="0" anchor="t">
            <a:normAutofit/>
          </a:bodyPr>
          <a:lstStyle/>
          <a:p>
            <a:pPr marL="0" indent="0">
              <a:spcAft>
                <a:spcPts val="900"/>
              </a:spcAft>
              <a:buNone/>
            </a:pPr>
            <a:r>
              <a:rPr lang="en-US" dirty="0" sz="1800" b="1"/>
              <a:t xml:space="preserve">The key line: </a:t>
            </a:r>
            <a:r>
              <a:rPr lang="en-US" dirty="0" sz="1800"/>
              <a:t>what one row is.</a:t>
            </a:r>
          </a:p>
          <a:p>
            <a:pPr marL="0" indent="0">
              <a:spcAft>
                <a:spcPts val="900"/>
              </a:spcAft>
              <a:buNone/>
            </a:pPr>
            <a:r>
              <a:rPr lang="en-US" dirty="0" sz="1800"/>
              <a:t>It decides whether your counts are right.</a:t>
            </a:r>
          </a:p>
          <a:p>
            <a:pPr marL="0" indent="0">
              <a:spcAft>
                <a:spcPts val="0"/>
              </a:spcAft>
              <a:buNone/>
            </a:pPr>
            <a:r>
              <a:rPr lang="en-US" dirty="0" sz="1800"/>
              <a:t>You kept 7 of 14 columns. That is the model.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B4B01-6ACD-06F8-5AAF-FD1F9D942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9EC7E-CEC3-E450-24DE-DDEE841A20C3}"/>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D3C0F10C-7EDF-BFAB-D571-CF4D16870DE8}"/>
              </a:ext>
            </a:extLst>
          </p:cNvPr>
          <p:cNvSpPr>
            <a:spLocks noGrp="1"/>
          </p:cNvSpPr>
          <p:nvPr>
            <p:ph idx="1"/>
          </p:nvPr>
        </p:nvSpPr>
        <p:spPr/>
        <p:txBody>
          <a:bodyPr>
            <a:normAutofit lnSpcReduction="10000"/>
          </a:bodyPr>
          <a:lstStyle/>
          <a:p>
            <a:pPr marL="241300" indent="-241300"/>
            <a:r>
              <a:rPr lang="en-US" dirty="0"/>
              <a:t>Simplifies the situation to help focus on most important aspects, highlights similarities, and makes actions efficient and easier to perform</a:t>
            </a:r>
          </a:p>
          <a:p>
            <a:pPr marL="241300" indent="-241300"/>
            <a:r>
              <a:rPr lang="en-US" dirty="0"/>
              <a:t>Already seen examples of how this can make decision making easier in data visualization context</a:t>
            </a:r>
          </a:p>
          <a:p>
            <a:pPr marL="241300" indent="-241300"/>
            <a:endParaRPr lang="en-US" dirty="0"/>
          </a:p>
          <a:p>
            <a:pPr marL="241300" indent="-241300"/>
            <a:r>
              <a:rPr lang="en-US" b="1" dirty="0"/>
              <a:t>Computational examples: </a:t>
            </a:r>
            <a:r>
              <a:rPr lang="en-US" dirty="0"/>
              <a:t>APIs, programming functions, LLM chat interfaces, business intelligence tools</a:t>
            </a:r>
          </a:p>
        </p:txBody>
      </p:sp>
    </p:spTree>
    <p:extLst>
      <p:ext uri="{BB962C8B-B14F-4D97-AF65-F5344CB8AC3E}">
        <p14:creationId xmlns:p14="http://schemas.microsoft.com/office/powerpoint/2010/main" val="39348728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B6CAA-63C9-87A4-F89D-A9B9D56C7A87}"/>
              </a:ext>
            </a:extLst>
          </p:cNvPr>
          <p:cNvSpPr>
            <a:spLocks noGrp="1"/>
          </p:cNvSpPr>
          <p:nvPr>
            <p:ph type="title"/>
          </p:nvPr>
        </p:nvSpPr>
        <p:spPr/>
        <p:txBody>
          <a:bodyPr/>
          <a:lstStyle/>
          <a:p>
            <a:r>
              <a:rPr lang="en-US" dirty="0"/>
              <a:t>Algorithm Design</a:t>
            </a:r>
          </a:p>
        </p:txBody>
      </p:sp>
      <p:sp>
        <p:nvSpPr>
          <p:cNvPr id="3" name="Content Placeholder 2">
            <a:extLst>
              <a:ext uri="{FF2B5EF4-FFF2-40B4-BE49-F238E27FC236}">
                <a16:creationId xmlns:a16="http://schemas.microsoft.com/office/drawing/2014/main" id="{7827460C-A229-BDB8-2E79-97BD0565D772}"/>
              </a:ext>
            </a:extLst>
          </p:cNvPr>
          <p:cNvSpPr>
            <a:spLocks noGrp="1"/>
          </p:cNvSpPr>
          <p:nvPr>
            <p:ph idx="1"/>
          </p:nvPr>
        </p:nvSpPr>
        <p:spPr/>
        <p:txBody>
          <a:bodyPr>
            <a:normAutofit lnSpcReduction="10000"/>
          </a:bodyPr>
          <a:lstStyle/>
          <a:p>
            <a:pPr marL="0" indent="0">
              <a:buNone/>
            </a:pPr>
            <a:r>
              <a:rPr lang="en-US" dirty="0"/>
              <a:t>Develop clear, step-by-step instructions or plans for how to solve a problem, which can then be executed by a human or computer. </a:t>
            </a:r>
          </a:p>
          <a:p>
            <a:pPr marL="0" indent="0">
              <a:buNone/>
            </a:pPr>
            <a:endParaRPr lang="en-US" dirty="0"/>
          </a:p>
          <a:p>
            <a:pPr marL="514350" indent="-514350">
              <a:buAutoNum type="arabicPeriod"/>
            </a:pPr>
            <a:r>
              <a:rPr lang="en-US" dirty="0"/>
              <a:t>Define starting point (input) and ending point (output) with sequential steps in between</a:t>
            </a:r>
          </a:p>
          <a:p>
            <a:pPr marL="514350" indent="-514350">
              <a:buAutoNum type="arabicPeriod"/>
            </a:pPr>
            <a:r>
              <a:rPr lang="en-US" dirty="0"/>
              <a:t>Represent with words/pseudocode/code or flow diagram</a:t>
            </a:r>
          </a:p>
        </p:txBody>
      </p:sp>
      <p:grpSp>
        <p:nvGrpSpPr>
          <p:cNvPr id="4" name="Group 3">
            <a:extLst>
              <a:ext uri="{FF2B5EF4-FFF2-40B4-BE49-F238E27FC236}">
                <a16:creationId xmlns:a16="http://schemas.microsoft.com/office/drawing/2014/main" id="{E6607710-E00B-A76D-7502-E01484B4960D}"/>
              </a:ext>
            </a:extLst>
          </p:cNvPr>
          <p:cNvGrpSpPr/>
          <p:nvPr/>
        </p:nvGrpSpPr>
        <p:grpSpPr>
          <a:xfrm>
            <a:off x="876300" y="886261"/>
            <a:ext cx="6342743" cy="782519"/>
            <a:chOff x="0" y="2582314"/>
            <a:chExt cx="6342743" cy="782519"/>
          </a:xfrm>
        </p:grpSpPr>
        <p:sp>
          <p:nvSpPr>
            <p:cNvPr id="6" name="Rounded Rectangle 5">
              <a:extLst>
                <a:ext uri="{FF2B5EF4-FFF2-40B4-BE49-F238E27FC236}">
                  <a16:creationId xmlns:a16="http://schemas.microsoft.com/office/drawing/2014/main" id="{898B8233-6D22-3E52-BB13-A24F9A4B6674}"/>
                </a:ext>
              </a:extLst>
            </p:cNvPr>
            <p:cNvSpPr/>
            <p:nvPr/>
          </p:nvSpPr>
          <p:spPr>
            <a:xfrm>
              <a:off x="0" y="2582314"/>
              <a:ext cx="6342743" cy="782519"/>
            </a:xfrm>
            <a:prstGeom prst="roundRect">
              <a:avLst>
                <a:gd name="adj" fmla="val 10000"/>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FB39ED99-69A4-B43A-8F8C-6568BADEE7B4}"/>
                </a:ext>
              </a:extLst>
            </p:cNvPr>
            <p:cNvSpPr txBox="1"/>
            <p:nvPr/>
          </p:nvSpPr>
          <p:spPr>
            <a:xfrm>
              <a:off x="1346800" y="2582314"/>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p:txBody>
        </p:sp>
      </p:grpSp>
      <p:sp>
        <p:nvSpPr>
          <p:cNvPr id="5" name="Rounded Rectangle 4" descr="Dance steps with solid fill">
            <a:extLst>
              <a:ext uri="{FF2B5EF4-FFF2-40B4-BE49-F238E27FC236}">
                <a16:creationId xmlns:a16="http://schemas.microsoft.com/office/drawing/2014/main" id="{3DB3F710-A4DF-8640-60D0-244EB1B21FE5}"/>
              </a:ext>
            </a:extLst>
          </p:cNvPr>
          <p:cNvSpPr/>
          <p:nvPr/>
        </p:nvSpPr>
        <p:spPr>
          <a:xfrm>
            <a:off x="954551" y="964513"/>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10000" b="-10000"/>
            </a:stretch>
          </a:blipFill>
        </p:spPr>
        <p:style>
          <a:lnRef idx="2">
            <a:schemeClr val="lt1">
              <a:hueOff val="0"/>
              <a:satOff val="0"/>
              <a:lumOff val="0"/>
              <a:alphaOff val="0"/>
            </a:schemeClr>
          </a:lnRef>
          <a:fillRef idx="1">
            <a:scrgbClr r="0" g="0" b="0"/>
          </a:fillRef>
          <a:effectRef idx="0">
            <a:schemeClr val="accent5">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3287533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2820B-3D3B-2C5A-F7DE-4635DDEC36C1}"/>
              </a:ext>
            </a:extLst>
          </p:cNvPr>
          <p:cNvSpPr>
            <a:spLocks noGrp="1"/>
          </p:cNvSpPr>
          <p:nvPr>
            <p:ph type="title"/>
          </p:nvPr>
        </p:nvSpPr>
        <p:spPr/>
        <p:txBody>
          <a:bodyPr/>
          <a:lstStyle/>
          <a:p>
            <a:r>
              <a:rPr lang="en-US" dirty="0"/>
              <a:t>Detailed recipe: algorithm for baking</a:t>
            </a:r>
          </a:p>
        </p:txBody>
      </p:sp>
      <p:sp>
        <p:nvSpPr>
          <p:cNvPr id="3" name="Content Placeholder 2">
            <a:extLst>
              <a:ext uri="{FF2B5EF4-FFF2-40B4-BE49-F238E27FC236}">
                <a16:creationId xmlns:a16="http://schemas.microsoft.com/office/drawing/2014/main" id="{FF2F53BD-9EFA-4987-65E9-3870934F5BAF}"/>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70BA3AFF-DAD1-CBB7-2A8C-F91EEBB36474}"/>
              </a:ext>
            </a:extLst>
          </p:cNvPr>
          <p:cNvPicPr>
            <a:picLocks noChangeAspect="1"/>
          </p:cNvPicPr>
          <p:nvPr/>
        </p:nvPicPr>
        <p:blipFill>
          <a:blip r:embed="rId2"/>
          <a:srcRect l="7888" t="2932" r="10123" b="33975"/>
          <a:stretch>
            <a:fillRect/>
          </a:stretch>
        </p:blipFill>
        <p:spPr>
          <a:xfrm>
            <a:off x="2881884" y="1863896"/>
            <a:ext cx="6004560" cy="4620724"/>
          </a:xfrm>
          <a:prstGeom prst="rect">
            <a:avLst/>
          </a:prstGeom>
        </p:spPr>
      </p:pic>
    </p:spTree>
    <p:extLst>
      <p:ext uri="{BB962C8B-B14F-4D97-AF65-F5344CB8AC3E}">
        <p14:creationId xmlns:p14="http://schemas.microsoft.com/office/powerpoint/2010/main" val="21496124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DC9A2F-5695-1A5C-6F35-9857971F3CC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BCF4DC-4EE6-92D1-767A-3140D4710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0" name="Freeform 16">
            <a:extLst>
              <a:ext uri="{FF2B5EF4-FFF2-40B4-BE49-F238E27FC236}">
                <a16:creationId xmlns:a16="http://schemas.microsoft.com/office/drawing/2014/main" id="{285DE9BC-5298-472C-CE35-5F4FC608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Rectangle 11">
            <a:extLst>
              <a:ext uri="{FF2B5EF4-FFF2-40B4-BE49-F238E27FC236}">
                <a16:creationId xmlns:a16="http://schemas.microsoft.com/office/drawing/2014/main" id="{801C1412-5645-FF55-D19D-CA90CBD8E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E5F014E1-7880-0133-B7AE-E47C8131971D}"/>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AE9818E1-9782-2B13-1B04-442B4769E0A0}"/>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ABD7CB5B-4DAA-03B1-A1A9-C68B9056BC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F9131479-2461-59FC-D973-113F8A25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4111481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Algorithm design</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dirty="0" sz="3600" b="1">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dirty="0" sz="1800" b="1">
                <a:solidFill>
                  <a:srgbClr val="1B7FA6"/>
                </a:solidFill>
              </a:rPr>
              <a:t>Objective 4: Design step-by-step instructions to solve a problem</a:t>
            </a:r>
          </a:p>
        </p:txBody>
      </p:sp>
      <p:sp>
        <p:nvSpPr>
          <p:cNvPr id="14" name="TextBox 14"/>
          <p:cNvSpPr txBox="1"/>
          <p:nvPr/>
        </p:nvSpPr>
        <p:spPr>
          <a:xfrm>
            <a:off x="1024128" y="2423160"/>
            <a:ext cx="5394960" cy="347472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dirty="0" sz="1700"/>
              <a:t>Write the steps in plain words first. Use the handout.</a:t>
            </a:r>
          </a:p>
          <a:p>
            <a:pPr marL="457200" lvl="0" indent="-457200">
              <a:spcAft>
                <a:spcPts val="600"/>
              </a:spcAft>
              <a:buFont typeface="+mj-lt"/>
              <a:buAutoNum type="arabicPeriod"/>
            </a:pPr>
            <a:r>
              <a:rPr lang="en-US" dirty="0" sz="1700"/>
              <a:t>Build your prompt from the template at right.</a:t>
            </a:r>
          </a:p>
          <a:p>
            <a:pPr marL="457200" lvl="0" indent="-457200">
              <a:spcAft>
                <a:spcPts val="600"/>
              </a:spcAft>
              <a:buFont typeface="+mj-lt"/>
              <a:buAutoNum type="arabicPeriod"/>
            </a:pPr>
            <a:r>
              <a:rPr lang="en-US" dirty="0" sz="1700"/>
              <a:t>Paste Claude's code into Exercise 4. Run it.</a:t>
            </a:r>
          </a:p>
          <a:p>
            <a:pPr marL="457200" lvl="0" indent="-457200">
              <a:spcAft>
                <a:spcPts val="600"/>
              </a:spcAft>
              <a:buFont typeface="+mj-lt"/>
              <a:buAutoNum type="arabicPeriod"/>
            </a:pPr>
            <a:r>
              <a:rPr lang="en-US" dirty="0" sz="1700"/>
              <a:t>Error? Paste the full error message back to Claude. Ask it to fix and explain.</a:t>
            </a:r>
          </a:p>
          <a:p>
            <a:pPr marL="457200" lvl="0" indent="-457200">
              <a:spcAft>
                <a:spcPts val="600"/>
              </a:spcAft>
              <a:buFont typeface="+mj-lt"/>
              <a:buAutoNum type="arabicPeriod"/>
            </a:pPr>
            <a:r>
              <a:rPr lang="en-US" dirty="0" sz="1700"/>
              <a:t>Stop when you have a table of TAT by patient type.</a:t>
            </a:r>
          </a:p>
        </p:txBody>
      </p:sp>
      <p:sp>
        <p:nvSpPr>
          <p:cNvPr id="15" name="TextBox 15"/>
          <p:cNvSpPr txBox="1"/>
          <p:nvPr/>
        </p:nvSpPr>
        <p:spPr>
          <a:xfrm>
            <a:off x="6629400" y="2468879"/>
            <a:ext cx="4526280" cy="3246120"/>
          </a:xfrm>
          <a:prstGeom prst="rect">
            <a:avLst/>
          </a:prstGeom>
          <a:solidFill>
            <a:srgbClr val="EEF3F6"/>
          </a:solidFill>
        </p:spPr>
        <p:txBody>
          <a:bodyPr wrap="square" lIns="137160" tIns="137160" rIns="137160" bIns="137160" rtlCol="0" anchor="t">
            <a:normAutofit/>
          </a:bodyPr>
          <a:lstStyle/>
          <a:p>
            <a:pPr marL="0" indent="0">
              <a:buNone/>
            </a:pPr>
            <a:r>
              <a:rPr lang="en-US" dirty="0" sz="1500">
                <a:solidFill>
                  <a:srgbClr val="1F2A30"/>
                </a:solidFill>
                <a:latin typeface="Courier New"/>
                <a:cs typeface="Courier New"/>
              </a:rPr>
              <a:t>You are helping a lab</a:t>
            </a:r>
          </a:p>
          <a:p>
            <a:pPr marL="0" indent="0">
              <a:buNone/>
            </a:pPr>
            <a:r>
              <a:rPr lang="en-US" dirty="0" sz="1500">
                <a:solidFill>
                  <a:srgbClr val="1F2A30"/>
                </a:solidFill>
                <a:latin typeface="Courier New"/>
                <a:cs typeface="Courier New"/>
              </a:rPr>
              <a:t>professional who is new to R.</a:t>
            </a:r>
          </a:p>
          <a:p>
            <a:pPr marL="0" indent="0">
              <a:buNone/>
            </a:pPr>
            <a:r>
              <a:rPr lang="en-US" dirty="0" sz="1500">
                <a:solidFill>
                  <a:srgbClr val="1F2A30"/>
                </a:solidFill>
                <a:latin typeface="Courier New"/>
                <a:cs typeface="Courier New"/>
              </a:rPr>
              <a:t xml:space="preserve"> </a:t>
            </a:r>
          </a:p>
          <a:p>
            <a:pPr marL="0" indent="0">
              <a:buNone/>
            </a:pPr>
            <a:r>
              <a:rPr lang="en-US" dirty="0" sz="1500">
                <a:solidFill>
                  <a:srgbClr val="1F2A30"/>
                </a:solidFill>
                <a:latin typeface="Courier New"/>
                <a:cs typeface="Courier New"/>
              </a:rPr>
              <a:t>My data: [description]</a:t>
            </a:r>
          </a:p>
          <a:p>
            <a:pPr marL="0" indent="0">
              <a:buNone/>
            </a:pPr>
            <a:r>
              <a:rPr lang="en-US" dirty="0" sz="1500">
                <a:solidFill>
                  <a:srgbClr val="1F2A30"/>
                </a:solidFill>
                <a:latin typeface="Courier New"/>
                <a:cs typeface="Courier New"/>
              </a:rPr>
              <a:t xml:space="preserve"> </a:t>
            </a:r>
          </a:p>
          <a:p>
            <a:pPr marL="0" indent="0">
              <a:buNone/>
            </a:pPr>
            <a:r>
              <a:rPr lang="en-US" dirty="0" sz="1500">
                <a:solidFill>
                  <a:srgbClr val="1F2A30"/>
                </a:solidFill>
                <a:latin typeface="Courier New"/>
                <a:cs typeface="Courier New"/>
              </a:rPr>
              <a:t>Do these steps: [your steps]</a:t>
            </a:r>
          </a:p>
          <a:p>
            <a:pPr marL="0" indent="0">
              <a:buNone/>
            </a:pPr>
            <a:r>
              <a:rPr lang="en-US" dirty="0" sz="1500">
                <a:solidFill>
                  <a:srgbClr val="1F2A30"/>
                </a:solidFill>
                <a:latin typeface="Courier New"/>
                <a:cs typeface="Courier New"/>
              </a:rPr>
              <a:t xml:space="preserve"> </a:t>
            </a:r>
          </a:p>
          <a:p>
            <a:pPr marL="0" indent="0">
              <a:buNone/>
            </a:pPr>
            <a:r>
              <a:rPr lang="en-US" dirty="0" sz="1500">
                <a:solidFill>
                  <a:srgbClr val="1F2A30"/>
                </a:solidFill>
                <a:latin typeface="Courier New"/>
                <a:cs typeface="Courier New"/>
              </a:rPr>
              <a:t>Use dplyr. Add a comment to</a:t>
            </a:r>
          </a:p>
          <a:p>
            <a:pPr marL="0" indent="0">
              <a:buNone/>
            </a:pPr>
            <a:r>
              <a:rPr lang="en-US" dirty="0" sz="1500">
                <a:solidFill>
                  <a:srgbClr val="1F2A30"/>
                </a:solidFill>
                <a:latin typeface="Courier New"/>
                <a:cs typeface="Courier New"/>
              </a:rPr>
              <a:t>explain each line.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Algorithm: what you should see</a:t>
            </a:r>
          </a:p>
        </p:txBody>
      </p:sp>
      <p:sp>
        <p:nvSpPr>
          <p:cNvPr id="12" name="TextBox 12"/>
          <p:cNvSpPr txBox="1"/>
          <p:nvPr/>
        </p:nvSpPr>
        <p:spPr>
          <a:xfrm>
            <a:off x="1024128" y="2103120"/>
            <a:ext cx="9692640" cy="2011680"/>
          </a:xfrm>
          <a:prstGeom prst="rect">
            <a:avLst/>
          </a:prstGeom>
          <a:solidFill>
            <a:srgbClr val="EEF3F6"/>
          </a:solidFill>
        </p:spPr>
        <p:txBody>
          <a:bodyPr wrap="square" lIns="137160" tIns="137160" rIns="137160" bIns="137160" rtlCol="0" anchor="t">
            <a:normAutofit/>
          </a:bodyPr>
          <a:lstStyle/>
          <a:p>
            <a:pPr marL="0" indent="0">
              <a:buNone/>
            </a:pPr>
            <a:r>
              <a:rPr lang="en-US" dirty="0" sz="1400">
                <a:solidFill>
                  <a:srgbClr val="1F2A30"/>
                </a:solidFill>
                <a:latin typeface="Courier New"/>
                <a:cs typeface="Courier New"/>
              </a:rPr>
              <a:t xml:space="preserve">  pat_type      n_patients median_total p90_total pct_over_3h</a:t>
            </a:r>
          </a:p>
          <a:p>
            <a:pPr marL="0" indent="0">
              <a:buNone/>
            </a:pPr>
            <a:r>
              <a:rPr lang="en-US" dirty="0" sz="1400">
                <a:solidFill>
                  <a:srgbClr val="1F2A30"/>
                </a:solidFill>
                <a:latin typeface="Courier New"/>
                <a:cs typeface="Courier New"/>
              </a:rPr>
              <a:t>1 inpatient          1067         2.55      3.39        26.6</a:t>
            </a:r>
          </a:p>
          <a:p>
            <a:pPr marL="0" indent="0">
              <a:buNone/>
            </a:pPr>
            <a:r>
              <a:rPr lang="en-US" dirty="0" sz="1400">
                <a:solidFill>
                  <a:srgbClr val="1F2A30"/>
                </a:solidFill>
                <a:latin typeface="Courier New"/>
                <a:cs typeface="Courier New"/>
              </a:rPr>
              <a:t>2 missing            1088         2.55      3.38        26.9</a:t>
            </a:r>
          </a:p>
          <a:p>
            <a:pPr marL="0" indent="0">
              <a:buNone/>
            </a:pPr>
            <a:r>
              <a:rPr lang="en-US" dirty="0" sz="1400">
                <a:solidFill>
                  <a:srgbClr val="1F2A30"/>
                </a:solidFill>
                <a:latin typeface="Courier New"/>
                <a:cs typeface="Courier New"/>
              </a:rPr>
              <a:t>3 outpatient         1072         2.55      3.36        24.8</a:t>
            </a:r>
          </a:p>
          <a:p>
            <a:pPr marL="0" indent="0">
              <a:buNone/>
            </a:pPr>
            <a:r>
              <a:rPr lang="en-US" dirty="0" sz="1400">
                <a:solidFill>
                  <a:srgbClr val="1F2A30"/>
                </a:solidFill>
                <a:latin typeface="Courier New"/>
                <a:cs typeface="Courier New"/>
              </a:rPr>
              <a:t>4 client             1092         2.53      3.37        25.5</a:t>
            </a:r>
          </a:p>
          <a:p>
            <a:pPr marL="0" indent="0">
              <a:buNone/>
            </a:pPr>
            <a:r>
              <a:rPr lang="en-US" dirty="0" sz="1400">
                <a:solidFill>
                  <a:srgbClr val="1F2A30"/>
                </a:solidFill>
                <a:latin typeface="Courier New"/>
                <a:cs typeface="Courier New"/>
              </a:rPr>
              <a:t>5 icu                1103         2.53      3.38        25.9</a:t>
            </a:r>
          </a:p>
          <a:p>
            <a:pPr marL="0" indent="0">
              <a:buNone/>
            </a:pPr>
            <a:r>
              <a:rPr lang="en-US" dirty="0" sz="1400">
                <a:solidFill>
                  <a:srgbClr val="1F2A30"/>
                </a:solidFill>
                <a:latin typeface="Courier New"/>
                <a:cs typeface="Courier New"/>
              </a:rPr>
              <a:t>6 cancer center      1059         2.51      3.37        26.1</a:t>
            </a:r>
          </a:p>
        </p:txBody>
      </p:sp>
      <p:sp>
        <p:nvSpPr>
          <p:cNvPr id="13" name="TextBox 13"/>
          <p:cNvSpPr txBox="1"/>
          <p:nvPr/>
        </p:nvSpPr>
        <p:spPr>
          <a:xfrm>
            <a:off x="1024128" y="4343400"/>
            <a:ext cx="9692640" cy="1554480"/>
          </a:xfrm>
          <a:prstGeom prst="rect">
            <a:avLst/>
          </a:prstGeom>
          <a:noFill/>
        </p:spPr>
        <p:txBody>
          <a:bodyPr wrap="square" lIns="91440" tIns="91440" rIns="91440" bIns="91440" rtlCol="0" anchor="t">
            <a:normAutofit/>
          </a:bodyPr>
          <a:lstStyle/>
          <a:p>
            <a:pPr marL="285750" lvl="0" indent="-285750">
              <a:spcAft>
                <a:spcPts val="600"/>
              </a:spcAft>
              <a:buFont typeface="Arial"/>
              <a:buChar char="•"/>
            </a:pPr>
            <a:r>
              <a:rPr lang="en-US" dirty="0" sz="1800" b="1"/>
              <a:t xml:space="preserve">Q1: </a:t>
            </a:r>
            <a:r>
              <a:rPr lang="en-US" dirty="0" sz="1800"/>
              <a:t>TAT does not differ by patient type. ICU is not slower.</a:t>
            </a:r>
          </a:p>
          <a:p>
            <a:pPr marL="285750" lvl="0" indent="-285750">
              <a:spcAft>
                <a:spcPts val="600"/>
              </a:spcAft>
              <a:buFont typeface="Arial"/>
              <a:buChar char="•"/>
            </a:pPr>
            <a:r>
              <a:rPr lang="en-US" dirty="0" sz="1800" b="1"/>
              <a:t xml:space="preserve">Q2: </a:t>
            </a:r>
            <a:r>
              <a:rPr lang="en-US" dirty="0" sz="1800"/>
              <a:t>About 1 in 4 patients misses the 3-hour goal, in every group.</a:t>
            </a:r>
          </a:p>
          <a:p>
            <a:pPr marL="285750" lvl="0" indent="-285750">
              <a:spcAft>
                <a:spcPts val="600"/>
              </a:spcAft>
              <a:buFont typeface="Arial"/>
              <a:buChar char="•"/>
            </a:pPr>
            <a:r>
              <a:rPr lang="en-US" dirty="0" sz="1800"/>
              <a:t>Your code may look different. Judge it by its output.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2A92FA-D86C-A5FE-92DF-0D3354713D71}"/>
              </a:ext>
            </a:extLst>
          </p:cNvPr>
          <p:cNvSpPr>
            <a:spLocks noGrp="1"/>
          </p:cNvSpPr>
          <p:nvPr>
            <p:ph type="title"/>
          </p:nvPr>
        </p:nvSpPr>
        <p:spPr/>
        <p:txBody>
          <a:bodyPr/>
          <a:lstStyle/>
          <a:p>
            <a:r>
              <a:rPr lang="en-US" dirty="0"/>
              <a:t>Algorithm design for graphing in R</a:t>
            </a:r>
          </a:p>
        </p:txBody>
      </p:sp>
      <p:pic>
        <p:nvPicPr>
          <p:cNvPr id="6" name="Picture 5" descr="A screenshot of a computer program&#10;&#10;AI-generated content may be incorrect.">
            <a:extLst>
              <a:ext uri="{FF2B5EF4-FFF2-40B4-BE49-F238E27FC236}">
                <a16:creationId xmlns:a16="http://schemas.microsoft.com/office/drawing/2014/main" id="{02246B9E-D16E-A5D0-ABFE-A17D09D75D92}"/>
              </a:ext>
            </a:extLst>
          </p:cNvPr>
          <p:cNvPicPr>
            <a:picLocks noChangeAspect="1"/>
          </p:cNvPicPr>
          <p:nvPr/>
        </p:nvPicPr>
        <p:blipFill>
          <a:blip r:embed="rId2"/>
          <a:stretch>
            <a:fillRect/>
          </a:stretch>
        </p:blipFill>
        <p:spPr>
          <a:xfrm>
            <a:off x="871728" y="2176272"/>
            <a:ext cx="4843272" cy="4515302"/>
          </a:xfrm>
          <a:prstGeom prst="rect">
            <a:avLst/>
          </a:prstGeom>
        </p:spPr>
      </p:pic>
      <p:pic>
        <p:nvPicPr>
          <p:cNvPr id="8" name="Picture 7" descr="A graph of different colored bars&#10;&#10;AI-generated content may be incorrect.">
            <a:extLst>
              <a:ext uri="{FF2B5EF4-FFF2-40B4-BE49-F238E27FC236}">
                <a16:creationId xmlns:a16="http://schemas.microsoft.com/office/drawing/2014/main" id="{11E8A27E-EB67-98CC-5E92-7D19E21DFD39}"/>
              </a:ext>
            </a:extLst>
          </p:cNvPr>
          <p:cNvPicPr>
            <a:picLocks noChangeAspect="1"/>
          </p:cNvPicPr>
          <p:nvPr/>
        </p:nvPicPr>
        <p:blipFill>
          <a:blip r:embed="rId3"/>
          <a:stretch>
            <a:fillRect/>
          </a:stretch>
        </p:blipFill>
        <p:spPr>
          <a:xfrm>
            <a:off x="5956775" y="2677414"/>
            <a:ext cx="5939584" cy="3449066"/>
          </a:xfrm>
          <a:prstGeom prst="rect">
            <a:avLst/>
          </a:prstGeom>
        </p:spPr>
      </p:pic>
    </p:spTree>
    <p:extLst>
      <p:ext uri="{BB962C8B-B14F-4D97-AF65-F5344CB8AC3E}">
        <p14:creationId xmlns:p14="http://schemas.microsoft.com/office/powerpoint/2010/main" val="2772108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AD52C-762B-51F1-4600-D77C753A1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B8399-2590-10F8-459D-076DC24589B2}"/>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91344A39-1030-4E23-6AC2-0651394B55DE}"/>
              </a:ext>
            </a:extLst>
          </p:cNvPr>
          <p:cNvSpPr>
            <a:spLocks noGrp="1"/>
          </p:cNvSpPr>
          <p:nvPr>
            <p:ph idx="1"/>
          </p:nvPr>
        </p:nvSpPr>
        <p:spPr/>
        <p:txBody>
          <a:bodyPr>
            <a:normAutofit/>
          </a:bodyPr>
          <a:lstStyle/>
          <a:p>
            <a:pPr marL="241300" indent="-241300"/>
            <a:r>
              <a:rPr lang="en-US" dirty="0"/>
              <a:t>Designing an algorithm helps understand the problem and often means the solution is generalizable</a:t>
            </a:r>
          </a:p>
          <a:p>
            <a:pPr marL="241300" indent="-241300"/>
            <a:r>
              <a:rPr lang="en-US" dirty="0"/>
              <a:t>Strengthens critical thinking and problem-solving skills</a:t>
            </a:r>
          </a:p>
          <a:p>
            <a:pPr marL="241300" indent="-241300"/>
            <a:r>
              <a:rPr lang="en-US" dirty="0"/>
              <a:t>Makes output predictable and reliable</a:t>
            </a:r>
          </a:p>
          <a:p>
            <a:pPr marL="241300" indent="-241300"/>
            <a:endParaRPr lang="en-US" dirty="0">
              <a:solidFill>
                <a:srgbClr val="FF0000"/>
              </a:solidFill>
            </a:endParaRPr>
          </a:p>
          <a:p>
            <a:pPr marL="241300" indent="-241300"/>
            <a:r>
              <a:rPr lang="en-US" b="1" dirty="0"/>
              <a:t>Computational examples: </a:t>
            </a:r>
            <a:r>
              <a:rPr lang="en-US" dirty="0"/>
              <a:t>computer code, machine learning</a:t>
            </a:r>
          </a:p>
          <a:p>
            <a:pPr marL="241300" indent="-241300"/>
            <a:endParaRPr lang="en-US" dirty="0"/>
          </a:p>
        </p:txBody>
      </p:sp>
    </p:spTree>
    <p:extLst>
      <p:ext uri="{BB962C8B-B14F-4D97-AF65-F5344CB8AC3E}">
        <p14:creationId xmlns:p14="http://schemas.microsoft.com/office/powerpoint/2010/main" val="19056661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3F621-C686-D009-2BB3-9C412F2BB9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10F525-878E-A2B3-0E5A-096D3FF9B2F7}"/>
              </a:ext>
            </a:extLst>
          </p:cNvPr>
          <p:cNvSpPr>
            <a:spLocks noGrp="1"/>
          </p:cNvSpPr>
          <p:nvPr>
            <p:ph idx="1"/>
          </p:nvPr>
        </p:nvSpPr>
        <p:spPr/>
        <p:txBody>
          <a:bodyPr>
            <a:normAutofit/>
          </a:bodyPr>
          <a:lstStyle/>
          <a:p>
            <a:pPr marL="0" indent="0">
              <a:buNone/>
            </a:pPr>
            <a:r>
              <a:rPr lang="en-US" dirty="0"/>
              <a:t>Assess whether solution does the job it has been designed to do, fix errors, and consider improvements</a:t>
            </a:r>
          </a:p>
          <a:p>
            <a:pPr marL="0" indent="0">
              <a:buNone/>
            </a:pPr>
            <a:endParaRPr lang="en-US" dirty="0"/>
          </a:p>
          <a:p>
            <a:pPr marL="514350" indent="-514350">
              <a:buFont typeface="+mj-lt"/>
              <a:buAutoNum type="arabicPeriod"/>
            </a:pPr>
            <a:r>
              <a:rPr lang="en-US" dirty="0"/>
              <a:t>Evaluate the solution, check correctness + usefulness</a:t>
            </a:r>
          </a:p>
          <a:p>
            <a:pPr marL="514350" indent="-514350">
              <a:buFont typeface="+mj-lt"/>
              <a:buAutoNum type="arabicPeriod"/>
            </a:pPr>
            <a:r>
              <a:rPr lang="en-US" dirty="0"/>
              <a:t>Debug it, find and fix errors with test cases</a:t>
            </a:r>
          </a:p>
          <a:p>
            <a:pPr marL="514350" indent="-514350">
              <a:buFont typeface="+mj-lt"/>
              <a:buAutoNum type="arabicPeriod"/>
            </a:pPr>
            <a:r>
              <a:rPr lang="en-US" dirty="0"/>
              <a:t>Expect iteration to refine correctness and efficiency</a:t>
            </a:r>
          </a:p>
        </p:txBody>
      </p:sp>
      <p:grpSp>
        <p:nvGrpSpPr>
          <p:cNvPr id="4" name="Group 3">
            <a:extLst>
              <a:ext uri="{FF2B5EF4-FFF2-40B4-BE49-F238E27FC236}">
                <a16:creationId xmlns:a16="http://schemas.microsoft.com/office/drawing/2014/main" id="{C227CA55-5847-C32A-237E-BF8C4BE91544}"/>
              </a:ext>
            </a:extLst>
          </p:cNvPr>
          <p:cNvGrpSpPr/>
          <p:nvPr/>
        </p:nvGrpSpPr>
        <p:grpSpPr>
          <a:xfrm>
            <a:off x="876300" y="886261"/>
            <a:ext cx="6342743" cy="782519"/>
            <a:chOff x="0" y="3443085"/>
            <a:chExt cx="6342743" cy="782519"/>
          </a:xfrm>
        </p:grpSpPr>
        <p:sp>
          <p:nvSpPr>
            <p:cNvPr id="6" name="Rounded Rectangle 5">
              <a:extLst>
                <a:ext uri="{FF2B5EF4-FFF2-40B4-BE49-F238E27FC236}">
                  <a16:creationId xmlns:a16="http://schemas.microsoft.com/office/drawing/2014/main" id="{02D10176-1327-C601-DD60-AA909AF95B14}"/>
                </a:ext>
              </a:extLst>
            </p:cNvPr>
            <p:cNvSpPr/>
            <p:nvPr/>
          </p:nvSpPr>
          <p:spPr>
            <a:xfrm>
              <a:off x="0" y="3443085"/>
              <a:ext cx="6342743" cy="782519"/>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1B48DA2F-45C6-81D8-77CB-1D53787098E4}"/>
                </a:ext>
              </a:extLst>
            </p:cNvPr>
            <p:cNvSpPr txBox="1"/>
            <p:nvPr/>
          </p:nvSpPr>
          <p:spPr>
            <a:xfrm>
              <a:off x="1346800" y="3443085"/>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p:txBody>
        </p:sp>
      </p:grpSp>
      <p:sp>
        <p:nvSpPr>
          <p:cNvPr id="5" name="Rounded Rectangle 4" descr="Brain in head with solid fill">
            <a:extLst>
              <a:ext uri="{FF2B5EF4-FFF2-40B4-BE49-F238E27FC236}">
                <a16:creationId xmlns:a16="http://schemas.microsoft.com/office/drawing/2014/main" id="{7A967677-79C6-C88B-275E-1F23FDC469C6}"/>
              </a:ext>
            </a:extLst>
          </p:cNvPr>
          <p:cNvSpPr/>
          <p:nvPr/>
        </p:nvSpPr>
        <p:spPr>
          <a:xfrm>
            <a:off x="954551" y="964513"/>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51000" b="-51000"/>
            </a:stretch>
          </a:blipFill>
        </p:spPr>
        <p:style>
          <a:lnRef idx="2">
            <a:schemeClr val="lt1">
              <a:hueOff val="0"/>
              <a:satOff val="0"/>
              <a:lumOff val="0"/>
              <a:alphaOff val="0"/>
            </a:schemeClr>
          </a:lnRef>
          <a:fillRef idx="1">
            <a:scrgbClr r="0" g="0" b="0"/>
          </a:fillRef>
          <a:effectRef idx="0">
            <a:schemeClr val="accent6">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8998779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12F7D-3B7B-072A-7307-82E1E0F6D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B6510-7F15-5129-176F-B46370DA3402}"/>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C1555F6B-772F-4D8A-EA55-DD5F854A42FB}"/>
              </a:ext>
            </a:extLst>
          </p:cNvPr>
          <p:cNvSpPr>
            <a:spLocks noGrp="1"/>
          </p:cNvSpPr>
          <p:nvPr>
            <p:ph idx="1"/>
          </p:nvPr>
        </p:nvSpPr>
        <p:spPr/>
        <p:txBody>
          <a:bodyPr>
            <a:normAutofit/>
          </a:bodyPr>
          <a:lstStyle/>
          <a:p>
            <a:pPr marL="241300" indent="-241300"/>
            <a:r>
              <a:rPr lang="en-US" dirty="0"/>
              <a:t>Builds confidence in results</a:t>
            </a:r>
          </a:p>
          <a:p>
            <a:pPr marL="241300" indent="-241300"/>
            <a:r>
              <a:rPr lang="en-US" dirty="0"/>
              <a:t>Ensures solution is useful and will be effective</a:t>
            </a:r>
          </a:p>
          <a:p>
            <a:pPr marL="241300" indent="-241300"/>
            <a:r>
              <a:rPr lang="en-US" dirty="0"/>
              <a:t>Develops problem-solving skills through systematic analysis</a:t>
            </a:r>
          </a:p>
          <a:p>
            <a:pPr marL="241300" indent="-241300"/>
            <a:r>
              <a:rPr lang="en-US" dirty="0"/>
              <a:t>Increases adaptability as more comfortable experimenting, testing, and iterating</a:t>
            </a:r>
          </a:p>
          <a:p>
            <a:pPr marL="241300" indent="-241300"/>
            <a:endParaRPr lang="en-US" dirty="0"/>
          </a:p>
        </p:txBody>
      </p:sp>
    </p:spTree>
    <p:extLst>
      <p:ext uri="{BB962C8B-B14F-4D97-AF65-F5344CB8AC3E}">
        <p14:creationId xmlns:p14="http://schemas.microsoft.com/office/powerpoint/2010/main" val="569884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25AB7-9745-472F-11F7-52754640A3EC}"/>
              </a:ext>
            </a:extLst>
          </p:cNvPr>
          <p:cNvSpPr>
            <a:spLocks noGrp="1"/>
          </p:cNvSpPr>
          <p:nvPr>
            <p:ph type="title"/>
          </p:nvPr>
        </p:nvSpPr>
        <p:spPr/>
        <p:txBody>
          <a:bodyPr/>
          <a:lstStyle/>
          <a:p>
            <a:r>
              <a:rPr lang="en-US" dirty="0"/>
              <a:t>Building a foundation for ds101</a:t>
            </a:r>
          </a:p>
        </p:txBody>
      </p:sp>
      <p:sp>
        <p:nvSpPr>
          <p:cNvPr id="3" name="Content Placeholder 2">
            <a:extLst>
              <a:ext uri="{FF2B5EF4-FFF2-40B4-BE49-F238E27FC236}">
                <a16:creationId xmlns:a16="http://schemas.microsoft.com/office/drawing/2014/main" id="{0866C08C-2D32-CB26-4C4C-277B588A7E80}"/>
              </a:ext>
            </a:extLst>
          </p:cNvPr>
          <p:cNvSpPr>
            <a:spLocks noGrp="1"/>
          </p:cNvSpPr>
          <p:nvPr>
            <p:ph idx="1"/>
          </p:nvPr>
        </p:nvSpPr>
        <p:spPr>
          <a:xfrm>
            <a:off x="1024127" y="2084832"/>
            <a:ext cx="9720073" cy="1143000"/>
          </a:xfrm>
        </p:spPr>
        <p:txBody>
          <a:bodyPr/>
          <a:lstStyle/>
          <a:p>
            <a:pPr marL="0" indent="0">
              <a:buNone/>
            </a:pPr>
            <a:r>
              <a:rPr lang="en-US" dirty="0">
                <a:solidFill>
                  <a:schemeClr val="accent1"/>
                </a:solidFill>
              </a:rPr>
              <a:t>The computational thinking skills we’ve learned so far relate directly to basic programming concepts</a:t>
            </a:r>
          </a:p>
        </p:txBody>
      </p:sp>
      <p:graphicFrame>
        <p:nvGraphicFramePr>
          <p:cNvPr id="4" name="Table 3">
            <a:extLst>
              <a:ext uri="{FF2B5EF4-FFF2-40B4-BE49-F238E27FC236}">
                <a16:creationId xmlns:a16="http://schemas.microsoft.com/office/drawing/2014/main" id="{975BBD24-D964-7230-FFAC-5DB156F4DE31}"/>
              </a:ext>
            </a:extLst>
          </p:cNvPr>
          <p:cNvGraphicFramePr>
            <a:graphicFrameLocks noGrp="1"/>
          </p:cNvGraphicFramePr>
          <p:nvPr>
            <p:extLst>
              <p:ext uri="{D42A27DB-BD31-4B8C-83A1-F6EECF244321}">
                <p14:modId xmlns:p14="http://schemas.microsoft.com/office/powerpoint/2010/main" val="3928402005"/>
              </p:ext>
            </p:extLst>
          </p:nvPr>
        </p:nvGraphicFramePr>
        <p:xfrm>
          <a:off x="1024127" y="3432412"/>
          <a:ext cx="9674012" cy="2926080"/>
        </p:xfrm>
        <a:graphic>
          <a:graphicData uri="http://schemas.openxmlformats.org/drawingml/2006/table">
            <a:tbl>
              <a:tblPr firstRow="1" bandRow="1">
                <a:tableStyleId>{5940675A-B579-460E-94D1-54222C63F5DA}</a:tableStyleId>
              </a:tblPr>
              <a:tblGrid>
                <a:gridCol w="6630561">
                  <a:extLst>
                    <a:ext uri="{9D8B030D-6E8A-4147-A177-3AD203B41FA5}">
                      <a16:colId xmlns:a16="http://schemas.microsoft.com/office/drawing/2014/main" val="63775097"/>
                    </a:ext>
                  </a:extLst>
                </a:gridCol>
                <a:gridCol w="3043451">
                  <a:extLst>
                    <a:ext uri="{9D8B030D-6E8A-4147-A177-3AD203B41FA5}">
                      <a16:colId xmlns:a16="http://schemas.microsoft.com/office/drawing/2014/main" val="676232085"/>
                    </a:ext>
                  </a:extLst>
                </a:gridCol>
              </a:tblGrid>
              <a:tr h="370840">
                <a:tc>
                  <a:txBody>
                    <a:bodyPr/>
                    <a:lstStyle/>
                    <a:p>
                      <a:r>
                        <a:rPr lang="en-US" sz="2400" b="1" dirty="0"/>
                        <a:t>Computational thinking skill</a:t>
                      </a:r>
                    </a:p>
                  </a:txBody>
                  <a:tcPr/>
                </a:tc>
                <a:tc>
                  <a:txBody>
                    <a:bodyPr/>
                    <a:lstStyle/>
                    <a:p>
                      <a:r>
                        <a:rPr lang="en-US" sz="2400" b="1" dirty="0"/>
                        <a:t>Programming concept</a:t>
                      </a:r>
                    </a:p>
                  </a:txBody>
                  <a:tcPr/>
                </a:tc>
                <a:extLst>
                  <a:ext uri="{0D108BD9-81ED-4DB2-BD59-A6C34878D82A}">
                    <a16:rowId xmlns:a16="http://schemas.microsoft.com/office/drawing/2014/main" val="1629335367"/>
                  </a:ext>
                </a:extLst>
              </a:tr>
              <a:tr h="370840">
                <a:tc>
                  <a:txBody>
                    <a:bodyPr/>
                    <a:lstStyle/>
                    <a:p>
                      <a:r>
                        <a:rPr lang="en-US" sz="2400" dirty="0"/>
                        <a:t>Abstraction steps identify essential elements that are re-used</a:t>
                      </a:r>
                    </a:p>
                  </a:txBody>
                  <a:tcPr/>
                </a:tc>
                <a:tc>
                  <a:txBody>
                    <a:bodyPr/>
                    <a:lstStyle/>
                    <a:p>
                      <a:r>
                        <a:rPr lang="en-US" sz="2400" dirty="0"/>
                        <a:t>Function</a:t>
                      </a:r>
                    </a:p>
                  </a:txBody>
                  <a:tcPr/>
                </a:tc>
                <a:extLst>
                  <a:ext uri="{0D108BD9-81ED-4DB2-BD59-A6C34878D82A}">
                    <a16:rowId xmlns:a16="http://schemas.microsoft.com/office/drawing/2014/main" val="14412447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Abstraction and algorithm design identify rules or decisions that guide actions</a:t>
                      </a:r>
                    </a:p>
                  </a:txBody>
                  <a:tcPr/>
                </a:tc>
                <a:tc>
                  <a:txBody>
                    <a:bodyPr/>
                    <a:lstStyle/>
                    <a:p>
                      <a:r>
                        <a:rPr lang="en-US" sz="2400" dirty="0"/>
                        <a:t>Conditional</a:t>
                      </a:r>
                    </a:p>
                  </a:txBody>
                  <a:tcPr/>
                </a:tc>
                <a:extLst>
                  <a:ext uri="{0D108BD9-81ED-4DB2-BD59-A6C34878D82A}">
                    <a16:rowId xmlns:a16="http://schemas.microsoft.com/office/drawing/2014/main" val="4894958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Pattern recognition and algorithm design identify repeated steps</a:t>
                      </a:r>
                    </a:p>
                  </a:txBody>
                  <a:tcPr/>
                </a:tc>
                <a:tc>
                  <a:txBody>
                    <a:bodyPr/>
                    <a:lstStyle/>
                    <a:p>
                      <a:r>
                        <a:rPr lang="en-US" sz="2400" dirty="0"/>
                        <a:t>Loop</a:t>
                      </a:r>
                    </a:p>
                  </a:txBody>
                  <a:tcPr/>
                </a:tc>
                <a:extLst>
                  <a:ext uri="{0D108BD9-81ED-4DB2-BD59-A6C34878D82A}">
                    <a16:rowId xmlns:a16="http://schemas.microsoft.com/office/drawing/2014/main" val="3410805236"/>
                  </a:ext>
                </a:extLst>
              </a:tr>
            </a:tbl>
          </a:graphicData>
        </a:graphic>
      </p:graphicFrame>
    </p:spTree>
    <p:extLst>
      <p:ext uri="{BB962C8B-B14F-4D97-AF65-F5344CB8AC3E}">
        <p14:creationId xmlns:p14="http://schemas.microsoft.com/office/powerpoint/2010/main" val="11940702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2C0C7-D2ED-5ECE-DF39-3BEDD0E33AD3}"/>
              </a:ext>
            </a:extLst>
          </p:cNvPr>
          <p:cNvSpPr>
            <a:spLocks noGrp="1"/>
          </p:cNvSpPr>
          <p:nvPr>
            <p:ph type="title"/>
          </p:nvPr>
        </p:nvSpPr>
        <p:spPr/>
        <p:txBody>
          <a:bodyPr/>
          <a:lstStyle/>
          <a:p>
            <a:r>
              <a:rPr lang="en-US" dirty="0"/>
              <a:t>Basic computational concepts</a:t>
            </a:r>
          </a:p>
        </p:txBody>
      </p:sp>
      <p:sp>
        <p:nvSpPr>
          <p:cNvPr id="3" name="Content Placeholder 2">
            <a:extLst>
              <a:ext uri="{FF2B5EF4-FFF2-40B4-BE49-F238E27FC236}">
                <a16:creationId xmlns:a16="http://schemas.microsoft.com/office/drawing/2014/main" id="{FEB9CC36-678B-AB10-77AE-87B85413A79E}"/>
              </a:ext>
            </a:extLst>
          </p:cNvPr>
          <p:cNvSpPr>
            <a:spLocks noGrp="1"/>
          </p:cNvSpPr>
          <p:nvPr>
            <p:ph idx="1"/>
          </p:nvPr>
        </p:nvSpPr>
        <p:spPr>
          <a:xfrm>
            <a:off x="1024128" y="2286000"/>
            <a:ext cx="10741152" cy="4023360"/>
          </a:xfrm>
        </p:spPr>
        <p:txBody>
          <a:bodyPr>
            <a:normAutofit/>
          </a:bodyPr>
          <a:lstStyle/>
          <a:p>
            <a:pPr marL="0" indent="0">
              <a:buNone/>
            </a:pPr>
            <a:r>
              <a:rPr lang="en-US" b="1" dirty="0"/>
              <a:t>Concept 		Description </a:t>
            </a:r>
          </a:p>
          <a:p>
            <a:pPr marL="0" indent="0">
              <a:buNone/>
            </a:pPr>
            <a:r>
              <a:rPr lang="en-US" dirty="0"/>
              <a:t>Function 		Set of commands to generate outputs from inputs</a:t>
            </a:r>
          </a:p>
          <a:p>
            <a:pPr marL="0" indent="0">
              <a:buNone/>
            </a:pPr>
            <a:r>
              <a:rPr lang="en-US" dirty="0"/>
              <a:t>Conditional 	Change action based on specific conditions</a:t>
            </a:r>
          </a:p>
          <a:p>
            <a:pPr marL="0" indent="0">
              <a:buNone/>
            </a:pPr>
            <a:r>
              <a:rPr lang="en-US" dirty="0"/>
              <a:t>Loop 			Run the same command(s) repeatedly  </a:t>
            </a:r>
          </a:p>
        </p:txBody>
      </p:sp>
    </p:spTree>
    <p:extLst>
      <p:ext uri="{BB962C8B-B14F-4D97-AF65-F5344CB8AC3E}">
        <p14:creationId xmlns:p14="http://schemas.microsoft.com/office/powerpoint/2010/main" val="1915450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AC3FC-5E08-5F9E-1DCE-F76D922287CF}"/>
              </a:ext>
            </a:extLst>
          </p:cNvPr>
          <p:cNvSpPr>
            <a:spLocks noGrp="1"/>
          </p:cNvSpPr>
          <p:nvPr>
            <p:ph type="title"/>
          </p:nvPr>
        </p:nvSpPr>
        <p:spPr/>
        <p:txBody>
          <a:bodyPr/>
          <a:lstStyle/>
          <a:p>
            <a:r>
              <a:rPr lang="en-US" dirty="0"/>
              <a:t>What is a function?</a:t>
            </a:r>
          </a:p>
        </p:txBody>
      </p:sp>
      <p:sp>
        <p:nvSpPr>
          <p:cNvPr id="3" name="Content Placeholder 2">
            <a:extLst>
              <a:ext uri="{FF2B5EF4-FFF2-40B4-BE49-F238E27FC236}">
                <a16:creationId xmlns:a16="http://schemas.microsoft.com/office/drawing/2014/main" id="{89934CEA-F223-6F01-1F4A-AF14234ECDF6}"/>
              </a:ext>
            </a:extLst>
          </p:cNvPr>
          <p:cNvSpPr>
            <a:spLocks noGrp="1"/>
          </p:cNvSpPr>
          <p:nvPr>
            <p:ph idx="1"/>
          </p:nvPr>
        </p:nvSpPr>
        <p:spPr>
          <a:xfrm>
            <a:off x="1024128" y="2286000"/>
            <a:ext cx="10320631" cy="4023360"/>
          </a:xfrm>
        </p:spPr>
        <p:txBody>
          <a:bodyPr>
            <a:normAutofit fontScale="85000" lnSpcReduction="20000"/>
          </a:bodyPr>
          <a:lstStyle/>
          <a:p>
            <a:pPr marL="241300" indent="-228600"/>
            <a:r>
              <a:rPr lang="en-US" dirty="0"/>
              <a:t>Computational method for performing a specified task you will use repeatedly</a:t>
            </a:r>
          </a:p>
          <a:p>
            <a:pPr marL="241300" indent="-228600"/>
            <a:r>
              <a:rPr lang="en-US" dirty="0"/>
              <a:t>Takes inputs (arguments) and generates outputs</a:t>
            </a:r>
          </a:p>
          <a:p>
            <a:pPr marL="241300" indent="-228600"/>
            <a:r>
              <a:rPr lang="en-US" dirty="0"/>
              <a:t>May be custom or pre-built within a tool</a:t>
            </a:r>
          </a:p>
          <a:p>
            <a:pPr marL="241300" indent="-228600"/>
            <a:r>
              <a:rPr lang="en-US" dirty="0"/>
              <a:t>Ensures consistency and efficiency</a:t>
            </a:r>
          </a:p>
          <a:p>
            <a:pPr marL="241300" indent="-228600"/>
            <a:r>
              <a:rPr lang="en-US" dirty="0"/>
              <a:t>Packaged into packages (R) or libraries (python) in coding languages</a:t>
            </a:r>
          </a:p>
          <a:p>
            <a:pPr marL="241300" indent="-228600"/>
            <a:endParaRPr lang="en-US" dirty="0"/>
          </a:p>
          <a:p>
            <a:pPr marL="241300" indent="-228600"/>
            <a:r>
              <a:rPr lang="en-US" dirty="0"/>
              <a:t>Excel formulas: manually enter or use existing (e.g., AVERAGE() )</a:t>
            </a:r>
          </a:p>
          <a:p>
            <a:pPr marL="241300" indent="-228600"/>
            <a:r>
              <a:rPr lang="en-US" dirty="0"/>
              <a:t>R functions: create your own or use from packages (e.g., </a:t>
            </a:r>
            <a:r>
              <a:rPr lang="en-US" dirty="0" err="1"/>
              <a:t>ggplot</a:t>
            </a:r>
            <a:r>
              <a:rPr lang="en-US" dirty="0"/>
              <a:t>())</a:t>
            </a:r>
          </a:p>
        </p:txBody>
      </p:sp>
    </p:spTree>
    <p:extLst>
      <p:ext uri="{BB962C8B-B14F-4D97-AF65-F5344CB8AC3E}">
        <p14:creationId xmlns:p14="http://schemas.microsoft.com/office/powerpoint/2010/main" val="22927918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1690085B-D309-4FB3-BCB2-06AC1B0CCAFF}"/>
              </a:ext>
            </a:extLst>
          </p:cNvPr>
          <p:cNvPicPr>
            <a:picLocks noChangeAspect="1"/>
          </p:cNvPicPr>
          <p:nvPr/>
        </p:nvPicPr>
        <p:blipFill>
          <a:blip r:embed="rId2"/>
          <a:stretch>
            <a:fillRect/>
          </a:stretch>
        </p:blipFill>
        <p:spPr>
          <a:xfrm>
            <a:off x="1580435" y="2314589"/>
            <a:ext cx="7023100" cy="1435100"/>
          </a:xfrm>
          <a:prstGeom prst="rect">
            <a:avLst/>
          </a:prstGeom>
        </p:spPr>
      </p:pic>
      <p:sp>
        <p:nvSpPr>
          <p:cNvPr id="2" name="Title 1">
            <a:extLst>
              <a:ext uri="{FF2B5EF4-FFF2-40B4-BE49-F238E27FC236}">
                <a16:creationId xmlns:a16="http://schemas.microsoft.com/office/drawing/2014/main" id="{3E414AAD-693E-18CC-DCE3-6264742FD9F4}"/>
              </a:ext>
            </a:extLst>
          </p:cNvPr>
          <p:cNvSpPr>
            <a:spLocks noGrp="1"/>
          </p:cNvSpPr>
          <p:nvPr>
            <p:ph type="title"/>
          </p:nvPr>
        </p:nvSpPr>
        <p:spPr>
          <a:xfrm>
            <a:off x="1024128" y="585216"/>
            <a:ext cx="10436352" cy="1499616"/>
          </a:xfrm>
        </p:spPr>
        <p:txBody>
          <a:bodyPr/>
          <a:lstStyle/>
          <a:p>
            <a:r>
              <a:rPr lang="en-US" dirty="0" err="1"/>
              <a:t>Ggplot</a:t>
            </a:r>
            <a:r>
              <a:rPr lang="en-US" dirty="0"/>
              <a:t> R function creates a new graph object</a:t>
            </a:r>
          </a:p>
        </p:txBody>
      </p:sp>
      <p:sp>
        <p:nvSpPr>
          <p:cNvPr id="6" name="Bent-Up Arrow 5">
            <a:extLst>
              <a:ext uri="{FF2B5EF4-FFF2-40B4-BE49-F238E27FC236}">
                <a16:creationId xmlns:a16="http://schemas.microsoft.com/office/drawing/2014/main" id="{1DA74CFB-E8EF-0FFA-2831-1B8177A93DCF}"/>
              </a:ext>
            </a:extLst>
          </p:cNvPr>
          <p:cNvSpPr/>
          <p:nvPr/>
        </p:nvSpPr>
        <p:spPr>
          <a:xfrm rot="5400000">
            <a:off x="4959635" y="3881323"/>
            <a:ext cx="1238491" cy="1522825"/>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29B519D-2C66-0F47-4613-443FCF7EB426}"/>
              </a:ext>
            </a:extLst>
          </p:cNvPr>
          <p:cNvSpPr txBox="1"/>
          <p:nvPr/>
        </p:nvSpPr>
        <p:spPr>
          <a:xfrm>
            <a:off x="601030" y="1968396"/>
            <a:ext cx="1863011" cy="461665"/>
          </a:xfrm>
          <a:prstGeom prst="rect">
            <a:avLst/>
          </a:prstGeom>
          <a:noFill/>
        </p:spPr>
        <p:txBody>
          <a:bodyPr wrap="none" rtlCol="0">
            <a:spAutoFit/>
          </a:bodyPr>
          <a:lstStyle/>
          <a:p>
            <a:r>
              <a:rPr lang="en-US" sz="2400" dirty="0"/>
              <a:t>function name</a:t>
            </a:r>
          </a:p>
        </p:txBody>
      </p:sp>
      <p:sp>
        <p:nvSpPr>
          <p:cNvPr id="8" name="Oval 7">
            <a:extLst>
              <a:ext uri="{FF2B5EF4-FFF2-40B4-BE49-F238E27FC236}">
                <a16:creationId xmlns:a16="http://schemas.microsoft.com/office/drawing/2014/main" id="{A52E2B5E-0A31-29C9-61F3-A7C19DC84D81}"/>
              </a:ext>
            </a:extLst>
          </p:cNvPr>
          <p:cNvSpPr/>
          <p:nvPr/>
        </p:nvSpPr>
        <p:spPr>
          <a:xfrm>
            <a:off x="1630921" y="2669511"/>
            <a:ext cx="652031" cy="30094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9327E23-9033-B20A-040B-EE9FBA0FBF17}"/>
              </a:ext>
            </a:extLst>
          </p:cNvPr>
          <p:cNvCxnSpPr/>
          <p:nvPr/>
        </p:nvCxnSpPr>
        <p:spPr>
          <a:xfrm>
            <a:off x="1434151" y="2403723"/>
            <a:ext cx="196770" cy="25464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A00C6CF-66D1-EFC5-E2C4-4B0939BCDB9A}"/>
              </a:ext>
            </a:extLst>
          </p:cNvPr>
          <p:cNvSpPr txBox="1"/>
          <p:nvPr/>
        </p:nvSpPr>
        <p:spPr>
          <a:xfrm>
            <a:off x="3440328" y="1809955"/>
            <a:ext cx="3959738" cy="461665"/>
          </a:xfrm>
          <a:prstGeom prst="rect">
            <a:avLst/>
          </a:prstGeom>
          <a:noFill/>
        </p:spPr>
        <p:txBody>
          <a:bodyPr wrap="none" rtlCol="0">
            <a:spAutoFit/>
          </a:bodyPr>
          <a:lstStyle/>
          <a:p>
            <a:r>
              <a:rPr lang="en-US" sz="2400" dirty="0"/>
              <a:t>function inputs (aka arguments)</a:t>
            </a:r>
          </a:p>
        </p:txBody>
      </p:sp>
      <p:sp>
        <p:nvSpPr>
          <p:cNvPr id="12" name="Oval 11">
            <a:extLst>
              <a:ext uri="{FF2B5EF4-FFF2-40B4-BE49-F238E27FC236}">
                <a16:creationId xmlns:a16="http://schemas.microsoft.com/office/drawing/2014/main" id="{29F6E21A-0D86-A24C-3524-301D7E0FA30C}"/>
              </a:ext>
            </a:extLst>
          </p:cNvPr>
          <p:cNvSpPr/>
          <p:nvPr/>
        </p:nvSpPr>
        <p:spPr>
          <a:xfrm>
            <a:off x="2333439" y="2588390"/>
            <a:ext cx="3881434" cy="3820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0686BF15-CA07-F385-65EA-D59E99DFE9C8}"/>
              </a:ext>
            </a:extLst>
          </p:cNvPr>
          <p:cNvCxnSpPr>
            <a:cxnSpLocks/>
          </p:cNvCxnSpPr>
          <p:nvPr/>
        </p:nvCxnSpPr>
        <p:spPr>
          <a:xfrm flipH="1">
            <a:off x="3302304" y="2242637"/>
            <a:ext cx="276048" cy="2884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86290BD-6D9A-55C0-E7AE-3C21AF0F1CDB}"/>
              </a:ext>
            </a:extLst>
          </p:cNvPr>
          <p:cNvSpPr txBox="1"/>
          <p:nvPr/>
        </p:nvSpPr>
        <p:spPr>
          <a:xfrm>
            <a:off x="4322929" y="5239692"/>
            <a:ext cx="1515158" cy="369332"/>
          </a:xfrm>
          <a:prstGeom prst="rect">
            <a:avLst/>
          </a:prstGeom>
          <a:noFill/>
        </p:spPr>
        <p:txBody>
          <a:bodyPr wrap="none" rtlCol="0">
            <a:spAutoFit/>
          </a:bodyPr>
          <a:lstStyle/>
          <a:p>
            <a:r>
              <a:rPr lang="en-US" dirty="0"/>
              <a:t>function output</a:t>
            </a:r>
          </a:p>
        </p:txBody>
      </p:sp>
      <p:pic>
        <p:nvPicPr>
          <p:cNvPr id="22" name="Picture 21">
            <a:extLst>
              <a:ext uri="{FF2B5EF4-FFF2-40B4-BE49-F238E27FC236}">
                <a16:creationId xmlns:a16="http://schemas.microsoft.com/office/drawing/2014/main" id="{A5DB828E-0B86-60DF-AB8B-D2DD38629D7E}"/>
              </a:ext>
            </a:extLst>
          </p:cNvPr>
          <p:cNvPicPr>
            <a:picLocks noChangeAspect="1"/>
          </p:cNvPicPr>
          <p:nvPr/>
        </p:nvPicPr>
        <p:blipFill>
          <a:blip r:embed="rId3"/>
          <a:stretch>
            <a:fillRect/>
          </a:stretch>
        </p:blipFill>
        <p:spPr>
          <a:xfrm>
            <a:off x="6712912" y="4006307"/>
            <a:ext cx="4454960" cy="2752977"/>
          </a:xfrm>
          <a:prstGeom prst="rect">
            <a:avLst/>
          </a:prstGeom>
        </p:spPr>
      </p:pic>
    </p:spTree>
    <p:extLst>
      <p:ext uri="{BB962C8B-B14F-4D97-AF65-F5344CB8AC3E}">
        <p14:creationId xmlns:p14="http://schemas.microsoft.com/office/powerpoint/2010/main" val="247977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11" grpId="0"/>
      <p:bldP spid="12" grpId="0" animBg="1"/>
      <p:bldP spid="1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66B99-B0E7-F4EE-CEC8-C6D3A7CF150B}"/>
              </a:ext>
            </a:extLst>
          </p:cNvPr>
          <p:cNvSpPr>
            <a:spLocks noGrp="1"/>
          </p:cNvSpPr>
          <p:nvPr>
            <p:ph type="title"/>
          </p:nvPr>
        </p:nvSpPr>
        <p:spPr/>
        <p:txBody>
          <a:bodyPr/>
          <a:lstStyle/>
          <a:p>
            <a:r>
              <a:rPr lang="en-US" dirty="0"/>
              <a:t>What is a condition?</a:t>
            </a:r>
          </a:p>
        </p:txBody>
      </p:sp>
      <p:sp>
        <p:nvSpPr>
          <p:cNvPr id="3" name="Content Placeholder 2">
            <a:extLst>
              <a:ext uri="{FF2B5EF4-FFF2-40B4-BE49-F238E27FC236}">
                <a16:creationId xmlns:a16="http://schemas.microsoft.com/office/drawing/2014/main" id="{109C9EB6-83AF-EEE5-4BCB-6AB81258BF4E}"/>
              </a:ext>
            </a:extLst>
          </p:cNvPr>
          <p:cNvSpPr>
            <a:spLocks noGrp="1"/>
          </p:cNvSpPr>
          <p:nvPr>
            <p:ph idx="1"/>
          </p:nvPr>
        </p:nvSpPr>
        <p:spPr>
          <a:xfrm>
            <a:off x="1024129" y="2286000"/>
            <a:ext cx="9580182" cy="4023360"/>
          </a:xfrm>
        </p:spPr>
        <p:txBody>
          <a:bodyPr>
            <a:noAutofit/>
          </a:bodyPr>
          <a:lstStyle/>
          <a:p>
            <a:pPr marL="296863" indent="-296863"/>
            <a:r>
              <a:rPr lang="en-US" sz="2400" dirty="0"/>
              <a:t>Algorithms frequently include decision points with different actions taken based on decision result</a:t>
            </a:r>
          </a:p>
          <a:p>
            <a:pPr marL="296863" indent="-296863"/>
            <a:r>
              <a:rPr lang="en-US" sz="2400" dirty="0"/>
              <a:t>Use conditionals to apply functions appropriately given situation, whether statements are true or false</a:t>
            </a:r>
          </a:p>
          <a:p>
            <a:pPr marL="296863" indent="-296863"/>
            <a:r>
              <a:rPr lang="en-US" sz="2400" dirty="0"/>
              <a:t>If, else if, and else are very commonly used examples</a:t>
            </a:r>
          </a:p>
          <a:p>
            <a:pPr marL="0" indent="0">
              <a:buNone/>
            </a:pPr>
            <a:endParaRPr lang="en-US" sz="1100" dirty="0"/>
          </a:p>
          <a:p>
            <a:pPr marL="0" indent="0">
              <a:buNone/>
            </a:pPr>
            <a:r>
              <a:rPr lang="en-US" sz="2400" dirty="0"/>
              <a:t>When selecting a pan:</a:t>
            </a:r>
          </a:p>
          <a:p>
            <a:pPr marL="296863" indent="-296863"/>
            <a:r>
              <a:rPr lang="en-US" sz="2400" dirty="0">
                <a:solidFill>
                  <a:schemeClr val="accent1"/>
                </a:solidFill>
              </a:rPr>
              <a:t>If</a:t>
            </a:r>
            <a:r>
              <a:rPr lang="en-US" sz="2400" dirty="0"/>
              <a:t> baking cupcakes, use cupcake tin</a:t>
            </a:r>
          </a:p>
          <a:p>
            <a:pPr marL="479743" lvl="2" indent="-296863"/>
            <a:r>
              <a:rPr lang="en-US" dirty="0"/>
              <a:t>If not cupcakes, but is (</a:t>
            </a:r>
            <a:r>
              <a:rPr lang="en-US" dirty="0">
                <a:solidFill>
                  <a:schemeClr val="accent1"/>
                </a:solidFill>
              </a:rPr>
              <a:t>else if</a:t>
            </a:r>
            <a:r>
              <a:rPr lang="en-US" dirty="0"/>
              <a:t>) a cake, use round cake pan, </a:t>
            </a:r>
          </a:p>
          <a:p>
            <a:pPr marL="626047" lvl="4" indent="-296863"/>
            <a:r>
              <a:rPr lang="en-US" sz="2400" dirty="0"/>
              <a:t>Otherwise (</a:t>
            </a:r>
            <a:r>
              <a:rPr lang="en-US" sz="2400" dirty="0">
                <a:solidFill>
                  <a:schemeClr val="accent1"/>
                </a:solidFill>
              </a:rPr>
              <a:t>else</a:t>
            </a:r>
            <a:r>
              <a:rPr lang="en-US" sz="2400" dirty="0"/>
              <a:t>), use square pan</a:t>
            </a:r>
          </a:p>
        </p:txBody>
      </p:sp>
    </p:spTree>
    <p:extLst>
      <p:ext uri="{BB962C8B-B14F-4D97-AF65-F5344CB8AC3E}">
        <p14:creationId xmlns:p14="http://schemas.microsoft.com/office/powerpoint/2010/main" val="9503333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CB625B91-C3A6-9FD7-76A3-1A647CA49A62}"/>
              </a:ext>
            </a:extLst>
          </p:cNvPr>
          <p:cNvPicPr>
            <a:picLocks noChangeAspect="1"/>
          </p:cNvPicPr>
          <p:nvPr/>
        </p:nvPicPr>
        <p:blipFill>
          <a:blip r:embed="rId2"/>
          <a:srcRect b="4020"/>
          <a:stretch>
            <a:fillRect/>
          </a:stretch>
        </p:blipFill>
        <p:spPr>
          <a:xfrm>
            <a:off x="197960" y="3333514"/>
            <a:ext cx="5930900" cy="2852351"/>
          </a:xfrm>
          <a:prstGeom prst="rect">
            <a:avLst/>
          </a:prstGeom>
        </p:spPr>
      </p:pic>
      <p:sp>
        <p:nvSpPr>
          <p:cNvPr id="4" name="Title 3">
            <a:extLst>
              <a:ext uri="{FF2B5EF4-FFF2-40B4-BE49-F238E27FC236}">
                <a16:creationId xmlns:a16="http://schemas.microsoft.com/office/drawing/2014/main" id="{660A18EE-01E2-5AA7-5CE7-0E02E6915767}"/>
              </a:ext>
            </a:extLst>
          </p:cNvPr>
          <p:cNvSpPr>
            <a:spLocks noGrp="1"/>
          </p:cNvSpPr>
          <p:nvPr>
            <p:ph type="title"/>
          </p:nvPr>
        </p:nvSpPr>
        <p:spPr/>
        <p:txBody>
          <a:bodyPr/>
          <a:lstStyle/>
          <a:p>
            <a:r>
              <a:rPr lang="en-US" dirty="0"/>
              <a:t>Combining functions with conditionals</a:t>
            </a:r>
          </a:p>
        </p:txBody>
      </p:sp>
      <p:sp>
        <p:nvSpPr>
          <p:cNvPr id="7" name="TextBox 6">
            <a:extLst>
              <a:ext uri="{FF2B5EF4-FFF2-40B4-BE49-F238E27FC236}">
                <a16:creationId xmlns:a16="http://schemas.microsoft.com/office/drawing/2014/main" id="{A2D5F2FE-FE68-8C68-1F1D-9F60B07D2CFC}"/>
              </a:ext>
            </a:extLst>
          </p:cNvPr>
          <p:cNvSpPr txBox="1"/>
          <p:nvPr/>
        </p:nvSpPr>
        <p:spPr>
          <a:xfrm>
            <a:off x="483723" y="1885662"/>
            <a:ext cx="9651104" cy="461665"/>
          </a:xfrm>
          <a:prstGeom prst="rect">
            <a:avLst/>
          </a:prstGeom>
          <a:noFill/>
        </p:spPr>
        <p:txBody>
          <a:bodyPr wrap="none" rtlCol="0">
            <a:spAutoFit/>
          </a:bodyPr>
          <a:lstStyle/>
          <a:p>
            <a:r>
              <a:rPr lang="en-US" sz="2400" dirty="0"/>
              <a:t>Write the function to provide different outputs based on inputs and conditions</a:t>
            </a:r>
          </a:p>
        </p:txBody>
      </p:sp>
      <p:sp>
        <p:nvSpPr>
          <p:cNvPr id="13" name="TextBox 12">
            <a:extLst>
              <a:ext uri="{FF2B5EF4-FFF2-40B4-BE49-F238E27FC236}">
                <a16:creationId xmlns:a16="http://schemas.microsoft.com/office/drawing/2014/main" id="{9777614C-AD1D-EA23-2B1C-AAB202252992}"/>
              </a:ext>
            </a:extLst>
          </p:cNvPr>
          <p:cNvSpPr txBox="1"/>
          <p:nvPr/>
        </p:nvSpPr>
        <p:spPr>
          <a:xfrm>
            <a:off x="4119163" y="3295906"/>
            <a:ext cx="774571" cy="461665"/>
          </a:xfrm>
          <a:prstGeom prst="rect">
            <a:avLst/>
          </a:prstGeom>
          <a:noFill/>
        </p:spPr>
        <p:txBody>
          <a:bodyPr wrap="square" rtlCol="0">
            <a:spAutoFit/>
          </a:bodyPr>
          <a:lstStyle/>
          <a:p>
            <a:r>
              <a:rPr lang="en-US" sz="2400" dirty="0"/>
              <a:t>input</a:t>
            </a:r>
          </a:p>
        </p:txBody>
      </p:sp>
      <p:sp>
        <p:nvSpPr>
          <p:cNvPr id="14" name="TextBox 13">
            <a:extLst>
              <a:ext uri="{FF2B5EF4-FFF2-40B4-BE49-F238E27FC236}">
                <a16:creationId xmlns:a16="http://schemas.microsoft.com/office/drawing/2014/main" id="{52C1157B-2320-E639-8BED-0C452F7F83CC}"/>
              </a:ext>
            </a:extLst>
          </p:cNvPr>
          <p:cNvSpPr txBox="1"/>
          <p:nvPr/>
        </p:nvSpPr>
        <p:spPr>
          <a:xfrm>
            <a:off x="2035759" y="5638899"/>
            <a:ext cx="944489" cy="461665"/>
          </a:xfrm>
          <a:prstGeom prst="rect">
            <a:avLst/>
          </a:prstGeom>
          <a:noFill/>
        </p:spPr>
        <p:txBody>
          <a:bodyPr wrap="none" rtlCol="0">
            <a:spAutoFit/>
          </a:bodyPr>
          <a:lstStyle/>
          <a:p>
            <a:r>
              <a:rPr lang="en-US" sz="2400" dirty="0"/>
              <a:t>output</a:t>
            </a:r>
          </a:p>
        </p:txBody>
      </p:sp>
      <p:sp>
        <p:nvSpPr>
          <p:cNvPr id="15" name="Oval 14">
            <a:extLst>
              <a:ext uri="{FF2B5EF4-FFF2-40B4-BE49-F238E27FC236}">
                <a16:creationId xmlns:a16="http://schemas.microsoft.com/office/drawing/2014/main" id="{014B5FEA-E174-3163-4DB4-B23996EF52F9}"/>
              </a:ext>
            </a:extLst>
          </p:cNvPr>
          <p:cNvSpPr/>
          <p:nvPr/>
        </p:nvSpPr>
        <p:spPr>
          <a:xfrm>
            <a:off x="2520535" y="3608466"/>
            <a:ext cx="1191656" cy="29821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41B5AD48-0876-65BD-3344-ED3F15607FCE}"/>
              </a:ext>
            </a:extLst>
          </p:cNvPr>
          <p:cNvCxnSpPr>
            <a:cxnSpLocks/>
          </p:cNvCxnSpPr>
          <p:nvPr/>
        </p:nvCxnSpPr>
        <p:spPr>
          <a:xfrm flipH="1">
            <a:off x="3712191" y="3568503"/>
            <a:ext cx="417509" cy="1085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54D7566-8979-B5DB-DF41-DCCE44935F4D}"/>
              </a:ext>
            </a:extLst>
          </p:cNvPr>
          <p:cNvSpPr/>
          <p:nvPr/>
        </p:nvSpPr>
        <p:spPr>
          <a:xfrm>
            <a:off x="1024128" y="5556239"/>
            <a:ext cx="662499" cy="279799"/>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272259D7-4CB4-8F20-657D-8CD268C1197C}"/>
              </a:ext>
            </a:extLst>
          </p:cNvPr>
          <p:cNvCxnSpPr>
            <a:cxnSpLocks/>
          </p:cNvCxnSpPr>
          <p:nvPr/>
        </p:nvCxnSpPr>
        <p:spPr>
          <a:xfrm flipH="1" flipV="1">
            <a:off x="1721461" y="5790251"/>
            <a:ext cx="354671" cy="1043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84B3B36A-A037-9733-68A2-50ABB9D25FAF}"/>
              </a:ext>
            </a:extLst>
          </p:cNvPr>
          <p:cNvPicPr>
            <a:picLocks noChangeAspect="1"/>
          </p:cNvPicPr>
          <p:nvPr/>
        </p:nvPicPr>
        <p:blipFill>
          <a:blip r:embed="rId3"/>
          <a:srcRect b="50316"/>
          <a:stretch>
            <a:fillRect/>
          </a:stretch>
        </p:blipFill>
        <p:spPr>
          <a:xfrm>
            <a:off x="6338980" y="3324596"/>
            <a:ext cx="3657600" cy="3035029"/>
          </a:xfrm>
          <a:prstGeom prst="rect">
            <a:avLst/>
          </a:prstGeom>
        </p:spPr>
      </p:pic>
      <p:pic>
        <p:nvPicPr>
          <p:cNvPr id="27" name="Picture 26">
            <a:extLst>
              <a:ext uri="{FF2B5EF4-FFF2-40B4-BE49-F238E27FC236}">
                <a16:creationId xmlns:a16="http://schemas.microsoft.com/office/drawing/2014/main" id="{2E2FE42D-2E05-1B1D-A6D4-7CF70CD2839B}"/>
              </a:ext>
            </a:extLst>
          </p:cNvPr>
          <p:cNvPicPr>
            <a:picLocks noChangeAspect="1"/>
          </p:cNvPicPr>
          <p:nvPr/>
        </p:nvPicPr>
        <p:blipFill>
          <a:blip r:embed="rId3"/>
          <a:srcRect t="50316"/>
          <a:stretch>
            <a:fillRect/>
          </a:stretch>
        </p:blipFill>
        <p:spPr>
          <a:xfrm>
            <a:off x="6338980" y="3253507"/>
            <a:ext cx="3657600" cy="3035029"/>
          </a:xfrm>
          <a:prstGeom prst="rect">
            <a:avLst/>
          </a:prstGeom>
        </p:spPr>
      </p:pic>
      <p:grpSp>
        <p:nvGrpSpPr>
          <p:cNvPr id="32" name="Group 31">
            <a:extLst>
              <a:ext uri="{FF2B5EF4-FFF2-40B4-BE49-F238E27FC236}">
                <a16:creationId xmlns:a16="http://schemas.microsoft.com/office/drawing/2014/main" id="{953637A2-D679-78A2-D215-076E93CE875F}"/>
              </a:ext>
            </a:extLst>
          </p:cNvPr>
          <p:cNvGrpSpPr/>
          <p:nvPr/>
        </p:nvGrpSpPr>
        <p:grpSpPr>
          <a:xfrm>
            <a:off x="197960" y="3862954"/>
            <a:ext cx="5639448" cy="2305415"/>
            <a:chOff x="197960" y="3385278"/>
            <a:chExt cx="5639448" cy="2305415"/>
          </a:xfrm>
        </p:grpSpPr>
        <p:sp>
          <p:nvSpPr>
            <p:cNvPr id="28" name="TextBox 27">
              <a:extLst>
                <a:ext uri="{FF2B5EF4-FFF2-40B4-BE49-F238E27FC236}">
                  <a16:creationId xmlns:a16="http://schemas.microsoft.com/office/drawing/2014/main" id="{D6A90697-5769-9B98-57AD-4D054245AD7D}"/>
                </a:ext>
              </a:extLst>
            </p:cNvPr>
            <p:cNvSpPr txBox="1"/>
            <p:nvPr/>
          </p:nvSpPr>
          <p:spPr>
            <a:xfrm>
              <a:off x="4466520" y="5229028"/>
              <a:ext cx="1370888" cy="461665"/>
            </a:xfrm>
            <a:prstGeom prst="rect">
              <a:avLst/>
            </a:prstGeom>
            <a:noFill/>
          </p:spPr>
          <p:txBody>
            <a:bodyPr wrap="none" rtlCol="0">
              <a:spAutoFit/>
            </a:bodyPr>
            <a:lstStyle/>
            <a:p>
              <a:r>
                <a:rPr lang="en-US" sz="2400" dirty="0"/>
                <a:t>conditions</a:t>
              </a:r>
            </a:p>
          </p:txBody>
        </p:sp>
        <p:sp>
          <p:nvSpPr>
            <p:cNvPr id="29" name="Oval 28">
              <a:extLst>
                <a:ext uri="{FF2B5EF4-FFF2-40B4-BE49-F238E27FC236}">
                  <a16:creationId xmlns:a16="http://schemas.microsoft.com/office/drawing/2014/main" id="{970E8A73-96F3-5CBD-61EB-17C48059EA38}"/>
                </a:ext>
              </a:extLst>
            </p:cNvPr>
            <p:cNvSpPr/>
            <p:nvPr/>
          </p:nvSpPr>
          <p:spPr>
            <a:xfrm>
              <a:off x="197960" y="3385278"/>
              <a:ext cx="5167246" cy="167056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D055ADFB-355C-9511-E556-6301040671D3}"/>
                </a:ext>
              </a:extLst>
            </p:cNvPr>
            <p:cNvCxnSpPr>
              <a:cxnSpLocks/>
            </p:cNvCxnSpPr>
            <p:nvPr/>
          </p:nvCxnSpPr>
          <p:spPr>
            <a:xfrm flipH="1" flipV="1">
              <a:off x="3838964" y="5078563"/>
              <a:ext cx="667484" cy="38311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41A15DEC-C88C-DA12-4EF5-589C29679CD1}"/>
              </a:ext>
            </a:extLst>
          </p:cNvPr>
          <p:cNvSpPr txBox="1"/>
          <p:nvPr/>
        </p:nvSpPr>
        <p:spPr>
          <a:xfrm>
            <a:off x="197960" y="2889307"/>
            <a:ext cx="4626331" cy="369332"/>
          </a:xfrm>
          <a:prstGeom prst="rect">
            <a:avLst/>
          </a:prstGeom>
          <a:noFill/>
        </p:spPr>
        <p:txBody>
          <a:bodyPr wrap="none" rtlCol="0">
            <a:spAutoFit/>
          </a:bodyPr>
          <a:lstStyle/>
          <a:p>
            <a:r>
              <a:rPr lang="en-US" dirty="0"/>
              <a:t>1. Write the function (be sure to test it) and save</a:t>
            </a:r>
          </a:p>
        </p:txBody>
      </p:sp>
      <p:sp>
        <p:nvSpPr>
          <p:cNvPr id="34" name="TextBox 33">
            <a:extLst>
              <a:ext uri="{FF2B5EF4-FFF2-40B4-BE49-F238E27FC236}">
                <a16:creationId xmlns:a16="http://schemas.microsoft.com/office/drawing/2014/main" id="{ABB3D115-A5A5-DAD5-C3C1-0EC78A9AB771}"/>
              </a:ext>
            </a:extLst>
          </p:cNvPr>
          <p:cNvSpPr txBox="1"/>
          <p:nvPr/>
        </p:nvSpPr>
        <p:spPr>
          <a:xfrm>
            <a:off x="6338980" y="2904304"/>
            <a:ext cx="4609339" cy="369332"/>
          </a:xfrm>
          <a:prstGeom prst="rect">
            <a:avLst/>
          </a:prstGeom>
          <a:noFill/>
        </p:spPr>
        <p:txBody>
          <a:bodyPr wrap="none" rtlCol="0">
            <a:spAutoFit/>
          </a:bodyPr>
          <a:lstStyle/>
          <a:p>
            <a:r>
              <a:rPr lang="en-US" dirty="0"/>
              <a:t>2. Use the function: provide input and get output</a:t>
            </a:r>
          </a:p>
        </p:txBody>
      </p:sp>
    </p:spTree>
    <p:extLst>
      <p:ext uri="{BB962C8B-B14F-4D97-AF65-F5344CB8AC3E}">
        <p14:creationId xmlns:p14="http://schemas.microsoft.com/office/powerpoint/2010/main" val="42499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P spid="19" grpId="0" animBg="1"/>
      <p:bldP spid="3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09389-8B76-794E-80BC-4D91FF75E2C4}"/>
              </a:ext>
            </a:extLst>
          </p:cNvPr>
          <p:cNvSpPr>
            <a:spLocks noGrp="1"/>
          </p:cNvSpPr>
          <p:nvPr>
            <p:ph type="title"/>
          </p:nvPr>
        </p:nvSpPr>
        <p:spPr/>
        <p:txBody>
          <a:bodyPr/>
          <a:lstStyle/>
          <a:p>
            <a:r>
              <a:rPr lang="en-US" dirty="0"/>
              <a:t>What is a loop?</a:t>
            </a:r>
          </a:p>
        </p:txBody>
      </p:sp>
      <p:sp>
        <p:nvSpPr>
          <p:cNvPr id="3" name="Content Placeholder 2">
            <a:extLst>
              <a:ext uri="{FF2B5EF4-FFF2-40B4-BE49-F238E27FC236}">
                <a16:creationId xmlns:a16="http://schemas.microsoft.com/office/drawing/2014/main" id="{90AD906D-33C3-C78B-3F59-F87BD6EB5FC5}"/>
              </a:ext>
            </a:extLst>
          </p:cNvPr>
          <p:cNvSpPr>
            <a:spLocks noGrp="1"/>
          </p:cNvSpPr>
          <p:nvPr>
            <p:ph idx="1"/>
          </p:nvPr>
        </p:nvSpPr>
        <p:spPr/>
        <p:txBody>
          <a:bodyPr/>
          <a:lstStyle/>
          <a:p>
            <a:pPr marL="296863" indent="-296863"/>
            <a:r>
              <a:rPr lang="en-US" dirty="0"/>
              <a:t>Coding process that executes a specific instruction (block of code) repeatedly until a condition is met</a:t>
            </a:r>
          </a:p>
          <a:p>
            <a:pPr marL="296863" indent="-296863"/>
            <a:r>
              <a:rPr lang="en-US" dirty="0"/>
              <a:t>Common conditions describe the type of loop:</a:t>
            </a:r>
          </a:p>
          <a:p>
            <a:pPr marL="525463" lvl="2" indent="-214313"/>
            <a:r>
              <a:rPr lang="en-US" dirty="0"/>
              <a:t>For loop: repeat a specified number of times</a:t>
            </a:r>
          </a:p>
          <a:p>
            <a:pPr marL="525463" lvl="2" indent="-214313"/>
            <a:r>
              <a:rPr lang="en-US" dirty="0"/>
              <a:t>For each loop: Iterate over specified items without knowing index</a:t>
            </a:r>
          </a:p>
          <a:p>
            <a:pPr marL="525463" lvl="2" indent="-214313"/>
            <a:r>
              <a:rPr lang="en-US" dirty="0"/>
              <a:t>While loop: continue if a condition is true</a:t>
            </a:r>
          </a:p>
        </p:txBody>
      </p:sp>
    </p:spTree>
    <p:extLst>
      <p:ext uri="{BB962C8B-B14F-4D97-AF65-F5344CB8AC3E}">
        <p14:creationId xmlns:p14="http://schemas.microsoft.com/office/powerpoint/2010/main" val="824701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816E61-AA2B-786B-C3CB-1537791626F3}"/>
              </a:ext>
            </a:extLst>
          </p:cNvPr>
          <p:cNvSpPr>
            <a:spLocks noGrp="1"/>
          </p:cNvSpPr>
          <p:nvPr>
            <p:ph type="title"/>
          </p:nvPr>
        </p:nvSpPr>
        <p:spPr/>
        <p:txBody>
          <a:bodyPr/>
          <a:lstStyle/>
          <a:p>
            <a:r>
              <a:rPr lang="en-US" dirty="0"/>
              <a:t>Calculate the median for each column:</a:t>
            </a:r>
            <a:br>
              <a:rPr lang="en-US" dirty="0"/>
            </a:br>
            <a:r>
              <a:rPr lang="en-US" dirty="0"/>
              <a:t>Copy and paste method</a:t>
            </a:r>
          </a:p>
        </p:txBody>
      </p:sp>
      <p:pic>
        <p:nvPicPr>
          <p:cNvPr id="6" name="Picture 5" descr="A screenshot of a computer&#10;&#10;AI-generated content may be incorrect.">
            <a:extLst>
              <a:ext uri="{FF2B5EF4-FFF2-40B4-BE49-F238E27FC236}">
                <a16:creationId xmlns:a16="http://schemas.microsoft.com/office/drawing/2014/main" id="{591B7847-0B99-C095-4870-42D29A91FB6D}"/>
              </a:ext>
            </a:extLst>
          </p:cNvPr>
          <p:cNvPicPr>
            <a:picLocks noChangeAspect="1"/>
          </p:cNvPicPr>
          <p:nvPr/>
        </p:nvPicPr>
        <p:blipFill>
          <a:blip r:embed="rId3"/>
          <a:stretch>
            <a:fillRect/>
          </a:stretch>
        </p:blipFill>
        <p:spPr>
          <a:xfrm>
            <a:off x="5437538" y="2399284"/>
            <a:ext cx="6121400" cy="3873500"/>
          </a:xfrm>
          <a:prstGeom prst="rect">
            <a:avLst/>
          </a:prstGeom>
        </p:spPr>
      </p:pic>
      <p:pic>
        <p:nvPicPr>
          <p:cNvPr id="12" name="Picture 11" descr="A table of numbers with black and white text&#10;&#10;AI-generated content may be incorrect.">
            <a:extLst>
              <a:ext uri="{FF2B5EF4-FFF2-40B4-BE49-F238E27FC236}">
                <a16:creationId xmlns:a16="http://schemas.microsoft.com/office/drawing/2014/main" id="{230CB963-2BED-E82F-FB37-E3F3ED8E38FE}"/>
              </a:ext>
            </a:extLst>
          </p:cNvPr>
          <p:cNvPicPr>
            <a:picLocks noChangeAspect="1"/>
          </p:cNvPicPr>
          <p:nvPr/>
        </p:nvPicPr>
        <p:blipFill>
          <a:blip r:embed="rId4"/>
          <a:stretch>
            <a:fillRect/>
          </a:stretch>
        </p:blipFill>
        <p:spPr>
          <a:xfrm>
            <a:off x="456352" y="2634427"/>
            <a:ext cx="4754844" cy="3403213"/>
          </a:xfrm>
          <a:prstGeom prst="rect">
            <a:avLst/>
          </a:prstGeom>
        </p:spPr>
      </p:pic>
    </p:spTree>
    <p:extLst>
      <p:ext uri="{BB962C8B-B14F-4D97-AF65-F5344CB8AC3E}">
        <p14:creationId xmlns:p14="http://schemas.microsoft.com/office/powerpoint/2010/main" val="7095107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C7D6D-8B15-BA15-B598-ED632EB0A6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6A44B8D-7A9B-69A5-3D57-D9B5C01BC0AB}"/>
              </a:ext>
            </a:extLst>
          </p:cNvPr>
          <p:cNvSpPr>
            <a:spLocks noGrp="1"/>
          </p:cNvSpPr>
          <p:nvPr>
            <p:ph type="title"/>
          </p:nvPr>
        </p:nvSpPr>
        <p:spPr/>
        <p:txBody>
          <a:bodyPr/>
          <a:lstStyle/>
          <a:p>
            <a:r>
              <a:rPr lang="en-US" dirty="0"/>
              <a:t>Calculate the median for each column:</a:t>
            </a:r>
            <a:br>
              <a:rPr lang="en-US" dirty="0"/>
            </a:br>
            <a:r>
              <a:rPr lang="en-US" dirty="0"/>
              <a:t>for loop method</a:t>
            </a:r>
          </a:p>
        </p:txBody>
      </p:sp>
      <p:pic>
        <p:nvPicPr>
          <p:cNvPr id="8" name="Picture 7" descr="A screenshot of a computer code&#10;&#10;AI-generated content may be incorrect.">
            <a:extLst>
              <a:ext uri="{FF2B5EF4-FFF2-40B4-BE49-F238E27FC236}">
                <a16:creationId xmlns:a16="http://schemas.microsoft.com/office/drawing/2014/main" id="{D51BFABB-072F-E4B5-4236-C3C2F860E827}"/>
              </a:ext>
            </a:extLst>
          </p:cNvPr>
          <p:cNvPicPr>
            <a:picLocks noChangeAspect="1"/>
          </p:cNvPicPr>
          <p:nvPr/>
        </p:nvPicPr>
        <p:blipFill>
          <a:blip r:embed="rId2"/>
          <a:stretch>
            <a:fillRect/>
          </a:stretch>
        </p:blipFill>
        <p:spPr>
          <a:xfrm>
            <a:off x="5417230" y="2750683"/>
            <a:ext cx="6318418" cy="3169670"/>
          </a:xfrm>
          <a:prstGeom prst="rect">
            <a:avLst/>
          </a:prstGeom>
        </p:spPr>
      </p:pic>
      <p:pic>
        <p:nvPicPr>
          <p:cNvPr id="2" name="Picture 1" descr="A table of numbers with black and white text&#10;&#10;AI-generated content may be incorrect.">
            <a:extLst>
              <a:ext uri="{FF2B5EF4-FFF2-40B4-BE49-F238E27FC236}">
                <a16:creationId xmlns:a16="http://schemas.microsoft.com/office/drawing/2014/main" id="{85C337E4-0F72-EAF4-5360-849F412518BA}"/>
              </a:ext>
            </a:extLst>
          </p:cNvPr>
          <p:cNvPicPr>
            <a:picLocks noChangeAspect="1"/>
          </p:cNvPicPr>
          <p:nvPr/>
        </p:nvPicPr>
        <p:blipFill>
          <a:blip r:embed="rId3"/>
          <a:stretch>
            <a:fillRect/>
          </a:stretch>
        </p:blipFill>
        <p:spPr>
          <a:xfrm>
            <a:off x="456352" y="2634427"/>
            <a:ext cx="4754844" cy="3403213"/>
          </a:xfrm>
          <a:prstGeom prst="rect">
            <a:avLst/>
          </a:prstGeom>
        </p:spPr>
      </p:pic>
    </p:spTree>
    <p:extLst>
      <p:ext uri="{BB962C8B-B14F-4D97-AF65-F5344CB8AC3E}">
        <p14:creationId xmlns:p14="http://schemas.microsoft.com/office/powerpoint/2010/main" val="8602858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35F2A-16CD-0A05-8D1E-9E5F880395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B20E02-0740-2766-BA15-7FD57ABBF31C}"/>
              </a:ext>
            </a:extLst>
          </p:cNvPr>
          <p:cNvSpPr>
            <a:spLocks noGrp="1"/>
          </p:cNvSpPr>
          <p:nvPr>
            <p:ph type="title"/>
          </p:nvPr>
        </p:nvSpPr>
        <p:spPr/>
        <p:txBody>
          <a:bodyPr/>
          <a:lstStyle/>
          <a:p>
            <a:r>
              <a:rPr lang="en-US" dirty="0"/>
              <a:t>Calculate the median for each column:</a:t>
            </a:r>
            <a:br>
              <a:rPr lang="en-US" dirty="0"/>
            </a:br>
            <a:r>
              <a:rPr lang="en-US" dirty="0"/>
              <a:t>for loop method</a:t>
            </a:r>
          </a:p>
        </p:txBody>
      </p:sp>
      <p:pic>
        <p:nvPicPr>
          <p:cNvPr id="10" name="Picture 9" descr="A screenshot of a computer&#10;&#10;AI-generated content may be incorrect.">
            <a:extLst>
              <a:ext uri="{FF2B5EF4-FFF2-40B4-BE49-F238E27FC236}">
                <a16:creationId xmlns:a16="http://schemas.microsoft.com/office/drawing/2014/main" id="{0047A3F7-F91F-5923-717E-E65BE431D928}"/>
              </a:ext>
            </a:extLst>
          </p:cNvPr>
          <p:cNvPicPr>
            <a:picLocks noChangeAspect="1"/>
          </p:cNvPicPr>
          <p:nvPr/>
        </p:nvPicPr>
        <p:blipFill>
          <a:blip r:embed="rId2"/>
          <a:stretch>
            <a:fillRect/>
          </a:stretch>
        </p:blipFill>
        <p:spPr>
          <a:xfrm>
            <a:off x="5884164" y="3170064"/>
            <a:ext cx="5473700" cy="1803400"/>
          </a:xfrm>
          <a:prstGeom prst="rect">
            <a:avLst/>
          </a:prstGeom>
        </p:spPr>
      </p:pic>
      <p:pic>
        <p:nvPicPr>
          <p:cNvPr id="2" name="Picture 1" descr="A table of numbers with black and white text&#10;&#10;AI-generated content may be incorrect.">
            <a:extLst>
              <a:ext uri="{FF2B5EF4-FFF2-40B4-BE49-F238E27FC236}">
                <a16:creationId xmlns:a16="http://schemas.microsoft.com/office/drawing/2014/main" id="{9CE8544C-F2E4-6818-C540-5165BF1579B2}"/>
              </a:ext>
            </a:extLst>
          </p:cNvPr>
          <p:cNvPicPr>
            <a:picLocks noChangeAspect="1"/>
          </p:cNvPicPr>
          <p:nvPr/>
        </p:nvPicPr>
        <p:blipFill>
          <a:blip r:embed="rId3"/>
          <a:stretch>
            <a:fillRect/>
          </a:stretch>
        </p:blipFill>
        <p:spPr>
          <a:xfrm>
            <a:off x="456352" y="2634427"/>
            <a:ext cx="4754844" cy="3403213"/>
          </a:xfrm>
          <a:prstGeom prst="rect">
            <a:avLst/>
          </a:prstGeom>
        </p:spPr>
      </p:pic>
    </p:spTree>
    <p:extLst>
      <p:ext uri="{BB962C8B-B14F-4D97-AF65-F5344CB8AC3E}">
        <p14:creationId xmlns:p14="http://schemas.microsoft.com/office/powerpoint/2010/main" val="31549175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2496C-5E3C-F294-D5E4-2AAB27E23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53882-EEC6-9A1C-39B2-6F049BF3FDB5}"/>
              </a:ext>
            </a:extLst>
          </p:cNvPr>
          <p:cNvSpPr>
            <a:spLocks noGrp="1"/>
          </p:cNvSpPr>
          <p:nvPr>
            <p:ph type="title"/>
          </p:nvPr>
        </p:nvSpPr>
        <p:spPr/>
        <p:txBody>
          <a:bodyPr/>
          <a:lstStyle/>
          <a:p>
            <a:r>
              <a:rPr lang="en-US" dirty="0"/>
              <a:t>What is computational thinking?</a:t>
            </a:r>
          </a:p>
        </p:txBody>
      </p:sp>
      <p:sp>
        <p:nvSpPr>
          <p:cNvPr id="3" name="Content Placeholder 2">
            <a:extLst>
              <a:ext uri="{FF2B5EF4-FFF2-40B4-BE49-F238E27FC236}">
                <a16:creationId xmlns:a16="http://schemas.microsoft.com/office/drawing/2014/main" id="{7F0BFD8A-A22F-10B8-F373-6BD8594A6DD2}"/>
              </a:ext>
            </a:extLst>
          </p:cNvPr>
          <p:cNvSpPr>
            <a:spLocks noGrp="1"/>
          </p:cNvSpPr>
          <p:nvPr>
            <p:ph idx="1"/>
          </p:nvPr>
        </p:nvSpPr>
        <p:spPr/>
        <p:txBody>
          <a:bodyPr>
            <a:normAutofit lnSpcReduction="10000"/>
          </a:bodyPr>
          <a:lstStyle/>
          <a:p>
            <a:pPr marL="0" indent="0">
              <a:buNone/>
            </a:pPr>
            <a:r>
              <a:rPr lang="en-US" i="1" dirty="0"/>
              <a:t>Formulating things with enough clarity, and in a systematic enough way, that one can tell a computer how to do them</a:t>
            </a:r>
          </a:p>
          <a:p>
            <a:pPr marL="0" indent="0">
              <a:buNone/>
            </a:pPr>
            <a:r>
              <a:rPr lang="en-US" dirty="0"/>
              <a:t>					- Stephen Wolfram</a:t>
            </a:r>
          </a:p>
          <a:p>
            <a:pPr marL="0" indent="0">
              <a:buNone/>
            </a:pPr>
            <a:endParaRPr lang="en-US" dirty="0"/>
          </a:p>
          <a:p>
            <a:pPr marL="0" indent="0">
              <a:buNone/>
            </a:pPr>
            <a:r>
              <a:rPr lang="en-US" dirty="0"/>
              <a:t>We tell computers how via language</a:t>
            </a:r>
          </a:p>
          <a:p>
            <a:pPr marL="412750" lvl="1" indent="-284163"/>
            <a:r>
              <a:rPr lang="en-US" dirty="0"/>
              <a:t>coding in programming language</a:t>
            </a:r>
          </a:p>
          <a:p>
            <a:pPr marL="412750" lvl="1" indent="-284163"/>
            <a:r>
              <a:rPr lang="en-US" dirty="0"/>
              <a:t>using data scientist interpreter</a:t>
            </a:r>
          </a:p>
          <a:p>
            <a:pPr marL="412750" lvl="1" indent="-284163"/>
            <a:r>
              <a:rPr lang="en-US" dirty="0"/>
              <a:t>low code/no code interface</a:t>
            </a:r>
          </a:p>
        </p:txBody>
      </p:sp>
      <p:sp>
        <p:nvSpPr>
          <p:cNvPr id="4" name="Oval 3">
            <a:extLst>
              <a:ext uri="{FF2B5EF4-FFF2-40B4-BE49-F238E27FC236}">
                <a16:creationId xmlns:a16="http://schemas.microsoft.com/office/drawing/2014/main" id="{C752E8CA-E126-6B2B-7D91-684FE506413E}"/>
              </a:ext>
            </a:extLst>
          </p:cNvPr>
          <p:cNvSpPr/>
          <p:nvPr/>
        </p:nvSpPr>
        <p:spPr>
          <a:xfrm>
            <a:off x="1024128" y="5547360"/>
            <a:ext cx="4675632" cy="67056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88134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BE2013-6817-9B9C-6F40-15F1E71EFC4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B30E2109-08F0-617F-F4B8-C9239847D644}"/>
              </a:ext>
            </a:extLst>
          </p:cNvPr>
          <p:cNvSpPr>
            <a:spLocks noGrp="1"/>
          </p:cNvSpPr>
          <p:nvPr>
            <p:ph type="body" idx="4294967295"/>
          </p:nvPr>
        </p:nvSpPr>
        <p:spPr>
          <a:xfrm>
            <a:off x="501953" y="477687"/>
            <a:ext cx="5157788" cy="1053721"/>
          </a:xfrm>
        </p:spPr>
        <p:txBody>
          <a:bodyPr vert="horz" lIns="91440" tIns="45720" rIns="91440" bIns="45720" rtlCol="0" anchor="t">
            <a:normAutofit fontScale="92500"/>
          </a:bodyPr>
          <a:lstStyle/>
          <a:p>
            <a:pPr marL="0" indent="0">
              <a:buNone/>
            </a:pPr>
            <a:r>
              <a:rPr lang="en-US" sz="4400" b="1" dirty="0"/>
              <a:t>GPT (GPT-4o, GPT-4.5)</a:t>
            </a:r>
          </a:p>
        </p:txBody>
      </p:sp>
      <p:sp>
        <p:nvSpPr>
          <p:cNvPr id="9" name="Text Placeholder 3">
            <a:extLst>
              <a:ext uri="{FF2B5EF4-FFF2-40B4-BE49-F238E27FC236}">
                <a16:creationId xmlns:a16="http://schemas.microsoft.com/office/drawing/2014/main" id="{EB945653-26E3-334A-3A68-983C2FB30362}"/>
              </a:ext>
            </a:extLst>
          </p:cNvPr>
          <p:cNvSpPr txBox="1">
            <a:spLocks/>
          </p:cNvSpPr>
          <p:nvPr/>
        </p:nvSpPr>
        <p:spPr>
          <a:xfrm>
            <a:off x="6526591" y="477687"/>
            <a:ext cx="5157788" cy="1053721"/>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b="1" dirty="0"/>
              <a:t>Reasoning (o4, GPT-5)</a:t>
            </a:r>
          </a:p>
        </p:txBody>
      </p:sp>
      <p:sp>
        <p:nvSpPr>
          <p:cNvPr id="2" name="Rectangle: Rounded Corners 1">
            <a:extLst>
              <a:ext uri="{FF2B5EF4-FFF2-40B4-BE49-F238E27FC236}">
                <a16:creationId xmlns:a16="http://schemas.microsoft.com/office/drawing/2014/main" id="{159FD8C7-CC3E-4BAE-1582-CCD0FC4345AB}"/>
              </a:ext>
            </a:extLst>
          </p:cNvPr>
          <p:cNvSpPr/>
          <p:nvPr/>
        </p:nvSpPr>
        <p:spPr>
          <a:xfrm>
            <a:off x="368968" y="1251284"/>
            <a:ext cx="5598694" cy="1809157"/>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t>Like a junior co-worke</a:t>
            </a:r>
            <a:r>
              <a:rPr lang="en-US" sz="2800" dirty="0">
                <a:solidFill>
                  <a:schemeClr val="bg1"/>
                </a:solidFill>
              </a:rPr>
              <a:t>r</a:t>
            </a:r>
            <a:endParaRPr lang="en-US" dirty="0">
              <a:solidFill>
                <a:schemeClr val="bg1"/>
              </a:solidFill>
            </a:endParaRPr>
          </a:p>
          <a:p>
            <a:pPr algn="ctr"/>
            <a:endParaRPr lang="en-US" dirty="0">
              <a:solidFill>
                <a:schemeClr val="bg1"/>
              </a:solidFill>
            </a:endParaRPr>
          </a:p>
          <a:p>
            <a:pPr algn="ctr"/>
            <a:r>
              <a:rPr lang="en-US" sz="2400" dirty="0">
                <a:solidFill>
                  <a:schemeClr val="bg1"/>
                </a:solidFill>
              </a:rPr>
              <a:t>Will perform best with explicit instructions and examples for a specific output</a:t>
            </a:r>
            <a:endParaRPr lang="en-US" dirty="0">
              <a:solidFill>
                <a:schemeClr val="bg1"/>
              </a:solidFill>
            </a:endParaRPr>
          </a:p>
        </p:txBody>
      </p:sp>
      <p:sp>
        <p:nvSpPr>
          <p:cNvPr id="3" name="Rectangle: Rounded Corners 2">
            <a:extLst>
              <a:ext uri="{FF2B5EF4-FFF2-40B4-BE49-F238E27FC236}">
                <a16:creationId xmlns:a16="http://schemas.microsoft.com/office/drawing/2014/main" id="{EE9FD3AC-AA54-C41B-3ACD-6F6CE81ECC42}"/>
              </a:ext>
            </a:extLst>
          </p:cNvPr>
          <p:cNvSpPr/>
          <p:nvPr/>
        </p:nvSpPr>
        <p:spPr>
          <a:xfrm>
            <a:off x="6108158" y="1251283"/>
            <a:ext cx="5598694" cy="1805493"/>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a:t>Like a senior co-worke</a:t>
            </a:r>
            <a:r>
              <a:rPr lang="en-US" sz="2800">
                <a:solidFill>
                  <a:schemeClr val="bg1"/>
                </a:solidFill>
              </a:rPr>
              <a:t>r </a:t>
            </a:r>
          </a:p>
          <a:p>
            <a:pPr algn="ctr"/>
            <a:endParaRPr lang="en-US" sz="2800">
              <a:solidFill>
                <a:schemeClr val="bg1"/>
              </a:solidFill>
            </a:endParaRPr>
          </a:p>
          <a:p>
            <a:pPr algn="ctr"/>
            <a:r>
              <a:rPr lang="en-US" sz="2400">
                <a:solidFill>
                  <a:schemeClr val="bg1"/>
                </a:solidFill>
              </a:rPr>
              <a:t>You can give them a goal to achieve and trust them to work out the details</a:t>
            </a:r>
            <a:endParaRPr lang="en-US">
              <a:solidFill>
                <a:schemeClr val="bg1"/>
              </a:solidFill>
            </a:endParaRPr>
          </a:p>
        </p:txBody>
      </p:sp>
      <p:sp>
        <p:nvSpPr>
          <p:cNvPr id="6" name="TextBox 5">
            <a:extLst>
              <a:ext uri="{FF2B5EF4-FFF2-40B4-BE49-F238E27FC236}">
                <a16:creationId xmlns:a16="http://schemas.microsoft.com/office/drawing/2014/main" id="{6A456C8C-122B-A7A8-974A-90B5AF8DCD88}"/>
              </a:ext>
            </a:extLst>
          </p:cNvPr>
          <p:cNvSpPr txBox="1"/>
          <p:nvPr/>
        </p:nvSpPr>
        <p:spPr>
          <a:xfrm>
            <a:off x="1426676" y="4571714"/>
            <a:ext cx="5233419" cy="830997"/>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Given these differences, we may need to prompt them differently</a:t>
            </a:r>
          </a:p>
        </p:txBody>
      </p:sp>
      <p:pic>
        <p:nvPicPr>
          <p:cNvPr id="7" name="Picture 6" descr="A couple of robots in a kitchen&#10;&#10;AI-generated content may be incorrect.">
            <a:extLst>
              <a:ext uri="{FF2B5EF4-FFF2-40B4-BE49-F238E27FC236}">
                <a16:creationId xmlns:a16="http://schemas.microsoft.com/office/drawing/2014/main" id="{FE1733F0-175E-AE87-BEE7-A5C5A5C4B5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8027" y="3237723"/>
            <a:ext cx="3498980" cy="3498980"/>
          </a:xfrm>
          <a:prstGeom prst="rect">
            <a:avLst/>
          </a:prstGeom>
        </p:spPr>
      </p:pic>
      <p:sp>
        <p:nvSpPr>
          <p:cNvPr id="5" name="TextBox 4">
            <a:extLst>
              <a:ext uri="{FF2B5EF4-FFF2-40B4-BE49-F238E27FC236}">
                <a16:creationId xmlns:a16="http://schemas.microsoft.com/office/drawing/2014/main" id="{613DE77D-4649-E8ED-CBA9-572B6885069A}"/>
              </a:ext>
            </a:extLst>
          </p:cNvPr>
          <p:cNvSpPr txBox="1"/>
          <p:nvPr/>
        </p:nvSpPr>
        <p:spPr>
          <a:xfrm>
            <a:off x="368968" y="6367371"/>
            <a:ext cx="6371616" cy="369332"/>
          </a:xfrm>
          <a:prstGeom prst="rect">
            <a:avLst/>
          </a:prstGeom>
          <a:noFill/>
        </p:spPr>
        <p:txBody>
          <a:bodyPr wrap="none" rtlCol="0">
            <a:spAutoFit/>
          </a:bodyPr>
          <a:lstStyle/>
          <a:p>
            <a:r>
              <a:rPr lang="en-US" dirty="0"/>
              <a:t>https://</a:t>
            </a:r>
            <a:r>
              <a:rPr lang="en-US" dirty="0" err="1"/>
              <a:t>platform.openai.com</a:t>
            </a:r>
            <a:r>
              <a:rPr lang="en-US" dirty="0"/>
              <a:t>/docs/guides/reasoning-best-practices</a:t>
            </a:r>
          </a:p>
        </p:txBody>
      </p:sp>
    </p:spTree>
    <p:extLst>
      <p:ext uri="{BB962C8B-B14F-4D97-AF65-F5344CB8AC3E}">
        <p14:creationId xmlns:p14="http://schemas.microsoft.com/office/powerpoint/2010/main" val="25839880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ACF6D-ADDB-283A-CE86-FD85F3C0B9AE}"/>
              </a:ext>
            </a:extLst>
          </p:cNvPr>
          <p:cNvSpPr>
            <a:spLocks noGrp="1"/>
          </p:cNvSpPr>
          <p:nvPr>
            <p:ph type="title"/>
          </p:nvPr>
        </p:nvSpPr>
        <p:spPr/>
        <p:txBody>
          <a:bodyPr/>
          <a:lstStyle/>
          <a:p>
            <a:r>
              <a:rPr lang="en-US" dirty="0"/>
              <a:t>Prompting methods</a:t>
            </a:r>
          </a:p>
        </p:txBody>
      </p:sp>
      <p:sp>
        <p:nvSpPr>
          <p:cNvPr id="3" name="Content Placeholder 2">
            <a:extLst>
              <a:ext uri="{FF2B5EF4-FFF2-40B4-BE49-F238E27FC236}">
                <a16:creationId xmlns:a16="http://schemas.microsoft.com/office/drawing/2014/main" id="{6155796F-ACB0-79BA-D5A1-7268DB89D70E}"/>
              </a:ext>
            </a:extLst>
          </p:cNvPr>
          <p:cNvSpPr>
            <a:spLocks noGrp="1"/>
          </p:cNvSpPr>
          <p:nvPr>
            <p:ph idx="1"/>
          </p:nvPr>
        </p:nvSpPr>
        <p:spPr>
          <a:xfrm>
            <a:off x="1024128" y="1825625"/>
            <a:ext cx="9485685" cy="4847242"/>
          </a:xfrm>
        </p:spPr>
        <p:txBody>
          <a:bodyPr vert="horz" lIns="91440" tIns="45720" rIns="91440" bIns="45720" rtlCol="0" anchor="t">
            <a:normAutofit/>
          </a:bodyPr>
          <a:lstStyle/>
          <a:p>
            <a:pPr marL="0" indent="0">
              <a:buNone/>
            </a:pPr>
            <a:r>
              <a:rPr lang="en-US" sz="2400" b="1" dirty="0"/>
              <a:t>One-Shot Prompt </a:t>
            </a:r>
            <a:endParaRPr lang="en-US" sz="1400" b="1" dirty="0"/>
          </a:p>
          <a:p>
            <a:pPr lvl="1"/>
            <a:r>
              <a:rPr lang="en-US" sz="1900" dirty="0"/>
              <a:t>Provides the data and asks directly for desired output</a:t>
            </a:r>
          </a:p>
          <a:p>
            <a:pPr lvl="1"/>
            <a:r>
              <a:rPr lang="en-US" sz="1900" dirty="0"/>
              <a:t>Relies on the model's existing knowledge of the subject</a:t>
            </a:r>
          </a:p>
          <a:p>
            <a:pPr lvl="1"/>
            <a:r>
              <a:rPr lang="en-US" sz="1900" dirty="0"/>
              <a:t>More concise but may produce less consistent results in some models: best for reasoning models and less reliable for GPT models</a:t>
            </a:r>
          </a:p>
          <a:p>
            <a:endParaRPr lang="en-US" sz="1600" b="1" dirty="0"/>
          </a:p>
          <a:p>
            <a:pPr marL="0" indent="0">
              <a:buNone/>
            </a:pPr>
            <a:r>
              <a:rPr lang="en-US" sz="2400" b="1" dirty="0"/>
              <a:t>Few-Shot Prompt</a:t>
            </a:r>
          </a:p>
          <a:p>
            <a:pPr lvl="1"/>
            <a:r>
              <a:rPr lang="en-US" sz="1900" dirty="0"/>
              <a:t>Shows examples of the desired input-output pattern</a:t>
            </a:r>
          </a:p>
          <a:p>
            <a:pPr lvl="1"/>
            <a:r>
              <a:rPr lang="en-US" sz="1900" dirty="0"/>
              <a:t>Provides context for output</a:t>
            </a:r>
          </a:p>
          <a:p>
            <a:pPr lvl="1"/>
            <a:r>
              <a:rPr lang="en-US" sz="1900" dirty="0"/>
              <a:t>More likely to produce consistent, well-formatted results</a:t>
            </a:r>
          </a:p>
          <a:p>
            <a:pPr lvl="1"/>
            <a:r>
              <a:rPr lang="en-US" sz="1900" dirty="0"/>
              <a:t>May work best with GPT models</a:t>
            </a:r>
          </a:p>
        </p:txBody>
      </p:sp>
    </p:spTree>
    <p:extLst>
      <p:ext uri="{BB962C8B-B14F-4D97-AF65-F5344CB8AC3E}">
        <p14:creationId xmlns:p14="http://schemas.microsoft.com/office/powerpoint/2010/main" val="42551442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BBFF9-31D3-6919-43D1-32F0858D6752}"/>
              </a:ext>
            </a:extLst>
          </p:cNvPr>
          <p:cNvSpPr>
            <a:spLocks noGrp="1"/>
          </p:cNvSpPr>
          <p:nvPr>
            <p:ph type="title"/>
          </p:nvPr>
        </p:nvSpPr>
        <p:spPr/>
        <p:txBody>
          <a:bodyPr/>
          <a:lstStyle/>
          <a:p>
            <a:r>
              <a:rPr lang="en-US" dirty="0"/>
              <a:t>ONE SHOT Prompting example</a:t>
            </a:r>
          </a:p>
        </p:txBody>
      </p:sp>
      <p:sp>
        <p:nvSpPr>
          <p:cNvPr id="3" name="Content Placeholder 2">
            <a:extLst>
              <a:ext uri="{FF2B5EF4-FFF2-40B4-BE49-F238E27FC236}">
                <a16:creationId xmlns:a16="http://schemas.microsoft.com/office/drawing/2014/main" id="{17640E5A-EFD6-6F8C-97F9-5A8B3862785F}"/>
              </a:ext>
            </a:extLst>
          </p:cNvPr>
          <p:cNvSpPr>
            <a:spLocks noGrp="1"/>
          </p:cNvSpPr>
          <p:nvPr>
            <p:ph idx="1"/>
          </p:nvPr>
        </p:nvSpPr>
        <p:spPr/>
        <p:txBody>
          <a:bodyPr>
            <a:normAutofit/>
          </a:bodyPr>
          <a:lstStyle/>
          <a:p>
            <a:pPr marL="0" indent="0">
              <a:buNone/>
            </a:pPr>
            <a:r>
              <a:rPr lang="en-US" sz="2800" dirty="0"/>
              <a:t>You are a laboratory director analyzing fasting glucose results from 300 adult male and female patients collected at multiple hospital locations. Create a visualization (such as a boxplot or violin plot) of the </a:t>
            </a:r>
            <a:r>
              <a:rPr lang="en-US" sz="2800" dirty="0" err="1"/>
              <a:t>fasting_glucose_dataset.csv</a:t>
            </a:r>
            <a:r>
              <a:rPr lang="en-US" sz="2800" dirty="0"/>
              <a:t> that compares fasting glucose distributions across locations and highlights any significant insights or differences. Provide R code and also a plain-English interpretation of what the graph might reveal.</a:t>
            </a:r>
            <a:endParaRPr lang="en-US" sz="2800" dirty="0">
              <a:solidFill>
                <a:srgbClr val="FF0000"/>
              </a:solidFill>
            </a:endParaRPr>
          </a:p>
        </p:txBody>
      </p:sp>
    </p:spTree>
    <p:extLst>
      <p:ext uri="{BB962C8B-B14F-4D97-AF65-F5344CB8AC3E}">
        <p14:creationId xmlns:p14="http://schemas.microsoft.com/office/powerpoint/2010/main" val="5728301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0D2978-997F-6929-137B-F8D69D7ECA5F}"/>
              </a:ext>
            </a:extLst>
          </p:cNvPr>
          <p:cNvSpPr>
            <a:spLocks noGrp="1"/>
          </p:cNvSpPr>
          <p:nvPr>
            <p:ph type="title"/>
          </p:nvPr>
        </p:nvSpPr>
        <p:spPr/>
        <p:txBody>
          <a:bodyPr/>
          <a:lstStyle/>
          <a:p>
            <a:r>
              <a:rPr lang="en-US" dirty="0"/>
              <a:t>Chatgpt5 output</a:t>
            </a:r>
          </a:p>
        </p:txBody>
      </p:sp>
      <p:sp>
        <p:nvSpPr>
          <p:cNvPr id="7" name="TextBox 6">
            <a:extLst>
              <a:ext uri="{FF2B5EF4-FFF2-40B4-BE49-F238E27FC236}">
                <a16:creationId xmlns:a16="http://schemas.microsoft.com/office/drawing/2014/main" id="{F30C4F3E-0B03-D0DF-D94B-33C985C0FD54}"/>
              </a:ext>
            </a:extLst>
          </p:cNvPr>
          <p:cNvSpPr txBox="1"/>
          <p:nvPr/>
        </p:nvSpPr>
        <p:spPr>
          <a:xfrm>
            <a:off x="6369804" y="1194471"/>
            <a:ext cx="5269424" cy="5078313"/>
          </a:xfrm>
          <a:prstGeom prst="rect">
            <a:avLst/>
          </a:prstGeom>
          <a:noFill/>
        </p:spPr>
        <p:txBody>
          <a:bodyPr wrap="square" rtlCol="0">
            <a:spAutoFit/>
          </a:bodyPr>
          <a:lstStyle/>
          <a:p>
            <a:r>
              <a:rPr lang="en-US" dirty="0"/>
              <a:t>Expect visibly different distributions across sites. In the dataset I generated, </a:t>
            </a:r>
            <a:r>
              <a:rPr lang="en-US" dirty="0" err="1">
                <a:highlight>
                  <a:srgbClr val="FFFF00"/>
                </a:highlight>
              </a:rPr>
              <a:t>Site_B</a:t>
            </a:r>
            <a:r>
              <a:rPr lang="en-US" dirty="0">
                <a:highlight>
                  <a:srgbClr val="FFFF00"/>
                </a:highlight>
              </a:rPr>
              <a:t> tends to show a slightly higher median and a wider spread than </a:t>
            </a:r>
            <a:r>
              <a:rPr lang="en-US" dirty="0" err="1">
                <a:highlight>
                  <a:srgbClr val="FFFF00"/>
                </a:highlight>
              </a:rPr>
              <a:t>Site_A</a:t>
            </a:r>
            <a:r>
              <a:rPr lang="en-US" dirty="0">
                <a:highlight>
                  <a:srgbClr val="FFFF00"/>
                </a:highlight>
              </a:rPr>
              <a:t> and </a:t>
            </a:r>
            <a:r>
              <a:rPr lang="en-US" dirty="0" err="1">
                <a:highlight>
                  <a:srgbClr val="FFFF00"/>
                </a:highlight>
              </a:rPr>
              <a:t>Site_C</a:t>
            </a:r>
            <a:r>
              <a:rPr lang="en-US" dirty="0">
                <a:highlight>
                  <a:srgbClr val="FFFF00"/>
                </a:highlight>
              </a:rPr>
              <a:t>, with more values above 126 mg/dL (the dotted line) and a higher share in the 100–125 mg/dL range (dashed to dotted line).</a:t>
            </a:r>
          </a:p>
          <a:p>
            <a:r>
              <a:rPr lang="en-US" dirty="0" err="1">
                <a:highlight>
                  <a:srgbClr val="FFFF00"/>
                </a:highlight>
              </a:rPr>
              <a:t>Site_A</a:t>
            </a:r>
            <a:r>
              <a:rPr lang="en-US" dirty="0">
                <a:highlight>
                  <a:srgbClr val="FFFF00"/>
                </a:highlight>
              </a:rPr>
              <a:t> and </a:t>
            </a:r>
            <a:r>
              <a:rPr lang="en-US" dirty="0" err="1">
                <a:highlight>
                  <a:srgbClr val="FFFF00"/>
                </a:highlight>
              </a:rPr>
              <a:t>Site_C</a:t>
            </a:r>
            <a:r>
              <a:rPr lang="en-US" dirty="0">
                <a:highlight>
                  <a:srgbClr val="FFFF00"/>
                </a:highlight>
              </a:rPr>
              <a:t> typically look more similar, with tighter IQRs and fewer high outliers.</a:t>
            </a:r>
          </a:p>
          <a:p>
            <a:r>
              <a:rPr lang="en-US" dirty="0"/>
              <a:t>If the Kruskal–Wallis test reports a significant p-value (and pairwise Wilcoxon tests confirm </a:t>
            </a:r>
            <a:r>
              <a:rPr lang="en-US" dirty="0" err="1"/>
              <a:t>Site_B</a:t>
            </a:r>
            <a:r>
              <a:rPr lang="en-US" dirty="0"/>
              <a:t> &gt; others), that supports a site effect. Practically, that could prompt a pre-analytical/process review at the higher-median site (e.g., fasting adherence, draw timing, tube handling, transport time/temperature, centrifugation delays).</a:t>
            </a:r>
          </a:p>
          <a:p>
            <a:r>
              <a:rPr lang="en-US" dirty="0"/>
              <a:t>In the sex-stratified view, you may see small, not dramatic differences between males and females; the main pattern remains the site-level shift.</a:t>
            </a:r>
          </a:p>
        </p:txBody>
      </p:sp>
      <p:pic>
        <p:nvPicPr>
          <p:cNvPr id="11" name="Picture 10" descr="A chart of a fasting glucose distribution&#10;&#10;AI-generated content may be incorrect.">
            <a:extLst>
              <a:ext uri="{FF2B5EF4-FFF2-40B4-BE49-F238E27FC236}">
                <a16:creationId xmlns:a16="http://schemas.microsoft.com/office/drawing/2014/main" id="{C8D2D64A-46CD-D274-B1F8-CE9B23CEB015}"/>
              </a:ext>
            </a:extLst>
          </p:cNvPr>
          <p:cNvPicPr>
            <a:picLocks noChangeAspect="1"/>
          </p:cNvPicPr>
          <p:nvPr/>
        </p:nvPicPr>
        <p:blipFill>
          <a:blip r:embed="rId2"/>
          <a:stretch>
            <a:fillRect/>
          </a:stretch>
        </p:blipFill>
        <p:spPr>
          <a:xfrm>
            <a:off x="552772" y="2223852"/>
            <a:ext cx="5398576" cy="4048932"/>
          </a:xfrm>
          <a:prstGeom prst="rect">
            <a:avLst/>
          </a:prstGeom>
        </p:spPr>
      </p:pic>
      <p:sp>
        <p:nvSpPr>
          <p:cNvPr id="14" name="Oval 13">
            <a:extLst>
              <a:ext uri="{FF2B5EF4-FFF2-40B4-BE49-F238E27FC236}">
                <a16:creationId xmlns:a16="http://schemas.microsoft.com/office/drawing/2014/main" id="{3EBA11D0-7AA4-154A-E90B-526662DABECF}"/>
              </a:ext>
            </a:extLst>
          </p:cNvPr>
          <p:cNvSpPr/>
          <p:nvPr/>
        </p:nvSpPr>
        <p:spPr>
          <a:xfrm>
            <a:off x="666427" y="5672380"/>
            <a:ext cx="4928461" cy="96089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E145D61-BE83-4F0D-0E9E-8E706AF41CB8}"/>
              </a:ext>
            </a:extLst>
          </p:cNvPr>
          <p:cNvSpPr txBox="1"/>
          <p:nvPr/>
        </p:nvSpPr>
        <p:spPr>
          <a:xfrm>
            <a:off x="247973" y="1895746"/>
            <a:ext cx="5193794" cy="369332"/>
          </a:xfrm>
          <a:prstGeom prst="rect">
            <a:avLst/>
          </a:prstGeom>
          <a:noFill/>
        </p:spPr>
        <p:txBody>
          <a:bodyPr wrap="none" rtlCol="0">
            <a:spAutoFit/>
          </a:bodyPr>
          <a:lstStyle/>
          <a:p>
            <a:r>
              <a:rPr lang="en-US" dirty="0">
                <a:solidFill>
                  <a:srgbClr val="FF0000"/>
                </a:solidFill>
              </a:rPr>
              <a:t>Where are the jittered points shown in code provided?</a:t>
            </a:r>
          </a:p>
        </p:txBody>
      </p:sp>
    </p:spTree>
    <p:extLst>
      <p:ext uri="{BB962C8B-B14F-4D97-AF65-F5344CB8AC3E}">
        <p14:creationId xmlns:p14="http://schemas.microsoft.com/office/powerpoint/2010/main" val="1048713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DF06A-3851-E280-44CB-B0020510E9CB}"/>
              </a:ext>
            </a:extLst>
          </p:cNvPr>
          <p:cNvSpPr>
            <a:spLocks noGrp="1"/>
          </p:cNvSpPr>
          <p:nvPr>
            <p:ph type="title"/>
          </p:nvPr>
        </p:nvSpPr>
        <p:spPr/>
        <p:txBody>
          <a:bodyPr/>
          <a:lstStyle/>
          <a:p>
            <a:r>
              <a:rPr lang="en-US" dirty="0"/>
              <a:t>Let me check your work,</a:t>
            </a:r>
            <a:br>
              <a:rPr lang="en-US" dirty="0"/>
            </a:br>
            <a:r>
              <a:rPr lang="en-US" dirty="0"/>
              <a:t>You need to try again</a:t>
            </a:r>
          </a:p>
        </p:txBody>
      </p:sp>
      <p:pic>
        <p:nvPicPr>
          <p:cNvPr id="3" name="Picture 2" descr="A screenshot of a computer screen&#10;&#10;AI-generated content may be incorrect.">
            <a:extLst>
              <a:ext uri="{FF2B5EF4-FFF2-40B4-BE49-F238E27FC236}">
                <a16:creationId xmlns:a16="http://schemas.microsoft.com/office/drawing/2014/main" id="{3E80F7CE-8A40-8493-7766-9417C90E8C2E}"/>
              </a:ext>
            </a:extLst>
          </p:cNvPr>
          <p:cNvPicPr>
            <a:picLocks noChangeAspect="1"/>
          </p:cNvPicPr>
          <p:nvPr/>
        </p:nvPicPr>
        <p:blipFill>
          <a:blip r:embed="rId2"/>
          <a:stretch>
            <a:fillRect/>
          </a:stretch>
        </p:blipFill>
        <p:spPr>
          <a:xfrm>
            <a:off x="6504121" y="585216"/>
            <a:ext cx="5500254" cy="5742122"/>
          </a:xfrm>
          <a:prstGeom prst="rect">
            <a:avLst/>
          </a:prstGeom>
        </p:spPr>
      </p:pic>
      <p:sp>
        <p:nvSpPr>
          <p:cNvPr id="5" name="Rectangle 1">
            <a:extLst>
              <a:ext uri="{FF2B5EF4-FFF2-40B4-BE49-F238E27FC236}">
                <a16:creationId xmlns:a16="http://schemas.microsoft.com/office/drawing/2014/main" id="{355548AE-E00B-5CE3-CE6A-56A3F0F072B3}"/>
              </a:ext>
            </a:extLst>
          </p:cNvPr>
          <p:cNvSpPr>
            <a:spLocks noChangeArrowheads="1"/>
          </p:cNvSpPr>
          <p:nvPr/>
        </p:nvSpPr>
        <p:spPr bwMode="auto">
          <a:xfrm>
            <a:off x="3438525" y="3277285"/>
            <a:ext cx="72679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5D0293F6-1439-E6E2-9D16-6A2F74B56CDF}"/>
              </a:ext>
            </a:extLst>
          </p:cNvPr>
          <p:cNvSpPr txBox="1"/>
          <p:nvPr/>
        </p:nvSpPr>
        <p:spPr>
          <a:xfrm>
            <a:off x="7687160" y="6327338"/>
            <a:ext cx="742511" cy="369332"/>
          </a:xfrm>
          <a:prstGeom prst="rect">
            <a:avLst/>
          </a:prstGeom>
          <a:noFill/>
        </p:spPr>
        <p:txBody>
          <a:bodyPr wrap="none" rtlCol="0">
            <a:spAutoFit/>
          </a:bodyPr>
          <a:lstStyle/>
          <a:p>
            <a:r>
              <a:rPr lang="en-US" dirty="0"/>
              <a:t>96.25</a:t>
            </a:r>
          </a:p>
        </p:txBody>
      </p:sp>
      <p:sp>
        <p:nvSpPr>
          <p:cNvPr id="7" name="TextBox 6">
            <a:extLst>
              <a:ext uri="{FF2B5EF4-FFF2-40B4-BE49-F238E27FC236}">
                <a16:creationId xmlns:a16="http://schemas.microsoft.com/office/drawing/2014/main" id="{B8092690-2697-B471-E2B8-0CBE3BDB572E}"/>
              </a:ext>
            </a:extLst>
          </p:cNvPr>
          <p:cNvSpPr txBox="1"/>
          <p:nvPr/>
        </p:nvSpPr>
        <p:spPr>
          <a:xfrm>
            <a:off x="9126504" y="6327338"/>
            <a:ext cx="742511" cy="369332"/>
          </a:xfrm>
          <a:prstGeom prst="rect">
            <a:avLst/>
          </a:prstGeom>
          <a:noFill/>
        </p:spPr>
        <p:txBody>
          <a:bodyPr wrap="none" rtlCol="0">
            <a:spAutoFit/>
          </a:bodyPr>
          <a:lstStyle/>
          <a:p>
            <a:r>
              <a:rPr lang="en-US" dirty="0"/>
              <a:t>95.95</a:t>
            </a:r>
          </a:p>
        </p:txBody>
      </p:sp>
      <p:sp>
        <p:nvSpPr>
          <p:cNvPr id="8" name="TextBox 7">
            <a:extLst>
              <a:ext uri="{FF2B5EF4-FFF2-40B4-BE49-F238E27FC236}">
                <a16:creationId xmlns:a16="http://schemas.microsoft.com/office/drawing/2014/main" id="{449B6D52-1BED-1D20-A243-ED84FEAC0C6C}"/>
              </a:ext>
            </a:extLst>
          </p:cNvPr>
          <p:cNvSpPr txBox="1"/>
          <p:nvPr/>
        </p:nvSpPr>
        <p:spPr>
          <a:xfrm>
            <a:off x="10565848" y="6327338"/>
            <a:ext cx="742511" cy="369332"/>
          </a:xfrm>
          <a:prstGeom prst="rect">
            <a:avLst/>
          </a:prstGeom>
          <a:noFill/>
        </p:spPr>
        <p:txBody>
          <a:bodyPr wrap="none" rtlCol="0">
            <a:spAutoFit/>
          </a:bodyPr>
          <a:lstStyle/>
          <a:p>
            <a:r>
              <a:rPr lang="en-US" dirty="0"/>
              <a:t>94.60</a:t>
            </a:r>
          </a:p>
        </p:txBody>
      </p:sp>
      <p:sp>
        <p:nvSpPr>
          <p:cNvPr id="9" name="TextBox 8">
            <a:extLst>
              <a:ext uri="{FF2B5EF4-FFF2-40B4-BE49-F238E27FC236}">
                <a16:creationId xmlns:a16="http://schemas.microsoft.com/office/drawing/2014/main" id="{4FB91803-5CBE-B09F-328A-4FD957ED39AA}"/>
              </a:ext>
            </a:extLst>
          </p:cNvPr>
          <p:cNvSpPr txBox="1"/>
          <p:nvPr/>
        </p:nvSpPr>
        <p:spPr>
          <a:xfrm>
            <a:off x="480447" y="3095684"/>
            <a:ext cx="5615553" cy="3416320"/>
          </a:xfrm>
          <a:prstGeom prst="rect">
            <a:avLst/>
          </a:prstGeom>
          <a:noFill/>
        </p:spPr>
        <p:txBody>
          <a:bodyPr wrap="square" rtlCol="0">
            <a:spAutoFit/>
          </a:bodyPr>
          <a:lstStyle/>
          <a:p>
            <a:r>
              <a:rPr lang="en-US" dirty="0"/>
              <a:t>Interpretation (plain English):</a:t>
            </a:r>
          </a:p>
          <a:p>
            <a:r>
              <a:rPr lang="en-US" dirty="0"/>
              <a:t>All three sites have very similar fasting glucose distributions, with means around 95–97 mg/dL.</a:t>
            </a:r>
          </a:p>
          <a:p>
            <a:r>
              <a:rPr lang="en-US" dirty="0"/>
              <a:t>Roughly one-third of patients at each site fall in the impaired fasting glucose range (100–125 mg/dL).</a:t>
            </a:r>
          </a:p>
          <a:p>
            <a:r>
              <a:rPr lang="en-US" dirty="0"/>
              <a:t>Very few patients exceed the 126 mg/dL diabetes threshold (1–3%).</a:t>
            </a:r>
          </a:p>
          <a:p>
            <a:r>
              <a:rPr lang="en-US" dirty="0"/>
              <a:t>The Kruskal–Wallis test confirms there’s no statistically meaningful difference among the sites.</a:t>
            </a:r>
          </a:p>
          <a:p>
            <a:r>
              <a:rPr lang="en-US" dirty="0"/>
              <a:t>This suggests that any site-to-site variation in the dataset is minor and likely due to chance, not systematic issues in specimen handling or processing.</a:t>
            </a:r>
          </a:p>
        </p:txBody>
      </p:sp>
      <p:sp>
        <p:nvSpPr>
          <p:cNvPr id="10" name="TextBox 9">
            <a:extLst>
              <a:ext uri="{FF2B5EF4-FFF2-40B4-BE49-F238E27FC236}">
                <a16:creationId xmlns:a16="http://schemas.microsoft.com/office/drawing/2014/main" id="{A7107C82-03CC-2A1C-A2EE-8A9375517DFB}"/>
              </a:ext>
            </a:extLst>
          </p:cNvPr>
          <p:cNvSpPr txBox="1"/>
          <p:nvPr/>
        </p:nvSpPr>
        <p:spPr>
          <a:xfrm>
            <a:off x="480447" y="2726352"/>
            <a:ext cx="1442703" cy="369332"/>
          </a:xfrm>
          <a:prstGeom prst="rect">
            <a:avLst/>
          </a:prstGeom>
          <a:noFill/>
        </p:spPr>
        <p:txBody>
          <a:bodyPr wrap="none" rtlCol="0">
            <a:spAutoFit/>
          </a:bodyPr>
          <a:lstStyle/>
          <a:p>
            <a:r>
              <a:rPr lang="en-US" dirty="0"/>
              <a:t>SECOND TRY:</a:t>
            </a:r>
          </a:p>
        </p:txBody>
      </p:sp>
    </p:spTree>
    <p:extLst>
      <p:ext uri="{BB962C8B-B14F-4D97-AF65-F5344CB8AC3E}">
        <p14:creationId xmlns:p14="http://schemas.microsoft.com/office/powerpoint/2010/main" val="8077128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4BBEA-F147-2E52-4B53-C3D1BD058DC3}"/>
              </a:ext>
            </a:extLst>
          </p:cNvPr>
          <p:cNvSpPr>
            <a:spLocks noGrp="1"/>
          </p:cNvSpPr>
          <p:nvPr>
            <p:ph type="title"/>
          </p:nvPr>
        </p:nvSpPr>
        <p:spPr/>
        <p:txBody>
          <a:bodyPr/>
          <a:lstStyle/>
          <a:p>
            <a:r>
              <a:rPr lang="en-US" dirty="0"/>
              <a:t>Few shot prompting example</a:t>
            </a:r>
          </a:p>
        </p:txBody>
      </p:sp>
      <p:sp>
        <p:nvSpPr>
          <p:cNvPr id="3" name="Content Placeholder 2">
            <a:extLst>
              <a:ext uri="{FF2B5EF4-FFF2-40B4-BE49-F238E27FC236}">
                <a16:creationId xmlns:a16="http://schemas.microsoft.com/office/drawing/2014/main" id="{B773A6B2-0EC4-8714-9182-7D3749514BCD}"/>
              </a:ext>
            </a:extLst>
          </p:cNvPr>
          <p:cNvSpPr>
            <a:spLocks noGrp="1"/>
          </p:cNvSpPr>
          <p:nvPr>
            <p:ph idx="1"/>
          </p:nvPr>
        </p:nvSpPr>
        <p:spPr/>
        <p:txBody>
          <a:bodyPr/>
          <a:lstStyle/>
          <a:p>
            <a:pPr marL="287338" indent="-287338"/>
            <a:r>
              <a:rPr lang="en-US" dirty="0"/>
              <a:t>Aiming to train the model using examples of </a:t>
            </a:r>
            <a:r>
              <a:rPr lang="en-US" b="1" dirty="0"/>
              <a:t>different types of visualizations</a:t>
            </a:r>
            <a:r>
              <a:rPr lang="en-US" dirty="0"/>
              <a:t>, the model sees a broader </a:t>
            </a:r>
            <a:r>
              <a:rPr lang="en-US" b="1" dirty="0"/>
              <a:t>pattern of reasoning </a:t>
            </a:r>
            <a:r>
              <a:rPr lang="en-US" dirty="0"/>
              <a:t>vs learning a template for a specific type of model</a:t>
            </a:r>
          </a:p>
          <a:p>
            <a:pPr marL="287338" indent="-287338"/>
            <a:endParaRPr lang="en-US" i="1" dirty="0"/>
          </a:p>
          <a:p>
            <a:pPr marL="287338" indent="-287338"/>
            <a:r>
              <a:rPr lang="en-US" i="1" dirty="0"/>
              <a:t>Identify the analytical question → choose an appropriate chart → generate code → interpret results</a:t>
            </a:r>
            <a:endParaRPr lang="en-US" dirty="0"/>
          </a:p>
          <a:p>
            <a:pPr marL="0" indent="0">
              <a:buNone/>
            </a:pPr>
            <a:endParaRPr lang="en-US" dirty="0"/>
          </a:p>
        </p:txBody>
      </p:sp>
    </p:spTree>
    <p:extLst>
      <p:ext uri="{BB962C8B-B14F-4D97-AF65-F5344CB8AC3E}">
        <p14:creationId xmlns:p14="http://schemas.microsoft.com/office/powerpoint/2010/main" val="6495138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99219-323C-1B81-7F2E-4A0B58697E90}"/>
              </a:ext>
            </a:extLst>
          </p:cNvPr>
          <p:cNvSpPr>
            <a:spLocks noGrp="1"/>
          </p:cNvSpPr>
          <p:nvPr>
            <p:ph type="title"/>
          </p:nvPr>
        </p:nvSpPr>
        <p:spPr/>
        <p:txBody>
          <a:bodyPr/>
          <a:lstStyle/>
          <a:p>
            <a:r>
              <a:rPr lang="en-US" dirty="0"/>
              <a:t>Few shot prompting example</a:t>
            </a:r>
          </a:p>
        </p:txBody>
      </p:sp>
      <p:sp>
        <p:nvSpPr>
          <p:cNvPr id="3" name="Content Placeholder 2">
            <a:extLst>
              <a:ext uri="{FF2B5EF4-FFF2-40B4-BE49-F238E27FC236}">
                <a16:creationId xmlns:a16="http://schemas.microsoft.com/office/drawing/2014/main" id="{BE5BA1D0-112F-CFD1-424B-ACE68D453BA8}"/>
              </a:ext>
            </a:extLst>
          </p:cNvPr>
          <p:cNvSpPr>
            <a:spLocks noGrp="1"/>
          </p:cNvSpPr>
          <p:nvPr>
            <p:ph idx="1"/>
          </p:nvPr>
        </p:nvSpPr>
        <p:spPr>
          <a:xfrm>
            <a:off x="1024128" y="1747777"/>
            <a:ext cx="10143744" cy="4826643"/>
          </a:xfrm>
        </p:spPr>
        <p:txBody>
          <a:bodyPr>
            <a:noAutofit/>
          </a:bodyPr>
          <a:lstStyle/>
          <a:p>
            <a:pPr marL="0" indent="0">
              <a:buNone/>
            </a:pPr>
            <a:r>
              <a:rPr lang="en-US" sz="2000" dirty="0"/>
              <a:t>Example 1:</a:t>
            </a:r>
            <a:br>
              <a:rPr lang="en-US" sz="2000" dirty="0"/>
            </a:br>
            <a:r>
              <a:rPr lang="en-US" sz="2000" dirty="0"/>
              <a:t>Data: Potassium measurements from 200 patients across 4 locations.</a:t>
            </a:r>
            <a:br>
              <a:rPr lang="en-US" sz="2000" dirty="0"/>
            </a:br>
            <a:r>
              <a:rPr lang="en-US" sz="2000" dirty="0"/>
              <a:t>Task: Create side-by-side boxplots comparing locations.</a:t>
            </a:r>
            <a:br>
              <a:rPr lang="en-US" sz="2000" dirty="0"/>
            </a:br>
            <a:r>
              <a:rPr lang="en-US" sz="2000" dirty="0"/>
              <a:t>Expected Output: R code for </a:t>
            </a:r>
            <a:r>
              <a:rPr lang="en-US" sz="2000" dirty="0" err="1"/>
              <a:t>ggplot</a:t>
            </a:r>
            <a:r>
              <a:rPr lang="en-US" sz="2000" dirty="0"/>
              <a:t>, and a short interpretation noting if any site shows higher variability suggesting sample hemolysis.</a:t>
            </a:r>
          </a:p>
          <a:p>
            <a:pPr marL="0" indent="0">
              <a:buNone/>
            </a:pPr>
            <a:r>
              <a:rPr lang="en-US" sz="2000" dirty="0"/>
              <a:t>Example 2:</a:t>
            </a:r>
            <a:br>
              <a:rPr lang="en-US" sz="2000" dirty="0"/>
            </a:br>
            <a:r>
              <a:rPr lang="en-US" sz="2000" dirty="0"/>
              <a:t>Data: Troponin I QC results at 2 levels over 20 days.</a:t>
            </a:r>
            <a:br>
              <a:rPr lang="en-US" sz="2000" dirty="0"/>
            </a:br>
            <a:r>
              <a:rPr lang="en-US" sz="2000" dirty="0"/>
              <a:t>Task: Generate a Levey-Jennings plot with Westgard rule violations highlighted.</a:t>
            </a:r>
            <a:br>
              <a:rPr lang="en-US" sz="2000" dirty="0"/>
            </a:br>
            <a:r>
              <a:rPr lang="en-US" sz="2000" dirty="0"/>
              <a:t>Expected Output: R code and a short interpretation of QC stability.</a:t>
            </a:r>
          </a:p>
          <a:p>
            <a:pPr marL="0" indent="0">
              <a:buNone/>
            </a:pPr>
            <a:r>
              <a:rPr lang="en-US" sz="2000" dirty="0"/>
              <a:t>Now apply the same approach to this real case:</a:t>
            </a:r>
            <a:br>
              <a:rPr lang="en-US" sz="2000" dirty="0"/>
            </a:br>
            <a:r>
              <a:rPr lang="en-US" sz="2000" dirty="0"/>
              <a:t>Data: Use the provided CSV that contains fasting glucose results from 300 adult male and female patients collected at multiple hospital locations.</a:t>
            </a:r>
            <a:br>
              <a:rPr lang="en-US" sz="2000" dirty="0"/>
            </a:br>
            <a:r>
              <a:rPr lang="en-US" sz="2000" dirty="0"/>
              <a:t>Task: Create a visualization (boxplot or violin plot) comparing fasting glucose distributions across locations and highlights any significant insights or differences. Expected output: visualization, R code, and a short interpretation of distributions across sites.</a:t>
            </a:r>
          </a:p>
        </p:txBody>
      </p:sp>
    </p:spTree>
    <p:extLst>
      <p:ext uri="{BB962C8B-B14F-4D97-AF65-F5344CB8AC3E}">
        <p14:creationId xmlns:p14="http://schemas.microsoft.com/office/powerpoint/2010/main" val="28518071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56455-B97C-DCDF-0FA7-4BA33514FECB}"/>
              </a:ext>
            </a:extLst>
          </p:cNvPr>
          <p:cNvSpPr>
            <a:spLocks noGrp="1"/>
          </p:cNvSpPr>
          <p:nvPr>
            <p:ph type="title"/>
          </p:nvPr>
        </p:nvSpPr>
        <p:spPr/>
        <p:txBody>
          <a:bodyPr/>
          <a:lstStyle/>
          <a:p>
            <a:r>
              <a:rPr lang="en-US"/>
              <a:t>Future: Make it the best around</a:t>
            </a:r>
          </a:p>
        </p:txBody>
      </p:sp>
      <p:sp>
        <p:nvSpPr>
          <p:cNvPr id="3" name="Content Placeholder 2">
            <a:extLst>
              <a:ext uri="{FF2B5EF4-FFF2-40B4-BE49-F238E27FC236}">
                <a16:creationId xmlns:a16="http://schemas.microsoft.com/office/drawing/2014/main" id="{3F48E2B4-9123-4B3E-BF25-E61A4AED4DD4}"/>
              </a:ext>
            </a:extLst>
          </p:cNvPr>
          <p:cNvSpPr>
            <a:spLocks noGrp="1"/>
          </p:cNvSpPr>
          <p:nvPr>
            <p:ph idx="1"/>
          </p:nvPr>
        </p:nvSpPr>
        <p:spPr>
          <a:xfrm>
            <a:off x="838200" y="2084831"/>
            <a:ext cx="10515600" cy="4334629"/>
          </a:xfrm>
        </p:spPr>
        <p:txBody>
          <a:bodyPr vert="horz" lIns="91440" tIns="45720" rIns="91440" bIns="45720" rtlCol="0" anchor="t">
            <a:normAutofit fontScale="92500" lnSpcReduction="20000"/>
          </a:bodyPr>
          <a:lstStyle/>
          <a:p>
            <a:pPr marL="228600" indent="-228600"/>
            <a:r>
              <a:rPr lang="en-US" b="1" dirty="0"/>
              <a:t>Appropriate model selection</a:t>
            </a:r>
          </a:p>
          <a:p>
            <a:pPr marL="579438" lvl="2" indent="-268288"/>
            <a:r>
              <a:rPr lang="en-US" sz="2800" dirty="0"/>
              <a:t>Not all models are great at all tasks, tradeoffs and practical reasons</a:t>
            </a:r>
          </a:p>
          <a:p>
            <a:pPr marL="579438" lvl="2" indent="-268288"/>
            <a:r>
              <a:rPr lang="en-US" dirty="0"/>
              <a:t>General purpose or reasoning; what vendor (Google, OpenAI, Microsoft, Meta, Anthropic)</a:t>
            </a:r>
          </a:p>
          <a:p>
            <a:pPr marL="228600" indent="-228600"/>
            <a:r>
              <a:rPr lang="en-US" b="1" dirty="0"/>
              <a:t>Get more from general LLMs</a:t>
            </a:r>
            <a:endParaRPr lang="en-US" dirty="0"/>
          </a:p>
          <a:p>
            <a:pPr marL="579438" lvl="2" indent="-268288"/>
            <a:r>
              <a:rPr lang="en-US" sz="2800" dirty="0"/>
              <a:t>Customization</a:t>
            </a:r>
          </a:p>
          <a:p>
            <a:pPr marL="579438" lvl="2" indent="-268288"/>
            <a:r>
              <a:rPr lang="en-US" sz="2800" dirty="0"/>
              <a:t>Prompt engineering</a:t>
            </a:r>
          </a:p>
          <a:p>
            <a:pPr marL="579438" lvl="2" indent="-268288"/>
            <a:r>
              <a:rPr lang="en-US" sz="2800" dirty="0"/>
              <a:t>RAG and fine-tuning approaches</a:t>
            </a:r>
            <a:endParaRPr lang="en-US" b="1" dirty="0"/>
          </a:p>
          <a:p>
            <a:pPr marL="228600" indent="-228600"/>
            <a:r>
              <a:rPr lang="en-US" b="1" dirty="0"/>
              <a:t>Data quality</a:t>
            </a:r>
            <a:endParaRPr lang="en-US" dirty="0"/>
          </a:p>
          <a:p>
            <a:pPr marL="579438" lvl="2" indent="-268288"/>
            <a:r>
              <a:rPr lang="en-US" sz="2800" dirty="0"/>
              <a:t>Ensuring high-quality input data is crucial for accurate visualizations</a:t>
            </a:r>
          </a:p>
          <a:p>
            <a:pPr marL="579438" lvl="2" indent="-268288"/>
            <a:r>
              <a:rPr lang="en-US" sz="2800" dirty="0"/>
              <a:t>Preprocessing and cleaning data can help mitigate this issue</a:t>
            </a:r>
          </a:p>
        </p:txBody>
      </p:sp>
    </p:spTree>
    <p:extLst>
      <p:ext uri="{BB962C8B-B14F-4D97-AF65-F5344CB8AC3E}">
        <p14:creationId xmlns:p14="http://schemas.microsoft.com/office/powerpoint/2010/main" val="41975589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D306D-332E-23EB-91B6-ADB65DCCC3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142C70-CF1E-EF72-8CEB-C42DA88CE17C}"/>
              </a:ext>
            </a:extLst>
          </p:cNvPr>
          <p:cNvSpPr txBox="1"/>
          <p:nvPr/>
        </p:nvSpPr>
        <p:spPr>
          <a:xfrm>
            <a:off x="626225" y="201578"/>
            <a:ext cx="10939550" cy="6178999"/>
          </a:xfrm>
          <a:prstGeom prst="rect">
            <a:avLst/>
          </a:prstGeom>
          <a:noFill/>
        </p:spPr>
        <p:txBody>
          <a:bodyPr wrap="square" rtlCol="0">
            <a:spAutoFit/>
          </a:bodyPr>
          <a:lstStyle/>
          <a:p>
            <a:r>
              <a:rPr lang="en-US" sz="4000" dirty="0"/>
              <a:t>Lesson Goals</a:t>
            </a:r>
          </a:p>
          <a:p>
            <a:pPr marL="514350" marR="0" lvl="0" indent="-514350" rtl="0">
              <a:lnSpc>
                <a:spcPct val="107000"/>
              </a:lnSpc>
              <a:spcBef>
                <a:spcPts val="0"/>
              </a:spcBef>
              <a:spcAft>
                <a:spcPts val="0"/>
              </a:spcAft>
              <a:buFont typeface="+mj-lt"/>
              <a:buAutoNum type="arabicPeriod"/>
            </a:pPr>
            <a:r>
              <a:rPr lang="en-US" sz="3000" kern="100" dirty="0">
                <a:ea typeface="Calibri" panose="020F0502020204030204" pitchFamily="34" charset="0"/>
                <a:cs typeface="Arial" panose="020B0604020202020204" pitchFamily="34" charset="0"/>
              </a:rPr>
              <a:t>Develop computational thinking skills to more effectively utilize emerging digital technologies</a:t>
            </a:r>
          </a:p>
          <a:p>
            <a:pPr marR="0" lvl="0" rtl="0">
              <a:lnSpc>
                <a:spcPct val="107000"/>
              </a:lnSpc>
              <a:spcBef>
                <a:spcPts val="0"/>
              </a:spcBef>
              <a:spcAft>
                <a:spcPts val="0"/>
              </a:spcAft>
            </a:pPr>
            <a:endParaRPr lang="en-US" sz="3200" kern="100" dirty="0">
              <a:cs typeface="Arial" panose="020B0604020202020204" pitchFamily="34" charset="0"/>
            </a:endParaRPr>
          </a:p>
          <a:p>
            <a:pPr marR="0" lvl="0" rtl="0">
              <a:lnSpc>
                <a:spcPct val="107000"/>
              </a:lnSpc>
              <a:spcBef>
                <a:spcPts val="0"/>
              </a:spcBef>
              <a:spcAft>
                <a:spcPts val="0"/>
              </a:spcAft>
            </a:pPr>
            <a:r>
              <a:rPr lang="en-US" sz="4000" dirty="0"/>
              <a:t>Lesson Objectives</a:t>
            </a:r>
          </a:p>
          <a:p>
            <a:pPr marL="514350" indent="-514350">
              <a:buFontTx/>
              <a:buAutoNum type="arabicPeriod"/>
            </a:pPr>
            <a:r>
              <a:rPr lang="en-US" sz="3000" dirty="0"/>
              <a:t>Identify the key components of a complex problem and break it down into smaller, more manageable parts.</a:t>
            </a:r>
          </a:p>
          <a:p>
            <a:pPr marL="514350" indent="-514350">
              <a:buFontTx/>
              <a:buAutoNum type="arabicPeriod"/>
            </a:pPr>
            <a:r>
              <a:rPr lang="en-US" sz="3000" dirty="0"/>
              <a:t>Use patterns to predict future outcomes or generalize solutions.</a:t>
            </a:r>
          </a:p>
          <a:p>
            <a:pPr marL="514350" indent="-514350">
              <a:buFontTx/>
              <a:buAutoNum type="arabicPeriod"/>
            </a:pPr>
            <a:r>
              <a:rPr lang="en-US" sz="3000" dirty="0"/>
              <a:t>Create simplified models to represent complex systems.</a:t>
            </a:r>
          </a:p>
          <a:p>
            <a:pPr marL="514350" indent="-514350">
              <a:buFontTx/>
              <a:buAutoNum type="arabicPeriod"/>
            </a:pPr>
            <a:r>
              <a:rPr lang="en-US" sz="3000" dirty="0"/>
              <a:t>Design step-by-step instructions or algorithms to solve a problem.</a:t>
            </a:r>
          </a:p>
          <a:p>
            <a:pPr marL="514350" indent="-514350">
              <a:buFontTx/>
              <a:buAutoNum type="arabicPeriod"/>
            </a:pPr>
            <a:r>
              <a:rPr lang="en-US" sz="3000" dirty="0"/>
              <a:t>Describe basic coding concepts to better apply computational solutions.</a:t>
            </a:r>
          </a:p>
        </p:txBody>
      </p:sp>
    </p:spTree>
    <p:extLst>
      <p:ext uri="{BB962C8B-B14F-4D97-AF65-F5344CB8AC3E}">
        <p14:creationId xmlns:p14="http://schemas.microsoft.com/office/powerpoint/2010/main" val="6539580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Warm-up: build your subset</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dirty="0" sz="3600" b="1">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dirty="0" sz="1800" b="1">
                <a:solidFill>
                  <a:srgbClr val="1B7FA6"/>
                </a:solidFill>
              </a:rPr>
              <a:t>Coding concepts (Objective 5): objects, vectors, functions, the pipe</a:t>
            </a:r>
          </a:p>
        </p:txBody>
      </p:sp>
      <p:sp>
        <p:nvSpPr>
          <p:cNvPr id="14" name="TextBox 14"/>
          <p:cNvSpPr txBox="1"/>
          <p:nvPr/>
        </p:nvSpPr>
        <p:spPr>
          <a:xfrm>
            <a:off x="1024128" y="2423160"/>
            <a:ext cx="5394960" cy="338328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dirty="0" sz="1800"/>
              <a:t>Open learner_workbook.R in RStudio.</a:t>
            </a:r>
          </a:p>
          <a:p>
            <a:pPr marL="457200" lvl="0" indent="-457200">
              <a:spcAft>
                <a:spcPts val="600"/>
              </a:spcAft>
              <a:buFont typeface="+mj-lt"/>
              <a:buAutoNum type="arabicPeriod"/>
            </a:pPr>
            <a:r>
              <a:rPr lang="en-US" dirty="0" sz="1800" b="1"/>
              <a:t>Session &gt; Set Working Directory &gt; To Source File Location</a:t>
            </a:r>
          </a:p>
          <a:p>
            <a:pPr marL="457200" lvl="0" indent="-457200">
              <a:spcAft>
                <a:spcPts val="600"/>
              </a:spcAft>
              <a:buFont typeface="+mj-lt"/>
              <a:buAutoNum type="arabicPeriod"/>
            </a:pPr>
            <a:r>
              <a:rPr lang="en-US" dirty="0" sz="1800"/>
              <a:t>In Part 0, pick 3 to 6 tests. Fill in the blanks.</a:t>
            </a:r>
          </a:p>
          <a:p>
            <a:pPr marL="457200" lvl="0" indent="-457200">
              <a:spcAft>
                <a:spcPts val="600"/>
              </a:spcAft>
              <a:buFont typeface="+mj-lt"/>
              <a:buAutoNum type="arabicPeriod"/>
            </a:pPr>
            <a:r>
              <a:rPr lang="en-US" dirty="0" sz="1800"/>
              <a:t>Run Part 0 one section at a time (Ctrl/Cmd + Enter).</a:t>
            </a:r>
          </a:p>
          <a:p>
            <a:pPr marL="457200" lvl="0" indent="-457200">
              <a:spcAft>
                <a:spcPts val="600"/>
              </a:spcAft>
              <a:buFont typeface="+mj-lt"/>
              <a:buAutoNum type="arabicPeriod"/>
            </a:pPr>
            <a:r>
              <a:rPr lang="en-US" dirty="0" sz="1800"/>
              <a:t>Check: rows = 6,481 × number of tests you kept.</a:t>
            </a:r>
          </a:p>
        </p:txBody>
      </p:sp>
      <p:sp>
        <p:nvSpPr>
          <p:cNvPr id="15" name="TextBox 15"/>
          <p:cNvSpPr txBox="1"/>
          <p:nvPr/>
        </p:nvSpPr>
        <p:spPr>
          <a:xfrm>
            <a:off x="6629400" y="2514600"/>
            <a:ext cx="4526280" cy="2377440"/>
          </a:xfrm>
          <a:prstGeom prst="rect">
            <a:avLst/>
          </a:prstGeom>
          <a:solidFill>
            <a:srgbClr val="EEF3F6"/>
          </a:solidFill>
        </p:spPr>
        <p:txBody>
          <a:bodyPr wrap="square" lIns="137160" tIns="137160" rIns="137160" bIns="137160" rtlCol="0" anchor="t">
            <a:normAutofit/>
          </a:bodyPr>
          <a:lstStyle/>
          <a:p>
            <a:pPr marL="0" indent="0">
              <a:buNone/>
            </a:pPr>
            <a:r>
              <a:rPr lang="en-US" dirty="0" sz="1400">
                <a:solidFill>
                  <a:srgbClr val="1F2A30"/>
                </a:solidFill>
                <a:latin typeface="Courier New"/>
                <a:cs typeface="Courier New"/>
              </a:rPr>
              <a:t>tests_keep &lt;- c("glucose",</a:t>
            </a:r>
          </a:p>
          <a:p>
            <a:pPr marL="0" indent="0">
              <a:buNone/>
            </a:pPr>
            <a:r>
              <a:rPr lang="en-US" dirty="0" sz="1400">
                <a:solidFill>
                  <a:srgbClr val="1F2A30"/>
                </a:solidFill>
                <a:latin typeface="Courier New"/>
                <a:cs typeface="Courier New"/>
              </a:rPr>
              <a:t xml:space="preserve">                ___, ___)</a:t>
            </a:r>
          </a:p>
          <a:p>
            <a:pPr marL="0" indent="0">
              <a:buNone/>
            </a:pPr>
            <a:r>
              <a:rPr lang="en-US" dirty="0" sz="1400">
                <a:solidFill>
                  <a:srgbClr val="1F2A30"/>
                </a:solidFill>
                <a:latin typeface="Courier New"/>
                <a:cs typeface="Courier New"/>
              </a:rPr>
              <a:t xml:space="preserve"> </a:t>
            </a:r>
          </a:p>
          <a:p>
            <a:pPr marL="0" indent="0">
              <a:buNone/>
            </a:pPr>
            <a:r>
              <a:rPr lang="en-US" dirty="0" sz="1400">
                <a:solidFill>
                  <a:srgbClr val="1F2A30"/>
                </a:solidFill>
                <a:latin typeface="Courier New"/>
                <a:cs typeface="Courier New"/>
              </a:rPr>
              <a:t>read_csv("chem_data.csv") |&gt;</a:t>
            </a:r>
          </a:p>
          <a:p>
            <a:pPr marL="0" indent="0">
              <a:buNone/>
            </a:pPr>
            <a:r>
              <a:rPr lang="en-US" dirty="0" sz="1400">
                <a:solidFill>
                  <a:srgbClr val="1F2A30"/>
                </a:solidFill>
                <a:latin typeface="Courier New"/>
                <a:cs typeface="Courier New"/>
              </a:rPr>
              <a:t xml:space="preserve">  filter(test %in% tests_keep) |&gt;</a:t>
            </a:r>
          </a:p>
          <a:p>
            <a:pPr marL="0" indent="0">
              <a:buNone/>
            </a:pPr>
            <a:r>
              <a:rPr lang="en-US" dirty="0" sz="1400">
                <a:solidFill>
                  <a:srgbClr val="1F2A30"/>
                </a:solidFill>
                <a:latin typeface="Courier New"/>
                <a:cs typeface="Courier New"/>
              </a:rPr>
              <a:t xml:space="preserve">  write_csv("chem_subset.csv")</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Cold prompt</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dirty="0" sz="3600" b="1">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dirty="0" sz="1800" b="1">
                <a:solidFill>
                  <a:srgbClr val="1B7FA6"/>
                </a:solidFill>
              </a:rPr>
              <a:t>Why computational thinking matters</a:t>
            </a:r>
          </a:p>
        </p:txBody>
      </p:sp>
      <p:sp>
        <p:nvSpPr>
          <p:cNvPr id="14" name="TextBox 14"/>
          <p:cNvSpPr txBox="1"/>
          <p:nvPr/>
        </p:nvSpPr>
        <p:spPr>
          <a:xfrm>
            <a:off x="1024128" y="2423160"/>
            <a:ext cx="5669280" cy="338328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dirty="0" sz="1800"/>
              <a:t>Open claude.ai and start a new chat.</a:t>
            </a:r>
          </a:p>
          <a:p>
            <a:pPr marL="457200" lvl="0" indent="-457200">
              <a:spcAft>
                <a:spcPts val="600"/>
              </a:spcAft>
              <a:buFont typeface="+mj-lt"/>
              <a:buAutoNum type="arabicPeriod"/>
            </a:pPr>
            <a:r>
              <a:rPr lang="en-US" dirty="0" sz="1800"/>
              <a:t>Type the prompt on the right. Nothing else.</a:t>
            </a:r>
          </a:p>
          <a:p>
            <a:pPr marL="457200" lvl="0" indent="-457200">
              <a:spcAft>
                <a:spcPts val="600"/>
              </a:spcAft>
              <a:buFont typeface="+mj-lt"/>
              <a:buAutoNum type="arabicPeriod"/>
            </a:pPr>
            <a:r>
              <a:rPr lang="en-US" dirty="0" sz="1800"/>
              <a:t>Paste Claude's code under COLD PROMPT in your workbook. Run it.</a:t>
            </a:r>
          </a:p>
          <a:p>
            <a:pPr marL="457200" lvl="0" indent="-457200">
              <a:spcAft>
                <a:spcPts val="600"/>
              </a:spcAft>
              <a:buFont typeface="+mj-lt"/>
              <a:buAutoNum type="arabicPeriod"/>
            </a:pPr>
            <a:r>
              <a:rPr lang="en-US" dirty="0" sz="1800"/>
              <a:t>What happened? Did Claude know your column names? Your question?</a:t>
            </a:r>
          </a:p>
          <a:p>
            <a:pPr marL="457200" lvl="0" indent="-457200">
              <a:spcAft>
                <a:spcPts val="600"/>
              </a:spcAft>
              <a:buFont typeface="+mj-lt"/>
              <a:buAutoNum type="arabicPeriod"/>
            </a:pPr>
            <a:r>
              <a:rPr lang="en-US" dirty="0" sz="1800"/>
              <a:t>Save this prompt. We come back to it at the end.</a:t>
            </a:r>
          </a:p>
        </p:txBody>
      </p:sp>
      <p:sp>
        <p:nvSpPr>
          <p:cNvPr id="15" name="TextBox 15"/>
          <p:cNvSpPr txBox="1"/>
          <p:nvPr/>
        </p:nvSpPr>
        <p:spPr>
          <a:xfrm>
            <a:off x="6903720" y="2514600"/>
            <a:ext cx="4251960" cy="1097280"/>
          </a:xfrm>
          <a:prstGeom prst="rect">
            <a:avLst/>
          </a:prstGeom>
          <a:solidFill>
            <a:srgbClr val="EEF3F6"/>
          </a:solidFill>
        </p:spPr>
        <p:txBody>
          <a:bodyPr wrap="square" lIns="137160" tIns="137160" rIns="137160" bIns="137160" rtlCol="0" anchor="t">
            <a:normAutofit/>
          </a:bodyPr>
          <a:lstStyle/>
          <a:p>
            <a:pPr marL="0" indent="0">
              <a:buNone/>
            </a:pPr>
            <a:r>
              <a:rPr lang="en-US" dirty="0" sz="1800">
                <a:solidFill>
                  <a:srgbClr val="1F2A30"/>
                </a:solidFill>
                <a:latin typeface="Courier New"/>
                <a:cs typeface="Courier New"/>
              </a:rPr>
              <a:t>Write R code to analyze</a:t>
            </a:r>
          </a:p>
          <a:p>
            <a:pPr marL="0" indent="0">
              <a:buNone/>
            </a:pPr>
            <a:r>
              <a:rPr lang="en-US" dirty="0" sz="1800">
                <a:solidFill>
                  <a:srgbClr val="1F2A30"/>
                </a:solidFill>
                <a:latin typeface="Courier New"/>
                <a:cs typeface="Courier New"/>
              </a:rPr>
              <a:t>my lab chemistry data.</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From loops to group_by()</a:t>
            </a:r>
          </a:p>
        </p:txBody>
      </p:sp>
      <p:sp>
        <p:nvSpPr>
          <p:cNvPr id="12" name="TextBox 12"/>
          <p:cNvSpPr txBox="1"/>
          <p:nvPr/>
        </p:nvSpPr>
        <p:spPr>
          <a:xfrm>
            <a:off x="1024128" y="1965960"/>
            <a:ext cx="9692640" cy="384048"/>
          </a:xfrm>
          <a:prstGeom prst="rect">
            <a:avLst/>
          </a:prstGeom>
          <a:noFill/>
        </p:spPr>
        <p:txBody>
          <a:bodyPr wrap="square" lIns="0" tIns="0" rIns="0" bIns="0" rtlCol="0" anchor="t"/>
          <a:lstStyle/>
          <a:p>
            <a:r>
              <a:rPr lang="en-US" dirty="0" sz="1800" b="1">
                <a:solidFill>
                  <a:srgbClr val="1B7FA6"/>
                </a:solidFill>
              </a:rPr>
              <a:t>Coding concepts (Objective 5): loops, grouping, summarizing</a:t>
            </a:r>
          </a:p>
        </p:txBody>
      </p:sp>
      <p:sp>
        <p:nvSpPr>
          <p:cNvPr id="13" name="TextBox 13"/>
          <p:cNvSpPr txBox="1"/>
          <p:nvPr/>
        </p:nvSpPr>
        <p:spPr>
          <a:xfrm>
            <a:off x="1024128" y="2423160"/>
            <a:ext cx="5394960" cy="3383280"/>
          </a:xfrm>
          <a:prstGeom prst="rect">
            <a:avLst/>
          </a:prstGeom>
          <a:noFill/>
        </p:spPr>
        <p:txBody>
          <a:bodyPr wrap="square" lIns="91440" tIns="91440" rIns="91440" bIns="91440" rtlCol="0" anchor="t">
            <a:normAutofit/>
          </a:bodyPr>
          <a:lstStyle/>
          <a:p>
            <a:pPr marL="285750" lvl="0" indent="-285750">
              <a:spcAft>
                <a:spcPts val="600"/>
              </a:spcAft>
              <a:buFont typeface="Arial"/>
              <a:buChar char="•"/>
            </a:pPr>
            <a:r>
              <a:rPr lang="en-US" dirty="0" sz="1800" b="1"/>
              <a:t xml:space="preserve">Cupcakes: </a:t>
            </a:r>
            <a:r>
              <a:rPr lang="en-US" dirty="0" sz="1800"/>
              <a:t>sort the cupcakes onto trays by flavor. Then count and taste each tray.</a:t>
            </a:r>
          </a:p>
          <a:p>
            <a:pPr marL="285750" lvl="0" indent="-285750">
              <a:spcAft>
                <a:spcPts val="600"/>
              </a:spcAft>
              <a:buFont typeface="Arial"/>
              <a:buChar char="•"/>
            </a:pPr>
            <a:r>
              <a:rPr lang="en-US" dirty="0" sz="1800" b="1"/>
              <a:t xml:space="preserve">R: </a:t>
            </a:r>
            <a:r>
              <a:rPr lang="en-US" dirty="0" sz="1800">
                <a:latin typeface="Courier New"/>
                <a:cs typeface="Courier New"/>
              </a:rPr>
              <a:t>group_by()</a:t>
            </a:r>
            <a:r>
              <a:rPr lang="en-US" dirty="0" sz="1800"/>
              <a:t xml:space="preserve"> sorts rows onto trays. </a:t>
            </a:r>
            <a:r>
              <a:rPr lang="en-US" dirty="0" sz="1800">
                <a:latin typeface="Courier New"/>
                <a:cs typeface="Courier New"/>
              </a:rPr>
              <a:t>summarize()</a:t>
            </a:r>
            <a:r>
              <a:rPr lang="en-US" dirty="0" sz="1800"/>
              <a:t xml:space="preserve"> does the math once per tray.</a:t>
            </a:r>
          </a:p>
          <a:p>
            <a:pPr marL="285750" lvl="0" indent="-285750">
              <a:spcAft>
                <a:spcPts val="600"/>
              </a:spcAft>
              <a:buFont typeface="Arial"/>
              <a:buChar char="•"/>
            </a:pPr>
            <a:r>
              <a:rPr lang="en-US" dirty="0" sz="1800"/>
              <a:t>You write the step once. R repeats it for every group. No loop to write.</a:t>
            </a:r>
          </a:p>
          <a:p>
            <a:pPr marL="285750" lvl="0" indent="-285750">
              <a:spcAft>
                <a:spcPts val="600"/>
              </a:spcAft>
              <a:buFont typeface="Arial"/>
              <a:buChar char="•"/>
            </a:pPr>
            <a:r>
              <a:rPr lang="en-US" dirty="0" sz="1800"/>
              <a:t>This is pattern recognition turned into code.</a:t>
            </a:r>
          </a:p>
        </p:txBody>
      </p:sp>
      <p:sp>
        <p:nvSpPr>
          <p:cNvPr id="14" name="TextBox 14"/>
          <p:cNvSpPr txBox="1"/>
          <p:nvPr/>
        </p:nvSpPr>
        <p:spPr>
          <a:xfrm>
            <a:off x="6629400" y="2514600"/>
            <a:ext cx="4526280" cy="1828800"/>
          </a:xfrm>
          <a:prstGeom prst="rect">
            <a:avLst/>
          </a:prstGeom>
          <a:solidFill>
            <a:srgbClr val="EEF3F6"/>
          </a:solidFill>
        </p:spPr>
        <p:txBody>
          <a:bodyPr wrap="square" lIns="137160" tIns="137160" rIns="137160" bIns="137160" rtlCol="0" anchor="t">
            <a:normAutofit/>
          </a:bodyPr>
          <a:lstStyle/>
          <a:p>
            <a:pPr marL="0" indent="0">
              <a:buNone/>
            </a:pPr>
            <a:r>
              <a:rPr lang="en-US" dirty="0" sz="1500">
                <a:solidFill>
                  <a:srgbClr val="1F2A30"/>
                </a:solidFill>
                <a:latin typeface="Courier New"/>
                <a:cs typeface="Courier New"/>
              </a:rPr>
              <a:t>chem |&gt;</a:t>
            </a:r>
          </a:p>
          <a:p>
            <a:pPr marL="0" indent="0">
              <a:buNone/>
            </a:pPr>
            <a:r>
              <a:rPr lang="en-US" dirty="0" sz="1500">
                <a:solidFill>
                  <a:srgbClr val="1F2A30"/>
                </a:solidFill>
                <a:latin typeface="Courier New"/>
                <a:cs typeface="Courier New"/>
              </a:rPr>
              <a:t xml:space="preserve">  group_by(pat_type) |&gt;</a:t>
            </a:r>
          </a:p>
          <a:p>
            <a:pPr marL="0" indent="0">
              <a:buNone/>
            </a:pPr>
            <a:r>
              <a:rPr lang="en-US" dirty="0" sz="1500">
                <a:solidFill>
                  <a:srgbClr val="1F2A30"/>
                </a:solidFill>
                <a:latin typeface="Courier New"/>
                <a:cs typeface="Courier New"/>
              </a:rPr>
              <a:t xml:space="preserve">  summarize(</a:t>
            </a:r>
          </a:p>
          <a:p>
            <a:pPr marL="0" indent="0">
              <a:buNone/>
            </a:pPr>
            <a:r>
              <a:rPr lang="en-US" dirty="0" sz="1500">
                <a:solidFill>
                  <a:srgbClr val="1F2A30"/>
                </a:solidFill>
                <a:latin typeface="Courier New"/>
                <a:cs typeface="Courier New"/>
              </a:rPr>
              <a:t xml:space="preserve">    median_value = median(value)</a:t>
            </a:r>
          </a:p>
          <a:p>
            <a:pPr marL="0" indent="0">
              <a:buNone/>
            </a:pPr>
            <a:r>
              <a:rPr lang="en-US" dirty="0" sz="1500">
                <a:solidFill>
                  <a:srgbClr val="1F2A30"/>
                </a:solidFill>
                <a:latin typeface="Courier New"/>
                <a:cs typeface="Courier New"/>
              </a:rPr>
              <a:t xml:space="preserve">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Does this make sense?</a:t>
            </a:r>
          </a:p>
        </p:txBody>
      </p:sp>
      <p:sp>
        <p:nvSpPr>
          <p:cNvPr id="12" name="TextBox 12"/>
          <p:cNvSpPr txBox="1"/>
          <p:nvPr/>
        </p:nvSpPr>
        <p:spPr>
          <a:xfrm>
            <a:off x="8778240" y="109728"/>
            <a:ext cx="3017520" cy="566928"/>
          </a:xfrm>
          <a:prstGeom prst="rect">
            <a:avLst/>
          </a:prstGeom>
          <a:noFill/>
        </p:spPr>
        <p:txBody>
          <a:bodyPr wrap="square" lIns="0" tIns="0" rIns="0" bIns="0" rtlCol="0" anchor="t"/>
          <a:lstStyle/>
          <a:p>
            <a:pPr algn="r"/>
            <a:r>
              <a:rPr lang="en-US" dirty="0" sz="3600" b="1">
                <a:solidFill>
                  <a:srgbClr val="1CADE4"/>
                </a:solidFill>
              </a:rPr>
              <a:t>Exercise</a:t>
            </a:r>
          </a:p>
        </p:txBody>
      </p:sp>
      <p:sp>
        <p:nvSpPr>
          <p:cNvPr id="13" name="TextBox 13"/>
          <p:cNvSpPr txBox="1"/>
          <p:nvPr/>
        </p:nvSpPr>
        <p:spPr>
          <a:xfrm>
            <a:off x="1024128" y="1965960"/>
            <a:ext cx="9692640" cy="384048"/>
          </a:xfrm>
          <a:prstGeom prst="rect">
            <a:avLst/>
          </a:prstGeom>
          <a:noFill/>
        </p:spPr>
        <p:txBody>
          <a:bodyPr wrap="square" lIns="0" tIns="0" rIns="0" bIns="0" rtlCol="0" anchor="t"/>
          <a:lstStyle/>
          <a:p>
            <a:r>
              <a:rPr lang="en-US" dirty="0" sz="1800" b="1">
                <a:solidFill>
                  <a:srgbClr val="1B7FA6"/>
                </a:solidFill>
              </a:rPr>
              <a:t>Objective 5: Apply coding concepts to check a solution</a:t>
            </a:r>
          </a:p>
        </p:txBody>
      </p:sp>
      <p:sp>
        <p:nvSpPr>
          <p:cNvPr id="14" name="TextBox 14"/>
          <p:cNvSpPr txBox="1"/>
          <p:nvPr/>
        </p:nvSpPr>
        <p:spPr>
          <a:xfrm>
            <a:off x="1024128" y="2423160"/>
            <a:ext cx="9692640" cy="3474720"/>
          </a:xfrm>
          <a:prstGeom prst="rect">
            <a:avLst/>
          </a:prstGeom>
          <a:noFill/>
        </p:spPr>
        <p:txBody>
          <a:bodyPr wrap="square" lIns="91440" tIns="91440" rIns="91440" bIns="91440" rtlCol="0" anchor="t">
            <a:normAutofit/>
          </a:bodyPr>
          <a:lstStyle/>
          <a:p>
            <a:pPr marL="457200" lvl="0" indent="-457200">
              <a:spcAft>
                <a:spcPts val="600"/>
              </a:spcAft>
              <a:buFont typeface="+mj-lt"/>
              <a:buAutoNum type="arabicPeriod"/>
            </a:pPr>
            <a:r>
              <a:rPr lang="en-US" dirty="0" sz="1700"/>
              <a:t>Run the sense checks at the end of your workbook.</a:t>
            </a:r>
          </a:p>
          <a:p>
            <a:pPr marL="457200" lvl="0" indent="-457200">
              <a:spcAft>
                <a:spcPts val="600"/>
              </a:spcAft>
              <a:buFont typeface="+mj-lt"/>
              <a:buAutoNum type="arabicPeriod"/>
            </a:pPr>
            <a:r>
              <a:rPr lang="en-US" dirty="0" sz="1700"/>
              <a:t>Add up the patient counts in your table. Do they equal 6,481?</a:t>
            </a:r>
          </a:p>
          <a:p>
            <a:pPr marL="457200" lvl="0" indent="-457200">
              <a:spcAft>
                <a:spcPts val="600"/>
              </a:spcAft>
              <a:buFont typeface="+mj-lt"/>
              <a:buAutoNum type="arabicPeriod"/>
            </a:pPr>
            <a:r>
              <a:rPr lang="en-US" dirty="0" sz="1700"/>
              <a:t>Ask Claude to explain your code line by line. Could you explain it to a colleague?</a:t>
            </a:r>
          </a:p>
          <a:p>
            <a:pPr marL="457200" lvl="0" indent="-457200">
              <a:spcAft>
                <a:spcPts val="600"/>
              </a:spcAft>
              <a:buFont typeface="+mj-lt"/>
              <a:buAutoNum type="arabicPeriod"/>
            </a:pPr>
            <a:r>
              <a:rPr lang="en-US" dirty="0" sz="1700"/>
              <a:t>Do the results support the ICU complaint? If not, what would you check next?</a:t>
            </a:r>
          </a:p>
          <a:p>
            <a:pPr marL="457200" lvl="0" indent="-457200">
              <a:spcAft>
                <a:spcPts val="600"/>
              </a:spcAft>
              <a:buFont typeface="+mj-lt"/>
              <a:buAutoNum type="arabicPeriod"/>
            </a:pPr>
            <a:r>
              <a:rPr lang="en-US" dirty="0" sz="1700"/>
              <a:t>Put your cold prompt next to your final prompt. What changed?</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The grain trap</a:t>
            </a:r>
          </a:p>
        </p:txBody>
      </p:sp>
      <p:sp>
        <p:nvSpPr>
          <p:cNvPr id="12" name="TextBox 12"/>
          <p:cNvSpPr txBox="1"/>
          <p:nvPr/>
        </p:nvSpPr>
        <p:spPr>
          <a:xfrm>
            <a:off x="1024128" y="2103120"/>
            <a:ext cx="5669280" cy="2834640"/>
          </a:xfrm>
          <a:prstGeom prst="rect">
            <a:avLst/>
          </a:prstGeom>
          <a:solidFill>
            <a:srgbClr val="EEF3F6"/>
          </a:solidFill>
        </p:spPr>
        <p:txBody>
          <a:bodyPr wrap="square" lIns="137160" tIns="137160" rIns="137160" bIns="137160" rtlCol="0" anchor="t">
            <a:normAutofit/>
          </a:bodyPr>
          <a:lstStyle/>
          <a:p>
            <a:pPr marL="0" indent="0">
              <a:buNone/>
            </a:pPr>
            <a:r>
              <a:rPr lang="en-US" dirty="0" sz="1400">
                <a:solidFill>
                  <a:srgbClr val="1F2A30"/>
                </a:solidFill>
                <a:latin typeface="Courier New"/>
                <a:cs typeface="Courier New"/>
              </a:rPr>
              <a:t># Counting rows (wrong)</a:t>
            </a:r>
          </a:p>
          <a:p>
            <a:pPr marL="0" indent="0">
              <a:buNone/>
            </a:pPr>
            <a:r>
              <a:rPr lang="en-US" dirty="0" sz="1400">
                <a:solidFill>
                  <a:srgbClr val="1F2A30"/>
                </a:solidFill>
                <a:latin typeface="Courier New"/>
                <a:cs typeface="Courier New"/>
              </a:rPr>
              <a:t xml:space="preserve">  pat_type      n  median_col_rec</a:t>
            </a:r>
          </a:p>
          <a:p>
            <a:pPr marL="0" indent="0">
              <a:buNone/>
            </a:pPr>
            <a:r>
              <a:rPr lang="en-US" dirty="0" sz="1400">
                <a:solidFill>
                  <a:srgbClr val="1F2A30"/>
                </a:solidFill>
                <a:latin typeface="Courier New"/>
                <a:cs typeface="Courier New"/>
              </a:rPr>
              <a:t>3 icu        6618            1.04</a:t>
            </a:r>
          </a:p>
          <a:p>
            <a:pPr marL="0" indent="0">
              <a:buNone/>
            </a:pPr>
            <a:r>
              <a:rPr lang="en-US" dirty="0" sz="1400">
                <a:solidFill>
                  <a:srgbClr val="1F2A30"/>
                </a:solidFill>
                <a:latin typeface="Courier New"/>
                <a:cs typeface="Courier New"/>
              </a:rPr>
              <a:t xml:space="preserve"> </a:t>
            </a:r>
          </a:p>
          <a:p>
            <a:pPr marL="0" indent="0">
              <a:buNone/>
            </a:pPr>
            <a:r>
              <a:rPr lang="en-US" dirty="0" sz="1400">
                <a:solidFill>
                  <a:srgbClr val="1F2A30"/>
                </a:solidFill>
                <a:latin typeface="Courier New"/>
                <a:cs typeface="Courier New"/>
              </a:rPr>
              <a:t># One row per patient (right)</a:t>
            </a:r>
          </a:p>
          <a:p>
            <a:pPr marL="0" indent="0">
              <a:buNone/>
            </a:pPr>
            <a:r>
              <a:rPr lang="en-US" dirty="0" sz="1400">
                <a:solidFill>
                  <a:srgbClr val="1F2A30"/>
                </a:solidFill>
                <a:latin typeface="Courier New"/>
                <a:cs typeface="Courier New"/>
              </a:rPr>
              <a:t xml:space="preserve">  pat_type  n_patients  median_col_rec</a:t>
            </a:r>
          </a:p>
          <a:p>
            <a:pPr marL="0" indent="0">
              <a:buNone/>
            </a:pPr>
            <a:r>
              <a:rPr lang="en-US" dirty="0" sz="1400">
                <a:solidFill>
                  <a:srgbClr val="1F2A30"/>
                </a:solidFill>
                <a:latin typeface="Courier New"/>
                <a:cs typeface="Courier New"/>
              </a:rPr>
              <a:t>5 icu             1103            1.04</a:t>
            </a:r>
          </a:p>
        </p:txBody>
      </p:sp>
      <p:sp>
        <p:nvSpPr>
          <p:cNvPr id="13" name="TextBox 13"/>
          <p:cNvSpPr txBox="1"/>
          <p:nvPr/>
        </p:nvSpPr>
        <p:spPr>
          <a:xfrm>
            <a:off x="6949440" y="2103120"/>
            <a:ext cx="4206240" cy="3657600"/>
          </a:xfrm>
          <a:prstGeom prst="rect">
            <a:avLst/>
          </a:prstGeom>
          <a:noFill/>
        </p:spPr>
        <p:txBody>
          <a:bodyPr wrap="square" lIns="91440" tIns="91440" rIns="91440" bIns="91440" rtlCol="0" anchor="t">
            <a:normAutofit/>
          </a:bodyPr>
          <a:lstStyle/>
          <a:p>
            <a:pPr marL="285750" lvl="0" indent="-285750">
              <a:spcAft>
                <a:spcPts val="600"/>
              </a:spcAft>
              <a:buFont typeface="Arial"/>
              <a:buChar char="•"/>
            </a:pPr>
            <a:r>
              <a:rPr lang="en-US" dirty="0" sz="1700"/>
              <a:t>TAT repeats on every test row for the same patient.</a:t>
            </a:r>
          </a:p>
          <a:p>
            <a:pPr marL="285750" lvl="0" indent="-285750">
              <a:spcAft>
                <a:spcPts val="600"/>
              </a:spcAft>
              <a:buFont typeface="Arial"/>
              <a:buChar char="•"/>
            </a:pPr>
            <a:r>
              <a:rPr lang="en-US" dirty="0" sz="1700"/>
              <a:t>Counting rows counts each patient once per test. With 6 tests, n is 6 times too big.</a:t>
            </a:r>
          </a:p>
          <a:p>
            <a:pPr marL="285750" lvl="0" indent="-285750">
              <a:spcAft>
                <a:spcPts val="600"/>
              </a:spcAft>
              <a:buFont typeface="Arial"/>
              <a:buChar char="•"/>
            </a:pPr>
            <a:r>
              <a:rPr lang="en-US" dirty="0" sz="1700"/>
              <a:t>The medians still look right. Only n gives it away.</a:t>
            </a:r>
          </a:p>
          <a:p>
            <a:pPr marL="285750" lvl="0" indent="-285750">
              <a:spcAft>
                <a:spcPts val="600"/>
              </a:spcAft>
              <a:buFont typeface="Arial"/>
              <a:buChar char="•"/>
            </a:pPr>
            <a:r>
              <a:rPr lang="en-US" dirty="0" sz="1700" b="1"/>
              <a:t xml:space="preserve">Fix: </a:t>
            </a:r>
            <a:r>
              <a:rPr lang="en-US" dirty="0" sz="1700">
                <a:latin typeface="Courier New"/>
                <a:cs typeface="Courier New"/>
              </a:rPr>
              <a:t>distinct(mrn, .keep_all = TRUE)</a:t>
            </a:r>
            <a:r>
              <a:rPr lang="en-US" dirty="0" sz="1700"/>
              <a:t xml:space="preserve"> first.</a:t>
            </a:r>
          </a:p>
        </p:txBody>
      </p:sp>
      <p:sp>
        <p:nvSpPr>
          <p:cNvPr id="14" name="TextBox 14"/>
          <p:cNvSpPr txBox="1"/>
          <p:nvPr/>
        </p:nvSpPr>
        <p:spPr>
          <a:xfrm>
            <a:off x="1024128" y="5257800"/>
            <a:ext cx="5669280" cy="548640"/>
          </a:xfrm>
          <a:prstGeom prst="rect">
            <a:avLst/>
          </a:prstGeom>
          <a:noFill/>
        </p:spPr>
        <p:txBody>
          <a:bodyPr wrap="square" lIns="0" tIns="0" rIns="0" bIns="0" rtlCol="0" anchor="t">
            <a:normAutofit/>
          </a:bodyPr>
          <a:lstStyle/>
          <a:p>
            <a:pPr marL="0" indent="0">
              <a:spcAft>
                <a:spcPts val="0"/>
              </a:spcAft>
              <a:buNone/>
            </a:pPr>
            <a:r>
              <a:rPr lang="en-US" dirty="0" sz="1800" i="1"/>
              <a:t>Cupcake version: counting a cupcake once for every topping on it.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normAutofit/>
          </a:bodyPr>
          <a:lstStyle/>
          <a:p>
            <a:r>
              <a:rPr lang="en-US" dirty="0"/>
              <a:t>GenAI habits to keep</a:t>
            </a:r>
          </a:p>
        </p:txBody>
      </p:sp>
      <p:sp>
        <p:nvSpPr>
          <p:cNvPr id="12" name="TextBox 12"/>
          <p:cNvSpPr txBox="1"/>
          <p:nvPr/>
        </p:nvSpPr>
        <p:spPr>
          <a:xfrm>
            <a:off x="1024128" y="2194560"/>
            <a:ext cx="4754880" cy="3566160"/>
          </a:xfrm>
          <a:prstGeom prst="rect">
            <a:avLst/>
          </a:prstGeom>
          <a:noFill/>
        </p:spPr>
        <p:txBody>
          <a:bodyPr wrap="square" lIns="91440" tIns="91440" rIns="91440" bIns="91440" rtlCol="0" anchor="t">
            <a:normAutofit/>
          </a:bodyPr>
          <a:lstStyle/>
          <a:p>
            <a:pPr marL="457200" lvl="0" indent="-457200">
              <a:spcAft>
                <a:spcPts val="500"/>
              </a:spcAft>
              <a:buFont typeface="+mj-lt"/>
              <a:buAutoNum type="arabicPeriod"/>
            </a:pPr>
            <a:r>
              <a:rPr lang="en-US" dirty="0" sz="1800" b="1"/>
              <a:t xml:space="preserve">Think first. </a:t>
            </a:r>
            <a:r>
              <a:rPr lang="en-US" dirty="0" sz="1800"/>
              <a:t>Write your own answer before you ask.</a:t>
            </a:r>
          </a:p>
          <a:p>
            <a:pPr marL="457200" lvl="0" indent="-457200">
              <a:spcAft>
                <a:spcPts val="500"/>
              </a:spcAft>
              <a:buFont typeface="+mj-lt"/>
              <a:buAutoNum type="arabicPeriod"/>
            </a:pPr>
            <a:r>
              <a:rPr lang="en-US" dirty="0" sz="1800" b="1"/>
              <a:t xml:space="preserve">Describe your data. </a:t>
            </a:r>
            <a:r>
              <a:rPr lang="en-US" dirty="0" sz="1800"/>
              <a:t>Do not upload it.</a:t>
            </a:r>
          </a:p>
          <a:p>
            <a:pPr marL="457200" lvl="0" indent="-457200">
              <a:spcAft>
                <a:spcPts val="500"/>
              </a:spcAft>
              <a:buFont typeface="+mj-lt"/>
              <a:buAutoNum type="arabicPeriod"/>
            </a:pPr>
            <a:r>
              <a:rPr lang="en-US" dirty="0" sz="1800" b="1"/>
              <a:t xml:space="preserve">Say what one row is. </a:t>
            </a:r>
            <a:r>
              <a:rPr lang="en-US" dirty="0" sz="1800"/>
              <a:t>It decides whether counts are right.</a:t>
            </a:r>
          </a:p>
          <a:p>
            <a:pPr marL="457200" lvl="0" indent="-457200">
              <a:spcAft>
                <a:spcPts val="500"/>
              </a:spcAft>
              <a:buFont typeface="+mj-lt"/>
              <a:buAutoNum type="arabicPeriod"/>
            </a:pPr>
            <a:r>
              <a:rPr lang="en-US" dirty="0" sz="1800" b="1"/>
              <a:t xml:space="preserve">Give steps, not only a goal. </a:t>
            </a:r>
            <a:r>
              <a:rPr lang="en-US" dirty="0" sz="1800"/>
              <a:t>That is algorithm design.</a:t>
            </a:r>
          </a:p>
        </p:txBody>
      </p:sp>
      <p:sp>
        <p:nvSpPr>
          <p:cNvPr id="13" name="TextBox 13"/>
          <p:cNvSpPr txBox="1"/>
          <p:nvPr/>
        </p:nvSpPr>
        <p:spPr>
          <a:xfrm>
            <a:off x="6126480" y="2194560"/>
            <a:ext cx="4937760" cy="3566160"/>
          </a:xfrm>
          <a:prstGeom prst="rect">
            <a:avLst/>
          </a:prstGeom>
          <a:noFill/>
        </p:spPr>
        <p:txBody>
          <a:bodyPr wrap="square" lIns="91440" tIns="91440" rIns="91440" bIns="91440" rtlCol="0" anchor="t">
            <a:normAutofit/>
          </a:bodyPr>
          <a:lstStyle/>
          <a:p>
            <a:pPr marL="457200" lvl="0" indent="-457200">
              <a:spcAft>
                <a:spcPts val="500"/>
              </a:spcAft>
              <a:buFont typeface="+mj-lt"/>
              <a:buAutoNum type="arabicPeriod"/>
            </a:pPr>
            <a:r>
              <a:rPr lang="en-US" dirty="0" sz="1800" b="1"/>
              <a:t xml:space="preserve">Run it and check n. </a:t>
            </a:r>
            <a:r>
              <a:rPr lang="en-US" dirty="0" sz="1800"/>
              <a:t>Confident is not the same as correct.</a:t>
            </a:r>
          </a:p>
          <a:p>
            <a:pPr marL="457200" lvl="0" indent="-457200">
              <a:spcAft>
                <a:spcPts val="500"/>
              </a:spcAft>
              <a:buFont typeface="+mj-lt"/>
              <a:buAutoNum type="arabicPeriod"/>
            </a:pPr>
            <a:r>
              <a:rPr lang="en-US" dirty="0" sz="1800" b="1"/>
              <a:t xml:space="preserve">Paste errors back. </a:t>
            </a:r>
            <a:r>
              <a:rPr lang="en-US" dirty="0" sz="1800"/>
              <a:t>Ask it to fix and explain.</a:t>
            </a:r>
          </a:p>
          <a:p>
            <a:pPr marL="457200" lvl="0" indent="-457200">
              <a:spcAft>
                <a:spcPts val="500"/>
              </a:spcAft>
              <a:buFont typeface="+mj-lt"/>
              <a:buAutoNum type="arabicPeriod"/>
            </a:pPr>
            <a:r>
              <a:rPr lang="en-US" dirty="0" sz="1800" b="1"/>
              <a:t xml:space="preserve">Ask it to explain the code. </a:t>
            </a:r>
            <a:r>
              <a:rPr lang="en-US" dirty="0" sz="1800"/>
              <a:t>If you can't explain it, don't use it.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35912</TotalTime>
  <Words>4098</Words>
  <Application>Microsoft Macintosh PowerPoint</Application>
  <PresentationFormat>Widescreen</PresentationFormat>
  <Paragraphs>438</Paragraphs>
  <Slides>58</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Arial</vt:lpstr>
      <vt:lpstr>Calibri</vt:lpstr>
      <vt:lpstr>Tw Cen MT</vt:lpstr>
      <vt:lpstr>Tw Cen MT Condensed</vt:lpstr>
      <vt:lpstr>Wingdings 3</vt:lpstr>
      <vt:lpstr>Integral</vt:lpstr>
      <vt:lpstr>Computational Thinking</vt:lpstr>
      <vt:lpstr>PowerPoint Presentation</vt:lpstr>
      <vt:lpstr>What is computational thinking?</vt:lpstr>
      <vt:lpstr>computational thinking skills</vt:lpstr>
      <vt:lpstr>decomposition</vt:lpstr>
      <vt:lpstr>Decomposing the act of Baking cupcakes</vt:lpstr>
      <vt:lpstr>Cupcakes: planning &amp; preparation</vt:lpstr>
      <vt:lpstr>Cupcakes: Mixing</vt:lpstr>
      <vt:lpstr>Cupcakes: Baking</vt:lpstr>
      <vt:lpstr>Cupcakes: finishing</vt:lpstr>
      <vt:lpstr>Let’s try it</vt:lpstr>
      <vt:lpstr>Today’s lab-related case</vt:lpstr>
      <vt:lpstr>decomposition</vt:lpstr>
      <vt:lpstr>Examples of sub-tasks</vt:lpstr>
      <vt:lpstr>How does this help us?</vt:lpstr>
      <vt:lpstr>Pattern recognition</vt:lpstr>
      <vt:lpstr>Recognizing patterns in sub-tasks</vt:lpstr>
      <vt:lpstr>Recognizing patterns across problems</vt:lpstr>
      <vt:lpstr>Let’s try it</vt:lpstr>
      <vt:lpstr>Pattern recognition</vt:lpstr>
      <vt:lpstr>Examples of pattern recognition</vt:lpstr>
      <vt:lpstr>How does this help us?</vt:lpstr>
      <vt:lpstr>abstraction</vt:lpstr>
      <vt:lpstr>Abstracting the science of baking</vt:lpstr>
      <vt:lpstr>Basic Recipe: a model for baking</vt:lpstr>
      <vt:lpstr>Let’s try it</vt:lpstr>
      <vt:lpstr>abstraction</vt:lpstr>
      <vt:lpstr>Examples of abstraction</vt:lpstr>
      <vt:lpstr>How does this help us?</vt:lpstr>
      <vt:lpstr>Algorithm Design</vt:lpstr>
      <vt:lpstr>Detailed recipe: algorithm for baking</vt:lpstr>
      <vt:lpstr>Let’s try it</vt:lpstr>
      <vt:lpstr>Algorithm design</vt:lpstr>
      <vt:lpstr>Examples of algorithm design</vt:lpstr>
      <vt:lpstr>Algorithm design for graphing in R</vt:lpstr>
      <vt:lpstr>How does this help us?</vt:lpstr>
      <vt:lpstr>PowerPoint Presentation</vt:lpstr>
      <vt:lpstr>How does this help us?</vt:lpstr>
      <vt:lpstr>Building a foundation for ds101</vt:lpstr>
      <vt:lpstr>Basic computational concepts</vt:lpstr>
      <vt:lpstr>What is a function?</vt:lpstr>
      <vt:lpstr>Ggplot R function creates a new graph object</vt:lpstr>
      <vt:lpstr>What is a condition?</vt:lpstr>
      <vt:lpstr>Combining functions with conditionals</vt:lpstr>
      <vt:lpstr>What is a loop?</vt:lpstr>
      <vt:lpstr>Calculate the median for each column: Copy and paste method</vt:lpstr>
      <vt:lpstr>Calculate the median for each column: for loop method</vt:lpstr>
      <vt:lpstr>Calculate the median for each column: for loop method</vt:lpstr>
      <vt:lpstr>What is computational thinking?</vt:lpstr>
      <vt:lpstr>PowerPoint Presentation</vt:lpstr>
      <vt:lpstr>Prompting methods</vt:lpstr>
      <vt:lpstr>ONE SHOT Prompting example</vt:lpstr>
      <vt:lpstr>Chatgpt5 output</vt:lpstr>
      <vt:lpstr>Let me check your work, You need to try again</vt:lpstr>
      <vt:lpstr>Few shot prompting example</vt:lpstr>
      <vt:lpstr>Few shot prompting example</vt:lpstr>
      <vt:lpstr>Future: Make it the best around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Haymond, Shannon</cp:lastModifiedBy>
  <cp:revision>26</cp:revision>
  <dcterms:created xsi:type="dcterms:W3CDTF">2022-06-28T07:45:18Z</dcterms:created>
  <dcterms:modified xsi:type="dcterms:W3CDTF">2025-09-23T14:31:22Z</dcterms:modified>
</cp:coreProperties>
</file>