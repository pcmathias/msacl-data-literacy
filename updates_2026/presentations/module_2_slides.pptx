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0"/>
  </p:notesMasterIdLst>
  <p:sldIdLst>
    <p:sldId id="710" r:id="rId139"/>
    <p:sldId id="686" r:id="rId115"/>
    <p:sldId id="687" r:id="rId116"/>
    <p:sldId id="688" r:id="rId117"/>
    <p:sldId id="689" r:id="rId118"/>
    <p:sldId id="690" r:id="rId119"/>
    <p:sldId id="691" r:id="rId120"/>
    <p:sldId id="692" r:id="rId121"/>
    <p:sldId id="693" r:id="rId122"/>
    <p:sldId id="694" r:id="rId123"/>
    <p:sldId id="695" r:id="rId124"/>
    <p:sldId id="696" r:id="rId125"/>
    <p:sldId id="697" r:id="rId126"/>
    <p:sldId id="698" r:id="rId127"/>
    <p:sldId id="699" r:id="rId128"/>
    <p:sldId id="700" r:id="rId129"/>
    <p:sldId id="701" r:id="rId130"/>
    <p:sldId id="702" r:id="rId131"/>
    <p:sldId id="703" r:id="rId132"/>
    <p:sldId id="704" r:id="rId133"/>
    <p:sldId id="705" r:id="rId134"/>
    <p:sldId id="706" r:id="rId135"/>
    <p:sldId id="707" r:id="rId136"/>
    <p:sldId id="708" r:id="rId137"/>
    <p:sldId id="709" r:id="rId1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77195-FD98-C94C-964B-B94F94486CC5}" v="4" dt="2025-09-15T22:47:38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77260"/>
  </p:normalViewPr>
  <p:slideViewPr>
    <p:cSldViewPr snapToGrid="0" snapToObjects="1">
      <p:cViewPr varScale="1">
        <p:scale>
          <a:sx n="97" d="100"/>
          <a:sy n="97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4" Type="http://schemas.openxmlformats.org/officeDocument/2006/relationships/tableStyles" Target="tableStyles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82" Type="http://schemas.openxmlformats.org/officeDocument/2006/relationships/viewProps" Target="viewProps.xml"/>  
  
  
  
  
  
  
  
  
  
  
  
  
  
  
  
  
  
  
  
  
  
  
  
  
  
  
  
  <Relationship Id="rId115" Type="http://schemas.openxmlformats.org/officeDocument/2006/relationships/slide" Target="slides/slide107.xml"/>
  <Relationship Id="rId116" Type="http://schemas.openxmlformats.org/officeDocument/2006/relationships/slide" Target="slides/slide108.xml"/>
  <Relationship Id="rId117" Type="http://schemas.openxmlformats.org/officeDocument/2006/relationships/slide" Target="slides/slide109.xml"/>
  <Relationship Id="rId118" Type="http://schemas.openxmlformats.org/officeDocument/2006/relationships/slide" Target="slides/slide110.xml"/>
  <Relationship Id="rId119" Type="http://schemas.openxmlformats.org/officeDocument/2006/relationships/slide" Target="slides/slide111.xml"/>
  <Relationship Id="rId120" Type="http://schemas.openxmlformats.org/officeDocument/2006/relationships/slide" Target="slides/slide112.xml"/>
  <Relationship Id="rId121" Type="http://schemas.openxmlformats.org/officeDocument/2006/relationships/slide" Target="slides/slide113.xml"/>
  <Relationship Id="rId122" Type="http://schemas.openxmlformats.org/officeDocument/2006/relationships/slide" Target="slides/slide114.xml"/>
  <Relationship Id="rId123" Type="http://schemas.openxmlformats.org/officeDocument/2006/relationships/slide" Target="slides/slide115.xml"/>
  <Relationship Id="rId124" Type="http://schemas.openxmlformats.org/officeDocument/2006/relationships/slide" Target="slides/slide116.xml"/>
  <Relationship Id="rId125" Type="http://schemas.openxmlformats.org/officeDocument/2006/relationships/slide" Target="slides/slide117.xml"/>
  <Relationship Id="rId126" Type="http://schemas.openxmlformats.org/officeDocument/2006/relationships/slide" Target="slides/slide118.xml"/>
  <Relationship Id="rId127" Type="http://schemas.openxmlformats.org/officeDocument/2006/relationships/slide" Target="slides/slide119.xml"/>
  <Relationship Id="rId128" Type="http://schemas.openxmlformats.org/officeDocument/2006/relationships/slide" Target="slides/slide120.xml"/>
  <Relationship Id="rId129" Type="http://schemas.openxmlformats.org/officeDocument/2006/relationships/slide" Target="slides/slide121.xml"/>
  <Relationship Id="rId130" Type="http://schemas.openxmlformats.org/officeDocument/2006/relationships/slide" Target="slides/slide122.xml"/>
  <Relationship Id="rId131" Type="http://schemas.openxmlformats.org/officeDocument/2006/relationships/slide" Target="slides/slide123.xml"/>
  <Relationship Id="rId132" Type="http://schemas.openxmlformats.org/officeDocument/2006/relationships/slide" Target="slides/slide124.xml"/>
  <Relationship Id="rId133" Type="http://schemas.openxmlformats.org/officeDocument/2006/relationships/slide" Target="slides/slide125.xml"/>
  <Relationship Id="rId134" Type="http://schemas.openxmlformats.org/officeDocument/2006/relationships/slide" Target="slides/slide126.xml"/>
  <Relationship Id="rId135" Type="http://schemas.openxmlformats.org/officeDocument/2006/relationships/slide" Target="slides/slide127.xml"/>
  <Relationship Id="rId136" Type="http://schemas.openxmlformats.org/officeDocument/2006/relationships/slide" Target="slides/slide128.xml"/>
  <Relationship Id="rId137" Type="http://schemas.openxmlformats.org/officeDocument/2006/relationships/slide" Target="slides/slide129.xml"/>
  <Relationship Id="rId138" Type="http://schemas.openxmlformats.org/officeDocument/2006/relationships/slide" Target="slides/slide130.xml"/>
  <Relationship Id="rId139" Type="http://schemas.openxmlformats.org/officeDocument/2006/relationships/slide" Target="slides/slide131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C Mathias" userId="1f09a1f0-1fe3-4224-a48c-12494ec224fd" providerId="ADAL" clId="{6CF872E6-B513-5442-AEAA-8E3BB1AFC010}"/>
    <pc:docChg chg="custSel addSld delSld modSld sldOrd">
      <pc:chgData name="Patrick C Mathias" userId="1f09a1f0-1fe3-4224-a48c-12494ec224fd" providerId="ADAL" clId="{6CF872E6-B513-5442-AEAA-8E3BB1AFC010}" dt="2025-09-19T00:06:26.430" v="319" actId="20577"/>
      <pc:docMkLst>
        <pc:docMk/>
      </pc:docMkLst>
      <pc:sldChg chg="modSp mod">
        <pc:chgData name="Patrick C Mathias" userId="1f09a1f0-1fe3-4224-a48c-12494ec224fd" providerId="ADAL" clId="{6CF872E6-B513-5442-AEAA-8E3BB1AFC010}" dt="2025-09-19T00:06:26.430" v="319" actId="20577"/>
        <pc:sldMkLst>
          <pc:docMk/>
          <pc:sldMk cId="3180917206" sldId="256"/>
        </pc:sldMkLst>
        <pc:spChg chg="mod">
          <ac:chgData name="Patrick C Mathias" userId="1f09a1f0-1fe3-4224-a48c-12494ec224fd" providerId="ADAL" clId="{6CF872E6-B513-5442-AEAA-8E3BB1AFC010}" dt="2025-09-19T00:06:26.430" v="319" actId="20577"/>
          <ac:spMkLst>
            <pc:docMk/>
            <pc:sldMk cId="3180917206" sldId="256"/>
            <ac:spMk id="3" creationId="{683DFD6D-7CDF-8D74-9078-31CF84D69DE0}"/>
          </ac:spMkLst>
        </pc:spChg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58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59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60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61"/>
        </pc:sldMkLst>
      </pc:sldChg>
      <pc:sldChg chg="ord">
        <pc:chgData name="Patrick C Mathias" userId="1f09a1f0-1fe3-4224-a48c-12494ec224fd" providerId="ADAL" clId="{6CF872E6-B513-5442-AEAA-8E3BB1AFC010}" dt="2025-09-08T18:47:43.626" v="2" actId="20578"/>
        <pc:sldMkLst>
          <pc:docMk/>
          <pc:sldMk cId="385403375" sldId="270"/>
        </pc:sldMkLst>
      </pc:sldChg>
      <pc:sldChg chg="modSp add mod">
        <pc:chgData name="Patrick C Mathias" userId="1f09a1f0-1fe3-4224-a48c-12494ec224fd" providerId="ADAL" clId="{6CF872E6-B513-5442-AEAA-8E3BB1AFC010}" dt="2025-09-15T22:48:05.430" v="310" actId="20577"/>
        <pc:sldMkLst>
          <pc:docMk/>
          <pc:sldMk cId="40906356" sldId="604"/>
        </pc:sldMkLst>
        <pc:spChg chg="mod">
          <ac:chgData name="Patrick C Mathias" userId="1f09a1f0-1fe3-4224-a48c-12494ec224fd" providerId="ADAL" clId="{6CF872E6-B513-5442-AEAA-8E3BB1AFC010}" dt="2025-09-15T22:48:05.430" v="310" actId="20577"/>
          <ac:spMkLst>
            <pc:docMk/>
            <pc:sldMk cId="40906356" sldId="604"/>
            <ac:spMk id="2" creationId="{4C3BCEFE-FCB3-8B49-E7A8-9C82A3F31917}"/>
          </ac:spMkLst>
        </pc:spChg>
      </pc:sldChg>
      <pc:sldChg chg="del">
        <pc:chgData name="Patrick C Mathias" userId="1f09a1f0-1fe3-4224-a48c-12494ec224fd" providerId="ADAL" clId="{6CF872E6-B513-5442-AEAA-8E3BB1AFC010}" dt="2025-09-15T22:47:25.322" v="262" actId="2696"/>
        <pc:sldMkLst>
          <pc:docMk/>
          <pc:sldMk cId="3560824943" sldId="604"/>
        </pc:sldMkLst>
      </pc:sldChg>
      <pc:sldChg chg="modSp mod">
        <pc:chgData name="Patrick C Mathias" userId="1f09a1f0-1fe3-4224-a48c-12494ec224fd" providerId="ADAL" clId="{6CF872E6-B513-5442-AEAA-8E3BB1AFC010}" dt="2025-09-12T04:55:37.177" v="18" actId="20577"/>
        <pc:sldMkLst>
          <pc:docMk/>
          <pc:sldMk cId="0" sldId="630"/>
        </pc:sldMkLst>
        <pc:spChg chg="mod">
          <ac:chgData name="Patrick C Mathias" userId="1f09a1f0-1fe3-4224-a48c-12494ec224fd" providerId="ADAL" clId="{6CF872E6-B513-5442-AEAA-8E3BB1AFC010}" dt="2025-09-12T04:55:37.177" v="18" actId="20577"/>
          <ac:spMkLst>
            <pc:docMk/>
            <pc:sldMk cId="0" sldId="630"/>
            <ac:spMk id="172" creationId="{00000000-0000-0000-0000-000000000000}"/>
          </ac:spMkLst>
        </pc:spChg>
      </pc:sldChg>
      <pc:sldChg chg="add">
        <pc:chgData name="Patrick C Mathias" userId="1f09a1f0-1fe3-4224-a48c-12494ec224fd" providerId="ADAL" clId="{6CF872E6-B513-5442-AEAA-8E3BB1AFC010}" dt="2025-08-27T22:08:02.341" v="0"/>
        <pc:sldMkLst>
          <pc:docMk/>
          <pc:sldMk cId="0" sldId="643"/>
        </pc:sldMkLst>
      </pc:sldChg>
      <pc:sldChg chg="add">
        <pc:chgData name="Patrick C Mathias" userId="1f09a1f0-1fe3-4224-a48c-12494ec224fd" providerId="ADAL" clId="{6CF872E6-B513-5442-AEAA-8E3BB1AFC010}" dt="2025-08-27T22:08:02.341" v="0"/>
        <pc:sldMkLst>
          <pc:docMk/>
          <pc:sldMk cId="0" sldId="644"/>
        </pc:sldMkLst>
      </pc:sldChg>
      <pc:sldChg chg="modSp new mod">
        <pc:chgData name="Patrick C Mathias" userId="1f09a1f0-1fe3-4224-a48c-12494ec224fd" providerId="ADAL" clId="{6CF872E6-B513-5442-AEAA-8E3BB1AFC010}" dt="2025-09-12T04:58:30.734" v="261" actId="20577"/>
        <pc:sldMkLst>
          <pc:docMk/>
          <pc:sldMk cId="819575088" sldId="645"/>
        </pc:sldMkLst>
        <pc:spChg chg="mod">
          <ac:chgData name="Patrick C Mathias" userId="1f09a1f0-1fe3-4224-a48c-12494ec224fd" providerId="ADAL" clId="{6CF872E6-B513-5442-AEAA-8E3BB1AFC010}" dt="2025-09-12T04:57:14.612" v="36" actId="20577"/>
          <ac:spMkLst>
            <pc:docMk/>
            <pc:sldMk cId="819575088" sldId="645"/>
            <ac:spMk id="2" creationId="{2843C1E2-B1B7-3ADC-724D-606A08EF5039}"/>
          </ac:spMkLst>
        </pc:spChg>
        <pc:spChg chg="mod">
          <ac:chgData name="Patrick C Mathias" userId="1f09a1f0-1fe3-4224-a48c-12494ec224fd" providerId="ADAL" clId="{6CF872E6-B513-5442-AEAA-8E3BB1AFC010}" dt="2025-09-12T04:58:30.734" v="261" actId="20577"/>
          <ac:spMkLst>
            <pc:docMk/>
            <pc:sldMk cId="819575088" sldId="645"/>
            <ac:spMk id="3" creationId="{908FD02F-6452-58AE-72E0-3C7AB412AF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D3653-9E79-5C4D-8011-4255A78CAC35}" type="datetimeFigureOut">
              <a:rPr lang="en-US" smtClean="0"/>
              <a:t>9/20/25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64E20-9EA2-8947-B25E-DCABC392F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7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3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Font typeface="Arial" panose="020B0604020202020204" pitchFamily="34" charset="0"/>
              <a:buChar char="•"/>
              <a:defRPr sz="3200" baseline="0"/>
            </a:lvl1pPr>
            <a:lvl2pPr>
              <a:defRPr sz="2800" baseline="0"/>
            </a:lvl2pPr>
            <a:lvl3pPr>
              <a:defRPr sz="2400" baseline="0"/>
            </a:lvl3pPr>
            <a:lvl4pPr>
              <a:defRPr sz="2000" baseline="0"/>
            </a:lvl4pPr>
            <a:lvl5pPr>
              <a:defRPr sz="1600" baseline="0"/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63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7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8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8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1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46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4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04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2574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443" y="2683193"/>
            <a:ext cx="11187112" cy="1463040"/>
          </a:xfrm>
        </p:spPr>
        <p:txBody>
          <a:bodyPr anchor="ctr">
            <a:normAutofit/>
          </a:bodyPr>
          <a:lstStyle>
            <a:lvl1pPr algn="ct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4617721"/>
            <a:ext cx="12192000" cy="22574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Oval 5"/>
          <p:cNvSpPr/>
          <p:nvPr userDrawn="1"/>
        </p:nvSpPr>
        <p:spPr>
          <a:xfrm>
            <a:off x="-1" y="4003358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9420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Slide">
  <p:cSld name="Standard Content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6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393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191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3000"/>
              <a:buChar char="•"/>
              <a:defRPr sz="3000"/>
            </a:lvl1pPr>
            <a:lvl2pPr marL="914400" lvl="1" indent="-3937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2600"/>
              <a:buChar char="•"/>
              <a:defRPr sz="2600"/>
            </a:lvl2pPr>
            <a:lvl3pPr marL="1371600" lvl="2" indent="-3683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2200"/>
              <a:buChar char="•"/>
              <a:defRPr sz="2200"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009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2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>
            <a:spLocks noGrp="1"/>
          </p:cNvSpPr>
          <p:nvPr>
            <p:ph type="chart" idx="2"/>
          </p:nvPr>
        </p:nvSpPr>
        <p:spPr>
          <a:xfrm>
            <a:off x="838200" y="2600596"/>
            <a:ext cx="7857567" cy="2980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838200" y="1828800"/>
            <a:ext cx="10515600" cy="74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5893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+ Picture">
  <p:cSld name="Standard Content + Pictur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9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9"/>
          <p:cNvSpPr>
            <a:spLocks noGrp="1"/>
          </p:cNvSpPr>
          <p:nvPr>
            <p:ph type="pic" idx="2"/>
          </p:nvPr>
        </p:nvSpPr>
        <p:spPr>
          <a:xfrm flipH="1">
            <a:off x="6816435" y="1839479"/>
            <a:ext cx="4537759" cy="3937864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675334" cy="393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4922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Slide - Blank">
  <p:cSld name="Standard Content Slide - 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892352" y="1376412"/>
            <a:ext cx="1311833" cy="215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7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838200" y="1443789"/>
            <a:ext cx="10515599" cy="431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9078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our_Turn_5min"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mer_Black_W_10_Alarm-6">
            <a:hlinkClick r:id="" action="ppaction://media"/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80030" y="5679828"/>
            <a:ext cx="2130970" cy="6376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013B-1C83-744C-AE64-CBAFADC9E8F0}" type="datetime1">
              <a:rPr lang="en-US" smtClean="0">
                <a:solidFill>
                  <a:prstClr val="black">
                    <a:lumMod val="95000"/>
                    <a:lumOff val="5000"/>
                  </a:prstClr>
                </a:solidFill>
              </a:rPr>
              <a:t>9/19/25</a:t>
            </a:fld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154-6848-214C-B925-399887F0DE31}" type="slidenum">
              <a:rPr lang="en-US" smtClean="0">
                <a:solidFill>
                  <a:prstClr val="black">
                    <a:lumMod val="95000"/>
                    <a:lumOff val="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>
            <a:lvl1pPr algn="ctr">
              <a:defRPr sz="6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Your Turn</a:t>
            </a:r>
          </a:p>
        </p:txBody>
      </p:sp>
      <p:pic>
        <p:nvPicPr>
          <p:cNvPr id="8" name="Timer_Black_W_10_Alarm-6.mov" descr="Timer_Black_W_10_Alarm-6.mov"/>
          <p:cNvPicPr>
            <a:picLocks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088406" y="11645648"/>
            <a:ext cx="4544635" cy="1359812"/>
          </a:xfrm>
          <a:prstGeom prst="rect">
            <a:avLst/>
          </a:prstGeom>
          <a:ln w="12700">
            <a:solidFill>
              <a:srgbClr val="A6AAA9"/>
            </a:solidFill>
            <a:miter lim="400000"/>
          </a:ln>
        </p:spPr>
      </p:pic>
      <p:sp>
        <p:nvSpPr>
          <p:cNvPr id="10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024128" y="2238375"/>
            <a:ext cx="9720072" cy="3178175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An exercise</a:t>
            </a:r>
          </a:p>
        </p:txBody>
      </p:sp>
    </p:spTree>
    <p:extLst>
      <p:ext uri="{BB962C8B-B14F-4D97-AF65-F5344CB8AC3E}">
        <p14:creationId xmlns:p14="http://schemas.microsoft.com/office/powerpoint/2010/main" val="428493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C085D8A-9CAE-5C47-9CA8-75814F650544}" type="datetimeFigureOut">
              <a:rPr lang="en-US" smtClean="0"/>
              <a:t>9/20/25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23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</Relationships>
</file>

<file path=ppt/slides/_rels/slide1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7.xml"/>
</Relationships>
</file>

<file path=ppt/slides/_rels/slide1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</Relationships>
</file>

<file path=ppt/slides/_rels/slide1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2" Type="http://schemas.openxmlformats.org/officeDocument/2006/relationships/image" Target="../media/image9.png"/></Relationships>
</file>

<file path=ppt/slides/_rels/slide1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</Relationships>
</file>

<file path=ppt/slides/_rels/slide1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2" Type="http://schemas.openxmlformats.org/officeDocument/2006/relationships/image" Target="../media/image10.png"/></Relationships>
</file>

<file path=ppt/slides/_rels/slide1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7.xml"/>
</Relationships>
</file>

<file path=ppt/slides/_rels/slide1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</Relationships>
</file>

<file path=ppt/slides/_rels/slide1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Relationship Id="rId2" Type="http://schemas.openxmlformats.org/officeDocument/2006/relationships/image" Target="../media/image11.png"/></Relationships>
</file>

<file path=ppt/slides/_rels/slide1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7.xml"/>
</Relationships>
</file>

<file path=ppt/slides/_rels/slide1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Module 1 gave you the vocabulary: </a:t>
            </a:r>
            <a:r>
              <a:rPr lang="en-US" dirty="0" b="1"/>
              <a:t>types</a:t>
            </a:r>
            <a:r>
              <a:rPr lang="en-US" dirty="0"/>
              <a:t>, </a:t>
            </a:r>
            <a:r>
              <a:rPr lang="en-US" dirty="0" b="1"/>
              <a:t>structure</a:t>
            </a:r>
            <a:r>
              <a:rPr lang="en-US" dirty="0"/>
              <a:t>, </a:t>
            </a:r>
            <a:r>
              <a:rPr lang="en-US" dirty="0" b="1"/>
              <a:t>quality</a:t>
            </a:r>
            <a:r>
              <a:rPr lang="en-US" dirty="0"/>
              <a:t>, </a:t>
            </a:r>
            <a:r>
              <a:rPr lang="en-US" dirty="0" b="1"/>
              <a:t>organization</a:t>
            </a:r>
          </a:p>
          <a:p>
            <a:r>
              <a:rPr lang="en-US" dirty="0"/>
              <a:t>Today, those ideas become </a:t>
            </a:r>
            <a:r>
              <a:rPr lang="en-US" dirty="0" i="1"/>
              <a:t>operational</a:t>
            </a:r>
            <a:r>
              <a:rPr lang="en-US" dirty="0"/>
              <a:t> — RStudio moves from a text editor to a computational tool</a:t>
            </a:r>
          </a:p>
          <a:p>
            <a:r>
              <a:rPr lang="en-US" dirty="0"/>
              <a:t>We'll import real data, inspect it, and validate it before drawing a single conclusion</a:t>
            </a:r>
          </a:p>
          <a:p>
            <a:pPr marL="0" indent="0">
              <a:buNone/>
            </a:pPr>
            <a:r>
              <a:rPr lang="en-US" dirty="0" i="1"/>
              <a:t>Today's question: can we trust this dataset enough to build on it?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By the end of this module, you will be able to:</a:t>
            </a:r>
          </a:p>
          <a:p>
            <a:pPr lvl="1"/>
            <a:r>
              <a:rPr lang="en-US" dirty="0"/>
              <a:t>Navigate the RStudio interface and explain the purpose of each pane</a:t>
            </a:r>
          </a:p>
          <a:p>
            <a:pPr lvl="1"/>
            <a:r>
              <a:rPr lang="en-US" dirty="0"/>
              <a:t>Import and inspect a dataset using the tidyverse</a:t>
            </a:r>
          </a:p>
          <a:p>
            <a:pPr lvl="1"/>
            <a:r>
              <a:rPr lang="en-US" dirty="0"/>
              <a:t>Recognize and correct common data type misassignments</a:t>
            </a:r>
          </a:p>
          <a:p>
            <a:pPr lvl="1"/>
            <a:r>
              <a:rPr lang="en-US" dirty="0"/>
              <a:t>Apply a systematic data validation checklist after importing data</a:t>
            </a:r>
          </a:p>
          <a:p>
            <a:pPr marL="0" indent="0">
              <a:buNone/>
            </a:pPr>
            <a:r>
              <a:rPr lang="en-US" dirty="0" b="1"/>
              <a:t>Interface: </a:t>
            </a:r>
            <a:r>
              <a:rPr lang="en-US" dirty="0"/>
              <a:t>Where do things happen, and why does it matter?</a:t>
            </a:r>
          </a:p>
          <a:p>
            <a:pPr marL="0" indent="0">
              <a:buNone/>
            </a:pPr>
            <a:r>
              <a:rPr lang="en-US" dirty="0" b="1"/>
              <a:t>Import: </a:t>
            </a:r>
            <a:r>
              <a:rPr lang="en-US" dirty="0"/>
              <a:t>Getting data in — correctly, not just successfully</a:t>
            </a:r>
          </a:p>
          <a:p>
            <a:pPr marL="0" indent="0">
              <a:buNone/>
            </a:pPr>
            <a:r>
              <a:rPr lang="en-US" dirty="0" b="1"/>
              <a:t>Types: </a:t>
            </a:r>
            <a:r>
              <a:rPr lang="en-US" dirty="0"/>
              <a:t>Catching R's wrong guesses before they cost you</a:t>
            </a:r>
          </a:p>
          <a:p>
            <a:pPr marL="0" indent="0">
              <a:buNone/>
            </a:pPr>
            <a:r>
              <a:rPr lang="en-US" dirty="0" b="1"/>
              <a:t>Validation: </a:t>
            </a:r>
            <a:r>
              <a:rPr lang="en-US" dirty="0"/>
              <a:t>Proving the data is what you think it is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2.1 Why Use a Programmatic Tool?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Cells to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spreadsheet asks: </a:t>
            </a:r>
            <a:r>
              <a:rPr lang="en-US" dirty="0" i="1"/>
              <a:t>what value goes in this cell?</a:t>
            </a:r>
          </a:p>
          <a:p>
            <a:r>
              <a:rPr lang="en-US" dirty="0"/>
              <a:t>A script asks: </a:t>
            </a:r>
            <a:r>
              <a:rPr lang="en-US" dirty="0" i="1"/>
              <a:t>what operation transforms this whole dataset?</a:t>
            </a:r>
          </a:p>
          <a:p>
            <a:r>
              <a:rPr lang="en-US" dirty="0"/>
              <a:t>That shift — from individual cells to systematic operations — is the mental model this entire course is built on</a:t>
            </a:r>
          </a:p>
          <a:p>
            <a:pPr marL="0" indent="0">
              <a:buNone/>
            </a:pPr>
            <a:r>
              <a:rPr lang="en-US" dirty="0" i="1"/>
              <a:t>You are no longer editing values. You are describing a process.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Matters: Reproducibility, Auditability,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i="1"/>
              <a:t>A spreadsheet remembers your last click. A script remembers your entire reasoning.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Looks Like in Practice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6000" y="1700000"/>
          <a:ext cx="105006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200"/>
                <a:gridCol w="3500200"/>
                <a:gridCol w="3500200"/>
              </a:tblGrid>
              <a:tr h="450000">
                <a:tc>
                  <a:txBody>
                    <a:bodyPr/>
                    <a:lstStyle/>
                    <a:p>
                      <a:r>
                        <a:rPr lang="en-US" sz="1500" b="1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Spreadsheet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Script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US" sz="1500" b="0" dirty="0"/>
                        <a:t>Repeat an analysis next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Redo every click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Re-run the file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US" sz="1500" b="0" dirty="0"/>
                        <a:t>Explain what you did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Try to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Read the code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US" sz="1500" b="0" dirty="0"/>
                        <a:t>Catch a 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Hope someone notices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Re-run and compare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lang="en-US" sz="1500" b="0" dirty="0"/>
                        <a:t>Hand off to a colleague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Walk them through it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/>
                        <a:t>Send the file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Notes"/>
          <p:cNvSpPr txBox="1"/>
          <p:nvPr/>
        </p:nvSpPr>
        <p:spPr>
          <a:xfrm>
            <a:off x="846000" y="4300000"/>
            <a:ext cx="10500600" cy="1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500" dirty="0"/>
              <a:t>None of this requires you to be a "programmer" — it requires you to write down what you did.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Check-in 2A: RStudio Orientation (8 minutes)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Open the course .Rproj file from your file system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In the </a:t>
            </a:r>
            <a:r>
              <a:rPr lang="en-US" dirty="0" b="1"/>
              <a:t>Console</a:t>
            </a:r>
            <a:r>
              <a:rPr lang="en-US" dirty="0"/>
              <a:t>, type </a:t>
            </a:r>
            <a:r>
              <a:rPr lang="en-US" dirty="0"/>
              <a:t>1 + 1</a:t>
            </a:r>
            <a:r>
              <a:rPr lang="en-US" dirty="0"/>
              <a:t> and press Enter — confirm you see </a:t>
            </a:r>
            <a:r>
              <a:rPr lang="en-US" dirty="0"/>
              <a:t>[1] 2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Return to module_2_exercises.qmd, run the setup chunk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Fill in the RStudio Panes table and answer three written questions in the exercise file.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2.2 R Basics: Objects, Functions, and Packages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RStudio Interface, at a Glance</a:t>
            </a:r>
          </a:p>
        </p:txBody>
      </p:sp>
      <p:pic>
        <p:nvPicPr>
          <p:cNvPr id="3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00" y="1200000"/>
            <a:ext cx="9000000" cy="50390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846000" y="6100000"/>
            <a:ext cx="10500000" cy="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dirty="0" i="1"/>
              <a:t>Source writes, Console runs, Environment remembers, Files/Plots/Help supports.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Objects: Naming a Result So You Can Reuse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&lt;-</a:t>
            </a:r>
            <a:r>
              <a:rPr lang="en-US" dirty="0"/>
              <a:t> assigns a value to a name — </a:t>
            </a:r>
            <a:r>
              <a:rPr lang="en-US" dirty="0"/>
              <a:t>chem &lt;- read_csv(...)</a:t>
            </a:r>
            <a:r>
              <a:rPr lang="en-US" dirty="0"/>
              <a:t> means "call this result </a:t>
            </a:r>
            <a:r>
              <a:rPr lang="en-US" dirty="0"/>
              <a:t>chem</a:t>
            </a:r>
            <a:r>
              <a:rPr lang="en-US" dirty="0"/>
              <a:t>"</a:t>
            </a:r>
          </a:p>
          <a:p>
            <a:r>
              <a:rPr lang="en-US" dirty="0"/>
              <a:t>Once assigned, an object shows up in the Environment pane and can be reused in any later chunk</a:t>
            </a:r>
          </a:p>
          <a:p>
            <a:r>
              <a:rPr lang="en-US" dirty="0"/>
              <a:t>Assignment is how a script remembers — a spreadsheet has no equivalent concept</a:t>
            </a:r>
          </a:p>
          <a:p>
            <a:pPr marL="0" indent="0">
              <a:buNone/>
            </a:pPr>
            <a:r>
              <a:rPr lang="en-US" dirty="0">
                <a:latin typeface="Courier New" pitchFamily="34" charset="0"/>
              </a:rPr>
              <a:t>chem &lt;- read_csv("data/chem_data.csv")</a:t>
            </a:r>
          </a:p>
          <a:p>
            <a:pPr marL="0" indent="0">
              <a:buNone/>
            </a:pPr>
            <a:r>
              <a:rPr lang="en-US" dirty="0" i="1"/>
              <a:t>Every object is a named, reusable answer to a question you already asked.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Functions: Verbs That Act on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i="1"/>
              <a:t>If you can name what you want to happen to your data, there is very likely already a function for it.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Packages: Bundled, Reusable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package is a collection of functions written and shared by someone else, so you don't reinvent them</a:t>
            </a:r>
          </a:p>
          <a:p>
            <a:r>
              <a:rPr lang="en-US" dirty="0"/>
              <a:t>library(tidyverse)</a:t>
            </a:r>
            <a:r>
              <a:rPr lang="en-US" dirty="0"/>
              <a:t> loads the one package family this entire course relies on</a:t>
            </a:r>
          </a:p>
          <a:p>
            <a:r>
              <a:rPr lang="en-US" dirty="0"/>
              <a:t>Packages must be installed once, but loaded (via library()) every new session</a:t>
            </a:r>
          </a:p>
          <a:p>
            <a:pPr marL="0" indent="0">
              <a:buNone/>
            </a:pPr>
            <a:r>
              <a:rPr lang="en-US" dirty="0" i="1"/>
              <a:t>Almost every function you'll type this week comes from a package someone already built and tested.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2.3 Importing Data with Explicit Column Types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read_csv() and the Type-Guessing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read_csv() reads the first ~1,000 rows and guesses each column's type from what it sees</a:t>
            </a:r>
          </a:p>
          <a:p>
            <a:r>
              <a:rPr lang="en-US" dirty="0"/>
              <a:t>That guess is often reasonable — and sometimes exactly wrong, especially for dates and categories</a:t>
            </a:r>
          </a:p>
          <a:p>
            <a:r>
              <a:rPr lang="en-US" dirty="0"/>
              <a:t>A column of "2022/12/26 00:24:02" values has no built-in marker that says "I am a datetime"</a:t>
            </a:r>
          </a:p>
          <a:p>
            <a:pPr marL="0" indent="0">
              <a:buNone/>
            </a:pPr>
            <a:r>
              <a:rPr lang="en-US" dirty="0" i="1"/>
              <a:t>A wrong guess doesn't throw an error. It just quietly limits what you can do next.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Text, Two Very Different Outcomes</a:t>
            </a:r>
          </a:p>
        </p:txBody>
      </p:sp>
      <p:pic>
        <p:nvPicPr>
          <p:cNvPr id="3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00" y="2000000"/>
            <a:ext cx="10800000" cy="345600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846000" y="6100000"/>
            <a:ext cx="10500000" cy="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dirty="0" i="1"/>
              <a:t>Same 21 characters. Two completely different sets of what you can do.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Telling R What You Already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col_types = cols(...) lets you specify the type for every column explicitly, rather than trusting the guess</a:t>
            </a:r>
          </a:p>
          <a:p>
            <a:r>
              <a:rPr lang="en-US" dirty="0"/>
              <a:t>col_datetime("%Y/%m/%d %H:%M:%S")</a:t>
            </a:r>
            <a:r>
              <a:rPr lang="en-US" dirty="0"/>
              <a:t> — you supply the exact format the raw text is in</a:t>
            </a:r>
          </a:p>
          <a:p>
            <a:r>
              <a:rPr lang="en-US" dirty="0"/>
              <a:t>col_factor()</a:t>
            </a:r>
            <a:r>
              <a:rPr lang="en-US" dirty="0"/>
              <a:t> — for a column with a fixed, known set of category labels (like pat_type or gender)</a:t>
            </a:r>
          </a:p>
          <a:p>
            <a:pPr marL="0" indent="0">
              <a:buNone/>
            </a:pPr>
            <a:r>
              <a:rPr lang="en-US" dirty="0">
                <a:latin typeface="Courier New" pitchFamily="34" charset="0"/>
              </a:rPr>
              <a:t>collect_dt = col_datetime("%Y/%m/%d %H:%M:%S")</a:t>
            </a:r>
          </a:p>
          <a:p>
            <a:pPr marL="0" indent="0">
              <a:buNone/>
            </a:pPr>
            <a:r>
              <a:rPr lang="en-US" dirty="0">
                <a:latin typeface="Courier New" pitchFamily="34" charset="0"/>
              </a:rPr>
              <a:t>pat_type   = col_factor()</a:t>
            </a:r>
          </a:p>
          <a:p>
            <a:pPr marL="0" indent="0">
              <a:buNone/>
            </a:pPr>
            <a:r>
              <a:rPr lang="en-US" dirty="0" i="1"/>
              <a:t>You are not fighting R's guess — you're replacing a guess with a fact you already know.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Check-in 2B: Import and Inspect chem_data (20 minutes)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 b="1"/>
              <a:t>Part 1: </a:t>
            </a:r>
            <a:r>
              <a:rPr lang="en-US" dirty="0"/>
              <a:t>Import with default types. Run glimpse() and summary() — identify which columns look wrong.</a:t>
            </a:r>
          </a:p>
          <a:p>
            <a:pPr>
              <a:buFont typeface="Wingdings" pitchFamily="2" charset="2"/>
              <a:buChar char="§"/>
            </a:pPr>
            <a:r>
              <a:rPr lang="en-US" dirty="0" b="1"/>
              <a:t>Part 2: </a:t>
            </a:r>
            <a:r>
              <a:rPr lang="en-US" dirty="0"/>
              <a:t>Re-import with explicit col_types. Fill in two blanks: the datetime format string, and the col_ function for pat_type. Confirm the corrections.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2.4 Data Validation Checklist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Validation Comes First —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i="1"/>
              <a:t>An import that runs without an error message has told you nothing about whether the data is right.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Six-Step Checklist</a:t>
            </a:r>
          </a:p>
        </p:txBody>
      </p:sp>
      <p:pic>
        <p:nvPicPr>
          <p:cNvPr id="3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00" y="1750000"/>
            <a:ext cx="10800000" cy="4104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 Failed Check Actually Tells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b="1"/>
              <a:t>Row count off?</a:t>
            </a:r>
            <a:r>
              <a:rPr lang="en-US" dirty="0"/>
              <a:t> You may have imported a stale file, or a filter ran earlier than intended</a:t>
            </a:r>
          </a:p>
          <a:p>
            <a:r>
              <a:rPr lang="en-US" dirty="0" b="1"/>
              <a:t>Analyte counts uneven?</a:t>
            </a:r>
            <a:r>
              <a:rPr lang="en-US" dirty="0"/>
              <a:t> Some analytes may only be ordered for certain patient types — is that expected?</a:t>
            </a:r>
          </a:p>
          <a:p>
            <a:r>
              <a:rPr lang="en-US" dirty="0" b="1"/>
              <a:t>Missing timestamps?</a:t>
            </a:r>
            <a:r>
              <a:rPr lang="en-US" dirty="0"/>
              <a:t> Is that a data entry gap, or a real workflow state (e.g., not yet verified)?</a:t>
            </a:r>
          </a:p>
          <a:p>
            <a:pPr marL="0" indent="0">
              <a:buNone/>
            </a:pPr>
            <a:r>
              <a:rPr lang="en-US" dirty="0" i="1"/>
              <a:t>Every checklist item ends in the same question: is this what I expected, and if not, why not?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Check-in 2C: Run the Checklist (15 minutes)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Step through all six validation checks on the correctly imported chem_data. Record your interpretation of each result — not just the number, but what it means.</a:t>
            </a:r>
          </a:p>
          <a:p>
            <a:pPr>
              <a:buFont typeface="Wingdings" pitchFamily="2" charset="2"/>
              <a:buChar char="§"/>
            </a:pPr>
            <a:r>
              <a:rPr lang="en-US" dirty="0" b="1"/>
              <a:t>Closing question: </a:t>
            </a:r>
            <a:r>
              <a:rPr lang="en-US" dirty="0"/>
              <a:t>identify one data quality issue you'd want to investigate further before presenting results to a lab director.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b="1"/>
              <a:t>Interface — </a:t>
            </a:r>
            <a:r>
              <a:rPr lang="en-US" dirty="0"/>
              <a:t>Source writes, Console runs, Environment remembers</a:t>
            </a:r>
          </a:p>
          <a:p>
            <a:r>
              <a:rPr lang="en-US" dirty="0" b="1"/>
              <a:t>Import — </a:t>
            </a:r>
            <a:r>
              <a:rPr lang="en-US" dirty="0"/>
              <a:t>Tell R the types — don't trust the guess</a:t>
            </a:r>
          </a:p>
          <a:p>
            <a:r>
              <a:rPr lang="en-US" dirty="0" b="1"/>
              <a:t>Validation — </a:t>
            </a:r>
            <a:r>
              <a:rPr lang="en-US" dirty="0"/>
              <a:t>A receipt that the data is what you expect</a:t>
            </a:r>
          </a:p>
          <a:p>
            <a:r>
              <a:rPr lang="en-US" dirty="0" b="1"/>
              <a:t>Mindset — </a:t>
            </a:r>
            <a:r>
              <a:rPr lang="en-US" dirty="0"/>
              <a:t>Reproducible, auditable, and built to scale</a:t>
            </a:r>
          </a:p>
          <a:p>
            <a:pPr marL="0" indent="0">
              <a:buNone/>
            </a:pPr>
            <a:r>
              <a:rPr lang="en-US" dirty="0" i="1"/>
              <a:t>You now have a validated, correctly typed dataset. Module 3 puts it on screen.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Up: Module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Visualization principles and best practices</a:t>
            </a:r>
          </a:p>
          <a:p>
            <a:r>
              <a:rPr lang="en-US" dirty="0"/>
              <a:t>Choosing the right chart for the question you're asking</a:t>
            </a:r>
          </a:p>
          <a:p>
            <a:r>
              <a:rPr lang="en-US" dirty="0"/>
              <a:t>Building and refining plots with </a:t>
            </a:r>
            <a:r>
              <a:rPr lang="en-US" dirty="0"/>
              <a:t>ggplot2</a:t>
            </a:r>
          </a:p>
          <a:p>
            <a:r>
              <a:rPr lang="en-US" dirty="0"/>
              <a:t>A first look at code you won't fully understand yet — and that's intentional</a:t>
            </a:r>
          </a:p>
          <a:p>
            <a:pPr marL="0" indent="0">
              <a:buNone/>
            </a:pPr>
            <a:r>
              <a:rPr lang="en-US" dirty="0" b="1"/>
              <a:t>Bring the validated chem_data import from today — Module 3 builds directly on it.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none" dirty="0"/>
              <a:t>Introduction to R and RStudio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DS 100 — Module 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{476843CF-5C3C-BA40-A99B-7BEDA83590AC}tf10001061</Template>
  <TotalTime>65472</TotalTime>
  <Words>5477</Words>
  <Application>Microsoft Macintosh PowerPoint</Application>
  <PresentationFormat>Widescreen</PresentationFormat>
  <Paragraphs>861</Paragraphs>
  <Slides>78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7" baseType="lpstr">
      <vt:lpstr>Arial</vt:lpstr>
      <vt:lpstr>Calibri</vt:lpstr>
      <vt:lpstr>Courier</vt:lpstr>
      <vt:lpstr>Courier New</vt:lpstr>
      <vt:lpstr>Tw Cen MT</vt:lpstr>
      <vt:lpstr>Tw Cen MT Condensed</vt:lpstr>
      <vt:lpstr>Wingdings</vt:lpstr>
      <vt:lpstr>Wingdings 3</vt:lpstr>
      <vt:lpstr>Integral</vt:lpstr>
      <vt:lpstr>Data Literacy and Management Basics</vt:lpstr>
      <vt:lpstr>PowerPoint Presentation</vt:lpstr>
      <vt:lpstr>Disclosure of Relevant Financial Relationships</vt:lpstr>
      <vt:lpstr>Relevant Financial Relationships</vt:lpstr>
      <vt:lpstr>PowerPoint Presentation</vt:lpstr>
      <vt:lpstr>The DIKW Pyramid</vt:lpstr>
      <vt:lpstr>Data Science Background</vt:lpstr>
      <vt:lpstr>What is data science?</vt:lpstr>
      <vt:lpstr>Computational tools support a broad lifecycle to manage a broad range of data </vt:lpstr>
      <vt:lpstr>Statistics helps us interpret data based on expectations</vt:lpstr>
      <vt:lpstr>Data Analytics IS a SUBSET of Data Science</vt:lpstr>
      <vt:lpstr>Data Science Can be Categorized By How the Data is Applied</vt:lpstr>
      <vt:lpstr>Descriptive Analytics Are Becoming More Common Across Healthcare Settings</vt:lpstr>
      <vt:lpstr>Predictive Analytics Are Emerging In Multiple Domains</vt:lpstr>
      <vt:lpstr>What is the Role of the Laboratorian?</vt:lpstr>
      <vt:lpstr>Where Does Our Data Come From?</vt:lpstr>
      <vt:lpstr>Data in informatics</vt:lpstr>
      <vt:lpstr>Data representation</vt:lpstr>
      <vt:lpstr>Structured data</vt:lpstr>
      <vt:lpstr>Simple (primitive) data types</vt:lpstr>
      <vt:lpstr>How many ways can “100” be represented in a computer?</vt:lpstr>
      <vt:lpstr>Representation has functional implications</vt:lpstr>
      <vt:lpstr>Beyond Primitive Data Types</vt:lpstr>
      <vt:lpstr>We report urinalysis results as 1+, 2+, etc.   Which data type are these results?</vt:lpstr>
      <vt:lpstr>How are complex data types constructed?</vt:lpstr>
      <vt:lpstr>Dates and Times Are Important Complex Data Types</vt:lpstr>
      <vt:lpstr>Vectors &amp; Matrices</vt:lpstr>
      <vt:lpstr>Vectors &amp; Matrices</vt:lpstr>
      <vt:lpstr>Data Frames</vt:lpstr>
      <vt:lpstr>What is a data model?</vt:lpstr>
      <vt:lpstr>How do computers store data?</vt:lpstr>
      <vt:lpstr>Storing data in files</vt:lpstr>
      <vt:lpstr>Delimited files</vt:lpstr>
      <vt:lpstr>Structured text</vt:lpstr>
      <vt:lpstr>Exercise 1</vt:lpstr>
      <vt:lpstr>Data quality</vt:lpstr>
      <vt:lpstr>Ideal World Data</vt:lpstr>
      <vt:lpstr>Real World</vt:lpstr>
      <vt:lpstr>Common Sources of Errors</vt:lpstr>
      <vt:lpstr>Other “Issues” With Data</vt:lpstr>
      <vt:lpstr>Reporting Inconsistencies</vt:lpstr>
      <vt:lpstr>What errors have you seen in your data?</vt:lpstr>
      <vt:lpstr>EHR data quality</vt:lpstr>
      <vt:lpstr>Data flow in summary: Creation to action</vt:lpstr>
      <vt:lpstr>Principles of TIDY Data</vt:lpstr>
      <vt:lpstr>Databases: Data storage plus</vt:lpstr>
      <vt:lpstr>Types of databases (by data organization)</vt:lpstr>
      <vt:lpstr>Why have different kinds of databases?</vt:lpstr>
      <vt:lpstr>Relational databases</vt:lpstr>
      <vt:lpstr>RDB keys, relations, and cardinality</vt:lpstr>
      <vt:lpstr>Describing RDB structure and contents</vt:lpstr>
      <vt:lpstr>RDB Query: Structured Query Language (SQL)</vt:lpstr>
      <vt:lpstr>Relational databases May Utilize a “Tidy” Representation of Data</vt:lpstr>
      <vt:lpstr>Tidy Data Summarized</vt:lpstr>
      <vt:lpstr>Consider a single data set with 4 variables</vt:lpstr>
      <vt:lpstr>Representation 1</vt:lpstr>
      <vt:lpstr>Representation 2</vt:lpstr>
      <vt:lpstr>Representation 3 is Tidy</vt:lpstr>
      <vt:lpstr>Why keep things tidy?</vt:lpstr>
      <vt:lpstr>Tidy Data Summarized</vt:lpstr>
      <vt:lpstr>Exercise 2</vt:lpstr>
      <vt:lpstr>Tips for Generating Your Own Data</vt:lpstr>
      <vt:lpstr>Building your own data set</vt:lpstr>
      <vt:lpstr>Naming Variables</vt:lpstr>
      <vt:lpstr>Respect Data Types When Creating Variables</vt:lpstr>
      <vt:lpstr>Consistency is Critical for Analyzing Categorical Variables</vt:lpstr>
      <vt:lpstr>Thinking Like a Computer</vt:lpstr>
      <vt:lpstr>Computational Thinking</vt:lpstr>
      <vt:lpstr>What’s your problem? Laboratory quality</vt:lpstr>
      <vt:lpstr>What’s your problem? Laboratory quality</vt:lpstr>
      <vt:lpstr>What’s your problem? Process improvement</vt:lpstr>
      <vt:lpstr>What’s your problem? Process improvement</vt:lpstr>
      <vt:lpstr>What’s your problem? Risk prediction</vt:lpstr>
      <vt:lpstr>What’s your problem? Risk prediction</vt:lpstr>
      <vt:lpstr>What’s your problem? Diagnosis</vt:lpstr>
      <vt:lpstr>What’s your problem? Diagnosis</vt:lpstr>
      <vt:lpstr>PowerPoint Presentation</vt:lpstr>
      <vt:lpstr>References &amp;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Basics</dc:title>
  <dc:creator>Patrick C Mathias</dc:creator>
  <cp:lastModifiedBy>Patrick C Mathias</cp:lastModifiedBy>
  <cp:revision>26</cp:revision>
  <dcterms:created xsi:type="dcterms:W3CDTF">2022-06-28T07:45:18Z</dcterms:created>
  <dcterms:modified xsi:type="dcterms:W3CDTF">2025-09-22T20:51:27Z</dcterms:modified>
</cp:coreProperties>
</file>