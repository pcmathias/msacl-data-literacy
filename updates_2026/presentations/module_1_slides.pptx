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9"/>
  </p:notesMasterIdLst>
  <p:sldIdLst>
    <p:sldId id="658" r:id="rId2"/>
    <p:sldId id="659" r:id="rId3"/>
    <p:sldId id="660" r:id="rId4"/>
    <p:sldId id="661" r:id="rId5"/>
    <p:sldId id="663" r:id="rId6"/>
    <p:sldId id="664" r:id="rId7"/>
    <p:sldId id="665" r:id="rId8"/>
    <p:sldId id="666" r:id="rId9"/>
    <p:sldId id="667" r:id="rId10"/>
    <p:sldId id="668" r:id="rId11"/>
    <p:sldId id="669" r:id="rId12"/>
    <p:sldId id="670" r:id="rId13"/>
    <p:sldId id="671" r:id="rId14"/>
    <p:sldId id="672" r:id="rId15"/>
    <p:sldId id="673" r:id="rId16"/>
    <p:sldId id="674" r:id="rId17"/>
    <p:sldId id="675" r:id="rId18"/>
    <p:sldId id="676" r:id="rId19"/>
    <p:sldId id="677" r:id="rId20"/>
    <p:sldId id="678" r:id="rId21"/>
    <p:sldId id="679" r:id="rId22"/>
    <p:sldId id="680" r:id="rId23"/>
    <p:sldId id="684" r:id="rId24"/>
    <p:sldId id="685" r:id="rId25"/>
    <p:sldId id="681" r:id="rId26"/>
    <p:sldId id="682" r:id="rId27"/>
    <p:sldId id="683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B77195-FD98-C94C-964B-B94F94486CC5}" v="4" dt="2025-09-15T22:47:38.5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12"/>
    <p:restoredTop sz="77248"/>
  </p:normalViewPr>
  <p:slideViewPr>
    <p:cSldViewPr snapToGrid="0" snapToObjects="1">
      <p:cViewPr varScale="1">
        <p:scale>
          <a:sx n="95" d="100"/>
          <a:sy n="95" d="100"/>
        </p:scale>
        <p:origin x="10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ick C Mathias" userId="1f09a1f0-1fe3-4224-a48c-12494ec224fd" providerId="ADAL" clId="{6CF872E6-B513-5442-AEAA-8E3BB1AFC010}"/>
    <pc:docChg chg="custSel addSld delSld modSld sldOrd">
      <pc:chgData name="Patrick C Mathias" userId="1f09a1f0-1fe3-4224-a48c-12494ec224fd" providerId="ADAL" clId="{6CF872E6-B513-5442-AEAA-8E3BB1AFC010}" dt="2025-09-19T00:06:26.430" v="319" actId="20577"/>
      <pc:docMkLst>
        <pc:docMk/>
      </pc:docMkLst>
      <pc:sldChg chg="modSp mod">
        <pc:chgData name="Patrick C Mathias" userId="1f09a1f0-1fe3-4224-a48c-12494ec224fd" providerId="ADAL" clId="{6CF872E6-B513-5442-AEAA-8E3BB1AFC010}" dt="2025-09-19T00:06:26.430" v="319" actId="20577"/>
        <pc:sldMkLst>
          <pc:docMk/>
          <pc:sldMk cId="3180917206" sldId="256"/>
        </pc:sldMkLst>
        <pc:spChg chg="mod">
          <ac:chgData name="Patrick C Mathias" userId="1f09a1f0-1fe3-4224-a48c-12494ec224fd" providerId="ADAL" clId="{6CF872E6-B513-5442-AEAA-8E3BB1AFC010}" dt="2025-09-19T00:06:26.430" v="319" actId="20577"/>
          <ac:spMkLst>
            <pc:docMk/>
            <pc:sldMk cId="3180917206" sldId="256"/>
            <ac:spMk id="3" creationId="{683DFD6D-7CDF-8D74-9078-31CF84D69DE0}"/>
          </ac:spMkLst>
        </pc:spChg>
      </pc:sldChg>
      <pc:sldChg chg="del">
        <pc:chgData name="Patrick C Mathias" userId="1f09a1f0-1fe3-4224-a48c-12494ec224fd" providerId="ADAL" clId="{6CF872E6-B513-5442-AEAA-8E3BB1AFC010}" dt="2025-08-27T22:08:29.507" v="1" actId="2696"/>
        <pc:sldMkLst>
          <pc:docMk/>
          <pc:sldMk cId="0" sldId="258"/>
        </pc:sldMkLst>
      </pc:sldChg>
      <pc:sldChg chg="del">
        <pc:chgData name="Patrick C Mathias" userId="1f09a1f0-1fe3-4224-a48c-12494ec224fd" providerId="ADAL" clId="{6CF872E6-B513-5442-AEAA-8E3BB1AFC010}" dt="2025-08-27T22:08:29.507" v="1" actId="2696"/>
        <pc:sldMkLst>
          <pc:docMk/>
          <pc:sldMk cId="0" sldId="259"/>
        </pc:sldMkLst>
      </pc:sldChg>
      <pc:sldChg chg="del">
        <pc:chgData name="Patrick C Mathias" userId="1f09a1f0-1fe3-4224-a48c-12494ec224fd" providerId="ADAL" clId="{6CF872E6-B513-5442-AEAA-8E3BB1AFC010}" dt="2025-08-27T22:08:29.507" v="1" actId="2696"/>
        <pc:sldMkLst>
          <pc:docMk/>
          <pc:sldMk cId="0" sldId="260"/>
        </pc:sldMkLst>
      </pc:sldChg>
      <pc:sldChg chg="del">
        <pc:chgData name="Patrick C Mathias" userId="1f09a1f0-1fe3-4224-a48c-12494ec224fd" providerId="ADAL" clId="{6CF872E6-B513-5442-AEAA-8E3BB1AFC010}" dt="2025-08-27T22:08:29.507" v="1" actId="2696"/>
        <pc:sldMkLst>
          <pc:docMk/>
          <pc:sldMk cId="0" sldId="261"/>
        </pc:sldMkLst>
      </pc:sldChg>
      <pc:sldChg chg="ord">
        <pc:chgData name="Patrick C Mathias" userId="1f09a1f0-1fe3-4224-a48c-12494ec224fd" providerId="ADAL" clId="{6CF872E6-B513-5442-AEAA-8E3BB1AFC010}" dt="2025-09-08T18:47:43.626" v="2" actId="20578"/>
        <pc:sldMkLst>
          <pc:docMk/>
          <pc:sldMk cId="385403375" sldId="270"/>
        </pc:sldMkLst>
      </pc:sldChg>
      <pc:sldChg chg="modSp add mod">
        <pc:chgData name="Patrick C Mathias" userId="1f09a1f0-1fe3-4224-a48c-12494ec224fd" providerId="ADAL" clId="{6CF872E6-B513-5442-AEAA-8E3BB1AFC010}" dt="2025-09-15T22:48:05.430" v="310" actId="20577"/>
        <pc:sldMkLst>
          <pc:docMk/>
          <pc:sldMk cId="40906356" sldId="604"/>
        </pc:sldMkLst>
        <pc:spChg chg="mod">
          <ac:chgData name="Patrick C Mathias" userId="1f09a1f0-1fe3-4224-a48c-12494ec224fd" providerId="ADAL" clId="{6CF872E6-B513-5442-AEAA-8E3BB1AFC010}" dt="2025-09-15T22:48:05.430" v="310" actId="20577"/>
          <ac:spMkLst>
            <pc:docMk/>
            <pc:sldMk cId="40906356" sldId="604"/>
            <ac:spMk id="2" creationId="{4C3BCEFE-FCB3-8B49-E7A8-9C82A3F31917}"/>
          </ac:spMkLst>
        </pc:spChg>
      </pc:sldChg>
      <pc:sldChg chg="del">
        <pc:chgData name="Patrick C Mathias" userId="1f09a1f0-1fe3-4224-a48c-12494ec224fd" providerId="ADAL" clId="{6CF872E6-B513-5442-AEAA-8E3BB1AFC010}" dt="2025-09-15T22:47:25.322" v="262" actId="2696"/>
        <pc:sldMkLst>
          <pc:docMk/>
          <pc:sldMk cId="3560824943" sldId="604"/>
        </pc:sldMkLst>
      </pc:sldChg>
      <pc:sldChg chg="modSp mod">
        <pc:chgData name="Patrick C Mathias" userId="1f09a1f0-1fe3-4224-a48c-12494ec224fd" providerId="ADAL" clId="{6CF872E6-B513-5442-AEAA-8E3BB1AFC010}" dt="2025-09-12T04:55:37.177" v="18" actId="20577"/>
        <pc:sldMkLst>
          <pc:docMk/>
          <pc:sldMk cId="0" sldId="630"/>
        </pc:sldMkLst>
        <pc:spChg chg="mod">
          <ac:chgData name="Patrick C Mathias" userId="1f09a1f0-1fe3-4224-a48c-12494ec224fd" providerId="ADAL" clId="{6CF872E6-B513-5442-AEAA-8E3BB1AFC010}" dt="2025-09-12T04:55:37.177" v="18" actId="20577"/>
          <ac:spMkLst>
            <pc:docMk/>
            <pc:sldMk cId="0" sldId="630"/>
            <ac:spMk id="172" creationId="{00000000-0000-0000-0000-000000000000}"/>
          </ac:spMkLst>
        </pc:spChg>
      </pc:sldChg>
      <pc:sldChg chg="add">
        <pc:chgData name="Patrick C Mathias" userId="1f09a1f0-1fe3-4224-a48c-12494ec224fd" providerId="ADAL" clId="{6CF872E6-B513-5442-AEAA-8E3BB1AFC010}" dt="2025-08-27T22:08:02.341" v="0"/>
        <pc:sldMkLst>
          <pc:docMk/>
          <pc:sldMk cId="0" sldId="643"/>
        </pc:sldMkLst>
      </pc:sldChg>
      <pc:sldChg chg="add">
        <pc:chgData name="Patrick C Mathias" userId="1f09a1f0-1fe3-4224-a48c-12494ec224fd" providerId="ADAL" clId="{6CF872E6-B513-5442-AEAA-8E3BB1AFC010}" dt="2025-08-27T22:08:02.341" v="0"/>
        <pc:sldMkLst>
          <pc:docMk/>
          <pc:sldMk cId="0" sldId="644"/>
        </pc:sldMkLst>
      </pc:sldChg>
      <pc:sldChg chg="modSp new mod">
        <pc:chgData name="Patrick C Mathias" userId="1f09a1f0-1fe3-4224-a48c-12494ec224fd" providerId="ADAL" clId="{6CF872E6-B513-5442-AEAA-8E3BB1AFC010}" dt="2025-09-12T04:58:30.734" v="261" actId="20577"/>
        <pc:sldMkLst>
          <pc:docMk/>
          <pc:sldMk cId="819575088" sldId="645"/>
        </pc:sldMkLst>
        <pc:spChg chg="mod">
          <ac:chgData name="Patrick C Mathias" userId="1f09a1f0-1fe3-4224-a48c-12494ec224fd" providerId="ADAL" clId="{6CF872E6-B513-5442-AEAA-8E3BB1AFC010}" dt="2025-09-12T04:57:14.612" v="36" actId="20577"/>
          <ac:spMkLst>
            <pc:docMk/>
            <pc:sldMk cId="819575088" sldId="645"/>
            <ac:spMk id="2" creationId="{2843C1E2-B1B7-3ADC-724D-606A08EF5039}"/>
          </ac:spMkLst>
        </pc:spChg>
        <pc:spChg chg="mod">
          <ac:chgData name="Patrick C Mathias" userId="1f09a1f0-1fe3-4224-a48c-12494ec224fd" providerId="ADAL" clId="{6CF872E6-B513-5442-AEAA-8E3BB1AFC010}" dt="2025-09-12T04:58:30.734" v="261" actId="20577"/>
          <ac:spMkLst>
            <pc:docMk/>
            <pc:sldMk cId="819575088" sldId="645"/>
            <ac:spMk id="3" creationId="{908FD02F-6452-58AE-72E0-3C7AB412AF7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D3653-9E79-5C4D-8011-4255A78CAC35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564E20-9EA2-8947-B25E-DCABC392F6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87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C085D8A-9CAE-5C47-9CA8-75814F65054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70D86-A789-4044-8569-EB7759992B5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5738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91440" indent="-91440">
              <a:buFont typeface="Arial" panose="020B0604020202020204" pitchFamily="34" charset="0"/>
              <a:buChar char="•"/>
              <a:defRPr sz="3200" baseline="0"/>
            </a:lvl1pPr>
            <a:lvl2pPr>
              <a:defRPr sz="2800" baseline="0"/>
            </a:lvl2pPr>
            <a:lvl3pPr>
              <a:defRPr sz="2400" baseline="0"/>
            </a:lvl3pPr>
            <a:lvl4pPr>
              <a:defRPr sz="2000" baseline="0"/>
            </a:lvl4pPr>
            <a:lvl5pPr>
              <a:defRPr sz="1600" baseline="0"/>
            </a:lvl5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85D8A-9CAE-5C47-9CA8-75814F65054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70D86-A789-4044-8569-EB7759992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407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85D8A-9CAE-5C47-9CA8-75814F65054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70D86-A789-4044-8569-EB7759992B5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635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85D8A-9CAE-5C47-9CA8-75814F65054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70D86-A789-4044-8569-EB7759992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973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85D8A-9CAE-5C47-9CA8-75814F65054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70D86-A789-4044-8569-EB7759992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686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85D8A-9CAE-5C47-9CA8-75814F65054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70D86-A789-4044-8569-EB7759992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134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85D8A-9CAE-5C47-9CA8-75814F65054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70D86-A789-4044-8569-EB7759992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686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85D8A-9CAE-5C47-9CA8-75814F65054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70D86-A789-4044-8569-EB7759992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81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85D8A-9CAE-5C47-9CA8-75814F65054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70D86-A789-4044-8569-EB7759992B5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1469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85D8A-9CAE-5C47-9CA8-75814F65054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70D86-A789-4044-8569-EB7759992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941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85D8A-9CAE-5C47-9CA8-75814F65054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70D86-A789-4044-8569-EB7759992B5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50455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2257425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443" y="2683193"/>
            <a:ext cx="11187112" cy="1463040"/>
          </a:xfrm>
        </p:spPr>
        <p:txBody>
          <a:bodyPr anchor="ctr">
            <a:normAutofit/>
          </a:bodyPr>
          <a:lstStyle>
            <a:lvl1pPr algn="ct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0" y="4617721"/>
            <a:ext cx="12192000" cy="2257425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Oval 5"/>
          <p:cNvSpPr/>
          <p:nvPr userDrawn="1"/>
        </p:nvSpPr>
        <p:spPr>
          <a:xfrm>
            <a:off x="-1" y="4003358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294206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Content Slide">
  <p:cSld name="Standard Content Slid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6" descr="Icon&#10;&#10;Description automatically generated with low confidence"/>
          <p:cNvPicPr preferRelativeResize="0"/>
          <p:nvPr/>
        </p:nvPicPr>
        <p:blipFill rotWithShape="1">
          <a:blip r:embed="rId2">
            <a:alphaModFix amt="5000"/>
          </a:blip>
          <a:srcRect l="14322" t="2614" r="19845" b="19931"/>
          <a:stretch/>
        </p:blipFill>
        <p:spPr>
          <a:xfrm>
            <a:off x="6735337" y="646771"/>
            <a:ext cx="5456664" cy="6211229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599" cy="3937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19100" algn="l">
              <a:lnSpc>
                <a:spcPct val="122222"/>
              </a:lnSpc>
              <a:spcBef>
                <a:spcPts val="1000"/>
              </a:spcBef>
              <a:spcAft>
                <a:spcPts val="0"/>
              </a:spcAft>
              <a:buClr>
                <a:srgbClr val="B01F24"/>
              </a:buClr>
              <a:buSzPts val="3000"/>
              <a:buChar char="•"/>
              <a:defRPr sz="3000"/>
            </a:lvl1pPr>
            <a:lvl2pPr marL="914400" lvl="1" indent="-393700" algn="l">
              <a:lnSpc>
                <a:spcPct val="122222"/>
              </a:lnSpc>
              <a:spcBef>
                <a:spcPts val="500"/>
              </a:spcBef>
              <a:spcAft>
                <a:spcPts val="0"/>
              </a:spcAft>
              <a:buClr>
                <a:srgbClr val="B01F24"/>
              </a:buClr>
              <a:buSzPts val="2600"/>
              <a:buChar char="•"/>
              <a:defRPr sz="2600"/>
            </a:lvl2pPr>
            <a:lvl3pPr marL="1371600" lvl="2" indent="-368300" algn="l">
              <a:lnSpc>
                <a:spcPct val="122222"/>
              </a:lnSpc>
              <a:spcBef>
                <a:spcPts val="500"/>
              </a:spcBef>
              <a:spcAft>
                <a:spcPts val="0"/>
              </a:spcAft>
              <a:buClr>
                <a:srgbClr val="B01F24"/>
              </a:buClr>
              <a:buSzPts val="2200"/>
              <a:buChar char="•"/>
              <a:defRPr sz="2200"/>
            </a:lvl3pPr>
            <a:lvl4pPr marL="1828800" lvl="3" indent="-342900" algn="l">
              <a:lnSpc>
                <a:spcPct val="122222"/>
              </a:lnSpc>
              <a:spcBef>
                <a:spcPts val="500"/>
              </a:spcBef>
              <a:spcAft>
                <a:spcPts val="0"/>
              </a:spcAft>
              <a:buClr>
                <a:srgbClr val="B01F24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2222"/>
              </a:lnSpc>
              <a:spcBef>
                <a:spcPts val="500"/>
              </a:spcBef>
              <a:spcAft>
                <a:spcPts val="0"/>
              </a:spcAft>
              <a:buClr>
                <a:srgbClr val="B01F24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867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01F2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ftr" idx="11"/>
          </p:nvPr>
        </p:nvSpPr>
        <p:spPr>
          <a:xfrm>
            <a:off x="984211" y="6122795"/>
            <a:ext cx="2247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sldNum" idx="12"/>
          </p:nvPr>
        </p:nvSpPr>
        <p:spPr>
          <a:xfrm>
            <a:off x="254193" y="6122796"/>
            <a:ext cx="6381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20092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">
  <p:cSld name="Char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22" descr="Icon&#10;&#10;Description automatically generated with low confidence"/>
          <p:cNvPicPr preferRelativeResize="0"/>
          <p:nvPr/>
        </p:nvPicPr>
        <p:blipFill rotWithShape="1">
          <a:blip r:embed="rId2">
            <a:alphaModFix amt="5000"/>
          </a:blip>
          <a:srcRect l="14322" t="2614" r="19845" b="19931"/>
          <a:stretch/>
        </p:blipFill>
        <p:spPr>
          <a:xfrm>
            <a:off x="6735337" y="646771"/>
            <a:ext cx="5456664" cy="621122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867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01F2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>
            <a:spLocks noGrp="1"/>
          </p:cNvSpPr>
          <p:nvPr>
            <p:ph type="chart" idx="2"/>
          </p:nvPr>
        </p:nvSpPr>
        <p:spPr>
          <a:xfrm>
            <a:off x="838200" y="2600596"/>
            <a:ext cx="7857567" cy="2980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22222"/>
              </a:lnSpc>
              <a:spcBef>
                <a:spcPts val="1000"/>
              </a:spcBef>
              <a:spcAft>
                <a:spcPts val="0"/>
              </a:spcAft>
              <a:buClr>
                <a:srgbClr val="B01F24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22222"/>
              </a:lnSpc>
              <a:spcBef>
                <a:spcPts val="500"/>
              </a:spcBef>
              <a:spcAft>
                <a:spcPts val="0"/>
              </a:spcAft>
              <a:buClr>
                <a:srgbClr val="B01F24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22222"/>
              </a:lnSpc>
              <a:spcBef>
                <a:spcPts val="500"/>
              </a:spcBef>
              <a:spcAft>
                <a:spcPts val="0"/>
              </a:spcAft>
              <a:buClr>
                <a:srgbClr val="B01F24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22222"/>
              </a:lnSpc>
              <a:spcBef>
                <a:spcPts val="500"/>
              </a:spcBef>
              <a:spcAft>
                <a:spcPts val="0"/>
              </a:spcAft>
              <a:buClr>
                <a:srgbClr val="B01F24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22222"/>
              </a:lnSpc>
              <a:spcBef>
                <a:spcPts val="500"/>
              </a:spcBef>
              <a:spcAft>
                <a:spcPts val="0"/>
              </a:spcAft>
              <a:buClr>
                <a:srgbClr val="B01F24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body" idx="1"/>
          </p:nvPr>
        </p:nvSpPr>
        <p:spPr>
          <a:xfrm>
            <a:off x="838200" y="1828800"/>
            <a:ext cx="10515600" cy="745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2222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  <a:defRPr/>
            </a:lvl1pPr>
            <a:lvl2pPr marL="914400" lvl="1" indent="-228600" algn="l">
              <a:lnSpc>
                <a:spcPct val="122222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2222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2222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2222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ftr" idx="11"/>
          </p:nvPr>
        </p:nvSpPr>
        <p:spPr>
          <a:xfrm>
            <a:off x="984211" y="6122795"/>
            <a:ext cx="2247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sldNum" idx="12"/>
          </p:nvPr>
        </p:nvSpPr>
        <p:spPr>
          <a:xfrm>
            <a:off x="254193" y="6122796"/>
            <a:ext cx="6381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58932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Content + Picture">
  <p:cSld name="Standard Content + Pictur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9" descr="Icon&#10;&#10;Description automatically generated with low confidence"/>
          <p:cNvPicPr preferRelativeResize="0"/>
          <p:nvPr/>
        </p:nvPicPr>
        <p:blipFill rotWithShape="1">
          <a:blip r:embed="rId2">
            <a:alphaModFix amt="5000"/>
          </a:blip>
          <a:srcRect l="14322" t="2614" r="19845" b="19931"/>
          <a:stretch/>
        </p:blipFill>
        <p:spPr>
          <a:xfrm>
            <a:off x="6735337" y="646771"/>
            <a:ext cx="5456664" cy="6211229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9"/>
          <p:cNvSpPr>
            <a:spLocks noGrp="1"/>
          </p:cNvSpPr>
          <p:nvPr>
            <p:ph type="pic" idx="2"/>
          </p:nvPr>
        </p:nvSpPr>
        <p:spPr>
          <a:xfrm flipH="1">
            <a:off x="6816435" y="1839479"/>
            <a:ext cx="4537759" cy="3937864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9"/>
          <p:cNvSpPr txBox="1">
            <a:spLocks noGrp="1"/>
          </p:cNvSpPr>
          <p:nvPr>
            <p:ph type="body" idx="1"/>
          </p:nvPr>
        </p:nvSpPr>
        <p:spPr>
          <a:xfrm>
            <a:off x="838201" y="1825625"/>
            <a:ext cx="5675334" cy="3937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2222"/>
              </a:lnSpc>
              <a:spcBef>
                <a:spcPts val="1000"/>
              </a:spcBef>
              <a:spcAft>
                <a:spcPts val="0"/>
              </a:spcAft>
              <a:buClr>
                <a:srgbClr val="B01F24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2222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2222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2222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867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01F2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ftr" idx="11"/>
          </p:nvPr>
        </p:nvSpPr>
        <p:spPr>
          <a:xfrm>
            <a:off x="984211" y="6122795"/>
            <a:ext cx="2247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sldNum" idx="12"/>
          </p:nvPr>
        </p:nvSpPr>
        <p:spPr>
          <a:xfrm>
            <a:off x="254193" y="6122796"/>
            <a:ext cx="6381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349225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Content Slide - Blank">
  <p:cSld name="Standard Content Slide - 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/>
          <p:nvPr/>
        </p:nvSpPr>
        <p:spPr>
          <a:xfrm>
            <a:off x="892352" y="1376412"/>
            <a:ext cx="1311833" cy="215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" name="Google Shape;55;p17" descr="Icon&#10;&#10;Description automatically generated with low confidence"/>
          <p:cNvPicPr preferRelativeResize="0"/>
          <p:nvPr/>
        </p:nvPicPr>
        <p:blipFill rotWithShape="1">
          <a:blip r:embed="rId2">
            <a:alphaModFix amt="5000"/>
          </a:blip>
          <a:srcRect l="14322" t="2614" r="19845" b="19931"/>
          <a:stretch/>
        </p:blipFill>
        <p:spPr>
          <a:xfrm>
            <a:off x="6735337" y="646771"/>
            <a:ext cx="5456664" cy="621122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7"/>
          <p:cNvSpPr txBox="1">
            <a:spLocks noGrp="1"/>
          </p:cNvSpPr>
          <p:nvPr>
            <p:ph type="body" idx="1"/>
          </p:nvPr>
        </p:nvSpPr>
        <p:spPr>
          <a:xfrm>
            <a:off x="838200" y="1443789"/>
            <a:ext cx="10515599" cy="4319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2222"/>
              </a:lnSpc>
              <a:spcBef>
                <a:spcPts val="1000"/>
              </a:spcBef>
              <a:spcAft>
                <a:spcPts val="0"/>
              </a:spcAft>
              <a:buClr>
                <a:srgbClr val="B01F24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2222"/>
              </a:lnSpc>
              <a:spcBef>
                <a:spcPts val="500"/>
              </a:spcBef>
              <a:spcAft>
                <a:spcPts val="0"/>
              </a:spcAft>
              <a:buClr>
                <a:srgbClr val="B01F24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500"/>
              </a:spcBef>
              <a:spcAft>
                <a:spcPts val="0"/>
              </a:spcAft>
              <a:buClr>
                <a:srgbClr val="B01F24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2222"/>
              </a:lnSpc>
              <a:spcBef>
                <a:spcPts val="500"/>
              </a:spcBef>
              <a:spcAft>
                <a:spcPts val="0"/>
              </a:spcAft>
              <a:buClr>
                <a:srgbClr val="B01F24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2222"/>
              </a:lnSpc>
              <a:spcBef>
                <a:spcPts val="500"/>
              </a:spcBef>
              <a:spcAft>
                <a:spcPts val="0"/>
              </a:spcAft>
              <a:buClr>
                <a:srgbClr val="B01F24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867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01F2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ftr" idx="11"/>
          </p:nvPr>
        </p:nvSpPr>
        <p:spPr>
          <a:xfrm>
            <a:off x="984211" y="6122795"/>
            <a:ext cx="2247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sldNum" idx="12"/>
          </p:nvPr>
        </p:nvSpPr>
        <p:spPr>
          <a:xfrm>
            <a:off x="254193" y="6122796"/>
            <a:ext cx="63815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90786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Your_Turn_5min"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Timer_Black_W_10_Alarm-6">
            <a:hlinkClick r:id="" action="ppaction://media"/>
          </p:cNvPr>
          <p:cNvPicPr>
            <a:picLocks noChangeAspect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680030" y="5679828"/>
            <a:ext cx="2130970" cy="63761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5013B-1C83-744C-AE64-CBAFADC9E8F0}" type="datetime1">
              <a:rPr lang="en-US" smtClean="0">
                <a:solidFill>
                  <a:prstClr val="black">
                    <a:lumMod val="95000"/>
                    <a:lumOff val="5000"/>
                  </a:prstClr>
                </a:solidFill>
              </a:rPr>
              <a:t>9/29/26</a:t>
            </a:fld>
            <a:endParaRPr lang="en-US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BC154-6848-214C-B925-399887F0DE31}" type="slidenum">
              <a:rPr lang="en-US" smtClean="0">
                <a:solidFill>
                  <a:prstClr val="black">
                    <a:lumMod val="95000"/>
                    <a:lumOff val="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>
            <a:lvl1pPr algn="ctr">
              <a:defRPr sz="66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Your Turn</a:t>
            </a:r>
          </a:p>
        </p:txBody>
      </p:sp>
      <p:pic>
        <p:nvPicPr>
          <p:cNvPr id="8" name="Timer_Black_W_10_Alarm-6.mov" descr="Timer_Black_W_10_Alarm-6.mov"/>
          <p:cNvPicPr>
            <a:picLocks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9088406" y="11645648"/>
            <a:ext cx="4544635" cy="1359812"/>
          </a:xfrm>
          <a:prstGeom prst="rect">
            <a:avLst/>
          </a:prstGeom>
          <a:ln w="12700">
            <a:solidFill>
              <a:srgbClr val="A6AAA9"/>
            </a:solidFill>
            <a:miter lim="400000"/>
          </a:ln>
        </p:spPr>
      </p:pic>
      <p:sp>
        <p:nvSpPr>
          <p:cNvPr id="10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1024128" y="2238375"/>
            <a:ext cx="9720072" cy="3178175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accent4">
                    <a:lumMod val="75000"/>
                  </a:schemeClr>
                </a:solidFill>
              </a:defRPr>
            </a:lvl1pPr>
            <a:lvl2pPr>
              <a:defRPr sz="28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An exercise</a:t>
            </a:r>
          </a:p>
        </p:txBody>
      </p:sp>
    </p:spTree>
    <p:extLst>
      <p:ext uri="{BB962C8B-B14F-4D97-AF65-F5344CB8AC3E}">
        <p14:creationId xmlns:p14="http://schemas.microsoft.com/office/powerpoint/2010/main" val="4284934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00000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C085D8A-9CAE-5C47-9CA8-75814F650544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A4070D86-A789-4044-8569-EB7759992B5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4233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4" r:id="rId13"/>
    <p:sldLayoutId id="2147483675" r:id="rId14"/>
    <p:sldLayoutId id="2147483676" r:id="rId15"/>
    <p:sldLayoutId id="2147483677" r:id="rId16"/>
    <p:sldLayoutId id="2147483678" r:id="rId17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cap="none" dirty="0"/>
              <a:t>Data Literacy Foundations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DS 100 — Module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1 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377862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By the end of this module, you will be able to:</a:t>
            </a:r>
          </a:p>
          <a:p>
            <a:r>
              <a:rPr lang="en-US" dirty="0"/>
              <a:t>Distinguish common data types and explain why type matters for downstream analysis</a:t>
            </a:r>
          </a:p>
          <a:p>
            <a:r>
              <a:rPr lang="en-US" dirty="0"/>
              <a:t>Identify whether a dataset follows tidy data principles — and articulate the tradeoffs</a:t>
            </a:r>
          </a:p>
          <a:p>
            <a:r>
              <a:rPr lang="en-US" dirty="0"/>
              <a:t>Apply project and file organization principles for a reproducible analysis</a:t>
            </a:r>
          </a:p>
          <a:p>
            <a:r>
              <a:rPr lang="en-US" dirty="0"/>
              <a:t>Recognize common data quality issues and their downstream consequences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We Start: Orienting in RStudio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3986784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This module has </a:t>
            </a:r>
            <a:r>
              <a:rPr lang="en-US" b="1" dirty="0"/>
              <a:t>no R code</a:t>
            </a:r>
            <a:r>
              <a:rPr lang="en-US" dirty="0"/>
              <a:t> — but we'll still work inside RStudio.</a:t>
            </a:r>
          </a:p>
          <a:p>
            <a:r>
              <a:rPr lang="en-US" dirty="0"/>
              <a:t>Today, RStudio is simply a </a:t>
            </a:r>
            <a:r>
              <a:rPr lang="en-US" b="1" dirty="0"/>
              <a:t>text editor</a:t>
            </a:r>
            <a:r>
              <a:rPr lang="en-US" dirty="0"/>
              <a:t>: a place to open files, read them carefully, and record your answers.</a:t>
            </a:r>
          </a:p>
          <a:p>
            <a:r>
              <a:rPr lang="en-US" dirty="0"/>
              <a:t>Open the course project — double-click the .Rproj file</a:t>
            </a:r>
          </a:p>
          <a:p>
            <a:r>
              <a:rPr lang="en-US" dirty="0"/>
              <a:t>In the </a:t>
            </a:r>
            <a:r>
              <a:rPr lang="en-US" b="1" dirty="0"/>
              <a:t>Files</a:t>
            </a:r>
            <a:r>
              <a:rPr lang="en-US" dirty="0"/>
              <a:t> pane, open updates_2026/exercises/module_1_exercises.qmd</a:t>
            </a:r>
          </a:p>
          <a:p>
            <a:r>
              <a:rPr lang="en-US" dirty="0"/>
              <a:t>This file opens in the </a:t>
            </a:r>
            <a:r>
              <a:rPr lang="en-US" b="1" dirty="0"/>
              <a:t>Source</a:t>
            </a:r>
            <a:r>
              <a:rPr lang="en-US" dirty="0"/>
              <a:t> pane — you'll type your answers directly into it</a:t>
            </a:r>
          </a:p>
          <a:p>
            <a:r>
              <a:rPr lang="en-US" dirty="0"/>
              <a:t>Save often (Cmd/Ctrl+S) — nothing here runs or executes</a:t>
            </a:r>
          </a:p>
          <a:p>
            <a:pPr marL="0" indent="0">
              <a:buNone/>
            </a:pPr>
            <a:r>
              <a:rPr lang="en-US" i="1" dirty="0"/>
              <a:t>Getting oriented now — before anything needs to run — is what makes Module 2 feel easy instead of overwhelming.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RStudio — Even for a Non-Coding Module?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3986784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One consistent home for course materials, exercises, and (soon) code</a:t>
            </a:r>
          </a:p>
          <a:p>
            <a:r>
              <a:rPr lang="en-US" dirty="0"/>
              <a:t>The </a:t>
            </a:r>
            <a:r>
              <a:rPr lang="en-US" b="1" dirty="0"/>
              <a:t>Source</a:t>
            </a:r>
            <a:r>
              <a:rPr lang="en-US" dirty="0"/>
              <a:t> pane doubles as a plain-text and Markdown editor</a:t>
            </a:r>
          </a:p>
          <a:p>
            <a:r>
              <a:rPr lang="en-US" dirty="0"/>
              <a:t>Getting comfortable navigating panes </a:t>
            </a:r>
            <a:r>
              <a:rPr lang="en-US" i="1" dirty="0"/>
              <a:t>before</a:t>
            </a:r>
            <a:r>
              <a:rPr lang="en-US" dirty="0"/>
              <a:t> you need to run anything lowers the stakes</a:t>
            </a:r>
          </a:p>
          <a:p>
            <a:r>
              <a:rPr lang="en-US" dirty="0"/>
              <a:t>Module 2 will introduce RStudio as a </a:t>
            </a:r>
            <a:r>
              <a:rPr lang="en-US" i="1" dirty="0"/>
              <a:t>computational</a:t>
            </a:r>
            <a:r>
              <a:rPr lang="en-US" dirty="0"/>
              <a:t> tool — today is just geography</a:t>
            </a:r>
          </a:p>
          <a:p>
            <a:r>
              <a:rPr lang="en-US" dirty="0"/>
              <a:t>Today: RStudio as a text editor — read, navigate, record answers</a:t>
            </a:r>
          </a:p>
          <a:p>
            <a:r>
              <a:rPr lang="en-US" dirty="0"/>
              <a:t>Module 2+: RStudio as a computational tool — import, transform, visualize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1.1 What Is Data?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41148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Data</a:t>
            </a:r>
            <a:r>
              <a:rPr lang="en-US" dirty="0"/>
              <a:t> = observations recorded systematically</a:t>
            </a:r>
          </a:p>
          <a:p>
            <a:r>
              <a:rPr lang="en-US" dirty="0"/>
              <a:t>Every value in a dataset represents something measured, reported, or logged in the real world</a:t>
            </a:r>
          </a:p>
          <a:p>
            <a:r>
              <a:rPr lang="en-US" dirty="0"/>
              <a:t>Two categories worth separating:</a:t>
            </a:r>
          </a:p>
          <a:p>
            <a:pPr lvl="1"/>
            <a:r>
              <a:rPr lang="en-US" b="1" dirty="0"/>
              <a:t>Raw data</a:t>
            </a:r>
            <a:r>
              <a:rPr lang="en-US" dirty="0"/>
              <a:t> — recorded as originally captured (an instrument reading, a timestamp)</a:t>
            </a:r>
          </a:p>
          <a:p>
            <a:pPr lvl="1"/>
            <a:r>
              <a:rPr lang="en-US" b="1" dirty="0"/>
              <a:t>Derived data</a:t>
            </a:r>
            <a:r>
              <a:rPr lang="en-US" dirty="0"/>
              <a:t> — calculated or transformed from raw values (a turnaround time, a mean)</a:t>
            </a:r>
          </a:p>
          <a:p>
            <a:pPr marL="0" indent="0">
              <a:buNone/>
            </a:pPr>
            <a:r>
              <a:rPr lang="en-US" i="1" dirty="0"/>
              <a:t>If you can't say what real-world event a value represents, you don't yet understand your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Structure Matters — Before Any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same facts can be organized many different ways</a:t>
            </a:r>
          </a:p>
          <a:p>
            <a:r>
              <a:rPr lang="en-US" dirty="0"/>
              <a:t>Structure determines:</a:t>
            </a:r>
          </a:p>
          <a:p>
            <a:pPr lvl="1"/>
            <a:r>
              <a:rPr lang="en-US" dirty="0"/>
              <a:t>What questions are </a:t>
            </a:r>
            <a:r>
              <a:rPr lang="en-US" i="1" dirty="0"/>
              <a:t>easy</a:t>
            </a:r>
            <a:r>
              <a:rPr lang="en-US" dirty="0"/>
              <a:t> to answer</a:t>
            </a:r>
          </a:p>
          <a:p>
            <a:pPr lvl="1"/>
            <a:r>
              <a:rPr lang="en-US" dirty="0"/>
              <a:t>What questions are </a:t>
            </a:r>
            <a:r>
              <a:rPr lang="en-US" i="1" dirty="0"/>
              <a:t>possible</a:t>
            </a:r>
            <a:r>
              <a:rPr lang="en-US" dirty="0"/>
              <a:t> to answer at all</a:t>
            </a:r>
          </a:p>
          <a:p>
            <a:pPr lvl="1"/>
            <a:r>
              <a:rPr lang="en-US" dirty="0"/>
              <a:t>How easily errors are introduced or hidden</a:t>
            </a:r>
          </a:p>
          <a:p>
            <a:r>
              <a:rPr lang="en-US" dirty="0"/>
              <a:t>We'll return to this directly in section 1.3 (Tidy Data)</a:t>
            </a:r>
          </a:p>
          <a:p>
            <a:pPr marL="0" indent="0">
              <a:buNone/>
            </a:pPr>
            <a:r>
              <a:rPr lang="en-US" dirty="0"/>
              <a:t>Structure is a decision you make — not a fact about the data itself.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1.2 Data Types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Data Types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38862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data type isn't just a technical label — it determines:</a:t>
            </a:r>
          </a:p>
          <a:p>
            <a:pPr lvl="1"/>
            <a:r>
              <a:rPr lang="en-US" dirty="0"/>
              <a:t>What operations are valid (can you average it? sort it? subtract it?)</a:t>
            </a:r>
          </a:p>
          <a:p>
            <a:pPr lvl="1"/>
            <a:r>
              <a:rPr lang="en-US" dirty="0"/>
              <a:t>How software will interpret ambiguous values</a:t>
            </a:r>
          </a:p>
          <a:p>
            <a:pPr lvl="1"/>
            <a:r>
              <a:rPr lang="en-US" dirty="0"/>
              <a:t>Whether a value like NA means </a:t>
            </a:r>
            <a:r>
              <a:rPr lang="en-US" i="1" dirty="0"/>
              <a:t>missing</a:t>
            </a:r>
            <a:r>
              <a:rPr lang="en-US" dirty="0"/>
              <a:t> or literally the state of Nebraska</a:t>
            </a:r>
          </a:p>
          <a:p>
            <a:r>
              <a:rPr lang="en-US" dirty="0"/>
              <a:t>Misidentifying a type is one of the most common — and most silent — sources of analysis errors.</a:t>
            </a:r>
          </a:p>
          <a:p>
            <a:pPr marL="0" indent="0">
              <a:buNone/>
            </a:pPr>
            <a:r>
              <a:rPr lang="en-US" i="1" dirty="0"/>
              <a:t>A wrong data type doesn't crash your code. It just quietly gives you the wrong answer.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Data Types</a:t>
            </a:r>
          </a:p>
        </p:txBody>
      </p:sp>
      <p:pic>
        <p:nvPicPr>
          <p:cNvPr id="3" name="Common Data Types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7" y="2300000"/>
            <a:ext cx="10004366" cy="400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0000"/>
            <a:ext cx="10515600" cy="1250000"/>
          </a:xfrm>
        </p:spPr>
        <p:txBody>
          <a:bodyPr/>
          <a:lstStyle/>
          <a:p>
            <a:r>
              <a:rPr lang="en-US" sz="3200" dirty="0"/>
              <a:t>A Special Case: Censored / Below-LOD Values</a:t>
            </a:r>
          </a:p>
        </p:txBody>
      </p:sp>
      <p:sp>
        <p:nvSpPr>
          <p:cNvPr id="3" name="Body 2"/>
          <p:cNvSpPr>
            <a:spLocks noGrp="1"/>
          </p:cNvSpPr>
          <p:nvPr>
            <p:ph type="body" idx="1"/>
          </p:nvPr>
        </p:nvSpPr>
        <p:spPr>
          <a:xfrm>
            <a:off x="838200" y="1900000"/>
            <a:ext cx="5400000" cy="3200000"/>
          </a:xfrm>
        </p:spPr>
        <p:txBody>
          <a:bodyPr>
            <a:norm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800" dirty="0"/>
              <a:t>Clinical and MS data often contain values reported as “&lt;0.5” or “undetectable”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800" dirty="0"/>
              <a:t>These are not missing — they are a special type: censored data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800" dirty="0"/>
              <a:t>The true value is known to be somewhere below a threshold, not unknown entirely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800" dirty="0"/>
              <a:t>Treating a censored value as missing (or worse, as zero) can distort every downstream summary statistic</a:t>
            </a:r>
          </a:p>
        </p:txBody>
      </p:sp>
      <p:sp>
        <p:nvSpPr>
          <p:cNvPr id="4" name="Callout"/>
          <p:cNvSpPr txBox="1"/>
          <p:nvPr/>
        </p:nvSpPr>
        <p:spPr>
          <a:xfrm>
            <a:off x="838200" y="5250000"/>
            <a:ext cx="5400000" cy="1250000"/>
          </a:xfrm>
          <a:prstGeom prst="roundRect">
            <a:avLst/>
          </a:prstGeom>
          <a:solidFill>
            <a:srgbClr val="FFF3CD"/>
          </a:solidFill>
          <a:ln>
            <a:solidFill>
              <a:srgbClr val="E0A800"/>
            </a:solidFill>
          </a:ln>
        </p:spPr>
        <p:txBody>
          <a:bodyPr wrap="square" lIns="182880" tIns="91440" rIns="182880" bIns="91440" anchor="ctr">
            <a:normAutofit/>
          </a:bodyPr>
          <a:lstStyle/>
          <a:p>
            <a:r>
              <a:rPr lang="en-US" sz="1500" i="1" dirty="0">
                <a:solidFill>
                  <a:srgbClr val="7A5C00"/>
                </a:solidFill>
              </a:rPr>
              <a:t>We will not perform formal censored-data statistics in this course — but recognizing these values when you see them is essential data literacy.</a:t>
            </a:r>
          </a:p>
        </p:txBody>
      </p:sp>
      <p:pic>
        <p:nvPicPr>
          <p:cNvPr id="5" name="Censored Data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000" y="2100000"/>
            <a:ext cx="5000000" cy="177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in the Wild: A Raw CSV Row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 column tells you the type — you have to infer it from the value and context</a:t>
            </a:r>
          </a:p>
          <a:p>
            <a:r>
              <a:rPr lang="en-US" dirty="0"/>
              <a:t>NA appears twice, but for two different reasons</a:t>
            </a:r>
          </a:p>
          <a:p>
            <a:r>
              <a:rPr lang="en-US" dirty="0"/>
              <a:t>The datetime has no explicit format label — R will have to be told how to read it (Module 2)</a:t>
            </a:r>
          </a:p>
          <a:p>
            <a:pPr marL="0" indent="0">
              <a:buNone/>
            </a:pPr>
            <a:r>
              <a:rPr lang="en-US" dirty="0"/>
              <a:t>Every column in this row is a small decision you'll have to make deliberately.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Check-in 1A: Spot the Types (10 minutes)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24128" y="2238375"/>
            <a:ext cx="9720072" cy="3745565"/>
          </a:xfrm>
        </p:spPr>
        <p:txBody>
          <a:bodyPr>
            <a:normAutofit fontScale="62500" lnSpcReduction="20000"/>
          </a:bodyPr>
          <a:lstStyle/>
          <a:p>
            <a:pPr>
              <a:buFont typeface="Wingdings" pitchFamily="2" charset="2"/>
              <a:buChar char="§"/>
            </a:pPr>
            <a:r>
              <a:rPr lang="en-US" dirty="0"/>
              <a:t>Open chem_data.csv in a plain text editor (not RStudio — a real text editor).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For each of the 13 columns, predict the data type and flag any concerns.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Which columns look numeric vs. categorical? Where might censored or missing values be hiding? Which column will need an explicit datetime format?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Return to module_1_exercises.qmd in RStudio to record your answers.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1.3 Tidy Data Principles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Principles of Tidy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dataset is </a:t>
            </a:r>
            <a:r>
              <a:rPr lang="en-US" b="1" dirty="0"/>
              <a:t>tidy</a:t>
            </a:r>
            <a:r>
              <a:rPr lang="en-US" dirty="0"/>
              <a:t> when:</a:t>
            </a:r>
          </a:p>
          <a:p>
            <a:pPr lvl="1"/>
            <a:r>
              <a:rPr lang="en-US" dirty="0"/>
              <a:t>Every </a:t>
            </a:r>
            <a:r>
              <a:rPr lang="en-US" b="1" dirty="0"/>
              <a:t>variable</a:t>
            </a:r>
            <a:r>
              <a:rPr lang="en-US" dirty="0"/>
              <a:t> has its own column</a:t>
            </a:r>
          </a:p>
          <a:p>
            <a:pPr lvl="1"/>
            <a:r>
              <a:rPr lang="en-US" dirty="0"/>
              <a:t>Every </a:t>
            </a:r>
            <a:r>
              <a:rPr lang="en-US" b="1" dirty="0"/>
              <a:t>observation</a:t>
            </a:r>
            <a:r>
              <a:rPr lang="en-US" dirty="0"/>
              <a:t> has its own row</a:t>
            </a:r>
          </a:p>
          <a:p>
            <a:pPr lvl="1"/>
            <a:r>
              <a:rPr lang="en-US" dirty="0"/>
              <a:t>Every </a:t>
            </a:r>
            <a:r>
              <a:rPr lang="en-US" b="1" dirty="0"/>
              <a:t>value</a:t>
            </a:r>
            <a:r>
              <a:rPr lang="en-US" dirty="0"/>
              <a:t> has its own cell</a:t>
            </a:r>
          </a:p>
          <a:p>
            <a:r>
              <a:rPr lang="en-US" dirty="0"/>
              <a:t>Not a matter of taste — a precise, checkable definition</a:t>
            </a:r>
          </a:p>
          <a:p>
            <a:r>
              <a:rPr lang="en-US" dirty="0"/>
              <a:t>Most tidyverse tools </a:t>
            </a:r>
            <a:r>
              <a:rPr lang="en-US" i="1" dirty="0"/>
              <a:t>assume</a:t>
            </a:r>
            <a:r>
              <a:rPr lang="en-US" dirty="0"/>
              <a:t> tidy input</a:t>
            </a:r>
          </a:p>
          <a:p>
            <a:pPr marL="0" indent="0">
              <a:buNone/>
            </a:pPr>
            <a:r>
              <a:rPr lang="en-US" i="1" dirty="0"/>
              <a:t>Tidy data isn't prettier data. It's data shaped for the tools you're about to use.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Same Facts, Two Structures</a:t>
            </a:r>
          </a:p>
        </p:txBody>
      </p:sp>
      <p:pic>
        <p:nvPicPr>
          <p:cNvPr id="3" name="Long vs Wide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00" y="2725687"/>
            <a:ext cx="10500000" cy="3148625"/>
          </a:xfrm>
          <a:prstGeom prst="rect">
            <a:avLst/>
          </a:prstGeom>
        </p:spPr>
      </p:pic>
      <p:sp>
        <p:nvSpPr>
          <p:cNvPr id="4" name="Caption"/>
          <p:cNvSpPr txBox="1"/>
          <p:nvPr/>
        </p:nvSpPr>
        <p:spPr>
          <a:xfrm>
            <a:off x="846000" y="6000000"/>
            <a:ext cx="10500000" cy="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en-US" sz="1800" i="1" dirty="0"/>
              <a:t>Same information — very different shapes. Notice the explicit NA that appears only once the data is widened.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Tradeoffs: Long vs. Wide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46000" y="1900000"/>
          <a:ext cx="10500600" cy="2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Long (tidy)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Wide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r>
                        <a:rPr lang="en-US" sz="1600" dirty="0"/>
                        <a:t>Add a new analyte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Add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Add a column, restructure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r>
                        <a:rPr lang="en-US" sz="1600" dirty="0"/>
                        <a:t>Filter by analyte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Easy (filter())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Awkward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r>
                        <a:rPr lang="en-US" sz="1600" dirty="0"/>
                        <a:t>Human-readable summary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Harder to 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Easy to scan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r>
                        <a:rPr lang="en-US" sz="1600" dirty="0"/>
                        <a:t>Feed into ggplot2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Usually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Usually needs reshaping first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Notes"/>
          <p:cNvSpPr txBox="1"/>
          <p:nvPr/>
        </p:nvSpPr>
        <p:spPr>
          <a:xfrm>
            <a:off x="846000" y="4700000"/>
            <a:ext cx="10500600" cy="1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600" dirty="0"/>
              <a:t>Neither format is “wrong” — but one is almost always easier for a given task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/>
              <a:t>The tidyverse gives you tools (pivot_longer(), pivot_wider()) to convert between them — we'll see these in Module 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Check-in 1B: Tidy or Not Tidy? (8 minutes)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024128" y="2238375"/>
            <a:ext cx="9720072" cy="3772460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itchFamily="2" charset="2"/>
              <a:buChar char="§"/>
            </a:pPr>
            <a:r>
              <a:rPr lang="en-US" dirty="0"/>
              <a:t>Compare chem_data.csv (long) and chem_data_wide.csv (wide).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Answer three written questions in module_1_exercises.qmd: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Which tidy principle does the wide format bend?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When is each format easier to use?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What would you need to do to a wide file before analyzing it in R?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1.4 Data Quality and Common Pitfalls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Data Quality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3986784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Missing values</a:t>
            </a:r>
            <a:r>
              <a:rPr lang="en-US" dirty="0"/>
              <a:t> — and knowing </a:t>
            </a:r>
            <a:r>
              <a:rPr lang="en-US" i="1" dirty="0"/>
              <a:t>why</a:t>
            </a:r>
            <a:r>
              <a:rPr lang="en-US" dirty="0"/>
              <a:t> they're missing (not tested vs. not applicable vs. lost)</a:t>
            </a:r>
          </a:p>
          <a:p>
            <a:r>
              <a:rPr lang="en-US" b="1" dirty="0"/>
              <a:t>Duplicate rows</a:t>
            </a:r>
            <a:r>
              <a:rPr lang="en-US" dirty="0"/>
              <a:t> — same observation recorded more than once</a:t>
            </a:r>
          </a:p>
          <a:p>
            <a:r>
              <a:rPr lang="en-US" b="1" dirty="0"/>
              <a:t>Out-of-range values</a:t>
            </a:r>
            <a:r>
              <a:rPr lang="en-US" dirty="0"/>
              <a:t> — a pH of 45, an age of 200</a:t>
            </a:r>
          </a:p>
          <a:p>
            <a:r>
              <a:rPr lang="en-US" b="1" dirty="0"/>
              <a:t>Encoding inconsistencies</a:t>
            </a:r>
            <a:r>
              <a:rPr lang="en-US" dirty="0"/>
              <a:t> — "Male" vs. "M" vs. "male" treated as three different categories</a:t>
            </a:r>
          </a:p>
          <a:p>
            <a:r>
              <a:rPr lang="en-US" b="1" dirty="0"/>
              <a:t>Timestamp errors</a:t>
            </a:r>
            <a:r>
              <a:rPr lang="en-US" dirty="0"/>
              <a:t> — a verify time earlier than the collect time</a:t>
            </a:r>
          </a:p>
          <a:p>
            <a:pPr marL="0" indent="0">
              <a:buNone/>
            </a:pPr>
            <a:r>
              <a:rPr lang="en-US" dirty="0"/>
              <a:t>Each of these can silently corrupt a downstream summary — often without any error message.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“Silent” Errors Are the Dangerous 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3986784"/>
          </a:xfrm>
        </p:spPr>
        <p:txBody>
          <a:bodyPr>
            <a:normAutofit fontScale="92500"/>
          </a:bodyPr>
          <a:lstStyle/>
          <a:p>
            <a:r>
              <a:rPr lang="en-US" dirty="0"/>
              <a:t>Software rarely stops and warns you when data is </a:t>
            </a:r>
            <a:r>
              <a:rPr lang="en-US" i="1" dirty="0"/>
              <a:t>plausible but wrong</a:t>
            </a:r>
          </a:p>
          <a:p>
            <a:r>
              <a:rPr lang="en-US" dirty="0"/>
              <a:t>A mis-encoded category doesn't crash your analysis — it just quietly gets excluded, or double-counted</a:t>
            </a:r>
          </a:p>
          <a:p>
            <a:r>
              <a:rPr lang="en-US" dirty="0"/>
              <a:t>This is exactly why Module 2 introduces a </a:t>
            </a:r>
            <a:r>
              <a:rPr lang="en-US" b="1" dirty="0"/>
              <a:t>validation checklist</a:t>
            </a:r>
            <a:r>
              <a:rPr lang="en-US" dirty="0"/>
              <a:t> as a required first step, every time you import data</a:t>
            </a:r>
          </a:p>
          <a:p>
            <a:pPr marL="0" indent="0">
              <a:buNone/>
            </a:pPr>
            <a:r>
              <a:rPr lang="en-US" i="1" dirty="0"/>
              <a:t>The most dangerous bugs are the ones that produce an answer — just the wrong one.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1.5 Project and File Organization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RStudio Needs a “Point of Reference”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285999"/>
            <a:ext cx="9720073" cy="4383741"/>
          </a:xfrm>
        </p:spPr>
        <p:txBody>
          <a:bodyPr>
            <a:normAutofit fontScale="82500" lnSpcReduction="20000"/>
          </a:bodyPr>
          <a:lstStyle/>
          <a:p>
            <a:r>
              <a:rPr lang="en-US" dirty="0"/>
              <a:t>Every time R reads or writes a file, it looks relative to one location: the </a:t>
            </a:r>
            <a:r>
              <a:rPr lang="en-US" b="1" dirty="0"/>
              <a:t>working directory</a:t>
            </a:r>
          </a:p>
          <a:p>
            <a:r>
              <a:rPr lang="en-US" dirty="0"/>
              <a:t>Write “data/chem_data.csv” and R has to guess </a:t>
            </a:r>
            <a:r>
              <a:rPr lang="en-US" i="1" dirty="0"/>
              <a:t>which</a:t>
            </a:r>
            <a:r>
              <a:rPr lang="en-US" dirty="0"/>
              <a:t> data/ folder you mean — it guesses based on the working directory, not where the file “obviously” is</a:t>
            </a:r>
          </a:p>
          <a:p>
            <a:r>
              <a:rPr lang="en-US" dirty="0"/>
              <a:t>No defined point of reference means the same code can run on your laptop and fail on a colleague’s — or fail on your own machine next month</a:t>
            </a:r>
          </a:p>
          <a:p>
            <a:r>
              <a:rPr lang="en-US" dirty="0"/>
              <a:t>This is </a:t>
            </a:r>
            <a:r>
              <a:rPr lang="en-US" i="1" dirty="0"/>
              <a:t>not</a:t>
            </a:r>
            <a:r>
              <a:rPr lang="en-US" dirty="0"/>
              <a:t> a coding topic — it’s a mental model you need before you write a single line of import code</a:t>
            </a:r>
          </a:p>
          <a:p>
            <a:pPr marL="0" indent="0">
              <a:buNone/>
            </a:pPr>
            <a:r>
              <a:rPr lang="en-US" i="1" dirty="0"/>
              <a:t>A script that only runs from your Desktop isn’t reproducible. It’s just accidentally correct on your computer, today.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RStudio Projects Fix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3986784"/>
          </a:xfrm>
        </p:spPr>
        <p:txBody>
          <a:bodyPr>
            <a:normAutofit fontScale="82500" lnSpcReduction="10000"/>
          </a:bodyPr>
          <a:lstStyle/>
          <a:p>
            <a:r>
              <a:rPr lang="en-US" dirty="0"/>
              <a:t>An </a:t>
            </a:r>
            <a:r>
              <a:rPr lang="en-US" b="1" dirty="0"/>
              <a:t>.Rproj file</a:t>
            </a:r>
            <a:r>
              <a:rPr lang="en-US" dirty="0"/>
              <a:t> marks a folder as a </a:t>
            </a:r>
            <a:r>
              <a:rPr lang="en-US" i="1" dirty="0"/>
              <a:t>project</a:t>
            </a:r>
            <a:r>
              <a:rPr lang="en-US" dirty="0"/>
              <a:t> — opening it tells RStudio “set the working directory here, every time”</a:t>
            </a:r>
          </a:p>
          <a:p>
            <a:r>
              <a:rPr lang="en-US" dirty="0"/>
              <a:t>Every relative path in your code (data/chem_data.csv) is now anchored to that project folder, regardless of whose computer it lives on</a:t>
            </a:r>
          </a:p>
          <a:p>
            <a:r>
              <a:rPr lang="en-US" dirty="0"/>
              <a:t>This is </a:t>
            </a:r>
            <a:r>
              <a:rPr lang="en-US" i="1" dirty="0"/>
              <a:t>why</a:t>
            </a:r>
            <a:r>
              <a:rPr lang="en-US" dirty="0"/>
              <a:t> Module 2 always starts with “open the .Rproj file” — not the script, not the .qmd — the project file first</a:t>
            </a:r>
          </a:p>
          <a:p>
            <a:r>
              <a:rPr lang="en-US" dirty="0"/>
              <a:t>Combined with a consistent folder structure, this is what makes an analysis </a:t>
            </a:r>
            <a:r>
              <a:rPr lang="en-US" b="1" dirty="0"/>
              <a:t>portable</a:t>
            </a:r>
            <a:r>
              <a:rPr lang="en-US" dirty="0"/>
              <a:t>: it runs the same way on any machine</a:t>
            </a:r>
          </a:p>
          <a:p>
            <a:pPr marL="0" indent="0">
              <a:buNone/>
            </a:pPr>
            <a:r>
              <a:rPr lang="en-US" dirty="0"/>
              <a:t>The folder structure on the next slide only pays off once a project file anchors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Simple, Durable Folder Structure</a:t>
            </a:r>
          </a:p>
        </p:txBody>
      </p:sp>
      <p:pic>
        <p:nvPicPr>
          <p:cNvPr id="3" name="Folder Structure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00" y="1950000"/>
            <a:ext cx="9000000" cy="3849000"/>
          </a:xfrm>
          <a:prstGeom prst="rect">
            <a:avLst/>
          </a:prstGeom>
        </p:spPr>
      </p:pic>
      <p:sp>
        <p:nvSpPr>
          <p:cNvPr id="4" name="Notes"/>
          <p:cNvSpPr txBox="1"/>
          <p:nvPr/>
        </p:nvSpPr>
        <p:spPr>
          <a:xfrm>
            <a:off x="846000" y="5799000"/>
            <a:ext cx="10500000" cy="1059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000" b="1" dirty="0"/>
              <a:t>data/ is read-only, in spirit</a:t>
            </a:r>
            <a:r>
              <a:rPr lang="en-US" sz="2000" dirty="0"/>
              <a:t> — never overwrite or edit a raw file by hand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/>
              <a:t>The .Rproj file anchors all relative paths so your code works regardless of where the folder lives on disk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Bringing It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Data types</a:t>
            </a:r>
            <a:r>
              <a:rPr lang="en-US" dirty="0"/>
              <a:t> — determine what's even </a:t>
            </a:r>
            <a:r>
              <a:rPr lang="en-US" i="1" dirty="0"/>
              <a:t>possible</a:t>
            </a:r>
            <a:r>
              <a:rPr lang="en-US" dirty="0"/>
              <a:t> to compute</a:t>
            </a:r>
          </a:p>
          <a:p>
            <a:r>
              <a:rPr lang="en-US" b="1" dirty="0"/>
              <a:t>Tidy structure</a:t>
            </a:r>
            <a:r>
              <a:rPr lang="en-US" dirty="0"/>
              <a:t> — determines what's </a:t>
            </a:r>
            <a:r>
              <a:rPr lang="en-US" i="1" dirty="0"/>
              <a:t>easy</a:t>
            </a:r>
            <a:r>
              <a:rPr lang="en-US" dirty="0"/>
              <a:t> to compute</a:t>
            </a:r>
          </a:p>
          <a:p>
            <a:r>
              <a:rPr lang="en-US" b="1" dirty="0"/>
              <a:t>Data quality</a:t>
            </a:r>
            <a:r>
              <a:rPr lang="en-US" dirty="0"/>
              <a:t> — determines whether your answer is </a:t>
            </a:r>
            <a:r>
              <a:rPr lang="en-US" i="1" dirty="0"/>
              <a:t>trustworthy</a:t>
            </a:r>
          </a:p>
          <a:p>
            <a:r>
              <a:rPr lang="en-US" b="1" dirty="0"/>
              <a:t>File organization</a:t>
            </a:r>
            <a:r>
              <a:rPr lang="en-US" dirty="0"/>
              <a:t> — determines whether your work is </a:t>
            </a:r>
            <a:r>
              <a:rPr lang="en-US" i="1" dirty="0"/>
              <a:t>repeatable</a:t>
            </a:r>
          </a:p>
          <a:p>
            <a:pPr marL="0" indent="0">
              <a:buNone/>
            </a:pPr>
            <a:r>
              <a:rPr lang="en-US" dirty="0"/>
              <a:t>Four habits. Zero lines of R code. All essential before you ever open a script.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Coming Up: Module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RStudio as a </a:t>
            </a:r>
            <a:r>
              <a:rPr lang="en-US" b="1" dirty="0"/>
              <a:t>computational</a:t>
            </a:r>
            <a:r>
              <a:rPr lang="en-US" dirty="0"/>
              <a:t> tool, not just a text editor</a:t>
            </a:r>
          </a:p>
          <a:p>
            <a:r>
              <a:rPr lang="en-US" dirty="0"/>
              <a:t>Importing chem_data.csv with the tidyverse</a:t>
            </a:r>
          </a:p>
          <a:p>
            <a:r>
              <a:rPr lang="en-US" dirty="0"/>
              <a:t>Correcting the types you predicted today</a:t>
            </a:r>
          </a:p>
          <a:p>
            <a:r>
              <a:rPr lang="en-US" dirty="0"/>
              <a:t>A hands-on data validation checklist</a:t>
            </a:r>
          </a:p>
          <a:p>
            <a:pPr marL="0" indent="0">
              <a:buNone/>
            </a:pPr>
            <a:r>
              <a:rPr lang="en-US" b="1" dirty="0"/>
              <a:t>Bring your laptop, charged, with R and RStudio installed.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6b6dd5b-f02f-441a-99a0-162ac5060bd2}" enabled="0" method="" siteId="{f6b6dd5b-f02f-441a-99a0-162ac5060b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{476843CF-5C3C-BA40-A99B-7BEDA83590AC}tf10001061</Template>
  <TotalTime>65846</TotalTime>
  <Words>1635</Words>
  <Application>Microsoft Macintosh PowerPoint</Application>
  <PresentationFormat>Widescreen</PresentationFormat>
  <Paragraphs>139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Tw Cen MT</vt:lpstr>
      <vt:lpstr>Tw Cen MT Condensed</vt:lpstr>
      <vt:lpstr>Wingdings</vt:lpstr>
      <vt:lpstr>Wingdings 3</vt:lpstr>
      <vt:lpstr>Integral</vt:lpstr>
      <vt:lpstr>Data Literacy Foundations</vt:lpstr>
      <vt:lpstr>Module 1 Learning Objectives</vt:lpstr>
      <vt:lpstr>Before We Start: Orienting in RStudio</vt:lpstr>
      <vt:lpstr>Why RStudio — Even for a Non-Coding Module?</vt:lpstr>
      <vt:lpstr>1.1 What Is Data?</vt:lpstr>
      <vt:lpstr>What Is Data?</vt:lpstr>
      <vt:lpstr>Why Structure Matters — Before Any Analysis</vt:lpstr>
      <vt:lpstr>1.2 Data Types</vt:lpstr>
      <vt:lpstr>Why Data Types Matter</vt:lpstr>
      <vt:lpstr>Common Data Types</vt:lpstr>
      <vt:lpstr>A Special Case: Censored / Below-LOD Values</vt:lpstr>
      <vt:lpstr>Types in the Wild: A Raw CSV Row</vt:lpstr>
      <vt:lpstr>Check-in 1A: Spot the Types (10 minutes)</vt:lpstr>
      <vt:lpstr>1.3 Tidy Data Principles</vt:lpstr>
      <vt:lpstr>Three Principles of Tidy Data</vt:lpstr>
      <vt:lpstr>The Same Facts, Two Structures</vt:lpstr>
      <vt:lpstr>Tradeoffs: Long vs. Wide</vt:lpstr>
      <vt:lpstr>Check-in 1B: Tidy or Not Tidy? (8 minutes)</vt:lpstr>
      <vt:lpstr>1.4 Data Quality and Common Pitfalls</vt:lpstr>
      <vt:lpstr>Common Data Quality Issues</vt:lpstr>
      <vt:lpstr>Why “Silent” Errors Are the Dangerous Ones</vt:lpstr>
      <vt:lpstr>1.5 Project and File Organization</vt:lpstr>
      <vt:lpstr>RStudio Needs a “Point of Reference”</vt:lpstr>
      <vt:lpstr>RStudio Projects Fix the Problem</vt:lpstr>
      <vt:lpstr>A Simple, Durable Folder Structure</vt:lpstr>
      <vt:lpstr>Bringing It Together</vt:lpstr>
      <vt:lpstr>Coming Up: Module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Basics</dc:title>
  <dc:creator>Patrick C Mathias</dc:creator>
  <cp:lastModifiedBy>Patrick C Mathias</cp:lastModifiedBy>
  <cp:revision>27</cp:revision>
  <dcterms:created xsi:type="dcterms:W3CDTF">2022-06-28T07:45:18Z</dcterms:created>
  <dcterms:modified xsi:type="dcterms:W3CDTF">2026-09-30T00:12:22Z</dcterms:modified>
</cp:coreProperties>
</file>