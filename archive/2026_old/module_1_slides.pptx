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sldIdLst>
    <p:sldId id="658" r:id="rId2"/>
    <p:sldId id="643" r:id="rId3"/>
    <p:sldId id="644" r:id="rId4"/>
    <p:sldId id="685" r:id="rId5"/>
    <p:sldId id="686" r:id="rId6"/>
    <p:sldId id="659" r:id="rId7"/>
    <p:sldId id="630" r:id="rId8"/>
    <p:sldId id="264" r:id="rId9"/>
    <p:sldId id="631" r:id="rId10"/>
    <p:sldId id="266" r:id="rId11"/>
    <p:sldId id="625" r:id="rId12"/>
    <p:sldId id="626" r:id="rId13"/>
    <p:sldId id="627" r:id="rId14"/>
    <p:sldId id="628" r:id="rId15"/>
    <p:sldId id="629" r:id="rId16"/>
    <p:sldId id="663" r:id="rId17"/>
    <p:sldId id="664" r:id="rId18"/>
    <p:sldId id="284" r:id="rId19"/>
    <p:sldId id="667" r:id="rId20"/>
    <p:sldId id="668" r:id="rId21"/>
    <p:sldId id="614" r:id="rId22"/>
    <p:sldId id="634" r:id="rId23"/>
    <p:sldId id="669" r:id="rId24"/>
    <p:sldId id="670" r:id="rId25"/>
    <p:sldId id="268" r:id="rId26"/>
    <p:sldId id="665" r:id="rId27"/>
    <p:sldId id="651" r:id="rId28"/>
    <p:sldId id="660" r:id="rId29"/>
    <p:sldId id="456" r:id="rId30"/>
    <p:sldId id="687" r:id="rId31"/>
    <p:sldId id="688" r:id="rId32"/>
    <p:sldId id="671" r:id="rId33"/>
    <p:sldId id="672" r:id="rId34"/>
    <p:sldId id="673" r:id="rId35"/>
    <p:sldId id="674" r:id="rId36"/>
    <p:sldId id="675" r:id="rId37"/>
    <p:sldId id="598" r:id="rId38"/>
    <p:sldId id="676" r:id="rId39"/>
    <p:sldId id="677" r:id="rId40"/>
    <p:sldId id="289" r:id="rId41"/>
    <p:sldId id="678" r:id="rId42"/>
    <p:sldId id="679" r:id="rId43"/>
    <p:sldId id="682" r:id="rId44"/>
    <p:sldId id="683" r:id="rId45"/>
    <p:sldId id="684"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02"/>
    <p:restoredTop sz="77248"/>
  </p:normalViewPr>
  <p:slideViewPr>
    <p:cSldViewPr snapToGrid="0" snapToObjects="1">
      <p:cViewPr varScale="1">
        <p:scale>
          <a:sx n="95" d="100"/>
          <a:sy n="95" d="100"/>
        </p:scale>
        <p:origin x="9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a:t>
            </a:r>
            <a:r>
              <a:rPr lang="en-US" baseline="0" dirty="0"/>
              <a:t> slide must be included in your deck WITHOUT MODIFICATION. You will declare your Relevant Financial Relationships on the following slide.</a:t>
            </a:r>
            <a:endParaRPr lang="en-US" dirty="0"/>
          </a:p>
        </p:txBody>
      </p:sp>
      <p:sp>
        <p:nvSpPr>
          <p:cNvPr id="4" name="Slide Number Placeholder 3"/>
          <p:cNvSpPr>
            <a:spLocks noGrp="1"/>
          </p:cNvSpPr>
          <p:nvPr>
            <p:ph type="sldNum" sz="quarter" idx="10"/>
          </p:nvPr>
        </p:nvSpPr>
        <p:spPr/>
        <p:txBody>
          <a:bodyPr/>
          <a:lstStyle/>
          <a:p>
            <a:fld id="{2F668BBD-EEC3-41C7-863D-9AA48E93ECC2}"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a:t>
            </a:fld>
            <a:endParaRPr lang="en-US"/>
          </a:p>
        </p:txBody>
      </p:sp>
    </p:spTree>
    <p:extLst>
      <p:ext uri="{BB962C8B-B14F-4D97-AF65-F5344CB8AC3E}">
        <p14:creationId xmlns:p14="http://schemas.microsoft.com/office/powerpoint/2010/main" val="2249116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000948e32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5000948e32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5000948e32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5000948e32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35000948e32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g35000948e32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5000948e32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g35000948e32_0_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g35000948e32_0_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5000948e32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g35000948e32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Statistics can also be applied to non-numeric data</a:t>
            </a:r>
            <a:endParaRPr/>
          </a:p>
          <a:p>
            <a:pPr marL="0" lvl="0" indent="0" algn="l" rtl="0">
              <a:lnSpc>
                <a:spcPct val="100000"/>
              </a:lnSpc>
              <a:spcBef>
                <a:spcPts val="0"/>
              </a:spcBef>
              <a:spcAft>
                <a:spcPts val="0"/>
              </a:spcAft>
              <a:buSzPts val="1400"/>
              <a:buNone/>
            </a:pPr>
            <a:r>
              <a:rPr lang="en-US"/>
              <a:t>E.g. analysis of how words are used in clinical notes and deriving methods to extract useful info</a:t>
            </a:r>
            <a:endParaRPr/>
          </a:p>
        </p:txBody>
      </p:sp>
      <p:sp>
        <p:nvSpPr>
          <p:cNvPr id="204" name="Google Shape;204;g35000948e32_0_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Pre-computer we usually meant visual artifacts</a:t>
            </a:r>
          </a:p>
          <a:p>
            <a:r>
              <a:rPr lang="en-US" dirty="0"/>
              <a:t>Data standards allow data sharing and interoperability</a:t>
            </a:r>
          </a:p>
        </p:txBody>
      </p:sp>
      <p:sp>
        <p:nvSpPr>
          <p:cNvPr id="4" name="Slide Number Placeholder 3"/>
          <p:cNvSpPr>
            <a:spLocks noGrp="1"/>
          </p:cNvSpPr>
          <p:nvPr>
            <p:ph type="sldNum" sz="quarter" idx="5"/>
          </p:nvPr>
        </p:nvSpPr>
        <p:spPr/>
        <p:txBody>
          <a:bodyPr/>
          <a:lstStyle/>
          <a:p>
            <a:fld id="{BA8C5944-C2A2-7948-A427-5DBC5EDE9FCD}" type="slidenum">
              <a:rPr lang="en-US" smtClean="0"/>
              <a:t>18</a:t>
            </a:fld>
            <a:endParaRPr lang="en-US"/>
          </a:p>
        </p:txBody>
      </p:sp>
    </p:spTree>
    <p:extLst>
      <p:ext uri="{BB962C8B-B14F-4D97-AF65-F5344CB8AC3E}">
        <p14:creationId xmlns:p14="http://schemas.microsoft.com/office/powerpoint/2010/main" val="2123579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520d562d42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520d562d42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Tidy data is covered in module 3 so can add here or not- PCM referenced a visual in presentation. Might be helpful</a:t>
            </a:r>
            <a:endParaRPr/>
          </a:p>
          <a:p>
            <a:pPr marL="0" lvl="0" indent="0" algn="l" rtl="0">
              <a:spcBef>
                <a:spcPts val="0"/>
              </a:spcBef>
              <a:spcAft>
                <a:spcPts val="0"/>
              </a:spcAft>
              <a:buClr>
                <a:schemeClr val="dk1"/>
              </a:buClr>
              <a:buSzPts val="1100"/>
              <a:buFont typeface="Arial"/>
              <a:buNone/>
            </a:pPr>
            <a:r>
              <a:rPr lang="en-US"/>
              <a:t>image generated with chat gpt- can refine this visual and label if needed</a:t>
            </a:r>
            <a:endParaRPr/>
          </a:p>
        </p:txBody>
      </p:sp>
      <p:sp>
        <p:nvSpPr>
          <p:cNvPr id="219" name="Google Shape;219;g3520d562d42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29</a:t>
            </a:fld>
            <a:endParaRPr lang="en-US"/>
          </a:p>
        </p:txBody>
      </p:sp>
    </p:spTree>
    <p:extLst>
      <p:ext uri="{BB962C8B-B14F-4D97-AF65-F5344CB8AC3E}">
        <p14:creationId xmlns:p14="http://schemas.microsoft.com/office/powerpoint/2010/main" val="3231551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90925-8474-CE14-ED54-424EA8E3F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9A8CB-9508-8AD0-0785-BD8CF9448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EC633-E72C-C5E0-1F7C-47F7330351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D373A5-7A92-C9EE-9413-70D5735CA0D2}"/>
              </a:ext>
            </a:extLst>
          </p:cNvPr>
          <p:cNvSpPr>
            <a:spLocks noGrp="1"/>
          </p:cNvSpPr>
          <p:nvPr>
            <p:ph type="sldNum" sz="quarter" idx="5"/>
          </p:nvPr>
        </p:nvSpPr>
        <p:spPr/>
        <p:txBody>
          <a:bodyPr/>
          <a:lstStyle/>
          <a:p>
            <a:fld id="{0A193586-FEB5-7C43-8F44-7EFAE4EECA28}" type="slidenum">
              <a:rPr lang="en-US" smtClean="0"/>
              <a:t>30</a:t>
            </a:fld>
            <a:endParaRPr lang="en-US"/>
          </a:p>
        </p:txBody>
      </p:sp>
    </p:spTree>
    <p:extLst>
      <p:ext uri="{BB962C8B-B14F-4D97-AF65-F5344CB8AC3E}">
        <p14:creationId xmlns:p14="http://schemas.microsoft.com/office/powerpoint/2010/main" val="30706661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E4CE-0A71-E514-2562-51D9332DB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77469-D750-C22D-979E-EDA30A7E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AAAAC-B8D1-1E36-3CFA-8436FF1CAC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F739C6-41E8-1266-E982-4C175C6ACB97}"/>
              </a:ext>
            </a:extLst>
          </p:cNvPr>
          <p:cNvSpPr>
            <a:spLocks noGrp="1"/>
          </p:cNvSpPr>
          <p:nvPr>
            <p:ph type="sldNum" sz="quarter" idx="5"/>
          </p:nvPr>
        </p:nvSpPr>
        <p:spPr/>
        <p:txBody>
          <a:bodyPr/>
          <a:lstStyle/>
          <a:p>
            <a:fld id="{0A193586-FEB5-7C43-8F44-7EFAE4EECA28}" type="slidenum">
              <a:rPr lang="en-US" smtClean="0"/>
              <a:t>31</a:t>
            </a:fld>
            <a:endParaRPr lang="en-US"/>
          </a:p>
        </p:txBody>
      </p:sp>
    </p:spTree>
    <p:extLst>
      <p:ext uri="{BB962C8B-B14F-4D97-AF65-F5344CB8AC3E}">
        <p14:creationId xmlns:p14="http://schemas.microsoft.com/office/powerpoint/2010/main" val="4256926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Why is data quality important for computers? Humans become conservative when data is uncertain and the stakes are high computers don’t unless programmed in, handling uncertainty, incorporating </a:t>
            </a:r>
            <a:r>
              <a:rPr lang="en-US"/>
              <a:t>low quality </a:t>
            </a:r>
            <a:r>
              <a:rPr lang="en-US" dirty="0"/>
              <a:t>into result (result quality may reflect lowest quality data), garbage in &amp; garbage out</a:t>
            </a:r>
          </a:p>
        </p:txBody>
      </p:sp>
      <p:sp>
        <p:nvSpPr>
          <p:cNvPr id="4" name="Slide Number Placeholder 3"/>
          <p:cNvSpPr>
            <a:spLocks noGrp="1"/>
          </p:cNvSpPr>
          <p:nvPr>
            <p:ph type="sldNum" sz="quarter" idx="5"/>
          </p:nvPr>
        </p:nvSpPr>
        <p:spPr/>
        <p:txBody>
          <a:bodyPr/>
          <a:lstStyle/>
          <a:p>
            <a:fld id="{BA8C5944-C2A2-7948-A427-5DBC5EDE9FCD}" type="slidenum">
              <a:rPr lang="en-US" smtClean="0"/>
              <a:t>40</a:t>
            </a:fld>
            <a:endParaRPr lang="en-US"/>
          </a:p>
        </p:txBody>
      </p:sp>
    </p:spTree>
    <p:extLst>
      <p:ext uri="{BB962C8B-B14F-4D97-AF65-F5344CB8AC3E}">
        <p14:creationId xmlns:p14="http://schemas.microsoft.com/office/powerpoint/2010/main" val="3837286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2942069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1"/>
        <p:cNvGrpSpPr/>
        <p:nvPr/>
      </p:nvGrpSpPr>
      <p:grpSpPr>
        <a:xfrm>
          <a:off x="0" y="0"/>
          <a:ext cx="0" cy="0"/>
          <a:chOff x="0" y="0"/>
          <a:chExt cx="0" cy="0"/>
        </a:xfrm>
      </p:grpSpPr>
      <p:pic>
        <p:nvPicPr>
          <p:cNvPr id="32" name="Google Shape;32;p16"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33" name="Google Shape;33;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419100" algn="l">
              <a:lnSpc>
                <a:spcPct val="122222"/>
              </a:lnSpc>
              <a:spcBef>
                <a:spcPts val="1000"/>
              </a:spcBef>
              <a:spcAft>
                <a:spcPts val="0"/>
              </a:spcAft>
              <a:buClr>
                <a:srgbClr val="B01F24"/>
              </a:buClr>
              <a:buSzPts val="3000"/>
              <a:buChar char="•"/>
              <a:defRPr sz="3000"/>
            </a:lvl1pPr>
            <a:lvl2pPr marL="914400" lvl="1" indent="-393700" algn="l">
              <a:lnSpc>
                <a:spcPct val="122222"/>
              </a:lnSpc>
              <a:spcBef>
                <a:spcPts val="500"/>
              </a:spcBef>
              <a:spcAft>
                <a:spcPts val="0"/>
              </a:spcAft>
              <a:buClr>
                <a:srgbClr val="B01F24"/>
              </a:buClr>
              <a:buSzPts val="2600"/>
              <a:buChar char="•"/>
              <a:defRPr sz="2600"/>
            </a:lvl2pPr>
            <a:lvl3pPr marL="1371600" lvl="2" indent="-368300" algn="l">
              <a:lnSpc>
                <a:spcPct val="122222"/>
              </a:lnSpc>
              <a:spcBef>
                <a:spcPts val="500"/>
              </a:spcBef>
              <a:spcAft>
                <a:spcPts val="0"/>
              </a:spcAft>
              <a:buClr>
                <a:srgbClr val="B01F24"/>
              </a:buClr>
              <a:buSzPts val="2200"/>
              <a:buChar char="•"/>
              <a:defRPr sz="2200"/>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2009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4"/>
        <p:cNvGrpSpPr/>
        <p:nvPr/>
      </p:nvGrpSpPr>
      <p:grpSpPr>
        <a:xfrm>
          <a:off x="0" y="0"/>
          <a:ext cx="0" cy="0"/>
          <a:chOff x="0" y="0"/>
          <a:chExt cx="0" cy="0"/>
        </a:xfrm>
      </p:grpSpPr>
      <p:pic>
        <p:nvPicPr>
          <p:cNvPr id="45" name="Google Shape;45;p22"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46" name="Google Shape;46;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589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60"/>
        <p:cNvGrpSpPr/>
        <p:nvPr/>
      </p:nvGrpSpPr>
      <p:grpSpPr>
        <a:xfrm>
          <a:off x="0" y="0"/>
          <a:ext cx="0" cy="0"/>
          <a:chOff x="0" y="0"/>
          <a:chExt cx="0" cy="0"/>
        </a:xfrm>
      </p:grpSpPr>
      <p:pic>
        <p:nvPicPr>
          <p:cNvPr id="61" name="Google Shape;61;p19"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62" name="Google Shape;62;p19"/>
          <p:cNvSpPr>
            <a:spLocks noGrp="1"/>
          </p:cNvSpPr>
          <p:nvPr>
            <p:ph type="pic" idx="2"/>
          </p:nvPr>
        </p:nvSpPr>
        <p:spPr>
          <a:xfrm flipH="1">
            <a:off x="6816435" y="1839479"/>
            <a:ext cx="4537759" cy="3937864"/>
          </a:xfrm>
          <a:prstGeom prst="rect">
            <a:avLst/>
          </a:prstGeom>
          <a:noFill/>
          <a:ln>
            <a:noFill/>
          </a:ln>
        </p:spPr>
      </p:sp>
      <p:sp>
        <p:nvSpPr>
          <p:cNvPr id="63" name="Google Shape;63;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349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tandard Content Slide - Blank">
  <p:cSld name="Standard Content Slide - Blank">
    <p:spTree>
      <p:nvGrpSpPr>
        <p:cNvPr id="1" name="Shape 53"/>
        <p:cNvGrpSpPr/>
        <p:nvPr/>
      </p:nvGrpSpPr>
      <p:grpSpPr>
        <a:xfrm>
          <a:off x="0" y="0"/>
          <a:ext cx="0" cy="0"/>
          <a:chOff x="0" y="0"/>
          <a:chExt cx="0" cy="0"/>
        </a:xfrm>
      </p:grpSpPr>
      <p:sp>
        <p:nvSpPr>
          <p:cNvPr id="54" name="Google Shape;54;p17"/>
          <p:cNvSpPr/>
          <p:nvPr/>
        </p:nvSpPr>
        <p:spPr>
          <a:xfrm>
            <a:off x="892352" y="1376412"/>
            <a:ext cx="1311833" cy="2156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5" name="Google Shape;55;p17"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56" name="Google Shape;56;p17"/>
          <p:cNvSpPr txBox="1">
            <a:spLocks noGrp="1"/>
          </p:cNvSpPr>
          <p:nvPr>
            <p:ph type="body" idx="1"/>
          </p:nvPr>
        </p:nvSpPr>
        <p:spPr>
          <a:xfrm>
            <a:off x="838200" y="1443789"/>
            <a:ext cx="10515599" cy="4319702"/>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7"/>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29078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10/1/26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428493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10/1/26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pathologyinformatics.org/teaching-slide-se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cap="none" dirty="0"/>
              <a:t>Data Literacy Foundations</a:t>
            </a:r>
          </a:p>
        </p:txBody>
      </p:sp>
      <p:sp>
        <p:nvSpPr>
          <p:cNvPr id="3" name="Subtitle 2"/>
          <p:cNvSpPr>
            <a:spLocks noGrp="1"/>
          </p:cNvSpPr>
          <p:nvPr>
            <p:ph type="subTitle" idx="1"/>
          </p:nvPr>
        </p:nvSpPr>
        <p:spPr/>
        <p:txBody>
          <a:bodyPr>
            <a:normAutofit/>
          </a:bodyPr>
          <a:lstStyle/>
          <a:p>
            <a:r>
              <a:rPr lang="en-US" sz="2800" dirty="0"/>
              <a:t>DS 100 — Module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Disclosure of Relevant Financial Relationships</a:t>
            </a:r>
          </a:p>
        </p:txBody>
      </p:sp>
      <p:sp>
        <p:nvSpPr>
          <p:cNvPr id="3" name="Subtitle 2"/>
          <p:cNvSpPr>
            <a:spLocks noGrp="1"/>
          </p:cNvSpPr>
          <p:nvPr>
            <p:ph idx="1"/>
          </p:nvPr>
        </p:nvSpPr>
        <p:spPr/>
        <p:txBody>
          <a:bodyPr>
            <a:normAutofit/>
          </a:bodyPr>
          <a:lstStyle/>
          <a:p>
            <a:pPr algn="l"/>
            <a:r>
              <a:rPr lang="en-US" sz="1600" dirty="0">
                <a:solidFill>
                  <a:schemeClr val="tx1"/>
                </a:solidFill>
              </a:rPr>
              <a:t>The faculty, committee members, and staff who are in position to control the content of this activity are required to disclose to MSACL and to learners any financial relationships that have occurred within the last 24 months with ineligible companies whose </a:t>
            </a:r>
            <a:r>
              <a:rPr lang="en-US" sz="1600" i="1" dirty="0">
                <a:solidFill>
                  <a:schemeClr val="tx1"/>
                </a:solidFill>
              </a:rPr>
              <a:t>primary business is producing, marketing, selling, re-selling, or distributing healthcare products </a:t>
            </a:r>
            <a:r>
              <a:rPr lang="en-US" sz="1600" b="1" i="1" dirty="0">
                <a:solidFill>
                  <a:schemeClr val="tx1"/>
                </a:solidFill>
              </a:rPr>
              <a:t>used by or on patients</a:t>
            </a:r>
            <a:r>
              <a:rPr lang="en-US" sz="1600" dirty="0">
                <a:solidFill>
                  <a:schemeClr val="tx1"/>
                </a:solidFill>
              </a:rPr>
              <a:t>. MSACL has reviewed the disclosures and mitigated all relevant financial relationships.</a:t>
            </a:r>
          </a:p>
          <a:p>
            <a:pPr algn="l"/>
            <a:endParaRPr lang="en-US" sz="1600" dirty="0">
              <a:solidFill>
                <a:schemeClr val="tx1"/>
              </a:solidFill>
            </a:endParaRPr>
          </a:p>
          <a:p>
            <a:pPr algn="l"/>
            <a:r>
              <a:rPr lang="en-US" sz="1600" dirty="0">
                <a:solidFill>
                  <a:schemeClr val="tx1"/>
                </a:solidFill>
              </a:rPr>
              <a:t>You can view the financial disclosures of any Steering / Scientific Committee Member or Podium Presenters (except for Industry Workshops, which do not qualify for CME credit) on the MSACL website directly underneath the person’s name. Click “Review Relevant Financial Disclosures”.</a:t>
            </a:r>
          </a:p>
          <a:p>
            <a:pPr algn="l"/>
            <a:endParaRPr lang="en-US" sz="1600" dirty="0">
              <a:solidFill>
                <a:schemeClr val="tx1"/>
              </a:solidFill>
            </a:endParaRPr>
          </a:p>
          <a:p>
            <a:pPr algn="l"/>
            <a:r>
              <a:rPr lang="en-US" sz="1600" dirty="0">
                <a:solidFill>
                  <a:schemeClr val="tx1"/>
                </a:solidFill>
              </a:rPr>
              <a:t>MSACL staff associated with the development of content for this activity report no relevant financial relationships.</a:t>
            </a:r>
          </a:p>
          <a:p>
            <a:pPr algn="l"/>
            <a:endParaRPr lang="en-US" sz="1600" dirty="0">
              <a:solidFill>
                <a:schemeClr val="tx1"/>
              </a:solidFill>
            </a:endParaRPr>
          </a:p>
          <a:p>
            <a:pPr marL="0" indent="0" algn="l">
              <a:buNone/>
            </a:pPr>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a:p>
            <a:pPr algn="l"/>
            <a:endParaRPr lang="en-US" sz="16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33" dirty="0"/>
              <a:t>Relevant Financial Relationships</a:t>
            </a:r>
          </a:p>
        </p:txBody>
      </p:sp>
      <p:graphicFrame>
        <p:nvGraphicFramePr>
          <p:cNvPr id="8" name="Table 7"/>
          <p:cNvGraphicFramePr>
            <a:graphicFrameLocks noGrp="1"/>
          </p:cNvGraphicFramePr>
          <p:nvPr/>
        </p:nvGraphicFramePr>
        <p:xfrm>
          <a:off x="1930400" y="3327400"/>
          <a:ext cx="8127999" cy="176106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40267">
                <a:tc>
                  <a:txBody>
                    <a:bodyPr/>
                    <a:lstStyle/>
                    <a:p>
                      <a:r>
                        <a:rPr lang="en-US" sz="1900" dirty="0"/>
                        <a:t>Company</a:t>
                      </a:r>
                    </a:p>
                  </a:txBody>
                  <a:tcPr marL="121920" marR="121920" marT="60960" marB="60960"/>
                </a:tc>
                <a:tc>
                  <a:txBody>
                    <a:bodyPr/>
                    <a:lstStyle/>
                    <a:p>
                      <a:r>
                        <a:rPr lang="en-US" sz="1900" dirty="0"/>
                        <a:t>Relationship</a:t>
                      </a:r>
                    </a:p>
                  </a:txBody>
                  <a:tcPr marL="121920" marR="121920" marT="60960" marB="60960"/>
                </a:tc>
                <a:tc>
                  <a:txBody>
                    <a:bodyPr/>
                    <a:lstStyle/>
                    <a:p>
                      <a:r>
                        <a:rPr lang="en-US" sz="1900" dirty="0"/>
                        <a:t>Ended?</a:t>
                      </a:r>
                    </a:p>
                  </a:txBody>
                  <a:tcPr marL="121920" marR="121920" marT="60960" marB="60960"/>
                </a:tc>
                <a:extLst>
                  <a:ext uri="{0D108BD9-81ED-4DB2-BD59-A6C34878D82A}">
                    <a16:rowId xmlns:a16="http://schemas.microsoft.com/office/drawing/2014/main" val="10000"/>
                  </a:ext>
                </a:extLst>
              </a:tr>
              <a:tr h="440267">
                <a:tc>
                  <a:txBody>
                    <a:bodyPr/>
                    <a:lstStyle/>
                    <a:p>
                      <a:r>
                        <a:rPr lang="en-US" sz="1900" dirty="0"/>
                        <a:t>None</a:t>
                      </a:r>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1"/>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2"/>
                  </a:ext>
                </a:extLst>
              </a:tr>
              <a:tr h="440267">
                <a:tc>
                  <a:txBody>
                    <a:bodyPr/>
                    <a:lstStyle/>
                    <a:p>
                      <a:endParaRPr lang="en-US" sz="1900" dirty="0"/>
                    </a:p>
                  </a:txBody>
                  <a:tcPr marL="121920" marR="121920" marT="60960" marB="60960"/>
                </a:tc>
                <a:tc>
                  <a:txBody>
                    <a:bodyPr/>
                    <a:lstStyle/>
                    <a:p>
                      <a:endParaRPr lang="en-US" sz="1900" dirty="0"/>
                    </a:p>
                  </a:txBody>
                  <a:tcPr marL="121920" marR="121920" marT="60960" marB="60960"/>
                </a:tc>
                <a:tc>
                  <a:txBody>
                    <a:bodyPr/>
                    <a:lstStyle/>
                    <a:p>
                      <a:endParaRPr lang="en-US" sz="1900" dirty="0"/>
                    </a:p>
                  </a:txBody>
                  <a:tcPr marL="121920" marR="121920" marT="60960" marB="60960"/>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1D5EB-C6E4-923C-0F4A-1D4231D3F066}"/>
              </a:ext>
            </a:extLst>
          </p:cNvPr>
          <p:cNvSpPr>
            <a:spLocks noGrp="1"/>
          </p:cNvSpPr>
          <p:nvPr>
            <p:ph type="title"/>
          </p:nvPr>
        </p:nvSpPr>
        <p:spPr/>
        <p:txBody>
          <a:bodyPr/>
          <a:lstStyle/>
          <a:p>
            <a:r>
              <a:rPr lang="en-US" dirty="0"/>
              <a:t>Getting </a:t>
            </a:r>
            <a:r>
              <a:rPr lang="en-US" dirty="0" err="1"/>
              <a:t>STarted</a:t>
            </a:r>
            <a:endParaRPr lang="en-US" dirty="0"/>
          </a:p>
        </p:txBody>
      </p:sp>
      <p:sp>
        <p:nvSpPr>
          <p:cNvPr id="3" name="Content Placeholder 2">
            <a:extLst>
              <a:ext uri="{FF2B5EF4-FFF2-40B4-BE49-F238E27FC236}">
                <a16:creationId xmlns:a16="http://schemas.microsoft.com/office/drawing/2014/main" id="{1B70CC16-519C-3752-8DA4-7B211063D588}"/>
              </a:ext>
            </a:extLst>
          </p:cNvPr>
          <p:cNvSpPr>
            <a:spLocks noGrp="1"/>
          </p:cNvSpPr>
          <p:nvPr>
            <p:ph idx="1"/>
          </p:nvPr>
        </p:nvSpPr>
        <p:spPr/>
        <p:txBody>
          <a:bodyPr>
            <a:normAutofit/>
          </a:bodyPr>
          <a:lstStyle/>
          <a:p>
            <a:pPr marL="0" indent="0">
              <a:buNone/>
            </a:pPr>
            <a:r>
              <a:rPr lang="en-US" dirty="0"/>
              <a:t>Open the course website:</a:t>
            </a:r>
          </a:p>
          <a:p>
            <a:pPr marL="0" indent="0">
              <a:buNone/>
            </a:pPr>
            <a:r>
              <a:rPr lang="en-US" dirty="0"/>
              <a:t>https://</a:t>
            </a:r>
            <a:r>
              <a:rPr lang="en-US" dirty="0" err="1"/>
              <a:t>github.com</a:t>
            </a:r>
            <a:r>
              <a:rPr lang="en-US" dirty="0"/>
              <a:t>/</a:t>
            </a:r>
            <a:r>
              <a:rPr lang="en-US" dirty="0" err="1"/>
              <a:t>pcmathias</a:t>
            </a:r>
            <a:r>
              <a:rPr lang="en-US" dirty="0"/>
              <a:t>/MSACL-data-literacy/</a:t>
            </a:r>
          </a:p>
        </p:txBody>
      </p:sp>
    </p:spTree>
    <p:extLst>
      <p:ext uri="{BB962C8B-B14F-4D97-AF65-F5344CB8AC3E}">
        <p14:creationId xmlns:p14="http://schemas.microsoft.com/office/powerpoint/2010/main" val="626178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808348-4CB2-D589-CAB6-00415CC9C00B}"/>
              </a:ext>
            </a:extLst>
          </p:cNvPr>
          <p:cNvPicPr>
            <a:picLocks noChangeAspect="1"/>
          </p:cNvPicPr>
          <p:nvPr/>
        </p:nvPicPr>
        <p:blipFill>
          <a:blip r:embed="rId3"/>
          <a:stretch>
            <a:fillRect/>
          </a:stretch>
        </p:blipFill>
        <p:spPr>
          <a:xfrm>
            <a:off x="520147" y="0"/>
            <a:ext cx="11151705" cy="6858000"/>
          </a:xfrm>
          <a:prstGeom prst="rect">
            <a:avLst/>
          </a:prstGeom>
        </p:spPr>
      </p:pic>
      <p:cxnSp>
        <p:nvCxnSpPr>
          <p:cNvPr id="7" name="Straight Arrow Connector 6">
            <a:extLst>
              <a:ext uri="{FF2B5EF4-FFF2-40B4-BE49-F238E27FC236}">
                <a16:creationId xmlns:a16="http://schemas.microsoft.com/office/drawing/2014/main" id="{146D9E51-1096-3D06-AB50-7F7FFB86C343}"/>
              </a:ext>
            </a:extLst>
          </p:cNvPr>
          <p:cNvCxnSpPr>
            <a:cxnSpLocks/>
          </p:cNvCxnSpPr>
          <p:nvPr/>
        </p:nvCxnSpPr>
        <p:spPr>
          <a:xfrm flipH="1" flipV="1">
            <a:off x="8339000" y="2185034"/>
            <a:ext cx="1033600" cy="3833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CA02CCD-B8A3-846F-74A7-C4B898E85CD6}"/>
              </a:ext>
            </a:extLst>
          </p:cNvPr>
          <p:cNvCxnSpPr>
            <a:cxnSpLocks/>
          </p:cNvCxnSpPr>
          <p:nvPr/>
        </p:nvCxnSpPr>
        <p:spPr>
          <a:xfrm flipH="1" flipV="1">
            <a:off x="6434000" y="4650328"/>
            <a:ext cx="1033600" cy="3833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F8FC19B-F699-9A3A-219F-2E734CDD8B0D}"/>
              </a:ext>
            </a:extLst>
          </p:cNvPr>
          <p:cNvSpPr txBox="1"/>
          <p:nvPr/>
        </p:nvSpPr>
        <p:spPr>
          <a:xfrm>
            <a:off x="9372600" y="2568389"/>
            <a:ext cx="2528047" cy="646331"/>
          </a:xfrm>
          <a:prstGeom prst="rect">
            <a:avLst/>
          </a:prstGeom>
          <a:noFill/>
        </p:spPr>
        <p:txBody>
          <a:bodyPr wrap="square" rtlCol="0">
            <a:spAutoFit/>
          </a:bodyPr>
          <a:lstStyle/>
          <a:p>
            <a:r>
              <a:rPr lang="en-US" b="1" dirty="0"/>
              <a:t>1. Click green “Code” button</a:t>
            </a:r>
          </a:p>
        </p:txBody>
      </p:sp>
      <p:sp>
        <p:nvSpPr>
          <p:cNvPr id="11" name="TextBox 10">
            <a:extLst>
              <a:ext uri="{FF2B5EF4-FFF2-40B4-BE49-F238E27FC236}">
                <a16:creationId xmlns:a16="http://schemas.microsoft.com/office/drawing/2014/main" id="{BCAD11A0-F6BE-9C08-2975-3D0ACF07ADF5}"/>
              </a:ext>
            </a:extLst>
          </p:cNvPr>
          <p:cNvSpPr txBox="1"/>
          <p:nvPr/>
        </p:nvSpPr>
        <p:spPr>
          <a:xfrm>
            <a:off x="7467600" y="5033683"/>
            <a:ext cx="2528047" cy="369332"/>
          </a:xfrm>
          <a:prstGeom prst="rect">
            <a:avLst/>
          </a:prstGeom>
          <a:noFill/>
        </p:spPr>
        <p:txBody>
          <a:bodyPr wrap="square" rtlCol="0">
            <a:spAutoFit/>
          </a:bodyPr>
          <a:lstStyle/>
          <a:p>
            <a:r>
              <a:rPr lang="en-US" b="1" dirty="0"/>
              <a:t>2. Click “Download ZIP”</a:t>
            </a:r>
          </a:p>
        </p:txBody>
      </p:sp>
      <p:sp>
        <p:nvSpPr>
          <p:cNvPr id="12" name="TextBox 11">
            <a:extLst>
              <a:ext uri="{FF2B5EF4-FFF2-40B4-BE49-F238E27FC236}">
                <a16:creationId xmlns:a16="http://schemas.microsoft.com/office/drawing/2014/main" id="{5B34C46B-E1C8-1A4A-C740-6A844C949578}"/>
              </a:ext>
            </a:extLst>
          </p:cNvPr>
          <p:cNvSpPr txBox="1"/>
          <p:nvPr/>
        </p:nvSpPr>
        <p:spPr>
          <a:xfrm>
            <a:off x="3442447" y="5943601"/>
            <a:ext cx="5674659" cy="646331"/>
          </a:xfrm>
          <a:prstGeom prst="rect">
            <a:avLst/>
          </a:prstGeom>
          <a:noFill/>
        </p:spPr>
        <p:txBody>
          <a:bodyPr wrap="square" rtlCol="0">
            <a:spAutoFit/>
          </a:bodyPr>
          <a:lstStyle/>
          <a:p>
            <a:r>
              <a:rPr lang="en-US" b="1" dirty="0"/>
              <a:t>3. Save file to visible place (e.g. a Projects folder)</a:t>
            </a:r>
          </a:p>
          <a:p>
            <a:r>
              <a:rPr lang="en-US" b="1" dirty="0"/>
              <a:t>4. Unzip </a:t>
            </a:r>
          </a:p>
        </p:txBody>
      </p:sp>
    </p:spTree>
    <p:extLst>
      <p:ext uri="{BB962C8B-B14F-4D97-AF65-F5344CB8AC3E}">
        <p14:creationId xmlns:p14="http://schemas.microsoft.com/office/powerpoint/2010/main" val="412889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 Learning Objectives</a:t>
            </a:r>
          </a:p>
        </p:txBody>
      </p:sp>
      <p:sp>
        <p:nvSpPr>
          <p:cNvPr id="3" name="Content Placeholder 2"/>
          <p:cNvSpPr>
            <a:spLocks noGrp="1"/>
          </p:cNvSpPr>
          <p:nvPr>
            <p:ph idx="1"/>
          </p:nvPr>
        </p:nvSpPr>
        <p:spPr>
          <a:xfrm>
            <a:off x="1024128" y="2286000"/>
            <a:ext cx="9720073" cy="3778624"/>
          </a:xfrm>
        </p:spPr>
        <p:txBody>
          <a:bodyPr>
            <a:normAutofit/>
          </a:bodyPr>
          <a:lstStyle/>
          <a:p>
            <a:r>
              <a:rPr lang="en-US" dirty="0"/>
              <a:t>By the end of this module, you will be able to:</a:t>
            </a:r>
          </a:p>
          <a:p>
            <a:r>
              <a:rPr lang="en-US" dirty="0"/>
              <a:t>Distinguish common data types and explain why type matters for downstream analysis</a:t>
            </a:r>
          </a:p>
          <a:p>
            <a:r>
              <a:rPr lang="en-US" dirty="0"/>
              <a:t>Identify whether a dataset follows tidy data principles — and articulate the tradeoffs</a:t>
            </a:r>
          </a:p>
          <a:p>
            <a:r>
              <a:rPr lang="en-US" dirty="0"/>
              <a:t>Recognize common data quality issues and their downstream consequences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0"/>
        <p:cNvGrpSpPr/>
        <p:nvPr/>
      </p:nvGrpSpPr>
      <p:grpSpPr>
        <a:xfrm>
          <a:off x="0" y="0"/>
          <a:ext cx="0" cy="0"/>
          <a:chOff x="0" y="0"/>
          <a:chExt cx="0" cy="0"/>
        </a:xfrm>
      </p:grpSpPr>
      <p:sp>
        <p:nvSpPr>
          <p:cNvPr id="172" name="Google Shape;172;g35000948e32_0_49"/>
          <p:cNvSpPr txBox="1">
            <a:spLocks noGrp="1"/>
          </p:cNvSpPr>
          <p:nvPr>
            <p:ph type="title"/>
          </p:nvPr>
        </p:nvSpPr>
        <p:spPr>
          <a:xfrm>
            <a:off x="1024129" y="585216"/>
            <a:ext cx="4431792" cy="1499616"/>
          </a:xfrm>
          <a:prstGeom prst="rect">
            <a:avLst/>
          </a:prstGeom>
        </p:spPr>
        <p:txBody>
          <a:bodyPr spcFirstLastPara="1" lIns="91425" tIns="45700" rIns="91425" bIns="45700" anchorCtr="0">
            <a:normAutofit/>
          </a:bodyPr>
          <a:lstStyle/>
          <a:p>
            <a:pPr marL="0" lvl="0" indent="0" rtl="0">
              <a:spcBef>
                <a:spcPts val="0"/>
              </a:spcBef>
              <a:spcAft>
                <a:spcPts val="0"/>
              </a:spcAft>
              <a:buSzPts val="1800"/>
              <a:buNone/>
            </a:pPr>
            <a:r>
              <a:rPr lang="en-US" dirty="0"/>
              <a:t>The DIKW Pyramid</a:t>
            </a:r>
            <a:endParaRPr lang="en-US"/>
          </a:p>
        </p:txBody>
      </p:sp>
      <p:sp>
        <p:nvSpPr>
          <p:cNvPr id="171" name="Google Shape;171;g35000948e32_0_49"/>
          <p:cNvSpPr txBox="1">
            <a:spLocks noGrp="1"/>
          </p:cNvSpPr>
          <p:nvPr>
            <p:ph idx="1"/>
          </p:nvPr>
        </p:nvSpPr>
        <p:spPr>
          <a:xfrm>
            <a:off x="1024128" y="2286000"/>
            <a:ext cx="4429615" cy="3931920"/>
          </a:xfrm>
          <a:prstGeom prst="rect">
            <a:avLst/>
          </a:prstGeom>
        </p:spPr>
        <p:txBody>
          <a:bodyPr spcFirstLastPara="1" lIns="91425" tIns="45700" rIns="91425" bIns="45700" anchor="t" anchorCtr="0">
            <a:normAutofit/>
          </a:bodyPr>
          <a:lstStyle/>
          <a:p>
            <a:pPr marL="52388" lvl="0" indent="0" rtl="0">
              <a:spcBef>
                <a:spcPts val="1000"/>
              </a:spcBef>
              <a:spcAft>
                <a:spcPts val="0"/>
              </a:spcAft>
              <a:buSzPct val="100000"/>
              <a:buNone/>
            </a:pPr>
            <a:r>
              <a:rPr lang="en-US" dirty="0"/>
              <a:t>Data to be synthesized into knowledge</a:t>
            </a:r>
          </a:p>
          <a:p>
            <a:pPr marL="52388" lvl="0" indent="0" rtl="0">
              <a:spcBef>
                <a:spcPts val="1000"/>
              </a:spcBef>
              <a:spcAft>
                <a:spcPts val="0"/>
              </a:spcAft>
              <a:buSzPct val="100000"/>
              <a:buNone/>
            </a:pPr>
            <a:endParaRPr lang="en-US" dirty="0"/>
          </a:p>
          <a:p>
            <a:pPr marL="52388" lvl="0" indent="0" rtl="0">
              <a:spcBef>
                <a:spcPts val="1000"/>
              </a:spcBef>
              <a:spcAft>
                <a:spcPts val="0"/>
              </a:spcAft>
              <a:buSzPct val="100000"/>
              <a:buNone/>
            </a:pPr>
            <a:r>
              <a:rPr lang="en-US" dirty="0"/>
              <a:t>Knowledge, in turn, can drive decision making</a:t>
            </a:r>
          </a:p>
        </p:txBody>
      </p:sp>
      <p:pic>
        <p:nvPicPr>
          <p:cNvPr id="174" name="Google Shape;174;g35000948e32_0_49"/>
          <p:cNvPicPr preferRelativeResize="0"/>
          <p:nvPr/>
        </p:nvPicPr>
        <p:blipFill rotWithShape="1">
          <a:blip r:embed="rId3"/>
          <a:stretch/>
        </p:blipFill>
        <p:spPr>
          <a:xfrm>
            <a:off x="6096000" y="1308012"/>
            <a:ext cx="5455921" cy="4241976"/>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8" name="Google Shape;188;g35000948e32_0_6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dirty="0"/>
              <a:t>What is data science?</a:t>
            </a:r>
            <a:endParaRPr dirty="0"/>
          </a:p>
        </p:txBody>
      </p:sp>
      <p:sp>
        <p:nvSpPr>
          <p:cNvPr id="187" name="Google Shape;187;g35000948e32_0_65"/>
          <p:cNvSpPr txBox="1">
            <a:spLocks noGrp="1"/>
          </p:cNvSpPr>
          <p:nvPr>
            <p:ph idx="1"/>
          </p:nvPr>
        </p:nvSpPr>
        <p:spPr>
          <a:prstGeom prst="rect">
            <a:avLst/>
          </a:prstGeom>
          <a:noFill/>
          <a:ln>
            <a:noFill/>
          </a:ln>
        </p:spPr>
        <p:txBody>
          <a:bodyPr spcFirstLastPara="1" wrap="square" lIns="91425" tIns="45700" rIns="91425" bIns="45700" anchor="t" anchorCtr="0">
            <a:normAutofit fontScale="92500"/>
          </a:bodyPr>
          <a:lstStyle/>
          <a:p>
            <a:pPr marL="457200" lvl="0" indent="-419100" algn="l" rtl="0">
              <a:lnSpc>
                <a:spcPct val="122222"/>
              </a:lnSpc>
              <a:spcBef>
                <a:spcPts val="1000"/>
              </a:spcBef>
              <a:spcAft>
                <a:spcPts val="0"/>
              </a:spcAft>
              <a:buSzPct val="108107"/>
              <a:buChar char="•"/>
            </a:pPr>
            <a:r>
              <a:rPr lang="en-US" sz="3000" dirty="0"/>
              <a:t>Interdisciplinary field that uses computational methods, statistics, and broad analysis techniques (including visualization) to extract knowledge from data</a:t>
            </a:r>
            <a:endParaRPr sz="3000" dirty="0"/>
          </a:p>
          <a:p>
            <a:pPr marL="457200" lvl="0" indent="-419100" algn="l" rtl="0">
              <a:lnSpc>
                <a:spcPct val="122222"/>
              </a:lnSpc>
              <a:spcBef>
                <a:spcPts val="0"/>
              </a:spcBef>
              <a:spcAft>
                <a:spcPts val="0"/>
              </a:spcAft>
              <a:buSzPct val="108107"/>
              <a:buChar char="•"/>
            </a:pPr>
            <a:r>
              <a:rPr lang="en-US" sz="3000" dirty="0"/>
              <a:t>Draws on a variety of academic disciplines, including mathematics, statistics, computer science, and information science/informatics</a:t>
            </a:r>
            <a:endParaRPr sz="3000" dirty="0"/>
          </a:p>
          <a:p>
            <a:pPr marL="457200" lvl="0" indent="-419100" algn="l" rtl="0">
              <a:lnSpc>
                <a:spcPct val="122222"/>
              </a:lnSpc>
              <a:spcBef>
                <a:spcPts val="0"/>
              </a:spcBef>
              <a:spcAft>
                <a:spcPts val="0"/>
              </a:spcAft>
              <a:buSzPct val="108107"/>
              <a:buChar char="•"/>
            </a:pPr>
            <a:r>
              <a:rPr lang="en-US" sz="3000" dirty="0"/>
              <a:t>Critical to integrate domain knowledge: </a:t>
            </a:r>
            <a:r>
              <a:rPr lang="en-US" sz="3000" b="1" dirty="0"/>
              <a:t>laboratory medicine</a:t>
            </a:r>
            <a:endParaRPr sz="30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35000948e32_0_7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45454"/>
              <a:buNone/>
            </a:pPr>
            <a:r>
              <a:rPr lang="en-US" dirty="0"/>
              <a:t>Computational tools support a broad lifecycle to manage a broad range of data </a:t>
            </a:r>
            <a:endParaRPr dirty="0"/>
          </a:p>
        </p:txBody>
      </p:sp>
      <p:sp>
        <p:nvSpPr>
          <p:cNvPr id="197" name="Google Shape;197;g35000948e32_0_72"/>
          <p:cNvSpPr txBox="1">
            <a:spLocks noGrp="1"/>
          </p:cNvSpPr>
          <p:nvPr>
            <p:ph idx="1"/>
          </p:nvPr>
        </p:nvSpPr>
        <p:spPr>
          <a:xfrm>
            <a:off x="7301753" y="2286000"/>
            <a:ext cx="4518212" cy="4023360"/>
          </a:xfrm>
          <a:prstGeom prst="rect">
            <a:avLst/>
          </a:prstGeom>
          <a:noFill/>
          <a:ln>
            <a:noFill/>
          </a:ln>
        </p:spPr>
        <p:txBody>
          <a:bodyPr spcFirstLastPara="1" wrap="square" lIns="91425" tIns="45700" rIns="91425" bIns="45700" anchor="t" anchorCtr="0">
            <a:normAutofit/>
          </a:bodyPr>
          <a:lstStyle/>
          <a:p>
            <a:pPr marL="0" lvl="0" indent="0" algn="l" rtl="0">
              <a:lnSpc>
                <a:spcPct val="122222"/>
              </a:lnSpc>
              <a:spcBef>
                <a:spcPts val="1000"/>
              </a:spcBef>
              <a:spcAft>
                <a:spcPts val="0"/>
              </a:spcAft>
              <a:buSzPts val="1800"/>
              <a:buNone/>
            </a:pPr>
            <a:r>
              <a:rPr lang="en-US" sz="3000" dirty="0"/>
              <a:t>Data science extends beyond analysis of data and includes considerations for capturing and maintaining data</a:t>
            </a:r>
            <a:endParaRPr sz="3000" dirty="0"/>
          </a:p>
        </p:txBody>
      </p:sp>
      <p:pic>
        <p:nvPicPr>
          <p:cNvPr id="199" name="Google Shape;199;g35000948e32_0_72" title="DataScienceLifeCycle.jpeg"/>
          <p:cNvPicPr preferRelativeResize="0"/>
          <p:nvPr/>
        </p:nvPicPr>
        <p:blipFill rotWithShape="1">
          <a:blip r:embed="rId3">
            <a:alphaModFix/>
          </a:blip>
          <a:srcRect/>
          <a:stretch/>
        </p:blipFill>
        <p:spPr>
          <a:xfrm>
            <a:off x="685700" y="1977496"/>
            <a:ext cx="6226075" cy="4569150"/>
          </a:xfrm>
          <a:prstGeom prst="rect">
            <a:avLst/>
          </a:prstGeom>
          <a:noFill/>
          <a:ln>
            <a:noFill/>
          </a:ln>
        </p:spPr>
      </p:pic>
      <p:sp>
        <p:nvSpPr>
          <p:cNvPr id="200" name="Google Shape;200;g35000948e32_0_72"/>
          <p:cNvSpPr txBox="1"/>
          <p:nvPr/>
        </p:nvSpPr>
        <p:spPr>
          <a:xfrm>
            <a:off x="2452134" y="6445496"/>
            <a:ext cx="7571400" cy="746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58595B"/>
                </a:solidFill>
                <a:latin typeface="Arial"/>
                <a:ea typeface="Arial"/>
                <a:cs typeface="Arial"/>
                <a:sym typeface="Arial"/>
              </a:rPr>
              <a:t>https://</a:t>
            </a:r>
            <a:r>
              <a:rPr lang="en-US" sz="1800" b="0" i="0" u="none" strike="noStrike" cap="none" dirty="0" err="1">
                <a:solidFill>
                  <a:srgbClr val="58595B"/>
                </a:solidFill>
                <a:latin typeface="Arial"/>
                <a:ea typeface="Arial"/>
                <a:cs typeface="Arial"/>
                <a:sym typeface="Arial"/>
              </a:rPr>
              <a:t>ischoolonline.berkeley.edu</a:t>
            </a:r>
            <a:r>
              <a:rPr lang="en-US" sz="1800" b="0" i="0" u="none" strike="noStrike" cap="none" dirty="0">
                <a:solidFill>
                  <a:srgbClr val="58595B"/>
                </a:solidFill>
                <a:latin typeface="Arial"/>
                <a:ea typeface="Arial"/>
                <a:cs typeface="Arial"/>
                <a:sym typeface="Arial"/>
              </a:rPr>
              <a:t>/data-science/what-is-data-science/</a:t>
            </a:r>
            <a:endParaRPr sz="1800" b="0" i="0" u="none" strike="noStrike" cap="none" dirty="0">
              <a:solidFill>
                <a:srgbClr val="58595B"/>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7" name="Google Shape;207;g35000948e32_0_9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45454"/>
              <a:buNone/>
            </a:pPr>
            <a:r>
              <a:rPr lang="en-US" dirty="0"/>
              <a:t>Statistics helps us interpret data based on expectations</a:t>
            </a:r>
            <a:endParaRPr dirty="0"/>
          </a:p>
        </p:txBody>
      </p:sp>
      <p:sp>
        <p:nvSpPr>
          <p:cNvPr id="206" name="Google Shape;206;g35000948e32_0_92"/>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marL="457200" lvl="0" indent="-419100" algn="l" rtl="0">
              <a:lnSpc>
                <a:spcPct val="122222"/>
              </a:lnSpc>
              <a:spcBef>
                <a:spcPts val="1000"/>
              </a:spcBef>
              <a:spcAft>
                <a:spcPts val="0"/>
              </a:spcAft>
              <a:buSzPts val="3000"/>
              <a:buChar char="•"/>
            </a:pPr>
            <a:r>
              <a:rPr lang="en-US" dirty="0"/>
              <a:t>Many categories of numeric lab data can be described by known distributions, e.g. normal distribution</a:t>
            </a:r>
            <a:endParaRPr dirty="0"/>
          </a:p>
          <a:p>
            <a:pPr marL="457200" lvl="0" indent="-419100" algn="l" rtl="0">
              <a:lnSpc>
                <a:spcPct val="122222"/>
              </a:lnSpc>
              <a:spcBef>
                <a:spcPts val="0"/>
              </a:spcBef>
              <a:spcAft>
                <a:spcPts val="0"/>
              </a:spcAft>
              <a:buSzPts val="3000"/>
              <a:buChar char="•"/>
            </a:pPr>
            <a:r>
              <a:rPr lang="en-US" dirty="0"/>
              <a:t>Statistical methods allow us to evaluate hypotheses about the data</a:t>
            </a:r>
            <a:endParaRPr dirty="0"/>
          </a:p>
          <a:p>
            <a:pPr marL="914400" lvl="1" indent="-393700" algn="l" rtl="0">
              <a:lnSpc>
                <a:spcPct val="122222"/>
              </a:lnSpc>
              <a:spcBef>
                <a:spcPts val="0"/>
              </a:spcBef>
              <a:spcAft>
                <a:spcPts val="0"/>
              </a:spcAft>
              <a:buSzPts val="2600"/>
              <a:buChar char="•"/>
            </a:pPr>
            <a:r>
              <a:rPr lang="en-US" dirty="0"/>
              <a:t>Does the data fit a normal distribution? If not, why not?</a:t>
            </a:r>
            <a:endParaRPr dirty="0"/>
          </a:p>
          <a:p>
            <a:pPr marL="914400" lvl="1" indent="-393700" algn="l" rtl="0">
              <a:lnSpc>
                <a:spcPct val="122222"/>
              </a:lnSpc>
              <a:spcBef>
                <a:spcPts val="0"/>
              </a:spcBef>
              <a:spcAft>
                <a:spcPts val="0"/>
              </a:spcAft>
              <a:buSzPts val="2600"/>
              <a:buChar char="•"/>
            </a:pPr>
            <a:r>
              <a:rPr lang="en-US" dirty="0"/>
              <a:t>Are the differences between these sets of observations significant?</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DE5E5C-246C-3C62-659B-AB80350AC822}"/>
              </a:ext>
            </a:extLst>
          </p:cNvPr>
          <p:cNvSpPr>
            <a:spLocks noGrp="1"/>
          </p:cNvSpPr>
          <p:nvPr>
            <p:ph type="title"/>
          </p:nvPr>
        </p:nvSpPr>
        <p:spPr/>
        <p:txBody>
          <a:bodyPr/>
          <a:lstStyle/>
          <a:p>
            <a:r>
              <a:rPr lang="en-US" dirty="0"/>
              <a:t>Data Analytics IS a SUBSET of Data Science</a:t>
            </a:r>
          </a:p>
        </p:txBody>
      </p:sp>
      <p:sp>
        <p:nvSpPr>
          <p:cNvPr id="4" name="Content Placeholder 3">
            <a:extLst>
              <a:ext uri="{FF2B5EF4-FFF2-40B4-BE49-F238E27FC236}">
                <a16:creationId xmlns:a16="http://schemas.microsoft.com/office/drawing/2014/main" id="{5020A088-8879-9A15-240B-9705BFDCF65D}"/>
              </a:ext>
            </a:extLst>
          </p:cNvPr>
          <p:cNvSpPr>
            <a:spLocks noGrp="1"/>
          </p:cNvSpPr>
          <p:nvPr>
            <p:ph idx="1"/>
          </p:nvPr>
        </p:nvSpPr>
        <p:spPr>
          <a:xfrm>
            <a:off x="1024129" y="2286000"/>
            <a:ext cx="5659059" cy="4023360"/>
          </a:xfrm>
        </p:spPr>
        <p:txBody>
          <a:bodyPr>
            <a:normAutofit fontScale="92500" lnSpcReduction="20000"/>
          </a:bodyPr>
          <a:lstStyle/>
          <a:p>
            <a:pPr marL="0" indent="0">
              <a:buNone/>
            </a:pPr>
            <a:r>
              <a:rPr lang="en-US" sz="3200" b="0" i="0" dirty="0">
                <a:solidFill>
                  <a:srgbClr val="333A3D"/>
                </a:solidFill>
                <a:effectLst/>
              </a:rPr>
              <a:t>Data analytics includes discovering useful information and conclusions to support decision making from data</a:t>
            </a:r>
          </a:p>
          <a:p>
            <a:pPr marL="457200" indent="-457200" algn="l">
              <a:buFont typeface="+mj-lt"/>
              <a:buAutoNum type="arabicPeriod"/>
            </a:pPr>
            <a:r>
              <a:rPr lang="en-US" sz="3200" b="0" i="0" dirty="0">
                <a:solidFill>
                  <a:srgbClr val="333A3D"/>
                </a:solidFill>
                <a:effectLst/>
              </a:rPr>
              <a:t>Using real-world data</a:t>
            </a:r>
          </a:p>
          <a:p>
            <a:pPr marL="457200" indent="-457200" algn="l">
              <a:buFont typeface="+mj-lt"/>
              <a:buAutoNum type="arabicPeriod"/>
            </a:pPr>
            <a:r>
              <a:rPr lang="en-US" sz="3200" b="0" i="0" dirty="0">
                <a:solidFill>
                  <a:srgbClr val="333A3D"/>
                </a:solidFill>
                <a:effectLst/>
              </a:rPr>
              <a:t>Visualization</a:t>
            </a:r>
          </a:p>
          <a:p>
            <a:pPr marL="457200" indent="-457200" algn="l">
              <a:buFont typeface="+mj-lt"/>
              <a:buAutoNum type="arabicPeriod"/>
            </a:pPr>
            <a:r>
              <a:rPr lang="en-US" sz="3200" b="0" i="0" dirty="0">
                <a:solidFill>
                  <a:srgbClr val="333A3D"/>
                </a:solidFill>
                <a:effectLst/>
              </a:rPr>
              <a:t>Statistical and exploratory analysis</a:t>
            </a:r>
          </a:p>
          <a:p>
            <a:pPr marL="457200" indent="-457200" algn="l">
              <a:buFont typeface="+mj-lt"/>
              <a:buAutoNum type="arabicPeriod"/>
            </a:pPr>
            <a:r>
              <a:rPr lang="en-US" sz="3200" b="0" i="0" dirty="0">
                <a:solidFill>
                  <a:srgbClr val="333A3D"/>
                </a:solidFill>
                <a:effectLst/>
              </a:rPr>
              <a:t>Machine learning</a:t>
            </a:r>
          </a:p>
          <a:p>
            <a:pPr marL="457200" indent="-457200" algn="l">
              <a:buFont typeface="+mj-lt"/>
              <a:buAutoNum type="arabicPeriod"/>
            </a:pPr>
            <a:r>
              <a:rPr lang="en-US" sz="3200" b="0" i="0" dirty="0">
                <a:solidFill>
                  <a:srgbClr val="333A3D"/>
                </a:solidFill>
                <a:effectLst/>
              </a:rPr>
              <a:t>Communicating results</a:t>
            </a:r>
          </a:p>
          <a:p>
            <a:endParaRPr lang="en-US" dirty="0"/>
          </a:p>
        </p:txBody>
      </p:sp>
      <p:pic>
        <p:nvPicPr>
          <p:cNvPr id="6" name="Picture 5" descr="Diagram&#10;&#10;Description automatically generated">
            <a:extLst>
              <a:ext uri="{FF2B5EF4-FFF2-40B4-BE49-F238E27FC236}">
                <a16:creationId xmlns:a16="http://schemas.microsoft.com/office/drawing/2014/main" id="{796E3692-B40C-8DA6-B466-BBABF5E54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9594" y="1600200"/>
            <a:ext cx="5452246" cy="5419532"/>
          </a:xfrm>
          <a:prstGeom prst="rect">
            <a:avLst/>
          </a:prstGeom>
        </p:spPr>
      </p:pic>
    </p:spTree>
    <p:extLst>
      <p:ext uri="{BB962C8B-B14F-4D97-AF65-F5344CB8AC3E}">
        <p14:creationId xmlns:p14="http://schemas.microsoft.com/office/powerpoint/2010/main" val="423000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CD598-654F-02CA-A34E-CC7988BB246A}"/>
              </a:ext>
            </a:extLst>
          </p:cNvPr>
          <p:cNvSpPr>
            <a:spLocks noGrp="1"/>
          </p:cNvSpPr>
          <p:nvPr>
            <p:ph type="title"/>
          </p:nvPr>
        </p:nvSpPr>
        <p:spPr/>
        <p:txBody>
          <a:bodyPr/>
          <a:lstStyle/>
          <a:p>
            <a:r>
              <a:rPr lang="en-US" dirty="0"/>
              <a:t>Data Science Can be Categorized By How the Data is Applied</a:t>
            </a:r>
          </a:p>
        </p:txBody>
      </p:sp>
      <p:pic>
        <p:nvPicPr>
          <p:cNvPr id="3" name="Graphic 2" descr="Presentation with bar chart with solid fill">
            <a:extLst>
              <a:ext uri="{FF2B5EF4-FFF2-40B4-BE49-F238E27FC236}">
                <a16:creationId xmlns:a16="http://schemas.microsoft.com/office/drawing/2014/main" id="{C31DCB0C-AF12-58FD-9E47-A9A02EBF21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02677" y="2328616"/>
            <a:ext cx="1266092" cy="1266092"/>
          </a:xfrm>
          <a:prstGeom prst="rect">
            <a:avLst/>
          </a:prstGeom>
        </p:spPr>
      </p:pic>
      <p:sp>
        <p:nvSpPr>
          <p:cNvPr id="4" name="TextBox 3">
            <a:extLst>
              <a:ext uri="{FF2B5EF4-FFF2-40B4-BE49-F238E27FC236}">
                <a16:creationId xmlns:a16="http://schemas.microsoft.com/office/drawing/2014/main" id="{6256A59A-A100-9575-9D0F-0688ABC1CBCA}"/>
              </a:ext>
            </a:extLst>
          </p:cNvPr>
          <p:cNvSpPr txBox="1"/>
          <p:nvPr/>
        </p:nvSpPr>
        <p:spPr>
          <a:xfrm>
            <a:off x="0" y="3652178"/>
            <a:ext cx="3071446" cy="584775"/>
          </a:xfrm>
          <a:prstGeom prst="rect">
            <a:avLst/>
          </a:prstGeom>
          <a:noFill/>
        </p:spPr>
        <p:txBody>
          <a:bodyPr wrap="square" rtlCol="0">
            <a:spAutoFit/>
          </a:bodyPr>
          <a:lstStyle/>
          <a:p>
            <a:pPr algn="ctr"/>
            <a:r>
              <a:rPr lang="en-US" sz="3200" dirty="0"/>
              <a:t>Descriptive</a:t>
            </a:r>
          </a:p>
        </p:txBody>
      </p:sp>
      <p:sp>
        <p:nvSpPr>
          <p:cNvPr id="5" name="TextBox 4">
            <a:extLst>
              <a:ext uri="{FF2B5EF4-FFF2-40B4-BE49-F238E27FC236}">
                <a16:creationId xmlns:a16="http://schemas.microsoft.com/office/drawing/2014/main" id="{E2BE0231-B174-0338-C013-55B4C1F33D84}"/>
              </a:ext>
            </a:extLst>
          </p:cNvPr>
          <p:cNvSpPr txBox="1"/>
          <p:nvPr/>
        </p:nvSpPr>
        <p:spPr>
          <a:xfrm>
            <a:off x="2983524" y="3640457"/>
            <a:ext cx="3071446" cy="584775"/>
          </a:xfrm>
          <a:prstGeom prst="rect">
            <a:avLst/>
          </a:prstGeom>
          <a:noFill/>
        </p:spPr>
        <p:txBody>
          <a:bodyPr wrap="square" rtlCol="0">
            <a:spAutoFit/>
          </a:bodyPr>
          <a:lstStyle/>
          <a:p>
            <a:pPr algn="ctr"/>
            <a:r>
              <a:rPr lang="en-US" sz="3200" dirty="0"/>
              <a:t>Diagnostic</a:t>
            </a:r>
          </a:p>
        </p:txBody>
      </p:sp>
      <p:sp>
        <p:nvSpPr>
          <p:cNvPr id="6" name="TextBox 5">
            <a:extLst>
              <a:ext uri="{FF2B5EF4-FFF2-40B4-BE49-F238E27FC236}">
                <a16:creationId xmlns:a16="http://schemas.microsoft.com/office/drawing/2014/main" id="{10C5B507-D284-6D26-FE54-15874BBD681C}"/>
              </a:ext>
            </a:extLst>
          </p:cNvPr>
          <p:cNvSpPr txBox="1"/>
          <p:nvPr/>
        </p:nvSpPr>
        <p:spPr>
          <a:xfrm>
            <a:off x="6137032" y="3640456"/>
            <a:ext cx="3071446" cy="584775"/>
          </a:xfrm>
          <a:prstGeom prst="rect">
            <a:avLst/>
          </a:prstGeom>
          <a:noFill/>
        </p:spPr>
        <p:txBody>
          <a:bodyPr wrap="square" rtlCol="0">
            <a:spAutoFit/>
          </a:bodyPr>
          <a:lstStyle/>
          <a:p>
            <a:pPr algn="ctr"/>
            <a:r>
              <a:rPr lang="en-US" sz="3200" dirty="0"/>
              <a:t>Predictive</a:t>
            </a:r>
          </a:p>
        </p:txBody>
      </p:sp>
      <p:sp>
        <p:nvSpPr>
          <p:cNvPr id="7" name="TextBox 6">
            <a:extLst>
              <a:ext uri="{FF2B5EF4-FFF2-40B4-BE49-F238E27FC236}">
                <a16:creationId xmlns:a16="http://schemas.microsoft.com/office/drawing/2014/main" id="{EC885BFA-84B2-B564-CC8F-0EB0F25F45A9}"/>
              </a:ext>
            </a:extLst>
          </p:cNvPr>
          <p:cNvSpPr txBox="1"/>
          <p:nvPr/>
        </p:nvSpPr>
        <p:spPr>
          <a:xfrm>
            <a:off x="9120554" y="3640451"/>
            <a:ext cx="3071446" cy="584775"/>
          </a:xfrm>
          <a:prstGeom prst="rect">
            <a:avLst/>
          </a:prstGeom>
          <a:noFill/>
        </p:spPr>
        <p:txBody>
          <a:bodyPr wrap="square" rtlCol="0">
            <a:spAutoFit/>
          </a:bodyPr>
          <a:lstStyle/>
          <a:p>
            <a:pPr algn="ctr"/>
            <a:r>
              <a:rPr lang="en-US" sz="3200" dirty="0"/>
              <a:t>Prescriptive</a:t>
            </a:r>
          </a:p>
        </p:txBody>
      </p:sp>
      <p:pic>
        <p:nvPicPr>
          <p:cNvPr id="8" name="Graphic 7" descr="Dead Fish Skeleton with solid fill">
            <a:extLst>
              <a:ext uri="{FF2B5EF4-FFF2-40B4-BE49-F238E27FC236}">
                <a16:creationId xmlns:a16="http://schemas.microsoft.com/office/drawing/2014/main" id="{25566594-D567-FD68-3553-0696F66E03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6199" y="2328616"/>
            <a:ext cx="1266092" cy="1266092"/>
          </a:xfrm>
          <a:prstGeom prst="rect">
            <a:avLst/>
          </a:prstGeom>
        </p:spPr>
      </p:pic>
      <p:pic>
        <p:nvPicPr>
          <p:cNvPr id="9" name="Graphic 8" descr="Artificial Intelligence outline">
            <a:extLst>
              <a:ext uri="{FF2B5EF4-FFF2-40B4-BE49-F238E27FC236}">
                <a16:creationId xmlns:a16="http://schemas.microsoft.com/office/drawing/2014/main" id="{97575A74-F8E8-5D9F-5A00-1240D96255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23231" y="2215649"/>
            <a:ext cx="1266092" cy="1266092"/>
          </a:xfrm>
          <a:prstGeom prst="rect">
            <a:avLst/>
          </a:prstGeom>
        </p:spPr>
      </p:pic>
      <p:pic>
        <p:nvPicPr>
          <p:cNvPr id="10" name="Graphic 9" descr="Logarithmic Graph with solid fill">
            <a:extLst>
              <a:ext uri="{FF2B5EF4-FFF2-40B4-BE49-F238E27FC236}">
                <a16:creationId xmlns:a16="http://schemas.microsoft.com/office/drawing/2014/main" id="{BBBACD0E-CDCD-9062-64F9-307576F174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39709" y="2294816"/>
            <a:ext cx="1266092" cy="1266092"/>
          </a:xfrm>
          <a:prstGeom prst="rect">
            <a:avLst/>
          </a:prstGeom>
        </p:spPr>
      </p:pic>
      <p:sp>
        <p:nvSpPr>
          <p:cNvPr id="11" name="TextBox 10">
            <a:extLst>
              <a:ext uri="{FF2B5EF4-FFF2-40B4-BE49-F238E27FC236}">
                <a16:creationId xmlns:a16="http://schemas.microsoft.com/office/drawing/2014/main" id="{DDBA0FE5-7970-E2CF-834B-D22C32BA1008}"/>
              </a:ext>
            </a:extLst>
          </p:cNvPr>
          <p:cNvSpPr txBox="1"/>
          <p:nvPr/>
        </p:nvSpPr>
        <p:spPr>
          <a:xfrm>
            <a:off x="128954" y="4333793"/>
            <a:ext cx="2813538" cy="1200329"/>
          </a:xfrm>
          <a:prstGeom prst="rect">
            <a:avLst/>
          </a:prstGeom>
          <a:noFill/>
        </p:spPr>
        <p:txBody>
          <a:bodyPr wrap="square" rtlCol="0">
            <a:spAutoFit/>
          </a:bodyPr>
          <a:lstStyle/>
          <a:p>
            <a:pPr algn="ctr"/>
            <a:r>
              <a:rPr lang="en-US" sz="2400" dirty="0"/>
              <a:t>What is happening?</a:t>
            </a:r>
          </a:p>
          <a:p>
            <a:pPr algn="ctr"/>
            <a:r>
              <a:rPr lang="en-US" sz="2400" dirty="0"/>
              <a:t>Right now</a:t>
            </a:r>
          </a:p>
          <a:p>
            <a:pPr algn="ctr"/>
            <a:r>
              <a:rPr lang="en-US" sz="2400" dirty="0"/>
              <a:t>Recent past</a:t>
            </a:r>
          </a:p>
        </p:txBody>
      </p:sp>
      <p:sp>
        <p:nvSpPr>
          <p:cNvPr id="12" name="TextBox 11">
            <a:extLst>
              <a:ext uri="{FF2B5EF4-FFF2-40B4-BE49-F238E27FC236}">
                <a16:creationId xmlns:a16="http://schemas.microsoft.com/office/drawing/2014/main" id="{CEE5EFF7-1527-B52A-B243-380EDB41F01C}"/>
              </a:ext>
            </a:extLst>
          </p:cNvPr>
          <p:cNvSpPr txBox="1"/>
          <p:nvPr/>
        </p:nvSpPr>
        <p:spPr>
          <a:xfrm>
            <a:off x="3112478" y="4333792"/>
            <a:ext cx="2813538" cy="1200329"/>
          </a:xfrm>
          <a:prstGeom prst="rect">
            <a:avLst/>
          </a:prstGeom>
          <a:noFill/>
        </p:spPr>
        <p:txBody>
          <a:bodyPr wrap="square" rtlCol="0">
            <a:spAutoFit/>
          </a:bodyPr>
          <a:lstStyle/>
          <a:p>
            <a:pPr algn="ctr"/>
            <a:r>
              <a:rPr lang="en-US" sz="2400" dirty="0"/>
              <a:t>Why is it happening?</a:t>
            </a:r>
          </a:p>
          <a:p>
            <a:pPr algn="ctr"/>
            <a:r>
              <a:rPr lang="en-US" sz="2400" dirty="0"/>
              <a:t>What are the root causes?</a:t>
            </a:r>
          </a:p>
        </p:txBody>
      </p:sp>
      <p:sp>
        <p:nvSpPr>
          <p:cNvPr id="13" name="TextBox 12">
            <a:extLst>
              <a:ext uri="{FF2B5EF4-FFF2-40B4-BE49-F238E27FC236}">
                <a16:creationId xmlns:a16="http://schemas.microsoft.com/office/drawing/2014/main" id="{1F1CB03A-4BEB-70E5-E40B-9C32BB6C97F5}"/>
              </a:ext>
            </a:extLst>
          </p:cNvPr>
          <p:cNvSpPr txBox="1"/>
          <p:nvPr/>
        </p:nvSpPr>
        <p:spPr>
          <a:xfrm>
            <a:off x="6265986" y="4333792"/>
            <a:ext cx="2813538" cy="1200329"/>
          </a:xfrm>
          <a:prstGeom prst="rect">
            <a:avLst/>
          </a:prstGeom>
          <a:noFill/>
        </p:spPr>
        <p:txBody>
          <a:bodyPr wrap="square" rtlCol="0">
            <a:spAutoFit/>
          </a:bodyPr>
          <a:lstStyle/>
          <a:p>
            <a:pPr algn="ctr"/>
            <a:r>
              <a:rPr lang="en-US" sz="2400" dirty="0"/>
              <a:t>What will happen?</a:t>
            </a:r>
          </a:p>
          <a:p>
            <a:pPr algn="ctr"/>
            <a:r>
              <a:rPr lang="en-US" sz="2400" dirty="0"/>
              <a:t>When might it happen?</a:t>
            </a:r>
          </a:p>
        </p:txBody>
      </p:sp>
      <p:sp>
        <p:nvSpPr>
          <p:cNvPr id="14" name="TextBox 13">
            <a:extLst>
              <a:ext uri="{FF2B5EF4-FFF2-40B4-BE49-F238E27FC236}">
                <a16:creationId xmlns:a16="http://schemas.microsoft.com/office/drawing/2014/main" id="{8ADFA480-7CA3-7EA8-DB4A-8603505CE6E2}"/>
              </a:ext>
            </a:extLst>
          </p:cNvPr>
          <p:cNvSpPr txBox="1"/>
          <p:nvPr/>
        </p:nvSpPr>
        <p:spPr>
          <a:xfrm>
            <a:off x="9249508" y="4333792"/>
            <a:ext cx="2813538" cy="1938992"/>
          </a:xfrm>
          <a:prstGeom prst="rect">
            <a:avLst/>
          </a:prstGeom>
          <a:noFill/>
        </p:spPr>
        <p:txBody>
          <a:bodyPr wrap="square" rtlCol="0">
            <a:spAutoFit/>
          </a:bodyPr>
          <a:lstStyle/>
          <a:p>
            <a:pPr algn="ctr"/>
            <a:r>
              <a:rPr lang="en-US" sz="2400" dirty="0"/>
              <a:t>What should we do?</a:t>
            </a:r>
          </a:p>
          <a:p>
            <a:pPr algn="ctr"/>
            <a:r>
              <a:rPr lang="en-US" sz="2400" dirty="0"/>
              <a:t>Integrate what we think will happen with what has happened</a:t>
            </a:r>
          </a:p>
        </p:txBody>
      </p:sp>
    </p:spTree>
    <p:extLst>
      <p:ext uri="{BB962C8B-B14F-4D97-AF65-F5344CB8AC3E}">
        <p14:creationId xmlns:p14="http://schemas.microsoft.com/office/powerpoint/2010/main" val="3689834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AC5-6316-E836-958A-A00F1325C8FA}"/>
              </a:ext>
            </a:extLst>
          </p:cNvPr>
          <p:cNvSpPr>
            <a:spLocks noGrp="1"/>
          </p:cNvSpPr>
          <p:nvPr>
            <p:ph type="title"/>
          </p:nvPr>
        </p:nvSpPr>
        <p:spPr/>
        <p:txBody>
          <a:bodyPr/>
          <a:lstStyle/>
          <a:p>
            <a:r>
              <a:rPr lang="en-US" dirty="0"/>
              <a:t>Descriptive Analytics Are Becoming More Common Across Healthcare Settings</a:t>
            </a:r>
          </a:p>
        </p:txBody>
      </p:sp>
      <p:sp>
        <p:nvSpPr>
          <p:cNvPr id="5" name="Content Placeholder 4">
            <a:extLst>
              <a:ext uri="{FF2B5EF4-FFF2-40B4-BE49-F238E27FC236}">
                <a16:creationId xmlns:a16="http://schemas.microsoft.com/office/drawing/2014/main" id="{1DAC2DA2-1784-5DCC-275C-37A7B89CC918}"/>
              </a:ext>
            </a:extLst>
          </p:cNvPr>
          <p:cNvSpPr>
            <a:spLocks noGrp="1"/>
          </p:cNvSpPr>
          <p:nvPr>
            <p:ph idx="1"/>
          </p:nvPr>
        </p:nvSpPr>
        <p:spPr/>
        <p:txBody>
          <a:bodyPr/>
          <a:lstStyle/>
          <a:p>
            <a:endParaRPr lang="en-US"/>
          </a:p>
        </p:txBody>
      </p:sp>
      <p:pic>
        <p:nvPicPr>
          <p:cNvPr id="3" name="Picture 2" descr="A screenshot of a graph&#10;&#10;Description automatically generated">
            <a:extLst>
              <a:ext uri="{FF2B5EF4-FFF2-40B4-BE49-F238E27FC236}">
                <a16:creationId xmlns:a16="http://schemas.microsoft.com/office/drawing/2014/main" id="{282EC059-4C9E-A2CF-A12E-064741B28894}"/>
              </a:ext>
            </a:extLst>
          </p:cNvPr>
          <p:cNvPicPr>
            <a:picLocks noChangeAspect="1"/>
          </p:cNvPicPr>
          <p:nvPr/>
        </p:nvPicPr>
        <p:blipFill>
          <a:blip r:embed="rId2"/>
          <a:stretch>
            <a:fillRect/>
          </a:stretch>
        </p:blipFill>
        <p:spPr>
          <a:xfrm>
            <a:off x="861183" y="1950579"/>
            <a:ext cx="10045962" cy="4907421"/>
          </a:xfrm>
          <a:prstGeom prst="rect">
            <a:avLst/>
          </a:prstGeom>
        </p:spPr>
      </p:pic>
      <p:sp>
        <p:nvSpPr>
          <p:cNvPr id="4" name="TextBox 3">
            <a:extLst>
              <a:ext uri="{FF2B5EF4-FFF2-40B4-BE49-F238E27FC236}">
                <a16:creationId xmlns:a16="http://schemas.microsoft.com/office/drawing/2014/main" id="{67477965-6471-E9B2-068D-82E108FD3310}"/>
              </a:ext>
            </a:extLst>
          </p:cNvPr>
          <p:cNvSpPr txBox="1"/>
          <p:nvPr/>
        </p:nvSpPr>
        <p:spPr>
          <a:xfrm>
            <a:off x="1432962" y="4267534"/>
            <a:ext cx="8574157" cy="523220"/>
          </a:xfrm>
          <a:prstGeom prst="rect">
            <a:avLst/>
          </a:prstGeom>
          <a:noFill/>
        </p:spPr>
        <p:txBody>
          <a:bodyPr wrap="square" rtlCol="0">
            <a:spAutoFit/>
          </a:bodyPr>
          <a:lstStyle/>
          <a:p>
            <a:pPr algn="ctr"/>
            <a:r>
              <a:rPr lang="en-US" sz="2800" dirty="0"/>
              <a:t>DLMP Quality Assurance Dashboard</a:t>
            </a:r>
          </a:p>
        </p:txBody>
      </p:sp>
    </p:spTree>
    <p:extLst>
      <p:ext uri="{BB962C8B-B14F-4D97-AF65-F5344CB8AC3E}">
        <p14:creationId xmlns:p14="http://schemas.microsoft.com/office/powerpoint/2010/main" val="2529806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1006-B6B7-27E1-3E67-FFDFF9D56969}"/>
              </a:ext>
            </a:extLst>
          </p:cNvPr>
          <p:cNvSpPr>
            <a:spLocks noGrp="1"/>
          </p:cNvSpPr>
          <p:nvPr>
            <p:ph type="title"/>
          </p:nvPr>
        </p:nvSpPr>
        <p:spPr/>
        <p:txBody>
          <a:bodyPr/>
          <a:lstStyle/>
          <a:p>
            <a:r>
              <a:rPr lang="en-US" dirty="0"/>
              <a:t>Predictive Analytics Are Emerging In Multiple Domains</a:t>
            </a:r>
          </a:p>
        </p:txBody>
      </p:sp>
      <p:sp>
        <p:nvSpPr>
          <p:cNvPr id="5" name="Content Placeholder 4">
            <a:extLst>
              <a:ext uri="{FF2B5EF4-FFF2-40B4-BE49-F238E27FC236}">
                <a16:creationId xmlns:a16="http://schemas.microsoft.com/office/drawing/2014/main" id="{54E11E76-93D8-8521-C952-B3206BDFD7A3}"/>
              </a:ext>
            </a:extLst>
          </p:cNvPr>
          <p:cNvSpPr>
            <a:spLocks noGrp="1"/>
          </p:cNvSpPr>
          <p:nvPr>
            <p:ph idx="1"/>
          </p:nvPr>
        </p:nvSpPr>
        <p:spPr/>
        <p:txBody>
          <a:bodyPr/>
          <a:lstStyle/>
          <a:p>
            <a:endParaRPr lang="en-US"/>
          </a:p>
        </p:txBody>
      </p:sp>
      <p:pic>
        <p:nvPicPr>
          <p:cNvPr id="3" name="Picture 6" descr="Chart, bar chart&#10;&#10;Description automatically generated">
            <a:extLst>
              <a:ext uri="{FF2B5EF4-FFF2-40B4-BE49-F238E27FC236}">
                <a16:creationId xmlns:a16="http://schemas.microsoft.com/office/drawing/2014/main" id="{124476C8-CA06-DA19-53DC-6DD498DC7E7B}"/>
              </a:ext>
            </a:extLst>
          </p:cNvPr>
          <p:cNvPicPr>
            <a:picLocks noChangeAspect="1"/>
          </p:cNvPicPr>
          <p:nvPr/>
        </p:nvPicPr>
        <p:blipFill>
          <a:blip r:embed="rId2"/>
          <a:stretch>
            <a:fillRect/>
          </a:stretch>
        </p:blipFill>
        <p:spPr>
          <a:xfrm>
            <a:off x="0" y="2084832"/>
            <a:ext cx="12196310" cy="4400383"/>
          </a:xfrm>
          <a:prstGeom prst="rect">
            <a:avLst/>
          </a:prstGeom>
        </p:spPr>
      </p:pic>
      <p:sp>
        <p:nvSpPr>
          <p:cNvPr id="4" name="TextBox 3">
            <a:extLst>
              <a:ext uri="{FF2B5EF4-FFF2-40B4-BE49-F238E27FC236}">
                <a16:creationId xmlns:a16="http://schemas.microsoft.com/office/drawing/2014/main" id="{5ACC4DD6-245A-78B0-34BA-4AA9FC682C3D}"/>
              </a:ext>
            </a:extLst>
          </p:cNvPr>
          <p:cNvSpPr txBox="1"/>
          <p:nvPr/>
        </p:nvSpPr>
        <p:spPr>
          <a:xfrm>
            <a:off x="2604251" y="6334780"/>
            <a:ext cx="6559826" cy="523220"/>
          </a:xfrm>
          <a:prstGeom prst="rect">
            <a:avLst/>
          </a:prstGeom>
          <a:noFill/>
        </p:spPr>
        <p:txBody>
          <a:bodyPr wrap="square" rtlCol="0">
            <a:spAutoFit/>
          </a:bodyPr>
          <a:lstStyle/>
          <a:p>
            <a:pPr algn="ctr"/>
            <a:r>
              <a:rPr lang="en-US" sz="2800" dirty="0"/>
              <a:t>UWMC Phlebotomy Prediction</a:t>
            </a:r>
          </a:p>
        </p:txBody>
      </p:sp>
    </p:spTree>
    <p:extLst>
      <p:ext uri="{BB962C8B-B14F-4D97-AF65-F5344CB8AC3E}">
        <p14:creationId xmlns:p14="http://schemas.microsoft.com/office/powerpoint/2010/main" val="3534801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B237-87FC-D5A9-0563-A9D476B77C1D}"/>
              </a:ext>
            </a:extLst>
          </p:cNvPr>
          <p:cNvSpPr>
            <a:spLocks noGrp="1"/>
          </p:cNvSpPr>
          <p:nvPr>
            <p:ph type="title"/>
          </p:nvPr>
        </p:nvSpPr>
        <p:spPr/>
        <p:txBody>
          <a:bodyPr/>
          <a:lstStyle/>
          <a:p>
            <a:r>
              <a:rPr lang="en-US" dirty="0"/>
              <a:t>What is the Role of the Laboratorian?</a:t>
            </a:r>
          </a:p>
        </p:txBody>
      </p:sp>
      <p:sp>
        <p:nvSpPr>
          <p:cNvPr id="3" name="Content Placeholder 2">
            <a:extLst>
              <a:ext uri="{FF2B5EF4-FFF2-40B4-BE49-F238E27FC236}">
                <a16:creationId xmlns:a16="http://schemas.microsoft.com/office/drawing/2014/main" id="{14D32622-B9BB-38D9-7DFB-11E7382B2802}"/>
              </a:ext>
            </a:extLst>
          </p:cNvPr>
          <p:cNvSpPr>
            <a:spLocks noGrp="1"/>
          </p:cNvSpPr>
          <p:nvPr>
            <p:ph idx="1"/>
          </p:nvPr>
        </p:nvSpPr>
        <p:spPr/>
        <p:txBody>
          <a:bodyPr>
            <a:normAutofit fontScale="92500" lnSpcReduction="10000"/>
          </a:bodyPr>
          <a:lstStyle/>
          <a:p>
            <a:r>
              <a:rPr lang="en-US" b="1" dirty="0"/>
              <a:t> Define the important problems to solve and/or questions to answer</a:t>
            </a:r>
          </a:p>
          <a:p>
            <a:r>
              <a:rPr lang="en-US" b="1" dirty="0"/>
              <a:t> </a:t>
            </a:r>
            <a:r>
              <a:rPr lang="en-US" dirty="0"/>
              <a:t>Subject matter expert: those generating the data best understand the data</a:t>
            </a:r>
          </a:p>
          <a:p>
            <a:r>
              <a:rPr lang="en-US" dirty="0"/>
              <a:t> Perform and interpret routine analyses (e.g. quality control)</a:t>
            </a:r>
          </a:p>
          <a:p>
            <a:r>
              <a:rPr lang="en-US" dirty="0"/>
              <a:t> Support the validation of analyses done by others</a:t>
            </a:r>
          </a:p>
          <a:p>
            <a:r>
              <a:rPr lang="en-US" dirty="0"/>
              <a:t> Develop and/or perform new analyses for quality improvement</a:t>
            </a:r>
          </a:p>
        </p:txBody>
      </p:sp>
    </p:spTree>
    <p:extLst>
      <p:ext uri="{BB962C8B-B14F-4D97-AF65-F5344CB8AC3E}">
        <p14:creationId xmlns:p14="http://schemas.microsoft.com/office/powerpoint/2010/main" val="1539115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&amp; Data Types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Data?</a:t>
            </a:r>
          </a:p>
        </p:txBody>
      </p:sp>
      <p:sp>
        <p:nvSpPr>
          <p:cNvPr id="3" name="Content Placeholder 2"/>
          <p:cNvSpPr>
            <a:spLocks noGrp="1"/>
          </p:cNvSpPr>
          <p:nvPr>
            <p:ph idx="1"/>
          </p:nvPr>
        </p:nvSpPr>
        <p:spPr>
          <a:xfrm>
            <a:off x="1024128" y="2286000"/>
            <a:ext cx="9720073" cy="4114800"/>
          </a:xfrm>
        </p:spPr>
        <p:txBody>
          <a:bodyPr>
            <a:normAutofit fontScale="92500" lnSpcReduction="20000"/>
          </a:bodyPr>
          <a:lstStyle/>
          <a:p>
            <a:r>
              <a:rPr lang="en-US" b="1" dirty="0"/>
              <a:t>Data</a:t>
            </a:r>
            <a:r>
              <a:rPr lang="en-US" dirty="0"/>
              <a:t> = observations recorded systematically</a:t>
            </a:r>
          </a:p>
          <a:p>
            <a:r>
              <a:rPr lang="en-US" dirty="0"/>
              <a:t>Every value in a dataset represents something measured, reported, or logged in the real world</a:t>
            </a:r>
          </a:p>
          <a:p>
            <a:r>
              <a:rPr lang="en-US" dirty="0"/>
              <a:t>Two categories worth separating:</a:t>
            </a:r>
          </a:p>
          <a:p>
            <a:pPr lvl="1"/>
            <a:r>
              <a:rPr lang="en-US" b="1" dirty="0"/>
              <a:t>Raw data</a:t>
            </a:r>
            <a:r>
              <a:rPr lang="en-US" dirty="0"/>
              <a:t> — recorded as originally captured (an instrument reading, a timestamp)</a:t>
            </a:r>
          </a:p>
          <a:p>
            <a:pPr lvl="1"/>
            <a:r>
              <a:rPr lang="en-US" b="1" dirty="0"/>
              <a:t>Derived data</a:t>
            </a:r>
            <a:r>
              <a:rPr lang="en-US" dirty="0"/>
              <a:t> — calculated or transformed from raw values (a turnaround time, a mean)</a:t>
            </a:r>
          </a:p>
          <a:p>
            <a:pPr marL="0" indent="0">
              <a:buNone/>
            </a:pPr>
            <a:r>
              <a:rPr lang="en-US" i="1" dirty="0"/>
              <a:t>If you can't say what real-world event a value represents, you don't yet understand your data.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6B393A-4B9A-0151-5A4B-E15DFF88E05F}"/>
              </a:ext>
            </a:extLst>
          </p:cNvPr>
          <p:cNvPicPr>
            <a:picLocks noChangeAspect="1"/>
          </p:cNvPicPr>
          <p:nvPr/>
        </p:nvPicPr>
        <p:blipFill>
          <a:blip r:embed="rId3"/>
          <a:stretch>
            <a:fillRect/>
          </a:stretch>
        </p:blipFill>
        <p:spPr>
          <a:xfrm>
            <a:off x="6731351" y="1541198"/>
            <a:ext cx="5102287" cy="4490012"/>
          </a:xfrm>
          <a:prstGeom prst="rect">
            <a:avLst/>
          </a:prstGeom>
        </p:spPr>
      </p:pic>
      <p:sp>
        <p:nvSpPr>
          <p:cNvPr id="2" name="Title 1">
            <a:extLst>
              <a:ext uri="{FF2B5EF4-FFF2-40B4-BE49-F238E27FC236}">
                <a16:creationId xmlns:a16="http://schemas.microsoft.com/office/drawing/2014/main" id="{4BF50401-C878-671E-8B56-81F84BADEE05}"/>
              </a:ext>
            </a:extLst>
          </p:cNvPr>
          <p:cNvSpPr>
            <a:spLocks noGrp="1"/>
          </p:cNvSpPr>
          <p:nvPr>
            <p:ph type="title"/>
          </p:nvPr>
        </p:nvSpPr>
        <p:spPr/>
        <p:txBody>
          <a:bodyPr/>
          <a:lstStyle/>
          <a:p>
            <a:r>
              <a:rPr lang="en-US" dirty="0"/>
              <a:t>Data representation</a:t>
            </a:r>
          </a:p>
        </p:txBody>
      </p:sp>
      <p:sp>
        <p:nvSpPr>
          <p:cNvPr id="3" name="Content Placeholder 2">
            <a:extLst>
              <a:ext uri="{FF2B5EF4-FFF2-40B4-BE49-F238E27FC236}">
                <a16:creationId xmlns:a16="http://schemas.microsoft.com/office/drawing/2014/main" id="{EAD17445-20E6-054C-B9B6-3C87636CE9DB}"/>
              </a:ext>
            </a:extLst>
          </p:cNvPr>
          <p:cNvSpPr>
            <a:spLocks noGrp="1"/>
          </p:cNvSpPr>
          <p:nvPr>
            <p:ph idx="1"/>
          </p:nvPr>
        </p:nvSpPr>
        <p:spPr>
          <a:xfrm>
            <a:off x="856446" y="1803545"/>
            <a:ext cx="6954982" cy="4689330"/>
          </a:xfrm>
        </p:spPr>
        <p:txBody>
          <a:bodyPr>
            <a:normAutofit fontScale="70000" lnSpcReduction="20000"/>
          </a:bodyPr>
          <a:lstStyle/>
          <a:p>
            <a:pPr>
              <a:lnSpc>
                <a:spcPct val="120000"/>
              </a:lnSpc>
            </a:pPr>
            <a:r>
              <a:rPr lang="en-US" dirty="0"/>
              <a:t> Assignment of meaning to physical artifacts</a:t>
            </a:r>
          </a:p>
          <a:p>
            <a:pPr lvl="1">
              <a:lnSpc>
                <a:spcPct val="120000"/>
              </a:lnSpc>
            </a:pPr>
            <a:r>
              <a:rPr lang="en-US" dirty="0"/>
              <a:t>Characters, numbers, words, phrases</a:t>
            </a:r>
          </a:p>
          <a:p>
            <a:pPr lvl="1">
              <a:lnSpc>
                <a:spcPct val="120000"/>
              </a:lnSpc>
            </a:pPr>
            <a:r>
              <a:rPr lang="en-US" dirty="0"/>
              <a:t>Electronic states of computer memory</a:t>
            </a:r>
          </a:p>
          <a:p>
            <a:pPr>
              <a:lnSpc>
                <a:spcPct val="120000"/>
              </a:lnSpc>
            </a:pPr>
            <a:r>
              <a:rPr lang="en-US" dirty="0"/>
              <a:t> Human language: Unstructured data</a:t>
            </a:r>
          </a:p>
          <a:p>
            <a:pPr lvl="1">
              <a:lnSpc>
                <a:spcPct val="120000"/>
              </a:lnSpc>
            </a:pPr>
            <a:r>
              <a:rPr lang="en-US" dirty="0"/>
              <a:t>Extremely flexible</a:t>
            </a:r>
          </a:p>
          <a:p>
            <a:pPr lvl="1">
              <a:lnSpc>
                <a:spcPct val="120000"/>
              </a:lnSpc>
            </a:pPr>
            <a:r>
              <a:rPr lang="en-US" dirty="0"/>
              <a:t>Form and usage varies with location and time</a:t>
            </a:r>
          </a:p>
          <a:p>
            <a:pPr lvl="1">
              <a:lnSpc>
                <a:spcPct val="120000"/>
              </a:lnSpc>
            </a:pPr>
            <a:r>
              <a:rPr lang="en-US" dirty="0"/>
              <a:t>Context-dependent</a:t>
            </a:r>
          </a:p>
          <a:p>
            <a:pPr>
              <a:lnSpc>
                <a:spcPct val="120000"/>
              </a:lnSpc>
            </a:pPr>
            <a:r>
              <a:rPr lang="en-US" dirty="0"/>
              <a:t> Structured data</a:t>
            </a:r>
          </a:p>
          <a:p>
            <a:pPr lvl="1">
              <a:lnSpc>
                <a:spcPct val="120000"/>
              </a:lnSpc>
            </a:pPr>
            <a:r>
              <a:rPr lang="en-US" dirty="0"/>
              <a:t>Constrained language</a:t>
            </a:r>
          </a:p>
          <a:p>
            <a:pPr lvl="1">
              <a:lnSpc>
                <a:spcPct val="120000"/>
              </a:lnSpc>
            </a:pPr>
            <a:r>
              <a:rPr lang="en-US" dirty="0"/>
              <a:t>Well-defined syntax and semantics</a:t>
            </a:r>
          </a:p>
          <a:p>
            <a:pPr>
              <a:lnSpc>
                <a:spcPct val="120000"/>
              </a:lnSpc>
            </a:pPr>
            <a:r>
              <a:rPr lang="en-US" dirty="0"/>
              <a:t>Data standard: Formal agreement on data representation</a:t>
            </a:r>
          </a:p>
        </p:txBody>
      </p:sp>
      <p:sp>
        <p:nvSpPr>
          <p:cNvPr id="6" name="TextBox 5">
            <a:extLst>
              <a:ext uri="{FF2B5EF4-FFF2-40B4-BE49-F238E27FC236}">
                <a16:creationId xmlns:a16="http://schemas.microsoft.com/office/drawing/2014/main" id="{C14E9BA9-86D2-1D35-41C7-9B26773CFCC8}"/>
              </a:ext>
            </a:extLst>
          </p:cNvPr>
          <p:cNvSpPr txBox="1"/>
          <p:nvPr/>
        </p:nvSpPr>
        <p:spPr>
          <a:xfrm>
            <a:off x="8084858" y="6031210"/>
            <a:ext cx="2395271" cy="461665"/>
          </a:xfrm>
          <a:prstGeom prst="rect">
            <a:avLst/>
          </a:prstGeom>
          <a:noFill/>
        </p:spPr>
        <p:txBody>
          <a:bodyPr wrap="none" rtlCol="0">
            <a:spAutoFit/>
          </a:bodyPr>
          <a:lstStyle/>
          <a:p>
            <a:r>
              <a:rPr lang="en-US" sz="1200" dirty="0" err="1"/>
              <a:t>Siriyasatien</a:t>
            </a:r>
            <a:r>
              <a:rPr lang="en-US" sz="1200" dirty="0"/>
              <a:t> et al. IEEE Access 2018.</a:t>
            </a:r>
          </a:p>
          <a:p>
            <a:r>
              <a:rPr lang="en-US" sz="1200" dirty="0"/>
              <a:t>doi:10.1109/ACCESS.2018.2871241</a:t>
            </a:r>
          </a:p>
        </p:txBody>
      </p:sp>
      <p:sp>
        <p:nvSpPr>
          <p:cNvPr id="4" name="TextBox 3">
            <a:extLst>
              <a:ext uri="{FF2B5EF4-FFF2-40B4-BE49-F238E27FC236}">
                <a16:creationId xmlns:a16="http://schemas.microsoft.com/office/drawing/2014/main" id="{B82939F5-BDDB-36DB-76BF-B0F03E068688}"/>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788233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Data Types Matter</a:t>
            </a:r>
          </a:p>
        </p:txBody>
      </p:sp>
      <p:sp>
        <p:nvSpPr>
          <p:cNvPr id="3" name="Content Placeholder 2"/>
          <p:cNvSpPr>
            <a:spLocks noGrp="1"/>
          </p:cNvSpPr>
          <p:nvPr>
            <p:ph idx="1"/>
          </p:nvPr>
        </p:nvSpPr>
        <p:spPr>
          <a:xfrm>
            <a:off x="1024128" y="2286000"/>
            <a:ext cx="9720073" cy="3886200"/>
          </a:xfrm>
        </p:spPr>
        <p:txBody>
          <a:bodyPr>
            <a:normAutofit fontScale="92500" lnSpcReduction="10000"/>
          </a:bodyPr>
          <a:lstStyle/>
          <a:p>
            <a:r>
              <a:rPr lang="en-US" dirty="0"/>
              <a:t>A data type isn't just a technical label — it determines:</a:t>
            </a:r>
          </a:p>
          <a:p>
            <a:pPr lvl="1"/>
            <a:r>
              <a:rPr lang="en-US" dirty="0"/>
              <a:t>What operations are valid (can you average it? sort it? subtract it?)</a:t>
            </a:r>
          </a:p>
          <a:p>
            <a:pPr lvl="1"/>
            <a:r>
              <a:rPr lang="en-US" dirty="0"/>
              <a:t>How software will interpret ambiguous values</a:t>
            </a:r>
          </a:p>
          <a:p>
            <a:pPr lvl="1"/>
            <a:r>
              <a:rPr lang="en-US" dirty="0"/>
              <a:t>Whether a value like NA means </a:t>
            </a:r>
            <a:r>
              <a:rPr lang="en-US" i="1" dirty="0"/>
              <a:t>missing</a:t>
            </a:r>
            <a:r>
              <a:rPr lang="en-US" dirty="0"/>
              <a:t> or is an abbreviation for sodium</a:t>
            </a:r>
          </a:p>
          <a:p>
            <a:r>
              <a:rPr lang="en-US" dirty="0"/>
              <a:t>Misidentifying a type is one of the most common — and most silent — sources of analysis errors.</a:t>
            </a:r>
          </a:p>
          <a:p>
            <a:pPr marL="0" indent="0">
              <a:buNone/>
            </a:pPr>
            <a:r>
              <a:rPr lang="en-US" i="1" dirty="0"/>
              <a:t>A wrong data type doesn't crash your code. It just quietly gives you the wrong answer.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Data Types</a:t>
            </a:r>
          </a:p>
        </p:txBody>
      </p:sp>
      <p:pic>
        <p:nvPicPr>
          <p:cNvPr id="3" name="Common Data Types Diagram"/>
          <p:cNvPicPr>
            <a:picLocks noChangeAspect="1"/>
          </p:cNvPicPr>
          <p:nvPr/>
        </p:nvPicPr>
        <p:blipFill>
          <a:blip r:embed="rId2"/>
          <a:stretch>
            <a:fillRect/>
          </a:stretch>
        </p:blipFill>
        <p:spPr>
          <a:xfrm>
            <a:off x="1093817" y="2300000"/>
            <a:ext cx="10004366" cy="400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8CA3-D8B0-B2D4-2212-01408DD8E753}"/>
              </a:ext>
            </a:extLst>
          </p:cNvPr>
          <p:cNvSpPr>
            <a:spLocks noGrp="1"/>
          </p:cNvSpPr>
          <p:nvPr>
            <p:ph type="title" idx="4294967295"/>
          </p:nvPr>
        </p:nvSpPr>
        <p:spPr>
          <a:xfrm>
            <a:off x="5181601" y="639763"/>
            <a:ext cx="7010400" cy="3652837"/>
          </a:xfrm>
        </p:spPr>
        <p:txBody>
          <a:bodyPr vert="horz" lIns="91440" tIns="45720" rIns="91440" bIns="45720" rtlCol="0" anchor="b">
            <a:normAutofit/>
          </a:bodyPr>
          <a:lstStyle/>
          <a:p>
            <a:r>
              <a:rPr lang="en-US" sz="4400" dirty="0"/>
              <a:t>How many ways can “100” be represented in a computer?</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131A5-FB3D-0840-A98C-4545A3B4F8D2}"/>
              </a:ext>
            </a:extLst>
          </p:cNvPr>
          <p:cNvSpPr>
            <a:spLocks noGrp="1"/>
          </p:cNvSpPr>
          <p:nvPr>
            <p:ph type="title"/>
          </p:nvPr>
        </p:nvSpPr>
        <p:spPr/>
        <p:txBody>
          <a:bodyPr>
            <a:normAutofit/>
          </a:bodyPr>
          <a:lstStyle/>
          <a:p>
            <a:r>
              <a:rPr lang="en-US" dirty="0"/>
              <a:t>Representation has functional implications</a:t>
            </a:r>
          </a:p>
        </p:txBody>
      </p:sp>
      <p:sp>
        <p:nvSpPr>
          <p:cNvPr id="3" name="Content Placeholder 2">
            <a:extLst>
              <a:ext uri="{FF2B5EF4-FFF2-40B4-BE49-F238E27FC236}">
                <a16:creationId xmlns:a16="http://schemas.microsoft.com/office/drawing/2014/main" id="{2E9EB163-BCE8-6D49-969E-EDFBF86D2766}"/>
              </a:ext>
            </a:extLst>
          </p:cNvPr>
          <p:cNvSpPr>
            <a:spLocks noGrp="1"/>
          </p:cNvSpPr>
          <p:nvPr>
            <p:ph idx="1"/>
          </p:nvPr>
        </p:nvSpPr>
        <p:spPr>
          <a:xfrm>
            <a:off x="1089660" y="2190354"/>
            <a:ext cx="9654540" cy="4298314"/>
          </a:xfrm>
        </p:spPr>
        <p:txBody>
          <a:bodyPr>
            <a:normAutofit fontScale="92500" lnSpcReduction="20000"/>
          </a:bodyPr>
          <a:lstStyle/>
          <a:p>
            <a:r>
              <a:rPr lang="en-US" dirty="0"/>
              <a:t> How many ways can “100” be represented in a computer?</a:t>
            </a:r>
          </a:p>
          <a:p>
            <a:pPr lvl="1"/>
            <a:r>
              <a:rPr lang="en-US" dirty="0"/>
              <a:t>All representations are binary</a:t>
            </a:r>
          </a:p>
          <a:p>
            <a:pPr lvl="1"/>
            <a:r>
              <a:rPr lang="en-US" dirty="0"/>
              <a:t>Integer (can’t divide with decimal result or include in text)</a:t>
            </a:r>
          </a:p>
          <a:p>
            <a:pPr lvl="1"/>
            <a:r>
              <a:rPr lang="en-US" dirty="0"/>
              <a:t>Floating point (inexact, can’t include in text)</a:t>
            </a:r>
          </a:p>
          <a:p>
            <a:pPr lvl="1"/>
            <a:r>
              <a:rPr lang="en-US" dirty="0"/>
              <a:t>Character string (can’t do math without conversion)</a:t>
            </a:r>
          </a:p>
          <a:p>
            <a:endParaRPr lang="en-US" dirty="0"/>
          </a:p>
          <a:p>
            <a:r>
              <a:rPr lang="en-US" dirty="0"/>
              <a:t> Medical systems often represent numbers as text.</a:t>
            </a:r>
          </a:p>
          <a:p>
            <a:pPr lvl="1"/>
            <a:r>
              <a:rPr lang="en-US" dirty="0"/>
              <a:t>Space saving with usual sized numbers (less space to store a few chars)</a:t>
            </a:r>
          </a:p>
          <a:p>
            <a:pPr lvl="1"/>
            <a:r>
              <a:rPr lang="en-US" dirty="0"/>
              <a:t>Display as characters is often primary purpose</a:t>
            </a:r>
          </a:p>
          <a:p>
            <a:pPr lvl="2"/>
            <a:r>
              <a:rPr lang="en-US" dirty="0"/>
              <a:t>Math not often needed and can convert when necessary</a:t>
            </a:r>
          </a:p>
        </p:txBody>
      </p:sp>
      <p:sp>
        <p:nvSpPr>
          <p:cNvPr id="4" name="TextBox 3">
            <a:extLst>
              <a:ext uri="{FF2B5EF4-FFF2-40B4-BE49-F238E27FC236}">
                <a16:creationId xmlns:a16="http://schemas.microsoft.com/office/drawing/2014/main" id="{39954164-54A5-1D3A-010C-BE3CE2833584}"/>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2513943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A Special Case: Censored / Below-LOD Values</a:t>
            </a:r>
          </a:p>
        </p:txBody>
      </p:sp>
      <p:sp>
        <p:nvSpPr>
          <p:cNvPr id="3" name="Body 2"/>
          <p:cNvSpPr>
            <a:spLocks noGrp="1"/>
          </p:cNvSpPr>
          <p:nvPr>
            <p:ph idx="1"/>
          </p:nvPr>
        </p:nvSpPr>
        <p:spPr>
          <a:xfrm>
            <a:off x="1024128" y="3905573"/>
            <a:ext cx="9720073" cy="2403786"/>
          </a:xfrm>
        </p:spPr>
        <p:txBody>
          <a:bodyPr>
            <a:noAutofit/>
          </a:bodyPr>
          <a:lstStyle/>
          <a:p>
            <a:pPr marL="285750" indent="-285750">
              <a:buFont typeface="Arial" pitchFamily="34" charset="0"/>
              <a:buChar char="•"/>
            </a:pPr>
            <a:r>
              <a:rPr lang="en-US" sz="2400" dirty="0"/>
              <a:t>Clinical and MS data often contain values reported as “&lt;0.5” or “undetectable”</a:t>
            </a:r>
          </a:p>
          <a:p>
            <a:pPr marL="285750" indent="-285750">
              <a:buFont typeface="Arial" pitchFamily="34" charset="0"/>
              <a:buChar char="•"/>
            </a:pPr>
            <a:r>
              <a:rPr lang="en-US" sz="2400" dirty="0"/>
              <a:t>These are not missing — they are a special type: censored data</a:t>
            </a:r>
          </a:p>
          <a:p>
            <a:pPr marL="285750" indent="-285750">
              <a:buFont typeface="Arial" pitchFamily="34" charset="0"/>
              <a:buChar char="•"/>
            </a:pPr>
            <a:r>
              <a:rPr lang="en-US" sz="2400" dirty="0"/>
              <a:t>The true value is known to be somewhere below a threshold, not unknown entirely</a:t>
            </a:r>
          </a:p>
          <a:p>
            <a:pPr marL="285750" indent="-285750">
              <a:buFont typeface="Arial" pitchFamily="34" charset="0"/>
              <a:buChar char="•"/>
            </a:pPr>
            <a:r>
              <a:rPr lang="en-US" sz="2400" dirty="0"/>
              <a:t>Treating a censored value as missing (or worse, as zero) can distort every downstream summary statistic</a:t>
            </a:r>
          </a:p>
        </p:txBody>
      </p:sp>
      <p:pic>
        <p:nvPicPr>
          <p:cNvPr id="5" name="Censored Data Diagram"/>
          <p:cNvPicPr>
            <a:picLocks noChangeAspect="1"/>
          </p:cNvPicPr>
          <p:nvPr/>
        </p:nvPicPr>
        <p:blipFill>
          <a:blip r:embed="rId2"/>
          <a:stretch>
            <a:fillRect/>
          </a:stretch>
        </p:blipFill>
        <p:spPr>
          <a:xfrm>
            <a:off x="3018947" y="1652000"/>
            <a:ext cx="5730433" cy="20365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in the Wild: A Raw CSV Row</a:t>
            </a:r>
          </a:p>
        </p:txBody>
      </p:sp>
      <p:sp>
        <p:nvSpPr>
          <p:cNvPr id="3" name="Content Placeholder 2"/>
          <p:cNvSpPr>
            <a:spLocks noGrp="1"/>
          </p:cNvSpPr>
          <p:nvPr>
            <p:ph idx="1"/>
          </p:nvPr>
        </p:nvSpPr>
        <p:spPr/>
        <p:txBody>
          <a:bodyPr>
            <a:normAutofit/>
          </a:bodyPr>
          <a:lstStyle/>
          <a:p>
            <a:r>
              <a:rPr lang="en-US" dirty="0"/>
              <a:t>No column tells you the type — you have to infer it from the value and context</a:t>
            </a:r>
          </a:p>
          <a:p>
            <a:r>
              <a:rPr lang="en-US" dirty="0"/>
              <a:t>NA appears twice, but for two different reasons</a:t>
            </a:r>
          </a:p>
          <a:p>
            <a:r>
              <a:rPr lang="en-US" dirty="0"/>
              <a:t>The datetime has no explicit format label — R will have to be told how to read it </a:t>
            </a:r>
          </a:p>
          <a:p>
            <a:r>
              <a:rPr lang="en-US" dirty="0"/>
              <a:t>Every column in this row is a small decision you'll have to make deliberately.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2" name="Google Shape;222;g3520d562d42_0_49"/>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Data limitations: structured vs. unstructured data</a:t>
            </a:r>
            <a:endParaRPr dirty="0"/>
          </a:p>
        </p:txBody>
      </p:sp>
      <p:sp>
        <p:nvSpPr>
          <p:cNvPr id="221" name="Google Shape;221;g3520d562d42_0_49"/>
          <p:cNvSpPr txBox="1">
            <a:spLocks noGrp="1"/>
          </p:cNvSpPr>
          <p:nvPr>
            <p:ph idx="1"/>
          </p:nvPr>
        </p:nvSpPr>
        <p:spPr>
          <a:xfrm>
            <a:off x="1024129" y="2286000"/>
            <a:ext cx="4593972" cy="4023360"/>
          </a:xfrm>
          <a:prstGeom prst="rect">
            <a:avLst/>
          </a:prstGeom>
        </p:spPr>
        <p:txBody>
          <a:bodyPr spcFirstLastPara="1" wrap="square" lIns="91425" tIns="45700" rIns="91425" bIns="45700" anchor="t" anchorCtr="0">
            <a:normAutofit/>
          </a:bodyPr>
          <a:lstStyle/>
          <a:p>
            <a:pPr marL="457200" lvl="0" indent="-404812" algn="l" rtl="0">
              <a:spcBef>
                <a:spcPts val="1000"/>
              </a:spcBef>
              <a:spcAft>
                <a:spcPts val="0"/>
              </a:spcAft>
              <a:buSzPct val="100000"/>
              <a:buChar char="•"/>
            </a:pPr>
            <a:r>
              <a:rPr lang="en-US" sz="3000" dirty="0"/>
              <a:t>“Structuredness” of data refers to degree of data organization in consistent, predefined format</a:t>
            </a:r>
            <a:endParaRPr sz="3000" dirty="0"/>
          </a:p>
          <a:p>
            <a:pPr marL="457200" lvl="0" indent="-404812" algn="l" rtl="0">
              <a:spcBef>
                <a:spcPts val="1000"/>
              </a:spcBef>
              <a:spcAft>
                <a:spcPts val="0"/>
              </a:spcAft>
              <a:buClr>
                <a:schemeClr val="accent2"/>
              </a:buClr>
              <a:buSzPct val="100000"/>
              <a:buChar char="•"/>
            </a:pPr>
            <a:r>
              <a:rPr lang="en-US" sz="3000" dirty="0"/>
              <a:t>Laboratory data ranges from highly structured to unstructured</a:t>
            </a:r>
            <a:endParaRPr sz="3000" dirty="0"/>
          </a:p>
          <a:p>
            <a:pPr marL="457200" lvl="0" indent="0" algn="l" rtl="0">
              <a:spcBef>
                <a:spcPts val="1000"/>
              </a:spcBef>
              <a:spcAft>
                <a:spcPts val="0"/>
              </a:spcAft>
              <a:buNone/>
            </a:pPr>
            <a:endParaRPr sz="3000" dirty="0"/>
          </a:p>
        </p:txBody>
      </p:sp>
      <p:sp>
        <p:nvSpPr>
          <p:cNvPr id="223" name="Google Shape;223;g3520d562d42_0_49"/>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pic>
        <p:nvPicPr>
          <p:cNvPr id="224" name="Google Shape;224;g3520d562d42_0_49" title="ChatGPT Image May 17, 2025, 09_59_45 AM.png"/>
          <p:cNvPicPr preferRelativeResize="0"/>
          <p:nvPr/>
        </p:nvPicPr>
        <p:blipFill>
          <a:blip r:embed="rId3">
            <a:alphaModFix/>
          </a:blip>
          <a:stretch>
            <a:fillRect/>
          </a:stretch>
        </p:blipFill>
        <p:spPr>
          <a:xfrm>
            <a:off x="5618100" y="1708650"/>
            <a:ext cx="5906700" cy="3937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Structure Matters — Before Any Analysis</a:t>
            </a:r>
          </a:p>
        </p:txBody>
      </p:sp>
      <p:sp>
        <p:nvSpPr>
          <p:cNvPr id="3" name="Content Placeholder 2"/>
          <p:cNvSpPr>
            <a:spLocks noGrp="1"/>
          </p:cNvSpPr>
          <p:nvPr>
            <p:ph idx="1"/>
          </p:nvPr>
        </p:nvSpPr>
        <p:spPr/>
        <p:txBody>
          <a:bodyPr>
            <a:normAutofit/>
          </a:bodyPr>
          <a:lstStyle/>
          <a:p>
            <a:r>
              <a:rPr lang="en-US" dirty="0"/>
              <a:t>The same facts can be organized many different ways</a:t>
            </a:r>
          </a:p>
          <a:p>
            <a:r>
              <a:rPr lang="en-US" dirty="0"/>
              <a:t>Structure determines:</a:t>
            </a:r>
          </a:p>
          <a:p>
            <a:pPr lvl="1"/>
            <a:r>
              <a:rPr lang="en-US" dirty="0"/>
              <a:t>What questions are </a:t>
            </a:r>
            <a:r>
              <a:rPr lang="en-US" i="1" dirty="0"/>
              <a:t>easy</a:t>
            </a:r>
            <a:r>
              <a:rPr lang="en-US" dirty="0"/>
              <a:t> to answer</a:t>
            </a:r>
          </a:p>
          <a:p>
            <a:pPr lvl="1"/>
            <a:r>
              <a:rPr lang="en-US" dirty="0"/>
              <a:t>What questions are </a:t>
            </a:r>
            <a:r>
              <a:rPr lang="en-US" i="1" dirty="0"/>
              <a:t>possible</a:t>
            </a:r>
            <a:r>
              <a:rPr lang="en-US" dirty="0"/>
              <a:t> to answer at all</a:t>
            </a:r>
          </a:p>
          <a:p>
            <a:pPr lvl="1"/>
            <a:r>
              <a:rPr lang="en-US" dirty="0"/>
              <a:t>How easily errors are introduced or hidden</a:t>
            </a:r>
          </a:p>
          <a:p>
            <a:pPr marL="0" indent="0">
              <a:buNone/>
            </a:pPr>
            <a:r>
              <a:rPr lang="en-US" dirty="0"/>
              <a:t>Structure is a decision you make — not a fact about the data itself.</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0B09E-E0B4-ED82-0507-54DB6EB196EC}"/>
              </a:ext>
            </a:extLst>
          </p:cNvPr>
          <p:cNvSpPr>
            <a:spLocks noGrp="1"/>
          </p:cNvSpPr>
          <p:nvPr>
            <p:ph type="title"/>
          </p:nvPr>
        </p:nvSpPr>
        <p:spPr/>
        <p:txBody>
          <a:bodyPr/>
          <a:lstStyle/>
          <a:p>
            <a:r>
              <a:rPr lang="en-US" dirty="0"/>
              <a:t>Data Frames</a:t>
            </a:r>
          </a:p>
        </p:txBody>
      </p:sp>
      <p:sp>
        <p:nvSpPr>
          <p:cNvPr id="3" name="Content Placeholder 2">
            <a:extLst>
              <a:ext uri="{FF2B5EF4-FFF2-40B4-BE49-F238E27FC236}">
                <a16:creationId xmlns:a16="http://schemas.microsoft.com/office/drawing/2014/main" id="{1F65B65F-0D59-95C7-6110-68739A106347}"/>
              </a:ext>
            </a:extLst>
          </p:cNvPr>
          <p:cNvSpPr>
            <a:spLocks noGrp="1"/>
          </p:cNvSpPr>
          <p:nvPr>
            <p:ph idx="1"/>
          </p:nvPr>
        </p:nvSpPr>
        <p:spPr/>
        <p:txBody>
          <a:bodyPr/>
          <a:lstStyle/>
          <a:p>
            <a:r>
              <a:rPr lang="en-US" dirty="0"/>
              <a:t> Data frame = two-dimensional collection of heterogeneous data</a:t>
            </a:r>
          </a:p>
          <a:p>
            <a:pPr lvl="1"/>
            <a:r>
              <a:rPr lang="en-US" dirty="0"/>
              <a:t> Spreadsheet-like data – typically organized in columns with a fixed data type</a:t>
            </a:r>
          </a:p>
          <a:p>
            <a:pPr lvl="1"/>
            <a:r>
              <a:rPr lang="en-US" dirty="0"/>
              <a:t> Columns (or variables) often explicitly named</a:t>
            </a:r>
          </a:p>
        </p:txBody>
      </p:sp>
      <p:graphicFrame>
        <p:nvGraphicFramePr>
          <p:cNvPr id="4" name="Table 3">
            <a:extLst>
              <a:ext uri="{FF2B5EF4-FFF2-40B4-BE49-F238E27FC236}">
                <a16:creationId xmlns:a16="http://schemas.microsoft.com/office/drawing/2014/main" id="{5DF3F821-8A12-CA9A-80F2-8DE9F0CB9CCF}"/>
              </a:ext>
            </a:extLst>
          </p:cNvPr>
          <p:cNvGraphicFramePr>
            <a:graphicFrameLocks noGrp="1"/>
          </p:cNvGraphicFramePr>
          <p:nvPr/>
        </p:nvGraphicFramePr>
        <p:xfrm>
          <a:off x="1447799" y="4757530"/>
          <a:ext cx="8712200" cy="1828800"/>
        </p:xfrm>
        <a:graphic>
          <a:graphicData uri="http://schemas.openxmlformats.org/drawingml/2006/table">
            <a:tbl>
              <a:tblPr firstRow="1" bandRow="1">
                <a:tableStyleId>{5C22544A-7EE6-4342-B048-85BDC9FD1C3A}</a:tableStyleId>
              </a:tblPr>
              <a:tblGrid>
                <a:gridCol w="2178050">
                  <a:extLst>
                    <a:ext uri="{9D8B030D-6E8A-4147-A177-3AD203B41FA5}">
                      <a16:colId xmlns:a16="http://schemas.microsoft.com/office/drawing/2014/main" val="233543593"/>
                    </a:ext>
                  </a:extLst>
                </a:gridCol>
                <a:gridCol w="2178050">
                  <a:extLst>
                    <a:ext uri="{9D8B030D-6E8A-4147-A177-3AD203B41FA5}">
                      <a16:colId xmlns:a16="http://schemas.microsoft.com/office/drawing/2014/main" val="138990551"/>
                    </a:ext>
                  </a:extLst>
                </a:gridCol>
                <a:gridCol w="2178050">
                  <a:extLst>
                    <a:ext uri="{9D8B030D-6E8A-4147-A177-3AD203B41FA5}">
                      <a16:colId xmlns:a16="http://schemas.microsoft.com/office/drawing/2014/main" val="2219865218"/>
                    </a:ext>
                  </a:extLst>
                </a:gridCol>
                <a:gridCol w="2178050">
                  <a:extLst>
                    <a:ext uri="{9D8B030D-6E8A-4147-A177-3AD203B41FA5}">
                      <a16:colId xmlns:a16="http://schemas.microsoft.com/office/drawing/2014/main" val="109375820"/>
                    </a:ext>
                  </a:extLst>
                </a:gridCol>
              </a:tblGrid>
              <a:tr h="415588">
                <a:tc>
                  <a:txBody>
                    <a:bodyPr/>
                    <a:lstStyle/>
                    <a:p>
                      <a:r>
                        <a:rPr lang="en-US" sz="2400" dirty="0"/>
                        <a:t>Identifier</a:t>
                      </a:r>
                    </a:p>
                  </a:txBody>
                  <a:tcPr/>
                </a:tc>
                <a:tc>
                  <a:txBody>
                    <a:bodyPr/>
                    <a:lstStyle/>
                    <a:p>
                      <a:r>
                        <a:rPr lang="en-US" sz="2400" dirty="0"/>
                        <a:t>Location</a:t>
                      </a:r>
                    </a:p>
                  </a:txBody>
                  <a:tcPr/>
                </a:tc>
                <a:tc>
                  <a:txBody>
                    <a:bodyPr/>
                    <a:lstStyle/>
                    <a:p>
                      <a:r>
                        <a:rPr lang="en-US" sz="2400" dirty="0"/>
                        <a:t>Test</a:t>
                      </a:r>
                    </a:p>
                  </a:txBody>
                  <a:tcPr/>
                </a:tc>
                <a:tc>
                  <a:txBody>
                    <a:bodyPr/>
                    <a:lstStyle/>
                    <a:p>
                      <a:r>
                        <a:rPr lang="en-US" sz="2400" dirty="0"/>
                        <a:t>Value</a:t>
                      </a:r>
                    </a:p>
                  </a:txBody>
                  <a:tcPr/>
                </a:tc>
                <a:extLst>
                  <a:ext uri="{0D108BD9-81ED-4DB2-BD59-A6C34878D82A}">
                    <a16:rowId xmlns:a16="http://schemas.microsoft.com/office/drawing/2014/main" val="3574325621"/>
                  </a:ext>
                </a:extLst>
              </a:tr>
              <a:tr h="415588">
                <a:tc>
                  <a:txBody>
                    <a:bodyPr/>
                    <a:lstStyle/>
                    <a:p>
                      <a:r>
                        <a:rPr lang="en-US" sz="2400" dirty="0"/>
                        <a:t>F123456</a:t>
                      </a:r>
                    </a:p>
                  </a:txBody>
                  <a:tcPr/>
                </a:tc>
                <a:tc>
                  <a:txBody>
                    <a:bodyPr/>
                    <a:lstStyle/>
                    <a:p>
                      <a:r>
                        <a:rPr lang="en-US" sz="2400" dirty="0"/>
                        <a:t>Inpatient</a:t>
                      </a:r>
                    </a:p>
                  </a:txBody>
                  <a:tcPr/>
                </a:tc>
                <a:tc>
                  <a:txBody>
                    <a:bodyPr/>
                    <a:lstStyle/>
                    <a:p>
                      <a:r>
                        <a:rPr lang="en-US" sz="2400" dirty="0"/>
                        <a:t>Sodium</a:t>
                      </a:r>
                    </a:p>
                  </a:txBody>
                  <a:tcPr/>
                </a:tc>
                <a:tc>
                  <a:txBody>
                    <a:bodyPr/>
                    <a:lstStyle/>
                    <a:p>
                      <a:r>
                        <a:rPr lang="en-US" sz="2400" dirty="0"/>
                        <a:t>140</a:t>
                      </a:r>
                    </a:p>
                  </a:txBody>
                  <a:tcPr/>
                </a:tc>
                <a:extLst>
                  <a:ext uri="{0D108BD9-81ED-4DB2-BD59-A6C34878D82A}">
                    <a16:rowId xmlns:a16="http://schemas.microsoft.com/office/drawing/2014/main" val="209322607"/>
                  </a:ext>
                </a:extLst>
              </a:tr>
              <a:tr h="415588">
                <a:tc>
                  <a:txBody>
                    <a:bodyPr/>
                    <a:lstStyle/>
                    <a:p>
                      <a:r>
                        <a:rPr lang="en-US" sz="2400" dirty="0"/>
                        <a:t>W987654</a:t>
                      </a:r>
                    </a:p>
                  </a:txBody>
                  <a:tcPr/>
                </a:tc>
                <a:tc>
                  <a:txBody>
                    <a:bodyPr/>
                    <a:lstStyle/>
                    <a:p>
                      <a:r>
                        <a:rPr lang="en-US" sz="2400" dirty="0"/>
                        <a:t>Outpatient</a:t>
                      </a:r>
                    </a:p>
                  </a:txBody>
                  <a:tcPr/>
                </a:tc>
                <a:tc>
                  <a:txBody>
                    <a:bodyPr/>
                    <a:lstStyle/>
                    <a:p>
                      <a:r>
                        <a:rPr lang="en-US" sz="2400" dirty="0"/>
                        <a:t>Potassium</a:t>
                      </a:r>
                    </a:p>
                  </a:txBody>
                  <a:tcPr/>
                </a:tc>
                <a:tc>
                  <a:txBody>
                    <a:bodyPr/>
                    <a:lstStyle/>
                    <a:p>
                      <a:r>
                        <a:rPr lang="en-US" sz="2400" dirty="0"/>
                        <a:t>4.8</a:t>
                      </a:r>
                    </a:p>
                  </a:txBody>
                  <a:tcPr/>
                </a:tc>
                <a:extLst>
                  <a:ext uri="{0D108BD9-81ED-4DB2-BD59-A6C34878D82A}">
                    <a16:rowId xmlns:a16="http://schemas.microsoft.com/office/drawing/2014/main" val="4177286729"/>
                  </a:ext>
                </a:extLst>
              </a:tr>
              <a:tr h="415588">
                <a:tc>
                  <a:txBody>
                    <a:bodyPr/>
                    <a:lstStyle/>
                    <a:p>
                      <a:r>
                        <a:rPr lang="en-US" sz="2400" dirty="0"/>
                        <a:t>X234537</a:t>
                      </a:r>
                    </a:p>
                  </a:txBody>
                  <a:tcPr/>
                </a:tc>
                <a:tc>
                  <a:txBody>
                    <a:bodyPr/>
                    <a:lstStyle/>
                    <a:p>
                      <a:r>
                        <a:rPr lang="en-US" sz="2400" dirty="0"/>
                        <a:t>ED</a:t>
                      </a:r>
                    </a:p>
                  </a:txBody>
                  <a:tcPr/>
                </a:tc>
                <a:tc>
                  <a:txBody>
                    <a:bodyPr/>
                    <a:lstStyle/>
                    <a:p>
                      <a:r>
                        <a:rPr lang="en-US" sz="2400" dirty="0"/>
                        <a:t>AST</a:t>
                      </a:r>
                    </a:p>
                  </a:txBody>
                  <a:tcPr/>
                </a:tc>
                <a:tc>
                  <a:txBody>
                    <a:bodyPr/>
                    <a:lstStyle/>
                    <a:p>
                      <a:r>
                        <a:rPr lang="en-US" sz="2400" dirty="0"/>
                        <a:t>70</a:t>
                      </a:r>
                    </a:p>
                  </a:txBody>
                  <a:tcPr/>
                </a:tc>
                <a:extLst>
                  <a:ext uri="{0D108BD9-81ED-4DB2-BD59-A6C34878D82A}">
                    <a16:rowId xmlns:a16="http://schemas.microsoft.com/office/drawing/2014/main" val="3509404124"/>
                  </a:ext>
                </a:extLst>
              </a:tr>
            </a:tbl>
          </a:graphicData>
        </a:graphic>
      </p:graphicFrame>
    </p:spTree>
    <p:extLst>
      <p:ext uri="{BB962C8B-B14F-4D97-AF65-F5344CB8AC3E}">
        <p14:creationId xmlns:p14="http://schemas.microsoft.com/office/powerpoint/2010/main" val="947481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We Start: Orienting in RStudio</a:t>
            </a:r>
          </a:p>
        </p:txBody>
      </p:sp>
      <p:sp>
        <p:nvSpPr>
          <p:cNvPr id="3" name="Content Placeholder 2"/>
          <p:cNvSpPr>
            <a:spLocks noGrp="1"/>
          </p:cNvSpPr>
          <p:nvPr>
            <p:ph idx="1"/>
          </p:nvPr>
        </p:nvSpPr>
        <p:spPr>
          <a:xfrm>
            <a:off x="1024128" y="2286000"/>
            <a:ext cx="9720073" cy="3986784"/>
          </a:xfrm>
        </p:spPr>
        <p:txBody>
          <a:bodyPr>
            <a:normAutofit fontScale="92500" lnSpcReduction="10000"/>
          </a:bodyPr>
          <a:lstStyle/>
          <a:p>
            <a:r>
              <a:rPr lang="en-US" dirty="0"/>
              <a:t>This module has </a:t>
            </a:r>
            <a:r>
              <a:rPr lang="en-US" b="1" dirty="0"/>
              <a:t>no R code</a:t>
            </a:r>
            <a:r>
              <a:rPr lang="en-US" dirty="0"/>
              <a:t> — but we'll still work inside RStudio.</a:t>
            </a:r>
          </a:p>
          <a:p>
            <a:r>
              <a:rPr lang="en-US" dirty="0"/>
              <a:t>Start with RStudio as simply a </a:t>
            </a:r>
            <a:r>
              <a:rPr lang="en-US" b="1" dirty="0"/>
              <a:t>text editor</a:t>
            </a:r>
            <a:r>
              <a:rPr lang="en-US" dirty="0"/>
              <a:t>: a place to open files, read them carefully, and record your answers.</a:t>
            </a:r>
          </a:p>
          <a:p>
            <a:r>
              <a:rPr lang="en-US" dirty="0"/>
              <a:t>In the </a:t>
            </a:r>
            <a:r>
              <a:rPr lang="en-US" b="1" dirty="0"/>
              <a:t>Files</a:t>
            </a:r>
            <a:r>
              <a:rPr lang="en-US" dirty="0"/>
              <a:t> pane, open exercises/module_1_exercises.qmd</a:t>
            </a:r>
          </a:p>
          <a:p>
            <a:r>
              <a:rPr lang="en-US" dirty="0"/>
              <a:t>This file opens in the </a:t>
            </a:r>
            <a:r>
              <a:rPr lang="en-US" b="1" dirty="0"/>
              <a:t>Source</a:t>
            </a:r>
            <a:r>
              <a:rPr lang="en-US" dirty="0"/>
              <a:t> pane — you'll type your answers directly into it</a:t>
            </a:r>
          </a:p>
          <a:p>
            <a:r>
              <a:rPr lang="en-US" dirty="0"/>
              <a:t>Save often (Cmd/Ctrl+S) — nothing here runs or executes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866C1C-E442-FB0F-81E3-BED9BF3BC6A0}"/>
              </a:ext>
            </a:extLst>
          </p:cNvPr>
          <p:cNvPicPr>
            <a:picLocks noChangeAspect="1"/>
          </p:cNvPicPr>
          <p:nvPr/>
        </p:nvPicPr>
        <p:blipFill>
          <a:blip r:embed="rId3"/>
          <a:stretch>
            <a:fillRect/>
          </a:stretch>
        </p:blipFill>
        <p:spPr>
          <a:xfrm>
            <a:off x="493191" y="0"/>
            <a:ext cx="10916138" cy="6858000"/>
          </a:xfrm>
          <a:prstGeom prst="rect">
            <a:avLst/>
          </a:prstGeom>
        </p:spPr>
      </p:pic>
      <p:grpSp>
        <p:nvGrpSpPr>
          <p:cNvPr id="14" name="Group 13">
            <a:extLst>
              <a:ext uri="{FF2B5EF4-FFF2-40B4-BE49-F238E27FC236}">
                <a16:creationId xmlns:a16="http://schemas.microsoft.com/office/drawing/2014/main" id="{39D983C5-7D3D-6875-D729-DF4609BEC6B0}"/>
              </a:ext>
            </a:extLst>
          </p:cNvPr>
          <p:cNvGrpSpPr/>
          <p:nvPr/>
        </p:nvGrpSpPr>
        <p:grpSpPr>
          <a:xfrm>
            <a:off x="493191" y="387458"/>
            <a:ext cx="6419050" cy="6470541"/>
            <a:chOff x="493191" y="387458"/>
            <a:chExt cx="6419050" cy="6470541"/>
          </a:xfrm>
        </p:grpSpPr>
        <p:sp>
          <p:nvSpPr>
            <p:cNvPr id="5" name="Rectangle 4">
              <a:extLst>
                <a:ext uri="{FF2B5EF4-FFF2-40B4-BE49-F238E27FC236}">
                  <a16:creationId xmlns:a16="http://schemas.microsoft.com/office/drawing/2014/main" id="{F5EA3393-A1BA-985D-CDE8-AC2BF17B50C7}"/>
                </a:ext>
              </a:extLst>
            </p:cNvPr>
            <p:cNvSpPr/>
            <p:nvPr/>
          </p:nvSpPr>
          <p:spPr>
            <a:xfrm>
              <a:off x="493191" y="387458"/>
              <a:ext cx="6419050" cy="6470541"/>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4733B0CD-CC8B-4FA2-4C71-4BB94ECCC810}"/>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455AFA4F-867B-3FA3-517C-EAC75EFD20AE}"/>
              </a:ext>
            </a:extLst>
          </p:cNvPr>
          <p:cNvGrpSpPr/>
          <p:nvPr/>
        </p:nvGrpSpPr>
        <p:grpSpPr>
          <a:xfrm>
            <a:off x="6912244" y="387458"/>
            <a:ext cx="4497086" cy="2448216"/>
            <a:chOff x="6912244" y="387458"/>
            <a:chExt cx="4497086" cy="2448216"/>
          </a:xfrm>
        </p:grpSpPr>
        <p:sp>
          <p:nvSpPr>
            <p:cNvPr id="10" name="Rectangle 9">
              <a:extLst>
                <a:ext uri="{FF2B5EF4-FFF2-40B4-BE49-F238E27FC236}">
                  <a16:creationId xmlns:a16="http://schemas.microsoft.com/office/drawing/2014/main" id="{6E0160BA-DF89-36E1-16E5-1B0F1A988BAF}"/>
                </a:ext>
              </a:extLst>
            </p:cNvPr>
            <p:cNvSpPr/>
            <p:nvPr/>
          </p:nvSpPr>
          <p:spPr>
            <a:xfrm>
              <a:off x="6912244" y="387458"/>
              <a:ext cx="4497086"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5ECBB7AC-0D89-08AF-AE2F-F41156EC8097}"/>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FCCB29A5-7CCC-7F30-0F61-B8C0802359C6}"/>
              </a:ext>
            </a:extLst>
          </p:cNvPr>
          <p:cNvGrpSpPr/>
          <p:nvPr/>
        </p:nvGrpSpPr>
        <p:grpSpPr>
          <a:xfrm>
            <a:off x="6912242" y="2805194"/>
            <a:ext cx="4497087" cy="4052806"/>
            <a:chOff x="6912242" y="2805194"/>
            <a:chExt cx="4497087" cy="4052806"/>
          </a:xfrm>
        </p:grpSpPr>
        <p:sp>
          <p:nvSpPr>
            <p:cNvPr id="12" name="Rectangle 11">
              <a:extLst>
                <a:ext uri="{FF2B5EF4-FFF2-40B4-BE49-F238E27FC236}">
                  <a16:creationId xmlns:a16="http://schemas.microsoft.com/office/drawing/2014/main" id="{BD666815-FB77-FDC7-798D-CB741A2940D1}"/>
                </a:ext>
              </a:extLst>
            </p:cNvPr>
            <p:cNvSpPr/>
            <p:nvPr/>
          </p:nvSpPr>
          <p:spPr>
            <a:xfrm>
              <a:off x="6912242" y="2805194"/>
              <a:ext cx="449708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F0050C65-3DEA-4E66-514E-7698371A1FC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Tree>
    <p:extLst>
      <p:ext uri="{BB962C8B-B14F-4D97-AF65-F5344CB8AC3E}">
        <p14:creationId xmlns:p14="http://schemas.microsoft.com/office/powerpoint/2010/main" val="393266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4020-16DF-41CF-C966-06F534A1723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B4EA24-07F1-F54D-CB16-7DFDA38EEA98}"/>
              </a:ext>
            </a:extLst>
          </p:cNvPr>
          <p:cNvPicPr>
            <a:picLocks noChangeAspect="1"/>
          </p:cNvPicPr>
          <p:nvPr/>
        </p:nvPicPr>
        <p:blipFill>
          <a:blip r:embed="rId3"/>
          <a:stretch>
            <a:fillRect/>
          </a:stretch>
        </p:blipFill>
        <p:spPr>
          <a:xfrm>
            <a:off x="493191" y="0"/>
            <a:ext cx="10916138" cy="6858000"/>
          </a:xfrm>
          <a:prstGeom prst="rect">
            <a:avLst/>
          </a:prstGeom>
        </p:spPr>
      </p:pic>
      <p:cxnSp>
        <p:nvCxnSpPr>
          <p:cNvPr id="4" name="Straight Arrow Connector 3">
            <a:extLst>
              <a:ext uri="{FF2B5EF4-FFF2-40B4-BE49-F238E27FC236}">
                <a16:creationId xmlns:a16="http://schemas.microsoft.com/office/drawing/2014/main" id="{46B6CB67-59D5-AB16-8B42-1E4BF03B40DB}"/>
              </a:ext>
            </a:extLst>
          </p:cNvPr>
          <p:cNvCxnSpPr>
            <a:cxnSpLocks/>
          </p:cNvCxnSpPr>
          <p:nvPr/>
        </p:nvCxnSpPr>
        <p:spPr>
          <a:xfrm>
            <a:off x="5204012" y="3664210"/>
            <a:ext cx="1534788"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084F409-43D3-8A5A-1224-1E4F8C295F96}"/>
              </a:ext>
            </a:extLst>
          </p:cNvPr>
          <p:cNvSpPr txBox="1"/>
          <p:nvPr/>
        </p:nvSpPr>
        <p:spPr>
          <a:xfrm>
            <a:off x="1963271" y="3479544"/>
            <a:ext cx="3092824" cy="369332"/>
          </a:xfrm>
          <a:prstGeom prst="rect">
            <a:avLst/>
          </a:prstGeom>
          <a:noFill/>
        </p:spPr>
        <p:txBody>
          <a:bodyPr wrap="square" rtlCol="0">
            <a:spAutoFit/>
          </a:bodyPr>
          <a:lstStyle/>
          <a:p>
            <a:r>
              <a:rPr lang="en-US" b="1" dirty="0"/>
              <a:t>1. Find unzipped course folder</a:t>
            </a:r>
          </a:p>
        </p:txBody>
      </p:sp>
      <p:sp>
        <p:nvSpPr>
          <p:cNvPr id="9" name="TextBox 8">
            <a:extLst>
              <a:ext uri="{FF2B5EF4-FFF2-40B4-BE49-F238E27FC236}">
                <a16:creationId xmlns:a16="http://schemas.microsoft.com/office/drawing/2014/main" id="{F380C9E1-3AE0-3991-7648-37C2666B3272}"/>
              </a:ext>
            </a:extLst>
          </p:cNvPr>
          <p:cNvSpPr txBox="1"/>
          <p:nvPr/>
        </p:nvSpPr>
        <p:spPr>
          <a:xfrm>
            <a:off x="1963271" y="4048804"/>
            <a:ext cx="3630705" cy="369332"/>
          </a:xfrm>
          <a:prstGeom prst="rect">
            <a:avLst/>
          </a:prstGeom>
          <a:noFill/>
        </p:spPr>
        <p:txBody>
          <a:bodyPr wrap="square" rtlCol="0">
            <a:spAutoFit/>
          </a:bodyPr>
          <a:lstStyle/>
          <a:p>
            <a:r>
              <a:rPr lang="en-US" b="1" dirty="0"/>
              <a:t>2. Navigate to “exercises” folder</a:t>
            </a:r>
          </a:p>
        </p:txBody>
      </p:sp>
      <p:sp>
        <p:nvSpPr>
          <p:cNvPr id="17" name="TextBox 16">
            <a:extLst>
              <a:ext uri="{FF2B5EF4-FFF2-40B4-BE49-F238E27FC236}">
                <a16:creationId xmlns:a16="http://schemas.microsoft.com/office/drawing/2014/main" id="{061AC600-EAB9-4FAE-3559-D75582AB1D6B}"/>
              </a:ext>
            </a:extLst>
          </p:cNvPr>
          <p:cNvSpPr txBox="1"/>
          <p:nvPr/>
        </p:nvSpPr>
        <p:spPr>
          <a:xfrm>
            <a:off x="1963271" y="4618064"/>
            <a:ext cx="3980329" cy="646331"/>
          </a:xfrm>
          <a:prstGeom prst="rect">
            <a:avLst/>
          </a:prstGeom>
          <a:noFill/>
        </p:spPr>
        <p:txBody>
          <a:bodyPr wrap="square" rtlCol="0">
            <a:spAutoFit/>
          </a:bodyPr>
          <a:lstStyle/>
          <a:p>
            <a:r>
              <a:rPr lang="en-US" b="1" dirty="0"/>
              <a:t>3. Click on “module_1_exercises.qmd” to open</a:t>
            </a:r>
          </a:p>
        </p:txBody>
      </p:sp>
    </p:spTree>
    <p:extLst>
      <p:ext uri="{BB962C8B-B14F-4D97-AF65-F5344CB8AC3E}">
        <p14:creationId xmlns:p14="http://schemas.microsoft.com/office/powerpoint/2010/main" val="86643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B7DF-BC79-FA18-4601-19FAA7721B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F4A583-372D-E5C9-E76B-7EBB8B840A15}"/>
              </a:ext>
            </a:extLst>
          </p:cNvPr>
          <p:cNvPicPr>
            <a:picLocks noChangeAspect="1"/>
          </p:cNvPicPr>
          <p:nvPr/>
        </p:nvPicPr>
        <p:blipFill>
          <a:blip r:embed="rId3"/>
          <a:stretch>
            <a:fillRect/>
          </a:stretch>
        </p:blipFill>
        <p:spPr>
          <a:xfrm>
            <a:off x="360796" y="0"/>
            <a:ext cx="11048533" cy="6858000"/>
          </a:xfrm>
          <a:prstGeom prst="rect">
            <a:avLst/>
          </a:prstGeom>
        </p:spPr>
      </p:pic>
      <p:grpSp>
        <p:nvGrpSpPr>
          <p:cNvPr id="14" name="Group 13">
            <a:extLst>
              <a:ext uri="{FF2B5EF4-FFF2-40B4-BE49-F238E27FC236}">
                <a16:creationId xmlns:a16="http://schemas.microsoft.com/office/drawing/2014/main" id="{6F625408-BE76-6F89-F7F8-D260A18D3CF5}"/>
              </a:ext>
            </a:extLst>
          </p:cNvPr>
          <p:cNvGrpSpPr/>
          <p:nvPr/>
        </p:nvGrpSpPr>
        <p:grpSpPr>
          <a:xfrm>
            <a:off x="360795" y="4182035"/>
            <a:ext cx="6458990" cy="2675964"/>
            <a:chOff x="360795" y="4182035"/>
            <a:chExt cx="6458990" cy="2675964"/>
          </a:xfrm>
        </p:grpSpPr>
        <p:sp>
          <p:nvSpPr>
            <p:cNvPr id="5" name="Rectangle 4">
              <a:extLst>
                <a:ext uri="{FF2B5EF4-FFF2-40B4-BE49-F238E27FC236}">
                  <a16:creationId xmlns:a16="http://schemas.microsoft.com/office/drawing/2014/main" id="{1DAEF7DF-24C1-C447-DA3D-A252B393C78C}"/>
                </a:ext>
              </a:extLst>
            </p:cNvPr>
            <p:cNvSpPr/>
            <p:nvPr/>
          </p:nvSpPr>
          <p:spPr>
            <a:xfrm>
              <a:off x="360795" y="4182035"/>
              <a:ext cx="6458990" cy="2675964"/>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2F48D18-513A-2E9C-DFAF-4B541A70FD9D}"/>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A9D09FDF-556E-362C-43A8-C6AFE37E3ABB}"/>
              </a:ext>
            </a:extLst>
          </p:cNvPr>
          <p:cNvGrpSpPr/>
          <p:nvPr/>
        </p:nvGrpSpPr>
        <p:grpSpPr>
          <a:xfrm>
            <a:off x="6816102" y="387458"/>
            <a:ext cx="4593228" cy="2448216"/>
            <a:chOff x="6816102" y="387458"/>
            <a:chExt cx="4593228" cy="2448216"/>
          </a:xfrm>
        </p:grpSpPr>
        <p:sp>
          <p:nvSpPr>
            <p:cNvPr id="10" name="Rectangle 9">
              <a:extLst>
                <a:ext uri="{FF2B5EF4-FFF2-40B4-BE49-F238E27FC236}">
                  <a16:creationId xmlns:a16="http://schemas.microsoft.com/office/drawing/2014/main" id="{0D717587-3A8D-7CF1-D8FC-776363A41AFD}"/>
                </a:ext>
              </a:extLst>
            </p:cNvPr>
            <p:cNvSpPr/>
            <p:nvPr/>
          </p:nvSpPr>
          <p:spPr>
            <a:xfrm>
              <a:off x="6816102" y="387458"/>
              <a:ext cx="4593228"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249633AD-737D-ADB4-E40E-19F9AB147C79}"/>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A355AE3E-4944-2448-FE61-3CD0B24450E4}"/>
              </a:ext>
            </a:extLst>
          </p:cNvPr>
          <p:cNvGrpSpPr/>
          <p:nvPr/>
        </p:nvGrpSpPr>
        <p:grpSpPr>
          <a:xfrm>
            <a:off x="6816102" y="2805194"/>
            <a:ext cx="4593227" cy="4052806"/>
            <a:chOff x="6816102" y="2805194"/>
            <a:chExt cx="4593227" cy="4052806"/>
          </a:xfrm>
        </p:grpSpPr>
        <p:sp>
          <p:nvSpPr>
            <p:cNvPr id="12" name="Rectangle 11">
              <a:extLst>
                <a:ext uri="{FF2B5EF4-FFF2-40B4-BE49-F238E27FC236}">
                  <a16:creationId xmlns:a16="http://schemas.microsoft.com/office/drawing/2014/main" id="{BCD78022-56EF-F97E-2487-80F44CD383C6}"/>
                </a:ext>
              </a:extLst>
            </p:cNvPr>
            <p:cNvSpPr/>
            <p:nvPr/>
          </p:nvSpPr>
          <p:spPr>
            <a:xfrm>
              <a:off x="6816102" y="2805194"/>
              <a:ext cx="459322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0BE948FB-E27A-F43E-AD02-0FFBFAA45E4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
        <p:nvSpPr>
          <p:cNvPr id="7" name="Rectangle 6">
            <a:extLst>
              <a:ext uri="{FF2B5EF4-FFF2-40B4-BE49-F238E27FC236}">
                <a16:creationId xmlns:a16="http://schemas.microsoft.com/office/drawing/2014/main" id="{87F8D62E-79F4-A207-C12B-A2E85396E768}"/>
              </a:ext>
            </a:extLst>
          </p:cNvPr>
          <p:cNvSpPr/>
          <p:nvPr/>
        </p:nvSpPr>
        <p:spPr>
          <a:xfrm>
            <a:off x="357111" y="387458"/>
            <a:ext cx="6458990" cy="379457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20137942-0B43-2347-E441-DC3E779AD8C8}"/>
              </a:ext>
            </a:extLst>
          </p:cNvPr>
          <p:cNvSpPr txBox="1"/>
          <p:nvPr/>
        </p:nvSpPr>
        <p:spPr>
          <a:xfrm>
            <a:off x="2610299" y="3335352"/>
            <a:ext cx="1952614" cy="584775"/>
          </a:xfrm>
          <a:prstGeom prst="rect">
            <a:avLst/>
          </a:prstGeom>
          <a:noFill/>
        </p:spPr>
        <p:txBody>
          <a:bodyPr wrap="square" rtlCol="0">
            <a:spAutoFit/>
          </a:bodyPr>
          <a:lstStyle/>
          <a:p>
            <a:pPr algn="ctr"/>
            <a:r>
              <a:rPr lang="en-US" sz="3200" dirty="0">
                <a:solidFill>
                  <a:schemeClr val="accent6"/>
                </a:solidFill>
              </a:rPr>
              <a:t>SOURCE</a:t>
            </a:r>
          </a:p>
        </p:txBody>
      </p:sp>
      <p:sp>
        <p:nvSpPr>
          <p:cNvPr id="9" name="TextBox 8">
            <a:extLst>
              <a:ext uri="{FF2B5EF4-FFF2-40B4-BE49-F238E27FC236}">
                <a16:creationId xmlns:a16="http://schemas.microsoft.com/office/drawing/2014/main" id="{E0C7E4D2-A614-A725-DF80-83E4F67827EE}"/>
              </a:ext>
            </a:extLst>
          </p:cNvPr>
          <p:cNvSpPr txBox="1"/>
          <p:nvPr/>
        </p:nvSpPr>
        <p:spPr>
          <a:xfrm>
            <a:off x="1174036" y="907298"/>
            <a:ext cx="4825139" cy="954107"/>
          </a:xfrm>
          <a:prstGeom prst="rect">
            <a:avLst/>
          </a:prstGeom>
          <a:noFill/>
        </p:spPr>
        <p:txBody>
          <a:bodyPr wrap="square" rtlCol="0">
            <a:spAutoFit/>
          </a:bodyPr>
          <a:lstStyle/>
          <a:p>
            <a:pPr algn="ctr"/>
            <a:r>
              <a:rPr lang="en-US" sz="2800" b="1" dirty="0"/>
              <a:t>The source pane functions as file editor </a:t>
            </a:r>
          </a:p>
        </p:txBody>
      </p:sp>
    </p:spTree>
    <p:extLst>
      <p:ext uri="{BB962C8B-B14F-4D97-AF65-F5344CB8AC3E}">
        <p14:creationId xmlns:p14="http://schemas.microsoft.com/office/powerpoint/2010/main" val="293071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Check-in: Spot the Types</a:t>
            </a:r>
          </a:p>
        </p:txBody>
      </p:sp>
      <p:sp>
        <p:nvSpPr>
          <p:cNvPr id="4" name="Text Placeholder 3"/>
          <p:cNvSpPr>
            <a:spLocks noGrp="1"/>
          </p:cNvSpPr>
          <p:nvPr>
            <p:ph type="body" sz="quarter" idx="13"/>
          </p:nvPr>
        </p:nvSpPr>
        <p:spPr>
          <a:xfrm>
            <a:off x="1024128" y="2238375"/>
            <a:ext cx="9720072" cy="3745565"/>
          </a:xfrm>
        </p:spPr>
        <p:txBody>
          <a:bodyPr>
            <a:normAutofit fontScale="62500" lnSpcReduction="20000"/>
          </a:bodyPr>
          <a:lstStyle/>
          <a:p>
            <a:pPr>
              <a:buFont typeface="Wingdings" pitchFamily="2" charset="2"/>
              <a:buChar char="§"/>
            </a:pPr>
            <a:r>
              <a:rPr lang="en-US" dirty="0"/>
              <a:t>Open chem_data.csv in a plain text editor (not RStudio — a real text editor).</a:t>
            </a:r>
          </a:p>
          <a:p>
            <a:pPr>
              <a:buFont typeface="Wingdings" pitchFamily="2" charset="2"/>
              <a:buChar char="§"/>
            </a:pPr>
            <a:r>
              <a:rPr lang="en-US" dirty="0"/>
              <a:t>For each of the 13 columns, predict the data type and flag any concerns.</a:t>
            </a:r>
          </a:p>
          <a:p>
            <a:pPr>
              <a:buFont typeface="Wingdings" pitchFamily="2" charset="2"/>
              <a:buChar char="§"/>
            </a:pPr>
            <a:r>
              <a:rPr lang="en-US" dirty="0"/>
              <a:t>Which columns look numeric vs. categorical? Where might censored or missing values be hiding? Which column will need an explicit datetime format?</a:t>
            </a:r>
          </a:p>
          <a:p>
            <a:pPr>
              <a:buFont typeface="Wingdings" pitchFamily="2" charset="2"/>
              <a:buChar char="§"/>
            </a:pPr>
            <a:r>
              <a:rPr lang="en-US" dirty="0"/>
              <a:t>Return to module_1_exercises.qmd in RStudio to record your answers.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1.3 Tidy Data Principles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Principles of Tidy Data</a:t>
            </a:r>
          </a:p>
        </p:txBody>
      </p:sp>
      <p:sp>
        <p:nvSpPr>
          <p:cNvPr id="3" name="Content Placeholder 2"/>
          <p:cNvSpPr>
            <a:spLocks noGrp="1"/>
          </p:cNvSpPr>
          <p:nvPr>
            <p:ph idx="1"/>
          </p:nvPr>
        </p:nvSpPr>
        <p:spPr/>
        <p:txBody>
          <a:bodyPr>
            <a:normAutofit lnSpcReduction="10000"/>
          </a:bodyPr>
          <a:lstStyle/>
          <a:p>
            <a:r>
              <a:rPr lang="en-US" dirty="0"/>
              <a:t>A dataset is </a:t>
            </a:r>
            <a:r>
              <a:rPr lang="en-US" b="1" dirty="0"/>
              <a:t>tidy</a:t>
            </a:r>
            <a:r>
              <a:rPr lang="en-US" dirty="0"/>
              <a:t> when:</a:t>
            </a:r>
          </a:p>
          <a:p>
            <a:pPr lvl="1"/>
            <a:r>
              <a:rPr lang="en-US" dirty="0"/>
              <a:t>Every </a:t>
            </a:r>
            <a:r>
              <a:rPr lang="en-US" b="1" dirty="0"/>
              <a:t>variable</a:t>
            </a:r>
            <a:r>
              <a:rPr lang="en-US" dirty="0"/>
              <a:t> has its own column</a:t>
            </a:r>
          </a:p>
          <a:p>
            <a:pPr lvl="1"/>
            <a:r>
              <a:rPr lang="en-US" dirty="0"/>
              <a:t>Every </a:t>
            </a:r>
            <a:r>
              <a:rPr lang="en-US" b="1" dirty="0"/>
              <a:t>observation</a:t>
            </a:r>
            <a:r>
              <a:rPr lang="en-US" dirty="0"/>
              <a:t> has its own row</a:t>
            </a:r>
          </a:p>
          <a:p>
            <a:pPr lvl="1"/>
            <a:r>
              <a:rPr lang="en-US" dirty="0"/>
              <a:t>Every </a:t>
            </a:r>
            <a:r>
              <a:rPr lang="en-US" b="1" dirty="0"/>
              <a:t>value</a:t>
            </a:r>
            <a:r>
              <a:rPr lang="en-US" dirty="0"/>
              <a:t> has its own cell</a:t>
            </a:r>
          </a:p>
          <a:p>
            <a:r>
              <a:rPr lang="en-US" dirty="0"/>
              <a:t>Not a matter of taste — a precise, checkable definition</a:t>
            </a:r>
          </a:p>
          <a:p>
            <a:r>
              <a:rPr lang="en-US" dirty="0"/>
              <a:t>Most tidyverse tools </a:t>
            </a:r>
            <a:r>
              <a:rPr lang="en-US" i="1" dirty="0"/>
              <a:t>assume</a:t>
            </a:r>
            <a:r>
              <a:rPr lang="en-US" dirty="0"/>
              <a:t> tidy input</a:t>
            </a:r>
          </a:p>
          <a:p>
            <a:pPr marL="0" indent="0">
              <a:buNone/>
            </a:pPr>
            <a:r>
              <a:rPr lang="en-US" i="1" dirty="0"/>
              <a:t>Tidy data isn't prettier data. It's data shaped for the tools you're about to use.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Same Facts, Two Structures</a:t>
            </a:r>
          </a:p>
        </p:txBody>
      </p:sp>
      <p:pic>
        <p:nvPicPr>
          <p:cNvPr id="3" name="Long vs Wide Diagram"/>
          <p:cNvPicPr>
            <a:picLocks noChangeAspect="1"/>
          </p:cNvPicPr>
          <p:nvPr/>
        </p:nvPicPr>
        <p:blipFill>
          <a:blip r:embed="rId2"/>
          <a:stretch>
            <a:fillRect/>
          </a:stretch>
        </p:blipFill>
        <p:spPr>
          <a:xfrm>
            <a:off x="846000" y="2725687"/>
            <a:ext cx="10500000" cy="3148625"/>
          </a:xfrm>
          <a:prstGeom prst="rect">
            <a:avLst/>
          </a:prstGeom>
        </p:spPr>
      </p:pic>
      <p:sp>
        <p:nvSpPr>
          <p:cNvPr id="4" name="Caption"/>
          <p:cNvSpPr txBox="1"/>
          <p:nvPr/>
        </p:nvSpPr>
        <p:spPr>
          <a:xfrm>
            <a:off x="846000" y="6000000"/>
            <a:ext cx="10500000" cy="500000"/>
          </a:xfrm>
          <a:prstGeom prst="rect">
            <a:avLst/>
          </a:prstGeom>
          <a:noFill/>
        </p:spPr>
        <p:txBody>
          <a:bodyPr wrap="square" rtlCol="0">
            <a:normAutofit/>
          </a:bodyPr>
          <a:lstStyle/>
          <a:p>
            <a:pPr algn="ctr"/>
            <a:r>
              <a:rPr lang="en-US" sz="1800" i="1" dirty="0"/>
              <a:t>Same information — very different shapes. Notice the explicit NA that appears only once the data is widened.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Tradeoffs: Long vs. Wide</a:t>
            </a:r>
          </a:p>
        </p:txBody>
      </p:sp>
      <p:graphicFrame>
        <p:nvGraphicFramePr>
          <p:cNvPr id="3" name="Table 2"/>
          <p:cNvGraphicFramePr>
            <a:graphicFrameLocks noGrp="1"/>
          </p:cNvGraphicFramePr>
          <p:nvPr/>
        </p:nvGraphicFramePr>
        <p:xfrm>
          <a:off x="846000" y="1900000"/>
          <a:ext cx="10500600" cy="2500000"/>
        </p:xfrm>
        <a:graphic>
          <a:graphicData uri="http://schemas.openxmlformats.org/drawingml/2006/table">
            <a:tbl>
              <a:tblPr firstRow="1" bandRow="1">
                <a:tableStyleId>{5C22544A-7EE6-4342-B048-85BDC9FD1C3A}</a:tableStyleId>
              </a:tblPr>
              <a:tblGrid>
                <a:gridCol w="3500000">
                  <a:extLst>
                    <a:ext uri="{9D8B030D-6E8A-4147-A177-3AD203B41FA5}">
                      <a16:colId xmlns:a16="http://schemas.microsoft.com/office/drawing/2014/main" val="20000"/>
                    </a:ext>
                  </a:extLst>
                </a:gridCol>
                <a:gridCol w="3500000">
                  <a:extLst>
                    <a:ext uri="{9D8B030D-6E8A-4147-A177-3AD203B41FA5}">
                      <a16:colId xmlns:a16="http://schemas.microsoft.com/office/drawing/2014/main" val="20001"/>
                    </a:ext>
                  </a:extLst>
                </a:gridCol>
                <a:gridCol w="3500600">
                  <a:extLst>
                    <a:ext uri="{9D8B030D-6E8A-4147-A177-3AD203B41FA5}">
                      <a16:colId xmlns:a16="http://schemas.microsoft.com/office/drawing/2014/main" val="20002"/>
                    </a:ext>
                  </a:extLst>
                </a:gridCol>
              </a:tblGrid>
              <a:tr h="500000">
                <a:tc>
                  <a:txBody>
                    <a:bodyPr/>
                    <a:lstStyle/>
                    <a:p>
                      <a:endParaRPr/>
                    </a:p>
                  </a:txBody>
                  <a:tcPr/>
                </a:tc>
                <a:tc>
                  <a:txBody>
                    <a:bodyPr/>
                    <a:lstStyle/>
                    <a:p>
                      <a:r>
                        <a:rPr lang="en-US" sz="1600" b="1" dirty="0"/>
                        <a:t>Long (tidy)</a:t>
                      </a:r>
                    </a:p>
                  </a:txBody>
                  <a:tcPr/>
                </a:tc>
                <a:tc>
                  <a:txBody>
                    <a:bodyPr/>
                    <a:lstStyle/>
                    <a:p>
                      <a:r>
                        <a:rPr lang="en-US" sz="1600" b="1" dirty="0"/>
                        <a:t>Wide</a:t>
                      </a:r>
                    </a:p>
                  </a:txBody>
                  <a:tcPr/>
                </a:tc>
                <a:extLst>
                  <a:ext uri="{0D108BD9-81ED-4DB2-BD59-A6C34878D82A}">
                    <a16:rowId xmlns:a16="http://schemas.microsoft.com/office/drawing/2014/main" val="10000"/>
                  </a:ext>
                </a:extLst>
              </a:tr>
              <a:tr h="500000">
                <a:tc>
                  <a:txBody>
                    <a:bodyPr/>
                    <a:lstStyle/>
                    <a:p>
                      <a:r>
                        <a:rPr lang="en-US" sz="1600" dirty="0"/>
                        <a:t>Add a new analyte</a:t>
                      </a:r>
                    </a:p>
                  </a:txBody>
                  <a:tcPr/>
                </a:tc>
                <a:tc>
                  <a:txBody>
                    <a:bodyPr/>
                    <a:lstStyle/>
                    <a:p>
                      <a:r>
                        <a:rPr lang="en-US" sz="1600" dirty="0"/>
                        <a:t>Add rows</a:t>
                      </a:r>
                    </a:p>
                  </a:txBody>
                  <a:tcPr/>
                </a:tc>
                <a:tc>
                  <a:txBody>
                    <a:bodyPr/>
                    <a:lstStyle/>
                    <a:p>
                      <a:r>
                        <a:rPr lang="en-US" sz="1600" dirty="0"/>
                        <a:t>Add a column, restructure</a:t>
                      </a:r>
                    </a:p>
                  </a:txBody>
                  <a:tcPr/>
                </a:tc>
                <a:extLst>
                  <a:ext uri="{0D108BD9-81ED-4DB2-BD59-A6C34878D82A}">
                    <a16:rowId xmlns:a16="http://schemas.microsoft.com/office/drawing/2014/main" val="10001"/>
                  </a:ext>
                </a:extLst>
              </a:tr>
              <a:tr h="500000">
                <a:tc>
                  <a:txBody>
                    <a:bodyPr/>
                    <a:lstStyle/>
                    <a:p>
                      <a:r>
                        <a:rPr lang="en-US" sz="1600" dirty="0"/>
                        <a:t>Filter by analyte</a:t>
                      </a:r>
                    </a:p>
                  </a:txBody>
                  <a:tcPr/>
                </a:tc>
                <a:tc>
                  <a:txBody>
                    <a:bodyPr/>
                    <a:lstStyle/>
                    <a:p>
                      <a:r>
                        <a:rPr lang="en-US" sz="1600" dirty="0"/>
                        <a:t>Easy (filter())</a:t>
                      </a:r>
                    </a:p>
                  </a:txBody>
                  <a:tcPr/>
                </a:tc>
                <a:tc>
                  <a:txBody>
                    <a:bodyPr/>
                    <a:lstStyle/>
                    <a:p>
                      <a:r>
                        <a:rPr lang="en-US" sz="1600" dirty="0"/>
                        <a:t>Awkward</a:t>
                      </a:r>
                    </a:p>
                  </a:txBody>
                  <a:tcPr/>
                </a:tc>
                <a:extLst>
                  <a:ext uri="{0D108BD9-81ED-4DB2-BD59-A6C34878D82A}">
                    <a16:rowId xmlns:a16="http://schemas.microsoft.com/office/drawing/2014/main" val="10002"/>
                  </a:ext>
                </a:extLst>
              </a:tr>
              <a:tr h="500000">
                <a:tc>
                  <a:txBody>
                    <a:bodyPr/>
                    <a:lstStyle/>
                    <a:p>
                      <a:r>
                        <a:rPr lang="en-US" sz="1600" dirty="0"/>
                        <a:t>Human-readable summary table</a:t>
                      </a:r>
                    </a:p>
                  </a:txBody>
                  <a:tcPr/>
                </a:tc>
                <a:tc>
                  <a:txBody>
                    <a:bodyPr/>
                    <a:lstStyle/>
                    <a:p>
                      <a:r>
                        <a:rPr lang="en-US" sz="1600" dirty="0"/>
                        <a:t>Harder to scan</a:t>
                      </a:r>
                    </a:p>
                  </a:txBody>
                  <a:tcPr/>
                </a:tc>
                <a:tc>
                  <a:txBody>
                    <a:bodyPr/>
                    <a:lstStyle/>
                    <a:p>
                      <a:r>
                        <a:rPr lang="en-US" sz="1600" dirty="0"/>
                        <a:t>Easy to scan</a:t>
                      </a:r>
                    </a:p>
                  </a:txBody>
                  <a:tcPr/>
                </a:tc>
                <a:extLst>
                  <a:ext uri="{0D108BD9-81ED-4DB2-BD59-A6C34878D82A}">
                    <a16:rowId xmlns:a16="http://schemas.microsoft.com/office/drawing/2014/main" val="10003"/>
                  </a:ext>
                </a:extLst>
              </a:tr>
              <a:tr h="500000">
                <a:tc>
                  <a:txBody>
                    <a:bodyPr/>
                    <a:lstStyle/>
                    <a:p>
                      <a:r>
                        <a:rPr lang="en-US" sz="1600" dirty="0"/>
                        <a:t>Feed into ggplot2</a:t>
                      </a:r>
                    </a:p>
                  </a:txBody>
                  <a:tcPr/>
                </a:tc>
                <a:tc>
                  <a:txBody>
                    <a:bodyPr/>
                    <a:lstStyle/>
                    <a:p>
                      <a:r>
                        <a:rPr lang="en-US" sz="1600" dirty="0"/>
                        <a:t>Usually required</a:t>
                      </a:r>
                    </a:p>
                  </a:txBody>
                  <a:tcPr/>
                </a:tc>
                <a:tc>
                  <a:txBody>
                    <a:bodyPr/>
                    <a:lstStyle/>
                    <a:p>
                      <a:r>
                        <a:rPr lang="en-US" sz="1600" dirty="0"/>
                        <a:t>Usually needs reshaping first</a:t>
                      </a:r>
                    </a:p>
                  </a:txBody>
                  <a:tcPr/>
                </a:tc>
                <a:extLst>
                  <a:ext uri="{0D108BD9-81ED-4DB2-BD59-A6C34878D82A}">
                    <a16:rowId xmlns:a16="http://schemas.microsoft.com/office/drawing/2014/main" val="10004"/>
                  </a:ext>
                </a:extLst>
              </a:tr>
            </a:tbl>
          </a:graphicData>
        </a:graphic>
      </p:graphicFrame>
      <p:sp>
        <p:nvSpPr>
          <p:cNvPr id="4" name="Notes"/>
          <p:cNvSpPr txBox="1"/>
          <p:nvPr/>
        </p:nvSpPr>
        <p:spPr>
          <a:xfrm>
            <a:off x="846000" y="4700000"/>
            <a:ext cx="10500600" cy="1500000"/>
          </a:xfrm>
          <a:prstGeom prst="rect">
            <a:avLst/>
          </a:prstGeom>
          <a:noFill/>
        </p:spPr>
        <p:txBody>
          <a:bodyPr wrap="square" rtlCol="0">
            <a:normAutofit/>
          </a:bodyPr>
          <a:lstStyle/>
          <a:p>
            <a:pPr marL="285750" indent="-285750">
              <a:buFont typeface="Arial" pitchFamily="34" charset="0"/>
              <a:buChar char="•"/>
            </a:pPr>
            <a:r>
              <a:rPr lang="en-US" sz="1600" dirty="0"/>
              <a:t>Neither format is “wrong” — but one is almost always easier for a given task</a:t>
            </a:r>
          </a:p>
          <a:p>
            <a:pPr marL="285750" indent="-285750">
              <a:buFont typeface="Arial" pitchFamily="34" charset="0"/>
              <a:buChar char="•"/>
            </a:pPr>
            <a:r>
              <a:rPr lang="en-US" sz="1600" dirty="0"/>
              <a:t>The tidyverse gives you tools (pivot_longer(), pivot_wider()) to convert between them — we'll see these in Module 4</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58BBF9-C63F-7629-9A85-92297E3FAAC1}"/>
              </a:ext>
            </a:extLst>
          </p:cNvPr>
          <p:cNvSpPr>
            <a:spLocks noGrp="1"/>
          </p:cNvSpPr>
          <p:nvPr>
            <p:ph type="title"/>
          </p:nvPr>
        </p:nvSpPr>
        <p:spPr/>
        <p:txBody>
          <a:bodyPr/>
          <a:lstStyle/>
          <a:p>
            <a:r>
              <a:rPr lang="en-US" dirty="0"/>
              <a:t>Tidy Data Summarized</a:t>
            </a:r>
          </a:p>
        </p:txBody>
      </p:sp>
      <p:sp>
        <p:nvSpPr>
          <p:cNvPr id="4" name="Content Placeholder 3">
            <a:extLst>
              <a:ext uri="{FF2B5EF4-FFF2-40B4-BE49-F238E27FC236}">
                <a16:creationId xmlns:a16="http://schemas.microsoft.com/office/drawing/2014/main" id="{E0DE3468-B9D7-C314-90B8-8C0927EECAAD}"/>
              </a:ext>
            </a:extLst>
          </p:cNvPr>
          <p:cNvSpPr>
            <a:spLocks noGrp="1"/>
          </p:cNvSpPr>
          <p:nvPr>
            <p:ph idx="1"/>
          </p:nvPr>
        </p:nvSpPr>
        <p:spPr>
          <a:xfrm>
            <a:off x="5554494" y="2286000"/>
            <a:ext cx="6556442" cy="4023360"/>
          </a:xfrm>
        </p:spPr>
        <p:txBody>
          <a:bodyPr/>
          <a:lstStyle/>
          <a:p>
            <a:pPr marL="0" indent="0">
              <a:buNone/>
            </a:pPr>
            <a:r>
              <a:rPr lang="en-US" dirty="0"/>
              <a:t>A data set is </a:t>
            </a:r>
            <a:r>
              <a:rPr lang="en-US" b="1" dirty="0"/>
              <a:t>tidy</a:t>
            </a:r>
            <a:r>
              <a:rPr lang="en-US" dirty="0"/>
              <a:t> if:</a:t>
            </a:r>
          </a:p>
          <a:p>
            <a:endParaRPr lang="en-US" dirty="0"/>
          </a:p>
          <a:p>
            <a:pPr marL="342900" indent="-342900">
              <a:buAutoNum type="arabicPeriod"/>
            </a:pPr>
            <a:r>
              <a:rPr lang="en-US" dirty="0"/>
              <a:t> Each </a:t>
            </a:r>
            <a:r>
              <a:rPr lang="en-US" b="1" dirty="0">
                <a:solidFill>
                  <a:schemeClr val="accent2"/>
                </a:solidFill>
              </a:rPr>
              <a:t>variable</a:t>
            </a:r>
            <a:r>
              <a:rPr lang="en-US" dirty="0"/>
              <a:t> is in its own </a:t>
            </a:r>
            <a:r>
              <a:rPr lang="en-US" b="1" dirty="0">
                <a:solidFill>
                  <a:schemeClr val="accent2"/>
                </a:solidFill>
              </a:rPr>
              <a:t>column</a:t>
            </a:r>
            <a:endParaRPr lang="en-US" dirty="0">
              <a:solidFill>
                <a:schemeClr val="accent2"/>
              </a:solidFill>
            </a:endParaRPr>
          </a:p>
          <a:p>
            <a:pPr marL="342900" indent="-342900">
              <a:buAutoNum type="arabicPeriod"/>
            </a:pPr>
            <a:r>
              <a:rPr lang="en-US" dirty="0"/>
              <a:t> Each </a:t>
            </a:r>
            <a:r>
              <a:rPr lang="en-US" b="1" dirty="0">
                <a:solidFill>
                  <a:srgbClr val="92D050"/>
                </a:solidFill>
              </a:rPr>
              <a:t>observation</a:t>
            </a:r>
            <a:r>
              <a:rPr lang="en-US" dirty="0"/>
              <a:t> is in its own </a:t>
            </a:r>
            <a:r>
              <a:rPr lang="en-US" b="1" dirty="0">
                <a:solidFill>
                  <a:srgbClr val="92D050"/>
                </a:solidFill>
              </a:rPr>
              <a:t>row</a:t>
            </a:r>
            <a:endParaRPr lang="en-US" dirty="0">
              <a:solidFill>
                <a:srgbClr val="92D050"/>
              </a:solidFill>
            </a:endParaRPr>
          </a:p>
          <a:p>
            <a:pPr marL="342900" indent="-342900">
              <a:buAutoNum type="arabicPeriod"/>
            </a:pPr>
            <a:r>
              <a:rPr lang="en-US" dirty="0"/>
              <a:t> Each </a:t>
            </a:r>
            <a:r>
              <a:rPr lang="en-US" b="1" dirty="0">
                <a:solidFill>
                  <a:srgbClr val="FFC000"/>
                </a:solidFill>
              </a:rPr>
              <a:t>value</a:t>
            </a:r>
            <a:r>
              <a:rPr lang="en-US" b="1" dirty="0"/>
              <a:t> </a:t>
            </a:r>
            <a:r>
              <a:rPr lang="en-US" dirty="0"/>
              <a:t>is in its own </a:t>
            </a:r>
            <a:r>
              <a:rPr lang="en-US" b="1" dirty="0">
                <a:solidFill>
                  <a:srgbClr val="FFC000"/>
                </a:solidFill>
              </a:rPr>
              <a:t>cell</a:t>
            </a:r>
            <a:endParaRPr lang="en-US" dirty="0">
              <a:solidFill>
                <a:srgbClr val="FFC000"/>
              </a:solidFill>
            </a:endParaRPr>
          </a:p>
          <a:p>
            <a:endParaRPr lang="en-US" dirty="0"/>
          </a:p>
        </p:txBody>
      </p:sp>
      <p:pic>
        <p:nvPicPr>
          <p:cNvPr id="8" name="Picture 7">
            <a:extLst>
              <a:ext uri="{FF2B5EF4-FFF2-40B4-BE49-F238E27FC236}">
                <a16:creationId xmlns:a16="http://schemas.microsoft.com/office/drawing/2014/main" id="{DB9E0A89-F131-0BAD-1C0C-D6855023842A}"/>
              </a:ext>
            </a:extLst>
          </p:cNvPr>
          <p:cNvPicPr>
            <a:picLocks noChangeAspect="1"/>
          </p:cNvPicPr>
          <p:nvPr/>
        </p:nvPicPr>
        <p:blipFill>
          <a:blip r:embed="rId2"/>
          <a:stretch>
            <a:fillRect/>
          </a:stretch>
        </p:blipFill>
        <p:spPr>
          <a:xfrm>
            <a:off x="486902" y="2941999"/>
            <a:ext cx="4554116" cy="2025833"/>
          </a:xfrm>
          <a:prstGeom prst="rect">
            <a:avLst/>
          </a:prstGeom>
        </p:spPr>
      </p:pic>
      <p:pic>
        <p:nvPicPr>
          <p:cNvPr id="9" name="Picture 8">
            <a:extLst>
              <a:ext uri="{FF2B5EF4-FFF2-40B4-BE49-F238E27FC236}">
                <a16:creationId xmlns:a16="http://schemas.microsoft.com/office/drawing/2014/main" id="{BC22CCC3-487E-0AE6-9B2A-CE4C71015D42}"/>
              </a:ext>
            </a:extLst>
          </p:cNvPr>
          <p:cNvPicPr>
            <a:picLocks noChangeAspect="1"/>
          </p:cNvPicPr>
          <p:nvPr/>
        </p:nvPicPr>
        <p:blipFill>
          <a:blip r:embed="rId3"/>
          <a:stretch>
            <a:fillRect/>
          </a:stretch>
        </p:blipFill>
        <p:spPr>
          <a:xfrm>
            <a:off x="-101160" y="3270620"/>
            <a:ext cx="5730240" cy="1697212"/>
          </a:xfrm>
          <a:prstGeom prst="rect">
            <a:avLst/>
          </a:prstGeom>
        </p:spPr>
      </p:pic>
      <p:pic>
        <p:nvPicPr>
          <p:cNvPr id="10" name="Picture 9">
            <a:extLst>
              <a:ext uri="{FF2B5EF4-FFF2-40B4-BE49-F238E27FC236}">
                <a16:creationId xmlns:a16="http://schemas.microsoft.com/office/drawing/2014/main" id="{97302A52-095E-2CA6-670E-34CB90CA9B52}"/>
              </a:ext>
            </a:extLst>
          </p:cNvPr>
          <p:cNvPicPr>
            <a:picLocks noChangeAspect="1"/>
          </p:cNvPicPr>
          <p:nvPr/>
        </p:nvPicPr>
        <p:blipFill rotWithShape="1">
          <a:blip r:embed="rId4"/>
          <a:srcRect t="18386"/>
          <a:stretch/>
        </p:blipFill>
        <p:spPr>
          <a:xfrm>
            <a:off x="486902" y="3270620"/>
            <a:ext cx="4548958" cy="1697212"/>
          </a:xfrm>
          <a:prstGeom prst="rect">
            <a:avLst/>
          </a:prstGeom>
        </p:spPr>
      </p:pic>
      <p:sp>
        <p:nvSpPr>
          <p:cNvPr id="11" name="Rectangle 10">
            <a:extLst>
              <a:ext uri="{FF2B5EF4-FFF2-40B4-BE49-F238E27FC236}">
                <a16:creationId xmlns:a16="http://schemas.microsoft.com/office/drawing/2014/main" id="{99E94FF1-27C6-C3DB-1AFE-45D67635599F}"/>
              </a:ext>
            </a:extLst>
          </p:cNvPr>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
        <p:nvSpPr>
          <p:cNvPr id="12" name="TextBox 11">
            <a:extLst>
              <a:ext uri="{FF2B5EF4-FFF2-40B4-BE49-F238E27FC236}">
                <a16:creationId xmlns:a16="http://schemas.microsoft.com/office/drawing/2014/main" id="{F4D743E3-B7D3-0DBA-F286-37FF123025B0}"/>
              </a:ext>
            </a:extLst>
          </p:cNvPr>
          <p:cNvSpPr txBox="1"/>
          <p:nvPr/>
        </p:nvSpPr>
        <p:spPr>
          <a:xfrm>
            <a:off x="0" y="6488668"/>
            <a:ext cx="7490298" cy="369332"/>
          </a:xfrm>
          <a:prstGeom prst="rect">
            <a:avLst/>
          </a:prstGeom>
          <a:noFill/>
        </p:spPr>
        <p:txBody>
          <a:bodyPr wrap="square" rtlCol="0">
            <a:spAutoFit/>
          </a:bodyPr>
          <a:lstStyle/>
          <a:p>
            <a:r>
              <a:rPr lang="en-US" dirty="0"/>
              <a:t>Wickham, H. . (2014). Tidy Data. </a:t>
            </a:r>
            <a:r>
              <a:rPr lang="en-US" i="1" dirty="0"/>
              <a:t>Journal of Statistical Software</a:t>
            </a:r>
            <a:r>
              <a:rPr lang="en-US" dirty="0"/>
              <a:t>, </a:t>
            </a:r>
            <a:r>
              <a:rPr lang="en-US" i="1" dirty="0"/>
              <a:t>59</a:t>
            </a:r>
            <a:r>
              <a:rPr lang="en-US" dirty="0"/>
              <a:t>(10), 1–23.</a:t>
            </a:r>
          </a:p>
        </p:txBody>
      </p:sp>
    </p:spTree>
    <p:extLst>
      <p:ext uri="{BB962C8B-B14F-4D97-AF65-F5344CB8AC3E}">
        <p14:creationId xmlns:p14="http://schemas.microsoft.com/office/powerpoint/2010/main" val="58905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Check-in: Tidy or Not Tidy?</a:t>
            </a:r>
          </a:p>
        </p:txBody>
      </p:sp>
      <p:sp>
        <p:nvSpPr>
          <p:cNvPr id="4" name="Text Placeholder 3"/>
          <p:cNvSpPr>
            <a:spLocks noGrp="1"/>
          </p:cNvSpPr>
          <p:nvPr>
            <p:ph type="body" sz="quarter" idx="13"/>
          </p:nvPr>
        </p:nvSpPr>
        <p:spPr>
          <a:xfrm>
            <a:off x="1024128" y="2238375"/>
            <a:ext cx="9720072" cy="3772460"/>
          </a:xfrm>
        </p:spPr>
        <p:txBody>
          <a:bodyPr>
            <a:normAutofit fontScale="70000" lnSpcReduction="20000"/>
          </a:bodyPr>
          <a:lstStyle/>
          <a:p>
            <a:pPr>
              <a:buFont typeface="Wingdings" pitchFamily="2" charset="2"/>
              <a:buChar char="§"/>
            </a:pPr>
            <a:r>
              <a:rPr lang="en-US" dirty="0"/>
              <a:t>Compare chem_data.csv (long) and chem_data_wide.csv (wide).</a:t>
            </a:r>
          </a:p>
          <a:p>
            <a:pPr>
              <a:buFont typeface="Wingdings" pitchFamily="2" charset="2"/>
              <a:buChar char="§"/>
            </a:pPr>
            <a:r>
              <a:rPr lang="en-US" dirty="0"/>
              <a:t>Answer three written questions in module_1_exercises.qmd:</a:t>
            </a:r>
          </a:p>
          <a:p>
            <a:pPr>
              <a:buFont typeface="Wingdings" pitchFamily="2" charset="2"/>
              <a:buChar char="§"/>
            </a:pPr>
            <a:r>
              <a:rPr lang="en-US" dirty="0"/>
              <a:t>Which tidy principle does the wide format bend?</a:t>
            </a:r>
          </a:p>
          <a:p>
            <a:pPr>
              <a:buFont typeface="Wingdings" pitchFamily="2" charset="2"/>
              <a:buChar char="§"/>
            </a:pPr>
            <a:r>
              <a:rPr lang="en-US" dirty="0"/>
              <a:t>When is each format easier to use?</a:t>
            </a:r>
          </a:p>
          <a:p>
            <a:pPr>
              <a:buFont typeface="Wingdings" pitchFamily="2" charset="2"/>
              <a:buChar char="§"/>
            </a:pPr>
            <a:r>
              <a:rPr lang="en-US" dirty="0"/>
              <a:t>What would you need to do to a wide file before analyzing it in 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1.4 Data Quality and Common Pitfalls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2125-3DE9-0839-CAEC-BD2ED3BEF66F}"/>
              </a:ext>
            </a:extLst>
          </p:cNvPr>
          <p:cNvSpPr>
            <a:spLocks noGrp="1"/>
          </p:cNvSpPr>
          <p:nvPr>
            <p:ph type="title"/>
          </p:nvPr>
        </p:nvSpPr>
        <p:spPr/>
        <p:txBody>
          <a:bodyPr/>
          <a:lstStyle/>
          <a:p>
            <a:r>
              <a:rPr lang="en-US" dirty="0"/>
              <a:t>Data quality</a:t>
            </a:r>
          </a:p>
        </p:txBody>
      </p:sp>
      <p:graphicFrame>
        <p:nvGraphicFramePr>
          <p:cNvPr id="4" name="Table 4">
            <a:extLst>
              <a:ext uri="{FF2B5EF4-FFF2-40B4-BE49-F238E27FC236}">
                <a16:creationId xmlns:a16="http://schemas.microsoft.com/office/drawing/2014/main" id="{BE05CE93-14E2-4611-C3C7-1C5963692D0A}"/>
              </a:ext>
            </a:extLst>
          </p:cNvPr>
          <p:cNvGraphicFramePr>
            <a:graphicFrameLocks noGrp="1"/>
          </p:cNvGraphicFramePr>
          <p:nvPr>
            <p:ph idx="1"/>
          </p:nvPr>
        </p:nvGraphicFramePr>
        <p:xfrm>
          <a:off x="838200" y="1900009"/>
          <a:ext cx="10515600" cy="4242520"/>
        </p:xfrm>
        <a:graphic>
          <a:graphicData uri="http://schemas.openxmlformats.org/drawingml/2006/table">
            <a:tbl>
              <a:tblPr firstCol="1" bandRow="1">
                <a:tableStyleId>{5C22544A-7EE6-4342-B048-85BDC9FD1C3A}</a:tableStyleId>
              </a:tblPr>
              <a:tblGrid>
                <a:gridCol w="2882246">
                  <a:extLst>
                    <a:ext uri="{9D8B030D-6E8A-4147-A177-3AD203B41FA5}">
                      <a16:colId xmlns:a16="http://schemas.microsoft.com/office/drawing/2014/main" val="4146429391"/>
                    </a:ext>
                  </a:extLst>
                </a:gridCol>
                <a:gridCol w="7633354">
                  <a:extLst>
                    <a:ext uri="{9D8B030D-6E8A-4147-A177-3AD203B41FA5}">
                      <a16:colId xmlns:a16="http://schemas.microsoft.com/office/drawing/2014/main" val="2555825690"/>
                    </a:ext>
                  </a:extLst>
                </a:gridCol>
              </a:tblGrid>
              <a:tr h="848504">
                <a:tc>
                  <a:txBody>
                    <a:bodyPr/>
                    <a:lstStyle/>
                    <a:p>
                      <a:r>
                        <a:rPr lang="en-US" sz="2800" dirty="0"/>
                        <a:t> Completeness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present and available?</a:t>
                      </a:r>
                    </a:p>
                  </a:txBody>
                  <a:tcPr anchor="ctr">
                    <a:solidFill>
                      <a:schemeClr val="accent5">
                        <a:lumMod val="60000"/>
                        <a:lumOff val="40000"/>
                      </a:schemeClr>
                    </a:solidFill>
                  </a:tcPr>
                </a:tc>
                <a:extLst>
                  <a:ext uri="{0D108BD9-81ED-4DB2-BD59-A6C34878D82A}">
                    <a16:rowId xmlns:a16="http://schemas.microsoft.com/office/drawing/2014/main" val="2870412862"/>
                  </a:ext>
                </a:extLst>
              </a:tr>
              <a:tr h="848504">
                <a:tc>
                  <a:txBody>
                    <a:bodyPr/>
                    <a:lstStyle/>
                    <a:p>
                      <a:r>
                        <a:rPr lang="en-US" sz="2800" dirty="0"/>
                        <a:t> Correctness</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true?</a:t>
                      </a:r>
                    </a:p>
                  </a:txBody>
                  <a:tcPr anchor="ctr">
                    <a:solidFill>
                      <a:schemeClr val="accent5">
                        <a:lumMod val="20000"/>
                        <a:lumOff val="80000"/>
                      </a:schemeClr>
                    </a:solidFill>
                  </a:tcPr>
                </a:tc>
                <a:extLst>
                  <a:ext uri="{0D108BD9-81ED-4DB2-BD59-A6C34878D82A}">
                    <a16:rowId xmlns:a16="http://schemas.microsoft.com/office/drawing/2014/main" val="1377506436"/>
                  </a:ext>
                </a:extLst>
              </a:tr>
              <a:tr h="848504">
                <a:tc>
                  <a:txBody>
                    <a:bodyPr/>
                    <a:lstStyle/>
                    <a:p>
                      <a:r>
                        <a:rPr lang="en-US" sz="2800" dirty="0"/>
                        <a:t> Concordance</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there agreement and consistency between data elements?</a:t>
                      </a:r>
                    </a:p>
                  </a:txBody>
                  <a:tcPr anchor="ctr">
                    <a:solidFill>
                      <a:schemeClr val="accent5">
                        <a:lumMod val="60000"/>
                        <a:lumOff val="40000"/>
                      </a:schemeClr>
                    </a:solidFill>
                  </a:tcPr>
                </a:tc>
                <a:extLst>
                  <a:ext uri="{0D108BD9-81ED-4DB2-BD59-A6C34878D82A}">
                    <a16:rowId xmlns:a16="http://schemas.microsoft.com/office/drawing/2014/main" val="2943288984"/>
                  </a:ext>
                </a:extLst>
              </a:tr>
              <a:tr h="848504">
                <a:tc>
                  <a:txBody>
                    <a:bodyPr/>
                    <a:lstStyle/>
                    <a:p>
                      <a:r>
                        <a:rPr lang="en-US" sz="2800" dirty="0"/>
                        <a:t> Plausibility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Does data make sense in the clinical context?</a:t>
                      </a:r>
                    </a:p>
                  </a:txBody>
                  <a:tcPr anchor="ctr">
                    <a:solidFill>
                      <a:schemeClr val="accent5">
                        <a:lumMod val="20000"/>
                        <a:lumOff val="80000"/>
                      </a:schemeClr>
                    </a:solidFill>
                  </a:tcPr>
                </a:tc>
                <a:extLst>
                  <a:ext uri="{0D108BD9-81ED-4DB2-BD59-A6C34878D82A}">
                    <a16:rowId xmlns:a16="http://schemas.microsoft.com/office/drawing/2014/main" val="509695638"/>
                  </a:ext>
                </a:extLst>
              </a:tr>
              <a:tr h="848504">
                <a:tc>
                  <a:txBody>
                    <a:bodyPr/>
                    <a:lstStyle/>
                    <a:p>
                      <a:r>
                        <a:rPr lang="en-US" sz="2800" dirty="0"/>
                        <a:t> Currency</a:t>
                      </a:r>
                    </a:p>
                  </a:txBody>
                  <a:tcPr anchor="ctr">
                    <a:solidFill>
                      <a:srgbClr val="0070C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200" dirty="0"/>
                        <a:t>Is data a relevant representation at a defined point in time?</a:t>
                      </a:r>
                    </a:p>
                  </a:txBody>
                  <a:tcPr anchor="ctr">
                    <a:solidFill>
                      <a:schemeClr val="accent5">
                        <a:lumMod val="60000"/>
                        <a:lumOff val="40000"/>
                      </a:schemeClr>
                    </a:solidFill>
                  </a:tcPr>
                </a:tc>
                <a:extLst>
                  <a:ext uri="{0D108BD9-81ED-4DB2-BD59-A6C34878D82A}">
                    <a16:rowId xmlns:a16="http://schemas.microsoft.com/office/drawing/2014/main" val="1710205910"/>
                  </a:ext>
                </a:extLst>
              </a:tr>
            </a:tbl>
          </a:graphicData>
        </a:graphic>
      </p:graphicFrame>
      <p:sp>
        <p:nvSpPr>
          <p:cNvPr id="5" name="TextBox 4">
            <a:extLst>
              <a:ext uri="{FF2B5EF4-FFF2-40B4-BE49-F238E27FC236}">
                <a16:creationId xmlns:a16="http://schemas.microsoft.com/office/drawing/2014/main" id="{F4D84D07-93CF-CBB0-1A0B-391E09CADCDB}"/>
              </a:ext>
            </a:extLst>
          </p:cNvPr>
          <p:cNvSpPr txBox="1"/>
          <p:nvPr/>
        </p:nvSpPr>
        <p:spPr>
          <a:xfrm>
            <a:off x="4444861" y="6240531"/>
            <a:ext cx="7184571" cy="461665"/>
          </a:xfrm>
          <a:prstGeom prst="rect">
            <a:avLst/>
          </a:prstGeom>
          <a:noFill/>
        </p:spPr>
        <p:txBody>
          <a:bodyPr wrap="square" rtlCol="0">
            <a:spAutoFit/>
          </a:bodyPr>
          <a:lstStyle/>
          <a:p>
            <a:r>
              <a:rPr lang="en-US" sz="1200" dirty="0"/>
              <a:t>Weiskopf NG, Weng C. Methods and dimensions of electronic health record data quality assessment: enabling reuse for clinical research. J Am Med Inform Assoc. 2013;20(1):144-151. doi:10.1136/amiajnl-2011-000681</a:t>
            </a:r>
          </a:p>
        </p:txBody>
      </p:sp>
      <p:sp>
        <p:nvSpPr>
          <p:cNvPr id="3" name="TextBox 2">
            <a:extLst>
              <a:ext uri="{FF2B5EF4-FFF2-40B4-BE49-F238E27FC236}">
                <a16:creationId xmlns:a16="http://schemas.microsoft.com/office/drawing/2014/main" id="{42788303-4941-9354-78B5-44E13023409A}"/>
              </a:ext>
            </a:extLst>
          </p:cNvPr>
          <p:cNvSpPr txBox="1"/>
          <p:nvPr/>
        </p:nvSpPr>
        <p:spPr>
          <a:xfrm>
            <a:off x="0" y="6488668"/>
            <a:ext cx="2933047" cy="369332"/>
          </a:xfrm>
          <a:prstGeom prst="rect">
            <a:avLst/>
          </a:prstGeom>
          <a:noFill/>
        </p:spPr>
        <p:txBody>
          <a:bodyPr wrap="none" rtlCol="0">
            <a:spAutoFit/>
          </a:bodyPr>
          <a:lstStyle/>
          <a:p>
            <a:r>
              <a:rPr lang="en-US" dirty="0"/>
              <a:t>© 2023 James H. Harrison, Jr.</a:t>
            </a:r>
          </a:p>
        </p:txBody>
      </p:sp>
    </p:spTree>
    <p:extLst>
      <p:ext uri="{BB962C8B-B14F-4D97-AF65-F5344CB8AC3E}">
        <p14:creationId xmlns:p14="http://schemas.microsoft.com/office/powerpoint/2010/main" val="3811378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Data Quality Issues</a:t>
            </a:r>
          </a:p>
        </p:txBody>
      </p:sp>
      <p:sp>
        <p:nvSpPr>
          <p:cNvPr id="3" name="Content Placeholder 2"/>
          <p:cNvSpPr>
            <a:spLocks noGrp="1"/>
          </p:cNvSpPr>
          <p:nvPr>
            <p:ph idx="1"/>
          </p:nvPr>
        </p:nvSpPr>
        <p:spPr>
          <a:xfrm>
            <a:off x="1024128" y="2286000"/>
            <a:ext cx="9720073" cy="3986784"/>
          </a:xfrm>
        </p:spPr>
        <p:txBody>
          <a:bodyPr>
            <a:normAutofit fontScale="85000" lnSpcReduction="10000"/>
          </a:bodyPr>
          <a:lstStyle/>
          <a:p>
            <a:r>
              <a:rPr lang="en-US" b="1" dirty="0"/>
              <a:t>Missing values</a:t>
            </a:r>
            <a:r>
              <a:rPr lang="en-US" dirty="0"/>
              <a:t> — and knowing </a:t>
            </a:r>
            <a:r>
              <a:rPr lang="en-US" i="1" dirty="0"/>
              <a:t>why</a:t>
            </a:r>
            <a:r>
              <a:rPr lang="en-US" dirty="0"/>
              <a:t> they're missing (not tested vs. not applicable vs. lost)</a:t>
            </a:r>
          </a:p>
          <a:p>
            <a:r>
              <a:rPr lang="en-US" b="1" dirty="0"/>
              <a:t>Duplicate rows</a:t>
            </a:r>
            <a:r>
              <a:rPr lang="en-US" dirty="0"/>
              <a:t> — same observation recorded more than once</a:t>
            </a:r>
          </a:p>
          <a:p>
            <a:r>
              <a:rPr lang="en-US" b="1" dirty="0"/>
              <a:t>Out-of-range values</a:t>
            </a:r>
            <a:r>
              <a:rPr lang="en-US" dirty="0"/>
              <a:t> — a pH of 45, an age of 200</a:t>
            </a:r>
          </a:p>
          <a:p>
            <a:r>
              <a:rPr lang="en-US" b="1" dirty="0"/>
              <a:t>Encoding inconsistencies</a:t>
            </a:r>
            <a:r>
              <a:rPr lang="en-US" dirty="0"/>
              <a:t> — "Male" vs. "M" vs. "male" treated as three different categories</a:t>
            </a:r>
          </a:p>
          <a:p>
            <a:r>
              <a:rPr lang="en-US" b="1" dirty="0"/>
              <a:t>Timestamp errors</a:t>
            </a:r>
            <a:r>
              <a:rPr lang="en-US" dirty="0"/>
              <a:t> — a verify time earlier than the collect time</a:t>
            </a:r>
          </a:p>
          <a:p>
            <a:pPr marL="0" indent="0">
              <a:buNone/>
            </a:pPr>
            <a:r>
              <a:rPr lang="en-US" dirty="0"/>
              <a:t>Each of these can silently corrupt a downstream summary — often without any error message.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“Silent” Errors Are the Dangerous Ones</a:t>
            </a:r>
          </a:p>
        </p:txBody>
      </p:sp>
      <p:sp>
        <p:nvSpPr>
          <p:cNvPr id="3" name="Content Placeholder 2"/>
          <p:cNvSpPr>
            <a:spLocks noGrp="1"/>
          </p:cNvSpPr>
          <p:nvPr>
            <p:ph idx="1"/>
          </p:nvPr>
        </p:nvSpPr>
        <p:spPr>
          <a:xfrm>
            <a:off x="1024128" y="2286000"/>
            <a:ext cx="9720073" cy="3986784"/>
          </a:xfrm>
        </p:spPr>
        <p:txBody>
          <a:bodyPr>
            <a:normAutofit fontScale="92500"/>
          </a:bodyPr>
          <a:lstStyle/>
          <a:p>
            <a:r>
              <a:rPr lang="en-US" dirty="0"/>
              <a:t>Software rarely stops and warns you when data is </a:t>
            </a:r>
            <a:r>
              <a:rPr lang="en-US" i="1" dirty="0"/>
              <a:t>plausible but wrong</a:t>
            </a:r>
          </a:p>
          <a:p>
            <a:r>
              <a:rPr lang="en-US" dirty="0"/>
              <a:t>A mis-encoded category doesn't crash your analysis — it just quietly gets excluded, or double-counted</a:t>
            </a:r>
          </a:p>
          <a:p>
            <a:r>
              <a:rPr lang="en-US" dirty="0"/>
              <a:t>This is exactly why Module 2 introduces a </a:t>
            </a:r>
            <a:r>
              <a:rPr lang="en-US" b="1" dirty="0"/>
              <a:t>validation checklist</a:t>
            </a:r>
            <a:r>
              <a:rPr lang="en-US" dirty="0"/>
              <a:t> as a required first step, every time you import data</a:t>
            </a:r>
          </a:p>
          <a:p>
            <a:pPr marL="0" indent="0">
              <a:buNone/>
            </a:pPr>
            <a:r>
              <a:rPr lang="en-US" i="1" dirty="0"/>
              <a:t>The most dangerous bugs are the ones that produce an answer — just the wrong one.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Bringing It Together</a:t>
            </a:r>
          </a:p>
        </p:txBody>
      </p:sp>
      <p:sp>
        <p:nvSpPr>
          <p:cNvPr id="3" name="Content Placeholder 2"/>
          <p:cNvSpPr>
            <a:spLocks noGrp="1"/>
          </p:cNvSpPr>
          <p:nvPr>
            <p:ph idx="1"/>
          </p:nvPr>
        </p:nvSpPr>
        <p:spPr/>
        <p:txBody>
          <a:bodyPr>
            <a:normAutofit/>
          </a:bodyPr>
          <a:lstStyle/>
          <a:p>
            <a:r>
              <a:rPr lang="en-US" b="1" dirty="0"/>
              <a:t>Data types</a:t>
            </a:r>
            <a:r>
              <a:rPr lang="en-US" dirty="0"/>
              <a:t> — determine what's even </a:t>
            </a:r>
            <a:r>
              <a:rPr lang="en-US" i="1" dirty="0"/>
              <a:t>possible</a:t>
            </a:r>
            <a:r>
              <a:rPr lang="en-US" dirty="0"/>
              <a:t> to compute</a:t>
            </a:r>
          </a:p>
          <a:p>
            <a:r>
              <a:rPr lang="en-US" b="1" dirty="0"/>
              <a:t>Tidy structure</a:t>
            </a:r>
            <a:r>
              <a:rPr lang="en-US" dirty="0"/>
              <a:t> — determines what's </a:t>
            </a:r>
            <a:r>
              <a:rPr lang="en-US" i="1" dirty="0"/>
              <a:t>easy</a:t>
            </a:r>
            <a:r>
              <a:rPr lang="en-US" dirty="0"/>
              <a:t> to compute</a:t>
            </a:r>
          </a:p>
          <a:p>
            <a:r>
              <a:rPr lang="en-US" b="1" dirty="0"/>
              <a:t>Data quality</a:t>
            </a:r>
            <a:r>
              <a:rPr lang="en-US" dirty="0"/>
              <a:t> — determines whether your answer is </a:t>
            </a:r>
            <a:r>
              <a:rPr lang="en-US" i="1" dirty="0"/>
              <a:t>trustworthy</a:t>
            </a:r>
          </a:p>
          <a:p>
            <a:pPr marL="0" indent="0">
              <a:buNone/>
            </a:pPr>
            <a:r>
              <a:rPr lang="en-US" dirty="0"/>
              <a:t>Three habits. Zero lines of R code. All essential before you ever open a script.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Coming Up: Module 2</a:t>
            </a:r>
          </a:p>
        </p:txBody>
      </p:sp>
      <p:sp>
        <p:nvSpPr>
          <p:cNvPr id="3" name="Content Placeholder 2"/>
          <p:cNvSpPr>
            <a:spLocks noGrp="1"/>
          </p:cNvSpPr>
          <p:nvPr>
            <p:ph idx="1"/>
          </p:nvPr>
        </p:nvSpPr>
        <p:spPr/>
        <p:txBody>
          <a:bodyPr>
            <a:normAutofit lnSpcReduction="10000"/>
          </a:bodyPr>
          <a:lstStyle/>
          <a:p>
            <a:r>
              <a:rPr lang="en-US" dirty="0"/>
              <a:t>RStudio as a </a:t>
            </a:r>
            <a:r>
              <a:rPr lang="en-US" b="1" dirty="0"/>
              <a:t>computational</a:t>
            </a:r>
            <a:r>
              <a:rPr lang="en-US" dirty="0"/>
              <a:t> tool, not just a text editor</a:t>
            </a:r>
          </a:p>
          <a:p>
            <a:r>
              <a:rPr lang="en-US" dirty="0"/>
              <a:t>How to set up a project so your code runs the same way on any machine</a:t>
            </a:r>
          </a:p>
          <a:p>
            <a:r>
              <a:rPr lang="en-US" dirty="0"/>
              <a:t>Importing chem_data.csv with the tidyverse</a:t>
            </a:r>
          </a:p>
          <a:p>
            <a:r>
              <a:rPr lang="en-US" dirty="0"/>
              <a:t>Correcting the types you predicted today</a:t>
            </a:r>
          </a:p>
          <a:p>
            <a:r>
              <a:rPr lang="en-US" dirty="0"/>
              <a:t>A hands-on data validation checklist</a:t>
            </a:r>
          </a:p>
          <a:p>
            <a:pPr marL="0" indent="0">
              <a:buNone/>
            </a:pPr>
            <a:r>
              <a:rPr lang="en-US" b="1" dirty="0"/>
              <a:t>Bring your laptop, charged, with R and RStudio installed.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84AE-8AA6-3D2C-8FFA-C67B0DAE7ABD}"/>
              </a:ext>
            </a:extLst>
          </p:cNvPr>
          <p:cNvSpPr>
            <a:spLocks noGrp="1"/>
          </p:cNvSpPr>
          <p:nvPr>
            <p:ph type="title"/>
          </p:nvPr>
        </p:nvSpPr>
        <p:spPr/>
        <p:txBody>
          <a:bodyPr/>
          <a:lstStyle/>
          <a:p>
            <a:r>
              <a:rPr lang="en-US" dirty="0"/>
              <a:t>References &amp; Acknowledgements</a:t>
            </a:r>
          </a:p>
        </p:txBody>
      </p:sp>
      <p:sp>
        <p:nvSpPr>
          <p:cNvPr id="3" name="Content Placeholder 2">
            <a:extLst>
              <a:ext uri="{FF2B5EF4-FFF2-40B4-BE49-F238E27FC236}">
                <a16:creationId xmlns:a16="http://schemas.microsoft.com/office/drawing/2014/main" id="{2B90D8E3-A417-6550-983D-27B9EBB3D3C6}"/>
              </a:ext>
            </a:extLst>
          </p:cNvPr>
          <p:cNvSpPr>
            <a:spLocks noGrp="1"/>
          </p:cNvSpPr>
          <p:nvPr>
            <p:ph idx="1"/>
          </p:nvPr>
        </p:nvSpPr>
        <p:spPr/>
        <p:txBody>
          <a:bodyPr/>
          <a:lstStyle/>
          <a:p>
            <a:r>
              <a:rPr lang="en-US" dirty="0"/>
              <a:t> James Harrison, Introduction to Pathology Informatics, Session 8: Cybersecurity, API Distribution 1.0, 2023. Available at: </a:t>
            </a:r>
            <a:r>
              <a:rPr lang="en-US" u="sng" dirty="0">
                <a:hlinkClick r:id="rId2"/>
              </a:rPr>
              <a:t>https://www.pathologyinformatics.org/teaching-slide-sets</a:t>
            </a:r>
            <a:endParaRPr lang="en-US" u="sng" dirty="0"/>
          </a:p>
          <a:p>
            <a:r>
              <a:rPr lang="en-US" dirty="0"/>
              <a:t> Robert </a:t>
            </a:r>
            <a:r>
              <a:rPr lang="en-US" dirty="0" err="1"/>
              <a:t>Benirschke</a:t>
            </a:r>
            <a:r>
              <a:rPr lang="en-US" dirty="0"/>
              <a:t>, Michelle Stoffel, &amp; Chris McCudden for slides adapted from ADLM Data Science Certificate materials</a:t>
            </a:r>
          </a:p>
          <a:p>
            <a:endParaRPr lang="en-US" dirty="0"/>
          </a:p>
        </p:txBody>
      </p:sp>
    </p:spTree>
    <p:extLst>
      <p:ext uri="{BB962C8B-B14F-4D97-AF65-F5344CB8AC3E}">
        <p14:creationId xmlns:p14="http://schemas.microsoft.com/office/powerpoint/2010/main" val="39603559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68441</TotalTime>
  <Words>2392</Words>
  <Application>Microsoft Macintosh PowerPoint</Application>
  <PresentationFormat>Widescreen</PresentationFormat>
  <Paragraphs>288</Paragraphs>
  <Slides>45</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Tw Cen MT</vt:lpstr>
      <vt:lpstr>Tw Cen MT Condensed</vt:lpstr>
      <vt:lpstr>Wingdings</vt:lpstr>
      <vt:lpstr>Wingdings 3</vt:lpstr>
      <vt:lpstr>Integral</vt:lpstr>
      <vt:lpstr>Data Literacy Foundations</vt:lpstr>
      <vt:lpstr>Disclosure of Relevant Financial Relationships</vt:lpstr>
      <vt:lpstr>Relevant Financial Relationships</vt:lpstr>
      <vt:lpstr>Getting STarted</vt:lpstr>
      <vt:lpstr>PowerPoint Presentation</vt:lpstr>
      <vt:lpstr>Module 1 Learning Objectives</vt:lpstr>
      <vt:lpstr>The DIKW Pyramid</vt:lpstr>
      <vt:lpstr>What is data science?</vt:lpstr>
      <vt:lpstr>Computational tools support a broad lifecycle to manage a broad range of data </vt:lpstr>
      <vt:lpstr>Statistics helps us interpret data based on expectations</vt:lpstr>
      <vt:lpstr>Data Analytics IS a SUBSET of Data Science</vt:lpstr>
      <vt:lpstr>Data Science Can be Categorized By How the Data is Applied</vt:lpstr>
      <vt:lpstr>Descriptive Analytics Are Becoming More Common Across Healthcare Settings</vt:lpstr>
      <vt:lpstr>Predictive Analytics Are Emerging In Multiple Domains</vt:lpstr>
      <vt:lpstr>What is the Role of the Laboratorian?</vt:lpstr>
      <vt:lpstr>Data &amp; Data Types</vt:lpstr>
      <vt:lpstr>What Is Data?</vt:lpstr>
      <vt:lpstr>Data representation</vt:lpstr>
      <vt:lpstr>Why Data Types Matter</vt:lpstr>
      <vt:lpstr>Common Data Types</vt:lpstr>
      <vt:lpstr>How many ways can “100” be represented in a computer?</vt:lpstr>
      <vt:lpstr>Representation has functional implications</vt:lpstr>
      <vt:lpstr>A Special Case: Censored / Below-LOD Values</vt:lpstr>
      <vt:lpstr>Types in the Wild: A Raw CSV Row</vt:lpstr>
      <vt:lpstr>Data limitations: structured vs. unstructured data</vt:lpstr>
      <vt:lpstr>Why Structure Matters — Before Any Analysis</vt:lpstr>
      <vt:lpstr>Data Frames</vt:lpstr>
      <vt:lpstr>Before We Start: Orienting in RStudio</vt:lpstr>
      <vt:lpstr>PowerPoint Presentation</vt:lpstr>
      <vt:lpstr>PowerPoint Presentation</vt:lpstr>
      <vt:lpstr>PowerPoint Presentation</vt:lpstr>
      <vt:lpstr>Check-in: Spot the Types</vt:lpstr>
      <vt:lpstr>1.3 Tidy Data Principles</vt:lpstr>
      <vt:lpstr>Three Principles of Tidy Data</vt:lpstr>
      <vt:lpstr>The Same Facts, Two Structures</vt:lpstr>
      <vt:lpstr>Tradeoffs: Long vs. Wide</vt:lpstr>
      <vt:lpstr>Tidy Data Summarized</vt:lpstr>
      <vt:lpstr>Check-in: Tidy or Not Tidy?</vt:lpstr>
      <vt:lpstr>1.4 Data Quality and Common Pitfalls</vt:lpstr>
      <vt:lpstr>Data quality</vt:lpstr>
      <vt:lpstr>Common Data Quality Issues</vt:lpstr>
      <vt:lpstr>Why “Silent” Errors Are the Dangerous Ones</vt:lpstr>
      <vt:lpstr>Bringing It Together</vt:lpstr>
      <vt:lpstr>Coming Up: Module 2</vt:lpstr>
      <vt:lpstr>References &amp; 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33</cp:revision>
  <dcterms:created xsi:type="dcterms:W3CDTF">2022-06-28T07:45:18Z</dcterms:created>
  <dcterms:modified xsi:type="dcterms:W3CDTF">2026-10-02T16:45:51Z</dcterms:modified>
</cp:coreProperties>
</file>