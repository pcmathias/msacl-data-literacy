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60"/>
  </p:notesMasterIdLst>
  <p:sldIdLst>
    <p:sldId id="256" r:id="rId2"/>
    <p:sldId id="640" r:id="rId3"/>
    <p:sldId id="648" r:id="rId4"/>
    <p:sldId id="642" r:id="rId5"/>
    <p:sldId id="643" r:id="rId6"/>
    <p:sldId id="666" r:id="rId7"/>
    <p:sldId id="667" r:id="rId8"/>
    <p:sldId id="668" r:id="rId9"/>
    <p:sldId id="669" r:id="rId10"/>
    <p:sldId id="670" r:id="rId11"/>
    <p:sldId id="699" r:id="rId12"/>
    <p:sldId id="659" r:id="rId13"/>
    <p:sldId id="663" r:id="rId14"/>
    <p:sldId id="665" r:id="rId15"/>
    <p:sldId id="664" r:id="rId16"/>
    <p:sldId id="644" r:id="rId17"/>
    <p:sldId id="675" r:id="rId18"/>
    <p:sldId id="674" r:id="rId19"/>
    <p:sldId id="700" r:id="rId20"/>
    <p:sldId id="676" r:id="rId21"/>
    <p:sldId id="677" r:id="rId22"/>
    <p:sldId id="672" r:id="rId23"/>
    <p:sldId id="645" r:id="rId24"/>
    <p:sldId id="696" r:id="rId25"/>
    <p:sldId id="695" r:id="rId26"/>
    <p:sldId id="701" r:id="rId27"/>
    <p:sldId id="678" r:id="rId28"/>
    <p:sldId id="679" r:id="rId29"/>
    <p:sldId id="680" r:id="rId30"/>
    <p:sldId id="646" r:id="rId31"/>
    <p:sldId id="697" r:id="rId32"/>
    <p:sldId id="702" r:id="rId33"/>
    <p:sldId id="681" r:id="rId34"/>
    <p:sldId id="682" r:id="rId35"/>
    <p:sldId id="698" r:id="rId36"/>
    <p:sldId id="683" r:id="rId37"/>
    <p:sldId id="671" r:id="rId38"/>
    <p:sldId id="686" r:id="rId39"/>
    <p:sldId id="687" r:id="rId40"/>
    <p:sldId id="647" r:id="rId41"/>
    <p:sldId id="688" r:id="rId42"/>
    <p:sldId id="704" r:id="rId43"/>
    <p:sldId id="690" r:id="rId44"/>
    <p:sldId id="705" r:id="rId45"/>
    <p:sldId id="689" r:id="rId46"/>
    <p:sldId id="709" r:id="rId47"/>
    <p:sldId id="710" r:id="rId48"/>
    <p:sldId id="711" r:id="rId49"/>
    <p:sldId id="694" r:id="rId50"/>
    <p:sldId id="503" r:id="rId51"/>
    <p:sldId id="489" r:id="rId52"/>
    <p:sldId id="706" r:id="rId53"/>
    <p:sldId id="712" r:id="rId54"/>
    <p:sldId id="713" r:id="rId55"/>
    <p:sldId id="707" r:id="rId56"/>
    <p:sldId id="708" r:id="rId57"/>
    <p:sldId id="490" r:id="rId58"/>
    <p:sldId id="641" r:id="rId5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3AFEE6-B247-BD48-BC85-BA530981A394}" v="38" dt="2025-09-23T14:28:07.28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207"/>
    <p:restoredTop sz="88456"/>
  </p:normalViewPr>
  <p:slideViewPr>
    <p:cSldViewPr snapToGrid="0" snapToObjects="1">
      <p:cViewPr varScale="1">
        <p:scale>
          <a:sx n="82" d="100"/>
          <a:sy n="82" d="100"/>
        </p:scale>
        <p:origin x="184" y="632"/>
      </p:cViewPr>
      <p:guideLst>
        <p:guide orient="horz" pos="2448"/>
        <p:guide pos="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ymond, Shannon" userId="5b01a877-9415-4a21-8eeb-d6d3c2be6b18" providerId="ADAL" clId="{FEA7804B-FD21-59C4-8BB3-74F1FB3AA68A}"/>
    <pc:docChg chg="custSel addSld delSld modSld sldOrd">
      <pc:chgData name="Haymond, Shannon" userId="5b01a877-9415-4a21-8eeb-d6d3c2be6b18" providerId="ADAL" clId="{FEA7804B-FD21-59C4-8BB3-74F1FB3AA68A}" dt="2025-09-23T14:31:16.144" v="1497" actId="20577"/>
      <pc:docMkLst>
        <pc:docMk/>
      </pc:docMkLst>
      <pc:sldChg chg="modSp mod">
        <pc:chgData name="Haymond, Shannon" userId="5b01a877-9415-4a21-8eeb-d6d3c2be6b18" providerId="ADAL" clId="{FEA7804B-FD21-59C4-8BB3-74F1FB3AA68A}" dt="2025-09-23T14:25:59.508" v="1362" actId="20577"/>
        <pc:sldMkLst>
          <pc:docMk/>
          <pc:sldMk cId="4255144269" sldId="489"/>
        </pc:sldMkLst>
        <pc:spChg chg="mod">
          <ac:chgData name="Haymond, Shannon" userId="5b01a877-9415-4a21-8eeb-d6d3c2be6b18" providerId="ADAL" clId="{FEA7804B-FD21-59C4-8BB3-74F1FB3AA68A}" dt="2025-09-23T14:25:59.508" v="1362" actId="20577"/>
          <ac:spMkLst>
            <pc:docMk/>
            <pc:sldMk cId="4255144269" sldId="489"/>
            <ac:spMk id="3" creationId="{6155796F-ACB0-79BA-D5A1-7268DB89D70E}"/>
          </ac:spMkLst>
        </pc:spChg>
      </pc:sldChg>
      <pc:sldChg chg="modSp mod">
        <pc:chgData name="Haymond, Shannon" userId="5b01a877-9415-4a21-8eeb-d6d3c2be6b18" providerId="ADAL" clId="{FEA7804B-FD21-59C4-8BB3-74F1FB3AA68A}" dt="2025-09-23T14:31:16.144" v="1497" actId="20577"/>
        <pc:sldMkLst>
          <pc:docMk/>
          <pc:sldMk cId="4197558984" sldId="490"/>
        </pc:sldMkLst>
        <pc:spChg chg="mod">
          <ac:chgData name="Haymond, Shannon" userId="5b01a877-9415-4a21-8eeb-d6d3c2be6b18" providerId="ADAL" clId="{FEA7804B-FD21-59C4-8BB3-74F1FB3AA68A}" dt="2025-09-23T14:31:16.144" v="1497" actId="20577"/>
          <ac:spMkLst>
            <pc:docMk/>
            <pc:sldMk cId="4197558984" sldId="490"/>
            <ac:spMk id="3" creationId="{3F48E2B4-9123-4B3E-BF25-E61A4AED4DD4}"/>
          </ac:spMkLst>
        </pc:spChg>
      </pc:sldChg>
      <pc:sldChg chg="del">
        <pc:chgData name="Haymond, Shannon" userId="5b01a877-9415-4a21-8eeb-d6d3c2be6b18" providerId="ADAL" clId="{FEA7804B-FD21-59C4-8BB3-74F1FB3AA68A}" dt="2025-09-23T03:49:18.534" v="1" actId="2696"/>
        <pc:sldMkLst>
          <pc:docMk/>
          <pc:sldMk cId="3143385247" sldId="502"/>
        </pc:sldMkLst>
      </pc:sldChg>
      <pc:sldChg chg="addSp delSp modSp mod ord modNotesTx">
        <pc:chgData name="Haymond, Shannon" userId="5b01a877-9415-4a21-8eeb-d6d3c2be6b18" providerId="ADAL" clId="{FEA7804B-FD21-59C4-8BB3-74F1FB3AA68A}" dt="2025-09-23T14:29:25.045" v="1401" actId="20577"/>
        <pc:sldMkLst>
          <pc:docMk/>
          <pc:sldMk cId="2583988040" sldId="503"/>
        </pc:sldMkLst>
        <pc:spChg chg="mod">
          <ac:chgData name="Haymond, Shannon" userId="5b01a877-9415-4a21-8eeb-d6d3c2be6b18" providerId="ADAL" clId="{FEA7804B-FD21-59C4-8BB3-74F1FB3AA68A}" dt="2025-09-23T03:58:35.047" v="318" actId="20577"/>
          <ac:spMkLst>
            <pc:docMk/>
            <pc:sldMk cId="2583988040" sldId="503"/>
            <ac:spMk id="2" creationId="{159FD8C7-CC3E-4BAE-1582-CCD0FC4345AB}"/>
          </ac:spMkLst>
        </pc:spChg>
        <pc:spChg chg="mod">
          <ac:chgData name="Haymond, Shannon" userId="5b01a877-9415-4a21-8eeb-d6d3c2be6b18" providerId="ADAL" clId="{FEA7804B-FD21-59C4-8BB3-74F1FB3AA68A}" dt="2025-09-23T14:28:49.830" v="1386" actId="20577"/>
          <ac:spMkLst>
            <pc:docMk/>
            <pc:sldMk cId="2583988040" sldId="503"/>
            <ac:spMk id="4" creationId="{B30E2109-08F0-617F-F4B8-C9239847D644}"/>
          </ac:spMkLst>
        </pc:spChg>
        <pc:spChg chg="add mod">
          <ac:chgData name="Haymond, Shannon" userId="5b01a877-9415-4a21-8eeb-d6d3c2be6b18" providerId="ADAL" clId="{FEA7804B-FD21-59C4-8BB3-74F1FB3AA68A}" dt="2025-09-23T14:23:39.265" v="1201" actId="1076"/>
          <ac:spMkLst>
            <pc:docMk/>
            <pc:sldMk cId="2583988040" sldId="503"/>
            <ac:spMk id="5" creationId="{613DE77D-4649-E8ED-CBA9-572B6885069A}"/>
          </ac:spMkLst>
        </pc:spChg>
        <pc:spChg chg="add del">
          <ac:chgData name="Haymond, Shannon" userId="5b01a877-9415-4a21-8eeb-d6d3c2be6b18" providerId="ADAL" clId="{FEA7804B-FD21-59C4-8BB3-74F1FB3AA68A}" dt="2025-09-23T14:28:27.633" v="1365" actId="478"/>
          <ac:spMkLst>
            <pc:docMk/>
            <pc:sldMk cId="2583988040" sldId="503"/>
            <ac:spMk id="8" creationId="{CD479CDC-65E2-61F9-D212-FB5B26E8AE19}"/>
          </ac:spMkLst>
        </pc:spChg>
        <pc:spChg chg="mod">
          <ac:chgData name="Haymond, Shannon" userId="5b01a877-9415-4a21-8eeb-d6d3c2be6b18" providerId="ADAL" clId="{FEA7804B-FD21-59C4-8BB3-74F1FB3AA68A}" dt="2025-09-23T14:29:25.045" v="1401" actId="20577"/>
          <ac:spMkLst>
            <pc:docMk/>
            <pc:sldMk cId="2583988040" sldId="503"/>
            <ac:spMk id="9" creationId="{EB945653-26E3-334A-3A68-983C2FB30362}"/>
          </ac:spMkLst>
        </pc:spChg>
      </pc:sldChg>
      <pc:sldChg chg="del">
        <pc:chgData name="Haymond, Shannon" userId="5b01a877-9415-4a21-8eeb-d6d3c2be6b18" providerId="ADAL" clId="{FEA7804B-FD21-59C4-8BB3-74F1FB3AA68A}" dt="2025-09-23T03:44:27.711" v="0" actId="2696"/>
        <pc:sldMkLst>
          <pc:docMk/>
          <pc:sldMk cId="757895581" sldId="660"/>
        </pc:sldMkLst>
      </pc:sldChg>
      <pc:sldChg chg="modSp mod">
        <pc:chgData name="Haymond, Shannon" userId="5b01a877-9415-4a21-8eeb-d6d3c2be6b18" providerId="ADAL" clId="{FEA7804B-FD21-59C4-8BB3-74F1FB3AA68A}" dt="2025-09-23T12:40:12.691" v="602" actId="27636"/>
        <pc:sldMkLst>
          <pc:docMk/>
          <pc:sldMk cId="2292791884" sldId="688"/>
        </pc:sldMkLst>
        <pc:spChg chg="mod">
          <ac:chgData name="Haymond, Shannon" userId="5b01a877-9415-4a21-8eeb-d6d3c2be6b18" providerId="ADAL" clId="{FEA7804B-FD21-59C4-8BB3-74F1FB3AA68A}" dt="2025-09-23T12:40:12.691" v="602" actId="27636"/>
          <ac:spMkLst>
            <pc:docMk/>
            <pc:sldMk cId="2292791884" sldId="688"/>
            <ac:spMk id="3" creationId="{89934CEA-F223-6F01-1F4A-AF14234ECDF6}"/>
          </ac:spMkLst>
        </pc:spChg>
      </pc:sldChg>
      <pc:sldChg chg="modSp mod">
        <pc:chgData name="Haymond, Shannon" userId="5b01a877-9415-4a21-8eeb-d6d3c2be6b18" providerId="ADAL" clId="{FEA7804B-FD21-59C4-8BB3-74F1FB3AA68A}" dt="2025-09-23T13:08:32.971" v="893" actId="20577"/>
        <pc:sldMkLst>
          <pc:docMk/>
          <pc:sldMk cId="824701899" sldId="689"/>
        </pc:sldMkLst>
        <pc:spChg chg="mod">
          <ac:chgData name="Haymond, Shannon" userId="5b01a877-9415-4a21-8eeb-d6d3c2be6b18" providerId="ADAL" clId="{FEA7804B-FD21-59C4-8BB3-74F1FB3AA68A}" dt="2025-09-23T13:08:32.971" v="893" actId="20577"/>
          <ac:spMkLst>
            <pc:docMk/>
            <pc:sldMk cId="824701899" sldId="689"/>
            <ac:spMk id="3" creationId="{90AD906D-33C3-C78B-3F59-F87BD6EB5FC5}"/>
          </ac:spMkLst>
        </pc:spChg>
      </pc:sldChg>
      <pc:sldChg chg="modSp mod">
        <pc:chgData name="Haymond, Shannon" userId="5b01a877-9415-4a21-8eeb-d6d3c2be6b18" providerId="ADAL" clId="{FEA7804B-FD21-59C4-8BB3-74F1FB3AA68A}" dt="2025-09-23T13:34:39.481" v="916"/>
        <pc:sldMkLst>
          <pc:docMk/>
          <pc:sldMk cId="572830195" sldId="706"/>
        </pc:sldMkLst>
        <pc:spChg chg="mod">
          <ac:chgData name="Haymond, Shannon" userId="5b01a877-9415-4a21-8eeb-d6d3c2be6b18" providerId="ADAL" clId="{FEA7804B-FD21-59C4-8BB3-74F1FB3AA68A}" dt="2025-09-23T03:50:26.562" v="11" actId="20577"/>
          <ac:spMkLst>
            <pc:docMk/>
            <pc:sldMk cId="572830195" sldId="706"/>
            <ac:spMk id="2" creationId="{094BBFF9-31D3-6919-43D1-32F0858D6752}"/>
          </ac:spMkLst>
        </pc:spChg>
        <pc:spChg chg="mod">
          <ac:chgData name="Haymond, Shannon" userId="5b01a877-9415-4a21-8eeb-d6d3c2be6b18" providerId="ADAL" clId="{FEA7804B-FD21-59C4-8BB3-74F1FB3AA68A}" dt="2025-09-23T13:34:39.481" v="916"/>
          <ac:spMkLst>
            <pc:docMk/>
            <pc:sldMk cId="572830195" sldId="706"/>
            <ac:spMk id="3" creationId="{17640E5A-EFD6-6F8C-97F9-5A8B3862785F}"/>
          </ac:spMkLst>
        </pc:spChg>
      </pc:sldChg>
      <pc:sldChg chg="modSp new mod">
        <pc:chgData name="Haymond, Shannon" userId="5b01a877-9415-4a21-8eeb-d6d3c2be6b18" providerId="ADAL" clId="{FEA7804B-FD21-59C4-8BB3-74F1FB3AA68A}" dt="2025-09-23T03:55:10.486" v="244" actId="20577"/>
        <pc:sldMkLst>
          <pc:docMk/>
          <pc:sldMk cId="649513801" sldId="707"/>
        </pc:sldMkLst>
        <pc:spChg chg="mod">
          <ac:chgData name="Haymond, Shannon" userId="5b01a877-9415-4a21-8eeb-d6d3c2be6b18" providerId="ADAL" clId="{FEA7804B-FD21-59C4-8BB3-74F1FB3AA68A}" dt="2025-09-23T03:50:34.506" v="38" actId="20577"/>
          <ac:spMkLst>
            <pc:docMk/>
            <pc:sldMk cId="649513801" sldId="707"/>
            <ac:spMk id="2" creationId="{4E34BBEA-F147-2E52-4B53-C3D1BD058DC3}"/>
          </ac:spMkLst>
        </pc:spChg>
        <pc:spChg chg="mod">
          <ac:chgData name="Haymond, Shannon" userId="5b01a877-9415-4a21-8eeb-d6d3c2be6b18" providerId="ADAL" clId="{FEA7804B-FD21-59C4-8BB3-74F1FB3AA68A}" dt="2025-09-23T03:55:10.486" v="244" actId="20577"/>
          <ac:spMkLst>
            <pc:docMk/>
            <pc:sldMk cId="649513801" sldId="707"/>
            <ac:spMk id="3" creationId="{B773A6B2-0EC4-8714-9182-7D3749514BCD}"/>
          </ac:spMkLst>
        </pc:spChg>
      </pc:sldChg>
      <pc:sldChg chg="modSp new mod">
        <pc:chgData name="Haymond, Shannon" userId="5b01a877-9415-4a21-8eeb-d6d3c2be6b18" providerId="ADAL" clId="{FEA7804B-FD21-59C4-8BB3-74F1FB3AA68A}" dt="2025-09-23T14:18:32.381" v="1127" actId="20577"/>
        <pc:sldMkLst>
          <pc:docMk/>
          <pc:sldMk cId="2851807141" sldId="708"/>
        </pc:sldMkLst>
        <pc:spChg chg="mod">
          <ac:chgData name="Haymond, Shannon" userId="5b01a877-9415-4a21-8eeb-d6d3c2be6b18" providerId="ADAL" clId="{FEA7804B-FD21-59C4-8BB3-74F1FB3AA68A}" dt="2025-09-23T03:55:26.857" v="288" actId="20577"/>
          <ac:spMkLst>
            <pc:docMk/>
            <pc:sldMk cId="2851807141" sldId="708"/>
            <ac:spMk id="2" creationId="{14E99219-323C-1B81-7F2E-4A0B58697E90}"/>
          </ac:spMkLst>
        </pc:spChg>
        <pc:spChg chg="mod">
          <ac:chgData name="Haymond, Shannon" userId="5b01a877-9415-4a21-8eeb-d6d3c2be6b18" providerId="ADAL" clId="{FEA7804B-FD21-59C4-8BB3-74F1FB3AA68A}" dt="2025-09-23T14:18:32.381" v="1127" actId="20577"/>
          <ac:spMkLst>
            <pc:docMk/>
            <pc:sldMk cId="2851807141" sldId="708"/>
            <ac:spMk id="3" creationId="{BE5BA1D0-112F-CFD1-424B-ACE68D453BA8}"/>
          </ac:spMkLst>
        </pc:spChg>
      </pc:sldChg>
      <pc:sldChg chg="addSp delSp modSp new mod modClrScheme chgLayout modNotesTx">
        <pc:chgData name="Haymond, Shannon" userId="5b01a877-9415-4a21-8eeb-d6d3c2be6b18" providerId="ADAL" clId="{FEA7804B-FD21-59C4-8BB3-74F1FB3AA68A}" dt="2025-09-23T13:02:51.305" v="769" actId="20577"/>
        <pc:sldMkLst>
          <pc:docMk/>
          <pc:sldMk cId="709510701" sldId="709"/>
        </pc:sldMkLst>
        <pc:spChg chg="del mod ord">
          <ac:chgData name="Haymond, Shannon" userId="5b01a877-9415-4a21-8eeb-d6d3c2be6b18" providerId="ADAL" clId="{FEA7804B-FD21-59C4-8BB3-74F1FB3AA68A}" dt="2025-09-23T12:50:01.291" v="604" actId="700"/>
          <ac:spMkLst>
            <pc:docMk/>
            <pc:sldMk cId="709510701" sldId="709"/>
            <ac:spMk id="2" creationId="{9B051870-19FA-EFC9-34B9-74ABF11D2059}"/>
          </ac:spMkLst>
        </pc:spChg>
        <pc:spChg chg="del">
          <ac:chgData name="Haymond, Shannon" userId="5b01a877-9415-4a21-8eeb-d6d3c2be6b18" providerId="ADAL" clId="{FEA7804B-FD21-59C4-8BB3-74F1FB3AA68A}" dt="2025-09-23T12:50:01.291" v="604" actId="700"/>
          <ac:spMkLst>
            <pc:docMk/>
            <pc:sldMk cId="709510701" sldId="709"/>
            <ac:spMk id="3" creationId="{E675B938-A2D7-4F54-AD5C-903BAE1174EE}"/>
          </ac:spMkLst>
        </pc:spChg>
        <pc:spChg chg="add mod ord">
          <ac:chgData name="Haymond, Shannon" userId="5b01a877-9415-4a21-8eeb-d6d3c2be6b18" providerId="ADAL" clId="{FEA7804B-FD21-59C4-8BB3-74F1FB3AA68A}" dt="2025-09-23T13:02:51.305" v="769" actId="20577"/>
          <ac:spMkLst>
            <pc:docMk/>
            <pc:sldMk cId="709510701" sldId="709"/>
            <ac:spMk id="4" creationId="{AD816E61-AA2B-786B-C3CB-1537791626F3}"/>
          </ac:spMkLst>
        </pc:spChg>
        <pc:picChg chg="add mod">
          <ac:chgData name="Haymond, Shannon" userId="5b01a877-9415-4a21-8eeb-d6d3c2be6b18" providerId="ADAL" clId="{FEA7804B-FD21-59C4-8BB3-74F1FB3AA68A}" dt="2025-09-23T13:02:00.238" v="631" actId="1076"/>
          <ac:picMkLst>
            <pc:docMk/>
            <pc:sldMk cId="709510701" sldId="709"/>
            <ac:picMk id="6" creationId="{591B7847-0B99-C095-4870-42D29A91FB6D}"/>
          </ac:picMkLst>
        </pc:picChg>
        <pc:picChg chg="add del mod">
          <ac:chgData name="Haymond, Shannon" userId="5b01a877-9415-4a21-8eeb-d6d3c2be6b18" providerId="ADAL" clId="{FEA7804B-FD21-59C4-8BB3-74F1FB3AA68A}" dt="2025-09-23T13:01:43.099" v="625" actId="478"/>
          <ac:picMkLst>
            <pc:docMk/>
            <pc:sldMk cId="709510701" sldId="709"/>
            <ac:picMk id="8" creationId="{E6E37C1F-B446-33B5-9026-020ACD9C0A0C}"/>
          </ac:picMkLst>
        </pc:picChg>
        <pc:picChg chg="add del mod">
          <ac:chgData name="Haymond, Shannon" userId="5b01a877-9415-4a21-8eeb-d6d3c2be6b18" providerId="ADAL" clId="{FEA7804B-FD21-59C4-8BB3-74F1FB3AA68A}" dt="2025-09-23T13:01:45.024" v="626" actId="478"/>
          <ac:picMkLst>
            <pc:docMk/>
            <pc:sldMk cId="709510701" sldId="709"/>
            <ac:picMk id="10" creationId="{F5F1D850-D11D-F31E-E09C-F96D4BB78E66}"/>
          </ac:picMkLst>
        </pc:picChg>
        <pc:picChg chg="add mod">
          <ac:chgData name="Haymond, Shannon" userId="5b01a877-9415-4a21-8eeb-d6d3c2be6b18" providerId="ADAL" clId="{FEA7804B-FD21-59C4-8BB3-74F1FB3AA68A}" dt="2025-09-23T13:02:02.809" v="632" actId="1076"/>
          <ac:picMkLst>
            <pc:docMk/>
            <pc:sldMk cId="709510701" sldId="709"/>
            <ac:picMk id="12" creationId="{230CB963-2BED-E82F-FB37-E3F3ED8E38FE}"/>
          </ac:picMkLst>
        </pc:picChg>
      </pc:sldChg>
      <pc:sldChg chg="addSp modSp new del mod modClrScheme chgLayout">
        <pc:chgData name="Haymond, Shannon" userId="5b01a877-9415-4a21-8eeb-d6d3c2be6b18" providerId="ADAL" clId="{FEA7804B-FD21-59C4-8BB3-74F1FB3AA68A}" dt="2025-09-23T12:39:03.766" v="579" actId="2696"/>
        <pc:sldMkLst>
          <pc:docMk/>
          <pc:sldMk cId="4289515598" sldId="709"/>
        </pc:sldMkLst>
        <pc:spChg chg="mod ord">
          <ac:chgData name="Haymond, Shannon" userId="5b01a877-9415-4a21-8eeb-d6d3c2be6b18" providerId="ADAL" clId="{FEA7804B-FD21-59C4-8BB3-74F1FB3AA68A}" dt="2025-09-23T12:37:35.646" v="511" actId="700"/>
          <ac:spMkLst>
            <pc:docMk/>
            <pc:sldMk cId="4289515598" sldId="709"/>
            <ac:spMk id="2" creationId="{ECDA913F-6D03-8579-99D3-29F422DEFA5D}"/>
          </ac:spMkLst>
        </pc:spChg>
        <pc:spChg chg="add mod ord">
          <ac:chgData name="Haymond, Shannon" userId="5b01a877-9415-4a21-8eeb-d6d3c2be6b18" providerId="ADAL" clId="{FEA7804B-FD21-59C4-8BB3-74F1FB3AA68A}" dt="2025-09-23T12:37:35.646" v="511" actId="700"/>
          <ac:spMkLst>
            <pc:docMk/>
            <pc:sldMk cId="4289515598" sldId="709"/>
            <ac:spMk id="3" creationId="{B860A213-5E1A-2B34-768B-DF439DFB5A61}"/>
          </ac:spMkLst>
        </pc:spChg>
      </pc:sldChg>
      <pc:sldChg chg="add del">
        <pc:chgData name="Haymond, Shannon" userId="5b01a877-9415-4a21-8eeb-d6d3c2be6b18" providerId="ADAL" clId="{FEA7804B-FD21-59C4-8BB3-74F1FB3AA68A}" dt="2025-09-23T13:01:33.491" v="620"/>
        <pc:sldMkLst>
          <pc:docMk/>
          <pc:sldMk cId="552370170" sldId="710"/>
        </pc:sldMkLst>
      </pc:sldChg>
      <pc:sldChg chg="addSp delSp modSp add mod">
        <pc:chgData name="Haymond, Shannon" userId="5b01a877-9415-4a21-8eeb-d6d3c2be6b18" providerId="ADAL" clId="{FEA7804B-FD21-59C4-8BB3-74F1FB3AA68A}" dt="2025-09-23T13:03:44.994" v="842" actId="20577"/>
        <pc:sldMkLst>
          <pc:docMk/>
          <pc:sldMk cId="860285875" sldId="710"/>
        </pc:sldMkLst>
        <pc:spChg chg="mod">
          <ac:chgData name="Haymond, Shannon" userId="5b01a877-9415-4a21-8eeb-d6d3c2be6b18" providerId="ADAL" clId="{FEA7804B-FD21-59C4-8BB3-74F1FB3AA68A}" dt="2025-09-23T13:03:44.994" v="842" actId="20577"/>
          <ac:spMkLst>
            <pc:docMk/>
            <pc:sldMk cId="860285875" sldId="710"/>
            <ac:spMk id="4" creationId="{16A44B8D-7A9B-69A5-3D57-D9B5C01BC0AB}"/>
          </ac:spMkLst>
        </pc:spChg>
        <pc:picChg chg="add mod">
          <ac:chgData name="Haymond, Shannon" userId="5b01a877-9415-4a21-8eeb-d6d3c2be6b18" providerId="ADAL" clId="{FEA7804B-FD21-59C4-8BB3-74F1FB3AA68A}" dt="2025-09-23T13:03:14.975" v="775"/>
          <ac:picMkLst>
            <pc:docMk/>
            <pc:sldMk cId="860285875" sldId="710"/>
            <ac:picMk id="2" creationId="{85C337E4-0F72-EAF4-5360-849F412518BA}"/>
          </ac:picMkLst>
        </pc:picChg>
        <pc:picChg chg="del">
          <ac:chgData name="Haymond, Shannon" userId="5b01a877-9415-4a21-8eeb-d6d3c2be6b18" providerId="ADAL" clId="{FEA7804B-FD21-59C4-8BB3-74F1FB3AA68A}" dt="2025-09-23T13:03:06.497" v="773" actId="478"/>
          <ac:picMkLst>
            <pc:docMk/>
            <pc:sldMk cId="860285875" sldId="710"/>
            <ac:picMk id="6" creationId="{2D95F72C-09BD-615B-D17D-E97E357524AC}"/>
          </ac:picMkLst>
        </pc:picChg>
        <pc:picChg chg="mod">
          <ac:chgData name="Haymond, Shannon" userId="5b01a877-9415-4a21-8eeb-d6d3c2be6b18" providerId="ADAL" clId="{FEA7804B-FD21-59C4-8BB3-74F1FB3AA68A}" dt="2025-09-23T13:03:28.629" v="778" actId="14100"/>
          <ac:picMkLst>
            <pc:docMk/>
            <pc:sldMk cId="860285875" sldId="710"/>
            <ac:picMk id="8" creationId="{D51BFABB-072F-E4B5-4236-C3C2F860E827}"/>
          </ac:picMkLst>
        </pc:picChg>
        <pc:picChg chg="del">
          <ac:chgData name="Haymond, Shannon" userId="5b01a877-9415-4a21-8eeb-d6d3c2be6b18" providerId="ADAL" clId="{FEA7804B-FD21-59C4-8BB3-74F1FB3AA68A}" dt="2025-09-23T13:03:02.956" v="771" actId="478"/>
          <ac:picMkLst>
            <pc:docMk/>
            <pc:sldMk cId="860285875" sldId="710"/>
            <ac:picMk id="10" creationId="{5EDCDD5F-5B9E-393B-17CF-2880FDA32838}"/>
          </ac:picMkLst>
        </pc:picChg>
        <pc:picChg chg="del">
          <ac:chgData name="Haymond, Shannon" userId="5b01a877-9415-4a21-8eeb-d6d3c2be6b18" providerId="ADAL" clId="{FEA7804B-FD21-59C4-8BB3-74F1FB3AA68A}" dt="2025-09-23T13:03:00.795" v="770" actId="478"/>
          <ac:picMkLst>
            <pc:docMk/>
            <pc:sldMk cId="860285875" sldId="710"/>
            <ac:picMk id="12" creationId="{0F3E201B-79AF-7765-5ED6-144C976AE68F}"/>
          </ac:picMkLst>
        </pc:picChg>
      </pc:sldChg>
      <pc:sldChg chg="add del">
        <pc:chgData name="Haymond, Shannon" userId="5b01a877-9415-4a21-8eeb-d6d3c2be6b18" providerId="ADAL" clId="{FEA7804B-FD21-59C4-8BB3-74F1FB3AA68A}" dt="2025-09-23T13:01:37.889" v="623"/>
        <pc:sldMkLst>
          <pc:docMk/>
          <pc:sldMk cId="2134838597" sldId="711"/>
        </pc:sldMkLst>
      </pc:sldChg>
      <pc:sldChg chg="addSp delSp modSp add mod">
        <pc:chgData name="Haymond, Shannon" userId="5b01a877-9415-4a21-8eeb-d6d3c2be6b18" providerId="ADAL" clId="{FEA7804B-FD21-59C4-8BB3-74F1FB3AA68A}" dt="2025-09-23T13:05:16.329" v="848" actId="1076"/>
        <pc:sldMkLst>
          <pc:docMk/>
          <pc:sldMk cId="3154917535" sldId="711"/>
        </pc:sldMkLst>
        <pc:spChg chg="mod">
          <ac:chgData name="Haymond, Shannon" userId="5b01a877-9415-4a21-8eeb-d6d3c2be6b18" providerId="ADAL" clId="{FEA7804B-FD21-59C4-8BB3-74F1FB3AA68A}" dt="2025-09-23T13:04:05.513" v="846"/>
          <ac:spMkLst>
            <pc:docMk/>
            <pc:sldMk cId="3154917535" sldId="711"/>
            <ac:spMk id="4" creationId="{D1B20E02-0740-2766-BA15-7FD57ABBF31C}"/>
          </ac:spMkLst>
        </pc:spChg>
        <pc:picChg chg="add mod">
          <ac:chgData name="Haymond, Shannon" userId="5b01a877-9415-4a21-8eeb-d6d3c2be6b18" providerId="ADAL" clId="{FEA7804B-FD21-59C4-8BB3-74F1FB3AA68A}" dt="2025-09-23T13:04:09.822" v="847"/>
          <ac:picMkLst>
            <pc:docMk/>
            <pc:sldMk cId="3154917535" sldId="711"/>
            <ac:picMk id="2" creationId="{9CE8544C-F2E4-6818-C540-5165BF1579B2}"/>
          </ac:picMkLst>
        </pc:picChg>
        <pc:picChg chg="del">
          <ac:chgData name="Haymond, Shannon" userId="5b01a877-9415-4a21-8eeb-d6d3c2be6b18" providerId="ADAL" clId="{FEA7804B-FD21-59C4-8BB3-74F1FB3AA68A}" dt="2025-09-23T13:03:59.748" v="845" actId="478"/>
          <ac:picMkLst>
            <pc:docMk/>
            <pc:sldMk cId="3154917535" sldId="711"/>
            <ac:picMk id="6" creationId="{7784E2C1-9A11-1783-57BD-167BB011C7EB}"/>
          </ac:picMkLst>
        </pc:picChg>
        <pc:picChg chg="del">
          <ac:chgData name="Haymond, Shannon" userId="5b01a877-9415-4a21-8eeb-d6d3c2be6b18" providerId="ADAL" clId="{FEA7804B-FD21-59C4-8BB3-74F1FB3AA68A}" dt="2025-09-23T13:03:57.123" v="844" actId="478"/>
          <ac:picMkLst>
            <pc:docMk/>
            <pc:sldMk cId="3154917535" sldId="711"/>
            <ac:picMk id="8" creationId="{98097C56-77D5-127B-7554-03AF68C8BA04}"/>
          </ac:picMkLst>
        </pc:picChg>
        <pc:picChg chg="mod">
          <ac:chgData name="Haymond, Shannon" userId="5b01a877-9415-4a21-8eeb-d6d3c2be6b18" providerId="ADAL" clId="{FEA7804B-FD21-59C4-8BB3-74F1FB3AA68A}" dt="2025-09-23T13:05:16.329" v="848" actId="1076"/>
          <ac:picMkLst>
            <pc:docMk/>
            <pc:sldMk cId="3154917535" sldId="711"/>
            <ac:picMk id="10" creationId="{0047A3F7-F91F-5923-717E-E65BE431D928}"/>
          </ac:picMkLst>
        </pc:picChg>
        <pc:picChg chg="del">
          <ac:chgData name="Haymond, Shannon" userId="5b01a877-9415-4a21-8eeb-d6d3c2be6b18" providerId="ADAL" clId="{FEA7804B-FD21-59C4-8BB3-74F1FB3AA68A}" dt="2025-09-23T13:03:55.451" v="843" actId="478"/>
          <ac:picMkLst>
            <pc:docMk/>
            <pc:sldMk cId="3154917535" sldId="711"/>
            <ac:picMk id="12" creationId="{D5100345-B8E8-5305-05A8-A2259C53D331}"/>
          </ac:picMkLst>
        </pc:picChg>
      </pc:sldChg>
      <pc:sldChg chg="addSp delSp modSp new mod modClrScheme modAnim chgLayout">
        <pc:chgData name="Haymond, Shannon" userId="5b01a877-9415-4a21-8eeb-d6d3c2be6b18" providerId="ADAL" clId="{FEA7804B-FD21-59C4-8BB3-74F1FB3AA68A}" dt="2025-09-23T14:20:05.909" v="1195"/>
        <pc:sldMkLst>
          <pc:docMk/>
          <pc:sldMk cId="1048713264" sldId="712"/>
        </pc:sldMkLst>
        <pc:spChg chg="del mod ord">
          <ac:chgData name="Haymond, Shannon" userId="5b01a877-9415-4a21-8eeb-d6d3c2be6b18" providerId="ADAL" clId="{FEA7804B-FD21-59C4-8BB3-74F1FB3AA68A}" dt="2025-09-23T13:35:42.283" v="918" actId="700"/>
          <ac:spMkLst>
            <pc:docMk/>
            <pc:sldMk cId="1048713264" sldId="712"/>
            <ac:spMk id="2" creationId="{5A3CB8E5-CF9D-41A1-0AD0-A1320CF7D6D8}"/>
          </ac:spMkLst>
        </pc:spChg>
        <pc:spChg chg="del">
          <ac:chgData name="Haymond, Shannon" userId="5b01a877-9415-4a21-8eeb-d6d3c2be6b18" providerId="ADAL" clId="{FEA7804B-FD21-59C4-8BB3-74F1FB3AA68A}" dt="2025-09-23T13:35:42.283" v="918" actId="700"/>
          <ac:spMkLst>
            <pc:docMk/>
            <pc:sldMk cId="1048713264" sldId="712"/>
            <ac:spMk id="3" creationId="{0205F9AD-C780-8EE0-325E-F72103BF93AC}"/>
          </ac:spMkLst>
        </pc:spChg>
        <pc:spChg chg="add mod ord">
          <ac:chgData name="Haymond, Shannon" userId="5b01a877-9415-4a21-8eeb-d6d3c2be6b18" providerId="ADAL" clId="{FEA7804B-FD21-59C4-8BB3-74F1FB3AA68A}" dt="2025-09-23T14:14:32.282" v="1091" actId="20577"/>
          <ac:spMkLst>
            <pc:docMk/>
            <pc:sldMk cId="1048713264" sldId="712"/>
            <ac:spMk id="4" creationId="{B40D2978-997F-6929-137B-F8D69D7ECA5F}"/>
          </ac:spMkLst>
        </pc:spChg>
        <pc:spChg chg="add mod">
          <ac:chgData name="Haymond, Shannon" userId="5b01a877-9415-4a21-8eeb-d6d3c2be6b18" providerId="ADAL" clId="{FEA7804B-FD21-59C4-8BB3-74F1FB3AA68A}" dt="2025-09-23T14:14:52.625" v="1096" actId="1076"/>
          <ac:spMkLst>
            <pc:docMk/>
            <pc:sldMk cId="1048713264" sldId="712"/>
            <ac:spMk id="7" creationId="{F30C4F3E-0B03-D0DF-D94B-33C985C0FD54}"/>
          </ac:spMkLst>
        </pc:spChg>
        <pc:spChg chg="add mod">
          <ac:chgData name="Haymond, Shannon" userId="5b01a877-9415-4a21-8eeb-d6d3c2be6b18" providerId="ADAL" clId="{FEA7804B-FD21-59C4-8BB3-74F1FB3AA68A}" dt="2025-09-23T14:20:00.127" v="1194" actId="208"/>
          <ac:spMkLst>
            <pc:docMk/>
            <pc:sldMk cId="1048713264" sldId="712"/>
            <ac:spMk id="14" creationId="{3EBA11D0-7AA4-154A-E90B-526662DABECF}"/>
          </ac:spMkLst>
        </pc:spChg>
        <pc:spChg chg="add del mod">
          <ac:chgData name="Haymond, Shannon" userId="5b01a877-9415-4a21-8eeb-d6d3c2be6b18" providerId="ADAL" clId="{FEA7804B-FD21-59C4-8BB3-74F1FB3AA68A}" dt="2025-09-23T14:14:35.436" v="1093"/>
          <ac:spMkLst>
            <pc:docMk/>
            <pc:sldMk cId="1048713264" sldId="712"/>
            <ac:spMk id="15" creationId="{EA15F346-D8AA-52BD-3F53-4605EB608E3D}"/>
          </ac:spMkLst>
        </pc:spChg>
        <pc:spChg chg="add mod">
          <ac:chgData name="Haymond, Shannon" userId="5b01a877-9415-4a21-8eeb-d6d3c2be6b18" providerId="ADAL" clId="{FEA7804B-FD21-59C4-8BB3-74F1FB3AA68A}" dt="2025-09-23T14:19:52.999" v="1193" actId="207"/>
          <ac:spMkLst>
            <pc:docMk/>
            <pc:sldMk cId="1048713264" sldId="712"/>
            <ac:spMk id="16" creationId="{DE145D61-BE83-4F0D-0E9E-8E706AF41CB8}"/>
          </ac:spMkLst>
        </pc:spChg>
        <pc:picChg chg="add del mod">
          <ac:chgData name="Haymond, Shannon" userId="5b01a877-9415-4a21-8eeb-d6d3c2be6b18" providerId="ADAL" clId="{FEA7804B-FD21-59C4-8BB3-74F1FB3AA68A}" dt="2025-09-23T13:36:09.180" v="923" actId="478"/>
          <ac:picMkLst>
            <pc:docMk/>
            <pc:sldMk cId="1048713264" sldId="712"/>
            <ac:picMk id="6" creationId="{4A143915-A9E8-E5CA-895C-ED7CBEC6EBD2}"/>
          </ac:picMkLst>
        </pc:picChg>
        <pc:picChg chg="add del mod">
          <ac:chgData name="Haymond, Shannon" userId="5b01a877-9415-4a21-8eeb-d6d3c2be6b18" providerId="ADAL" clId="{FEA7804B-FD21-59C4-8BB3-74F1FB3AA68A}" dt="2025-09-23T13:51:05.013" v="971" actId="21"/>
          <ac:picMkLst>
            <pc:docMk/>
            <pc:sldMk cId="1048713264" sldId="712"/>
            <ac:picMk id="9" creationId="{53C6FAAA-876E-A4E9-9537-2780AB11868C}"/>
          </ac:picMkLst>
        </pc:picChg>
        <pc:picChg chg="add mod">
          <ac:chgData name="Haymond, Shannon" userId="5b01a877-9415-4a21-8eeb-d6d3c2be6b18" providerId="ADAL" clId="{FEA7804B-FD21-59C4-8BB3-74F1FB3AA68A}" dt="2025-09-23T13:51:38.026" v="979" actId="1076"/>
          <ac:picMkLst>
            <pc:docMk/>
            <pc:sldMk cId="1048713264" sldId="712"/>
            <ac:picMk id="11" creationId="{C8D2D64A-46CD-D274-B1F8-CE9B23CEB015}"/>
          </ac:picMkLst>
        </pc:picChg>
        <pc:picChg chg="add del mod">
          <ac:chgData name="Haymond, Shannon" userId="5b01a877-9415-4a21-8eeb-d6d3c2be6b18" providerId="ADAL" clId="{FEA7804B-FD21-59C4-8BB3-74F1FB3AA68A}" dt="2025-09-23T13:52:38.919" v="984" actId="478"/>
          <ac:picMkLst>
            <pc:docMk/>
            <pc:sldMk cId="1048713264" sldId="712"/>
            <ac:picMk id="13" creationId="{60F03D7E-990E-DC2C-DBF3-66F2927A0A81}"/>
          </ac:picMkLst>
        </pc:picChg>
      </pc:sldChg>
      <pc:sldChg chg="addSp delSp modSp new mod">
        <pc:chgData name="Haymond, Shannon" userId="5b01a877-9415-4a21-8eeb-d6d3c2be6b18" providerId="ADAL" clId="{FEA7804B-FD21-59C4-8BB3-74F1FB3AA68A}" dt="2025-09-23T14:01:33.483" v="1059" actId="1076"/>
        <pc:sldMkLst>
          <pc:docMk/>
          <pc:sldMk cId="807712877" sldId="713"/>
        </pc:sldMkLst>
        <pc:spChg chg="mod">
          <ac:chgData name="Haymond, Shannon" userId="5b01a877-9415-4a21-8eeb-d6d3c2be6b18" providerId="ADAL" clId="{FEA7804B-FD21-59C4-8BB3-74F1FB3AA68A}" dt="2025-09-23T14:01:20.165" v="1042" actId="20577"/>
          <ac:spMkLst>
            <pc:docMk/>
            <pc:sldMk cId="807712877" sldId="713"/>
            <ac:spMk id="2" creationId="{6ECDF06A-3851-E280-44CB-B0020510E9CB}"/>
          </ac:spMkLst>
        </pc:spChg>
        <pc:spChg chg="add mod">
          <ac:chgData name="Haymond, Shannon" userId="5b01a877-9415-4a21-8eeb-d6d3c2be6b18" providerId="ADAL" clId="{FEA7804B-FD21-59C4-8BB3-74F1FB3AA68A}" dt="2025-09-23T13:59:27.997" v="988" actId="14100"/>
          <ac:spMkLst>
            <pc:docMk/>
            <pc:sldMk cId="807712877" sldId="713"/>
            <ac:spMk id="5" creationId="{355548AE-E00B-5CE3-CE6A-56A3F0F072B3}"/>
          </ac:spMkLst>
        </pc:spChg>
        <pc:spChg chg="add mod">
          <ac:chgData name="Haymond, Shannon" userId="5b01a877-9415-4a21-8eeb-d6d3c2be6b18" providerId="ADAL" clId="{FEA7804B-FD21-59C4-8BB3-74F1FB3AA68A}" dt="2025-09-23T14:00:17.737" v="1013" actId="555"/>
          <ac:spMkLst>
            <pc:docMk/>
            <pc:sldMk cId="807712877" sldId="713"/>
            <ac:spMk id="6" creationId="{5D0293F6-1439-E6E2-9D16-6A2F74B56CDF}"/>
          </ac:spMkLst>
        </pc:spChg>
        <pc:spChg chg="add mod">
          <ac:chgData name="Haymond, Shannon" userId="5b01a877-9415-4a21-8eeb-d6d3c2be6b18" providerId="ADAL" clId="{FEA7804B-FD21-59C4-8BB3-74F1FB3AA68A}" dt="2025-09-23T14:00:17.737" v="1013" actId="555"/>
          <ac:spMkLst>
            <pc:docMk/>
            <pc:sldMk cId="807712877" sldId="713"/>
            <ac:spMk id="7" creationId="{B8092690-2697-B471-E2B8-0CBE3BDB572E}"/>
          </ac:spMkLst>
        </pc:spChg>
        <pc:spChg chg="add mod">
          <ac:chgData name="Haymond, Shannon" userId="5b01a877-9415-4a21-8eeb-d6d3c2be6b18" providerId="ADAL" clId="{FEA7804B-FD21-59C4-8BB3-74F1FB3AA68A}" dt="2025-09-23T14:00:17.737" v="1013" actId="555"/>
          <ac:spMkLst>
            <pc:docMk/>
            <pc:sldMk cId="807712877" sldId="713"/>
            <ac:spMk id="8" creationId="{449B6D52-1BED-1D20-A243-ED84FEAC0C6C}"/>
          </ac:spMkLst>
        </pc:spChg>
        <pc:spChg chg="add mod">
          <ac:chgData name="Haymond, Shannon" userId="5b01a877-9415-4a21-8eeb-d6d3c2be6b18" providerId="ADAL" clId="{FEA7804B-FD21-59C4-8BB3-74F1FB3AA68A}" dt="2025-09-23T14:01:06.554" v="1019" actId="1076"/>
          <ac:spMkLst>
            <pc:docMk/>
            <pc:sldMk cId="807712877" sldId="713"/>
            <ac:spMk id="9" creationId="{4FB91803-5CBE-B09F-328A-4FD957ED39AA}"/>
          </ac:spMkLst>
        </pc:spChg>
        <pc:spChg chg="add mod">
          <ac:chgData name="Haymond, Shannon" userId="5b01a877-9415-4a21-8eeb-d6d3c2be6b18" providerId="ADAL" clId="{FEA7804B-FD21-59C4-8BB3-74F1FB3AA68A}" dt="2025-09-23T14:01:33.483" v="1059" actId="1076"/>
          <ac:spMkLst>
            <pc:docMk/>
            <pc:sldMk cId="807712877" sldId="713"/>
            <ac:spMk id="10" creationId="{A7107C82-03CC-2A1C-A2EE-8A9375517DFB}"/>
          </ac:spMkLst>
        </pc:spChg>
        <pc:graphicFrameChg chg="add del mod">
          <ac:chgData name="Haymond, Shannon" userId="5b01a877-9415-4a21-8eeb-d6d3c2be6b18" providerId="ADAL" clId="{FEA7804B-FD21-59C4-8BB3-74F1FB3AA68A}" dt="2025-09-23T14:00:20.751" v="1014" actId="478"/>
          <ac:graphicFrameMkLst>
            <pc:docMk/>
            <pc:sldMk cId="807712877" sldId="713"/>
            <ac:graphicFrameMk id="4" creationId="{F4F1D0EA-2A8C-E46A-EBB6-EABFDA8DA7B5}"/>
          </ac:graphicFrameMkLst>
        </pc:graphicFrameChg>
        <pc:picChg chg="add mod">
          <ac:chgData name="Haymond, Shannon" userId="5b01a877-9415-4a21-8eeb-d6d3c2be6b18" providerId="ADAL" clId="{FEA7804B-FD21-59C4-8BB3-74F1FB3AA68A}" dt="2025-09-23T14:00:07.997" v="1012" actId="1076"/>
          <ac:picMkLst>
            <pc:docMk/>
            <pc:sldMk cId="807712877" sldId="713"/>
            <ac:picMk id="3" creationId="{3E80F7CE-8A40-8493-7766-9417C90E8C2E}"/>
          </ac:picMkLst>
        </pc:pic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146070E-8AC4-664C-B47B-4BCA66DCB6FD}" type="doc">
      <dgm:prSet loTypeId="urn:microsoft.com/office/officeart/2005/8/layout/vList4" loCatId="" qsTypeId="urn:microsoft.com/office/officeart/2005/8/quickstyle/simple1" qsCatId="simple" csTypeId="urn:microsoft.com/office/officeart/2005/8/colors/colorful1" csCatId="colorful" phldr="1"/>
      <dgm:spPr/>
      <dgm:t>
        <a:bodyPr/>
        <a:lstStyle/>
        <a:p>
          <a:endParaRPr lang="en-US"/>
        </a:p>
      </dgm:t>
    </dgm:pt>
    <dgm:pt modelId="{851BCC14-3C1C-3E49-93A7-BB25B4EE52BA}">
      <dgm:prSet phldrT="[Text]"/>
      <dgm:spPr/>
      <dgm:t>
        <a:bodyPr/>
        <a:lstStyle/>
        <a:p>
          <a:r>
            <a:rPr lang="en-US" dirty="0"/>
            <a:t>Decomposition</a:t>
          </a:r>
        </a:p>
      </dgm:t>
    </dgm:pt>
    <dgm:pt modelId="{5C8A566C-E11F-3744-8CDF-A5B1F2B97244}" type="parTrans" cxnId="{2995C9A3-9478-074D-848A-0C7B5B2F1954}">
      <dgm:prSet/>
      <dgm:spPr/>
      <dgm:t>
        <a:bodyPr/>
        <a:lstStyle/>
        <a:p>
          <a:endParaRPr lang="en-US"/>
        </a:p>
      </dgm:t>
    </dgm:pt>
    <dgm:pt modelId="{E6BC4F12-BA34-184E-9884-FA69ED945A04}" type="sibTrans" cxnId="{2995C9A3-9478-074D-848A-0C7B5B2F1954}">
      <dgm:prSet/>
      <dgm:spPr/>
      <dgm:t>
        <a:bodyPr/>
        <a:lstStyle/>
        <a:p>
          <a:endParaRPr lang="en-US"/>
        </a:p>
      </dgm:t>
    </dgm:pt>
    <dgm:pt modelId="{83FB809C-089F-654C-B289-FA15E78CB845}">
      <dgm:prSet phldrT="[Text]"/>
      <dgm:spPr/>
      <dgm:t>
        <a:bodyPr/>
        <a:lstStyle/>
        <a:p>
          <a:r>
            <a:rPr lang="en-US" dirty="0"/>
            <a:t>Abstraction</a:t>
          </a:r>
        </a:p>
      </dgm:t>
    </dgm:pt>
    <dgm:pt modelId="{B92ED099-6E97-9E4F-AF41-9FE76B2567EC}" type="parTrans" cxnId="{178127F9-FDFD-0F4D-BE65-C0A6F9915633}">
      <dgm:prSet/>
      <dgm:spPr/>
      <dgm:t>
        <a:bodyPr/>
        <a:lstStyle/>
        <a:p>
          <a:endParaRPr lang="en-US"/>
        </a:p>
      </dgm:t>
    </dgm:pt>
    <dgm:pt modelId="{44C7B6ED-D9C9-A54C-BDC5-427D9E4EBBD3}" type="sibTrans" cxnId="{178127F9-FDFD-0F4D-BE65-C0A6F9915633}">
      <dgm:prSet/>
      <dgm:spPr/>
      <dgm:t>
        <a:bodyPr/>
        <a:lstStyle/>
        <a:p>
          <a:endParaRPr lang="en-US"/>
        </a:p>
      </dgm:t>
    </dgm:pt>
    <dgm:pt modelId="{3950DAA9-35E2-0146-A429-1B42BD607DB0}">
      <dgm:prSet phldrT="[Text]"/>
      <dgm:spPr/>
      <dgm:t>
        <a:bodyPr/>
        <a:lstStyle/>
        <a:p>
          <a:r>
            <a:rPr lang="en-US" dirty="0"/>
            <a:t>Algorithm design</a:t>
          </a:r>
        </a:p>
      </dgm:t>
    </dgm:pt>
    <dgm:pt modelId="{DFD8FFC6-03AC-084B-A7BB-9A7DF97894F9}" type="parTrans" cxnId="{CA868C3A-74B5-744F-B744-D433998BD1F7}">
      <dgm:prSet/>
      <dgm:spPr/>
      <dgm:t>
        <a:bodyPr/>
        <a:lstStyle/>
        <a:p>
          <a:endParaRPr lang="en-US"/>
        </a:p>
      </dgm:t>
    </dgm:pt>
    <dgm:pt modelId="{99927EDE-9DF5-394D-BCC9-2FAB3F269E30}" type="sibTrans" cxnId="{CA868C3A-74B5-744F-B744-D433998BD1F7}">
      <dgm:prSet/>
      <dgm:spPr/>
      <dgm:t>
        <a:bodyPr/>
        <a:lstStyle/>
        <a:p>
          <a:endParaRPr lang="en-US"/>
        </a:p>
      </dgm:t>
    </dgm:pt>
    <dgm:pt modelId="{979B68A4-D185-6F41-BDB7-7DD8B195D604}">
      <dgm:prSet/>
      <dgm:spPr/>
      <dgm:t>
        <a:bodyPr/>
        <a:lstStyle/>
        <a:p>
          <a:r>
            <a:rPr lang="en-US" dirty="0"/>
            <a:t>Pattern recognition</a:t>
          </a:r>
        </a:p>
      </dgm:t>
    </dgm:pt>
    <dgm:pt modelId="{49E4B225-A5A2-EC46-8B9C-F6DC5CD8C2A3}" type="parTrans" cxnId="{90BB5E1E-007D-8F42-A777-361876E7C33C}">
      <dgm:prSet/>
      <dgm:spPr/>
      <dgm:t>
        <a:bodyPr/>
        <a:lstStyle/>
        <a:p>
          <a:endParaRPr lang="en-US"/>
        </a:p>
      </dgm:t>
    </dgm:pt>
    <dgm:pt modelId="{22B9AE64-3F79-A149-8BE0-C30D7D2C2317}" type="sibTrans" cxnId="{90BB5E1E-007D-8F42-A777-361876E7C33C}">
      <dgm:prSet/>
      <dgm:spPr/>
      <dgm:t>
        <a:bodyPr/>
        <a:lstStyle/>
        <a:p>
          <a:endParaRPr lang="en-US"/>
        </a:p>
      </dgm:t>
    </dgm:pt>
    <dgm:pt modelId="{A5926812-74A4-E64C-A97D-69A8914BD417}">
      <dgm:prSet/>
      <dgm:spPr/>
      <dgm:t>
        <a:bodyPr/>
        <a:lstStyle/>
        <a:p>
          <a:r>
            <a:rPr lang="en-US" dirty="0"/>
            <a:t>Evaluation &amp; debugging</a:t>
          </a:r>
        </a:p>
      </dgm:t>
    </dgm:pt>
    <dgm:pt modelId="{79530CDF-86DC-DD40-924E-F5AEE8E7EB2C}" type="parTrans" cxnId="{B3B17D37-F7AA-E649-8040-8136DFC8B249}">
      <dgm:prSet/>
      <dgm:spPr/>
      <dgm:t>
        <a:bodyPr/>
        <a:lstStyle/>
        <a:p>
          <a:endParaRPr lang="en-US"/>
        </a:p>
      </dgm:t>
    </dgm:pt>
    <dgm:pt modelId="{D882B879-1BFB-C441-B57A-8BDACC9CBA93}" type="sibTrans" cxnId="{B3B17D37-F7AA-E649-8040-8136DFC8B249}">
      <dgm:prSet/>
      <dgm:spPr/>
      <dgm:t>
        <a:bodyPr/>
        <a:lstStyle/>
        <a:p>
          <a:endParaRPr lang="en-US"/>
        </a:p>
      </dgm:t>
    </dgm:pt>
    <dgm:pt modelId="{5C83BDB9-FDD2-0241-9B3D-4AB98ABEB24A}" type="pres">
      <dgm:prSet presAssocID="{E146070E-8AC4-664C-B47B-4BCA66DCB6FD}" presName="linear" presStyleCnt="0">
        <dgm:presLayoutVars>
          <dgm:dir/>
          <dgm:resizeHandles val="exact"/>
        </dgm:presLayoutVars>
      </dgm:prSet>
      <dgm:spPr/>
    </dgm:pt>
    <dgm:pt modelId="{41EDD0B1-0F31-2C48-8CBF-DE40D7DFDA05}" type="pres">
      <dgm:prSet presAssocID="{851BCC14-3C1C-3E49-93A7-BB25B4EE52BA}" presName="comp" presStyleCnt="0"/>
      <dgm:spPr/>
    </dgm:pt>
    <dgm:pt modelId="{A9D231CA-E878-1546-8579-CE6A66A4F85C}" type="pres">
      <dgm:prSet presAssocID="{851BCC14-3C1C-3E49-93A7-BB25B4EE52BA}" presName="box" presStyleLbl="node1" presStyleIdx="0" presStyleCnt="5"/>
      <dgm:spPr/>
    </dgm:pt>
    <dgm:pt modelId="{2FFDD513-4151-714C-95FD-3AA5415C66EE}" type="pres">
      <dgm:prSet presAssocID="{851BCC14-3C1C-3E49-93A7-BB25B4EE52BA}" presName="img" presStyleLbl="fgImgPlace1" presStyleIdx="0" presStyleCnt="5"/>
      <dgm:spPr>
        <a:blipFill>
          <a:blip xmlns:r="http://schemas.openxmlformats.org/officeDocument/2006/relationships" r:embed="rId1">
            <a:extLst>
              <a:ext uri="{96DAC541-7B7A-43D3-8B79-37D633B846F1}">
                <asvg:svgBlip xmlns:asvg="http://schemas.microsoft.com/office/drawing/2016/SVG/main" r:embed="rId2"/>
              </a:ext>
            </a:extLst>
          </a:blip>
          <a:srcRect/>
          <a:stretch>
            <a:fillRect t="-16000" b="-16000"/>
          </a:stretch>
        </a:blipFill>
      </dgm:spPr>
      <dgm:extLst>
        <a:ext uri="{E40237B7-FDA0-4F09-8148-C483321AD2D9}">
          <dgm14:cNvPr xmlns:dgm14="http://schemas.microsoft.com/office/drawing/2010/diagram" id="0" name="" descr="Puzzle pieces with solid fill"/>
        </a:ext>
      </dgm:extLst>
    </dgm:pt>
    <dgm:pt modelId="{18F14E86-513D-B449-9B50-F9A8F4CC313B}" type="pres">
      <dgm:prSet presAssocID="{851BCC14-3C1C-3E49-93A7-BB25B4EE52BA}" presName="text" presStyleLbl="node1" presStyleIdx="0" presStyleCnt="5">
        <dgm:presLayoutVars>
          <dgm:bulletEnabled val="1"/>
        </dgm:presLayoutVars>
      </dgm:prSet>
      <dgm:spPr/>
    </dgm:pt>
    <dgm:pt modelId="{F26296F8-AAB0-0D4F-9307-12063DD0D8A4}" type="pres">
      <dgm:prSet presAssocID="{E6BC4F12-BA34-184E-9884-FA69ED945A04}" presName="spacer" presStyleCnt="0"/>
      <dgm:spPr/>
    </dgm:pt>
    <dgm:pt modelId="{D1A1ED41-DF0E-F64F-BC7F-758AC96BEF7B}" type="pres">
      <dgm:prSet presAssocID="{979B68A4-D185-6F41-BDB7-7DD8B195D604}" presName="comp" presStyleCnt="0"/>
      <dgm:spPr/>
    </dgm:pt>
    <dgm:pt modelId="{D96D31B2-AC79-0D4D-BCD4-BC21E527A462}" type="pres">
      <dgm:prSet presAssocID="{979B68A4-D185-6F41-BDB7-7DD8B195D604}" presName="box" presStyleLbl="node1" presStyleIdx="1" presStyleCnt="5"/>
      <dgm:spPr/>
    </dgm:pt>
    <dgm:pt modelId="{EB10BBF3-7E94-6649-BD15-0F031A1EC7D4}" type="pres">
      <dgm:prSet presAssocID="{979B68A4-D185-6F41-BDB7-7DD8B195D604}" presName="img" presStyleLbl="fgImgPlace1" presStyleIdx="1" presStyleCnt="5"/>
      <dgm:spPr>
        <a:blipFill>
          <a:blip xmlns:r="http://schemas.openxmlformats.org/officeDocument/2006/relationships" r:embed="rId3">
            <a:extLst>
              <a:ext uri="{96DAC541-7B7A-43D3-8B79-37D633B846F1}">
                <asvg:svgBlip xmlns:asvg="http://schemas.microsoft.com/office/drawing/2016/SVG/main" r:embed="rId4"/>
              </a:ext>
            </a:extLst>
          </a:blip>
          <a:srcRect/>
          <a:stretch>
            <a:fillRect t="-31000" b="-31000"/>
          </a:stretch>
        </a:blipFill>
      </dgm:spPr>
      <dgm:extLst>
        <a:ext uri="{E40237B7-FDA0-4F09-8148-C483321AD2D9}">
          <dgm14:cNvPr xmlns:dgm14="http://schemas.microsoft.com/office/drawing/2010/diagram" id="0" name="" descr="Bar graph with upward trend with solid fill"/>
        </a:ext>
      </dgm:extLst>
    </dgm:pt>
    <dgm:pt modelId="{C3587977-75B8-9244-9C2D-118AECD579F0}" type="pres">
      <dgm:prSet presAssocID="{979B68A4-D185-6F41-BDB7-7DD8B195D604}" presName="text" presStyleLbl="node1" presStyleIdx="1" presStyleCnt="5">
        <dgm:presLayoutVars>
          <dgm:bulletEnabled val="1"/>
        </dgm:presLayoutVars>
      </dgm:prSet>
      <dgm:spPr/>
    </dgm:pt>
    <dgm:pt modelId="{D3DC3002-0950-D641-A3C7-B4F13E78C1E4}" type="pres">
      <dgm:prSet presAssocID="{22B9AE64-3F79-A149-8BE0-C30D7D2C2317}" presName="spacer" presStyleCnt="0"/>
      <dgm:spPr/>
    </dgm:pt>
    <dgm:pt modelId="{352603A0-E60E-004D-AE0E-2D7C769FC873}" type="pres">
      <dgm:prSet presAssocID="{83FB809C-089F-654C-B289-FA15E78CB845}" presName="comp" presStyleCnt="0"/>
      <dgm:spPr/>
    </dgm:pt>
    <dgm:pt modelId="{E030AFDB-D36A-AE47-BEF3-C13AEDAB04A4}" type="pres">
      <dgm:prSet presAssocID="{83FB809C-089F-654C-B289-FA15E78CB845}" presName="box" presStyleLbl="node1" presStyleIdx="2" presStyleCnt="5"/>
      <dgm:spPr/>
    </dgm:pt>
    <dgm:pt modelId="{EB6C143A-9DD9-A644-B15F-DF234AEA04D9}" type="pres">
      <dgm:prSet presAssocID="{83FB809C-089F-654C-B289-FA15E78CB845}" presName="img" presStyleLbl="fgImgPlace1" presStyleIdx="2" presStyleCnt="5"/>
      <dgm:spPr>
        <a:blipFill>
          <a:blip xmlns:r="http://schemas.openxmlformats.org/officeDocument/2006/relationships" r:embed="rId5">
            <a:extLst>
              <a:ext uri="{96DAC541-7B7A-43D3-8B79-37D633B846F1}">
                <asvg:svgBlip xmlns:asvg="http://schemas.microsoft.com/office/drawing/2016/SVG/main" r:embed="rId6"/>
              </a:ext>
            </a:extLst>
          </a:blip>
          <a:srcRect/>
          <a:stretch>
            <a:fillRect t="-10000" b="-10000"/>
          </a:stretch>
        </a:blipFill>
      </dgm:spPr>
      <dgm:extLst>
        <a:ext uri="{E40237B7-FDA0-4F09-8148-C483321AD2D9}">
          <dgm14:cNvPr xmlns:dgm14="http://schemas.microsoft.com/office/drawing/2010/diagram" id="0" name="" descr="Filter with solid fill"/>
        </a:ext>
      </dgm:extLst>
    </dgm:pt>
    <dgm:pt modelId="{CE42979A-F43C-E44E-B15F-5D0FDD792C1B}" type="pres">
      <dgm:prSet presAssocID="{83FB809C-089F-654C-B289-FA15E78CB845}" presName="text" presStyleLbl="node1" presStyleIdx="2" presStyleCnt="5">
        <dgm:presLayoutVars>
          <dgm:bulletEnabled val="1"/>
        </dgm:presLayoutVars>
      </dgm:prSet>
      <dgm:spPr/>
    </dgm:pt>
    <dgm:pt modelId="{86A48613-17CB-AA41-B4F2-10F4AD3E9D17}" type="pres">
      <dgm:prSet presAssocID="{44C7B6ED-D9C9-A54C-BDC5-427D9E4EBBD3}" presName="spacer" presStyleCnt="0"/>
      <dgm:spPr/>
    </dgm:pt>
    <dgm:pt modelId="{F1C53BF6-DEB8-9F4F-B0B0-4B8576ED51B3}" type="pres">
      <dgm:prSet presAssocID="{3950DAA9-35E2-0146-A429-1B42BD607DB0}" presName="comp" presStyleCnt="0"/>
      <dgm:spPr/>
    </dgm:pt>
    <dgm:pt modelId="{DBBD842C-6CC0-A844-928A-CA8119A20197}" type="pres">
      <dgm:prSet presAssocID="{3950DAA9-35E2-0146-A429-1B42BD607DB0}" presName="box" presStyleLbl="node1" presStyleIdx="3" presStyleCnt="5"/>
      <dgm:spPr/>
    </dgm:pt>
    <dgm:pt modelId="{8165C826-065B-F948-9082-91EDC4D80DF3}" type="pres">
      <dgm:prSet presAssocID="{3950DAA9-35E2-0146-A429-1B42BD607DB0}" presName="img" presStyleLbl="fgImgPlac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t="-10000" b="-10000"/>
          </a:stretch>
        </a:blipFill>
      </dgm:spPr>
      <dgm:extLst>
        <a:ext uri="{E40237B7-FDA0-4F09-8148-C483321AD2D9}">
          <dgm14:cNvPr xmlns:dgm14="http://schemas.microsoft.com/office/drawing/2010/diagram" id="0" name="" descr="Dance steps with solid fill"/>
        </a:ext>
      </dgm:extLst>
    </dgm:pt>
    <dgm:pt modelId="{6C5C0148-C27F-7B42-83E6-31E80C388795}" type="pres">
      <dgm:prSet presAssocID="{3950DAA9-35E2-0146-A429-1B42BD607DB0}" presName="text" presStyleLbl="node1" presStyleIdx="3" presStyleCnt="5">
        <dgm:presLayoutVars>
          <dgm:bulletEnabled val="1"/>
        </dgm:presLayoutVars>
      </dgm:prSet>
      <dgm:spPr/>
    </dgm:pt>
    <dgm:pt modelId="{FD3B49B1-FABD-D840-88A3-2B717EC460EB}" type="pres">
      <dgm:prSet presAssocID="{99927EDE-9DF5-394D-BCC9-2FAB3F269E30}" presName="spacer" presStyleCnt="0"/>
      <dgm:spPr/>
    </dgm:pt>
    <dgm:pt modelId="{ECBD4269-E074-DC45-9255-D7AE69F3DA57}" type="pres">
      <dgm:prSet presAssocID="{A5926812-74A4-E64C-A97D-69A8914BD417}" presName="comp" presStyleCnt="0"/>
      <dgm:spPr/>
    </dgm:pt>
    <dgm:pt modelId="{8BA020C0-56F1-2E4C-8B91-2B6D290D79E5}" type="pres">
      <dgm:prSet presAssocID="{A5926812-74A4-E64C-A97D-69A8914BD417}" presName="box" presStyleLbl="node1" presStyleIdx="4" presStyleCnt="5"/>
      <dgm:spPr/>
    </dgm:pt>
    <dgm:pt modelId="{66DB940C-C73F-0147-9D9A-942490EE028C}" type="pres">
      <dgm:prSet presAssocID="{A5926812-74A4-E64C-A97D-69A8914BD417}" presName="img" presStyleLbl="fgImgPlace1" presStyleIdx="4" presStyleCnt="5"/>
      <dgm:spPr>
        <a:blipFill>
          <a:blip xmlns:r="http://schemas.openxmlformats.org/officeDocument/2006/relationships" r:embed="rId9">
            <a:extLst>
              <a:ext uri="{96DAC541-7B7A-43D3-8B79-37D633B846F1}">
                <asvg:svgBlip xmlns:asvg="http://schemas.microsoft.com/office/drawing/2016/SVG/main" r:embed="rId10"/>
              </a:ext>
            </a:extLst>
          </a:blip>
          <a:srcRect/>
          <a:stretch>
            <a:fillRect t="-51000" b="-51000"/>
          </a:stretch>
        </a:blipFill>
      </dgm:spPr>
      <dgm:extLst>
        <a:ext uri="{E40237B7-FDA0-4F09-8148-C483321AD2D9}">
          <dgm14:cNvPr xmlns:dgm14="http://schemas.microsoft.com/office/drawing/2010/diagram" id="0" name="" descr="Brain in head with solid fill"/>
        </a:ext>
      </dgm:extLst>
    </dgm:pt>
    <dgm:pt modelId="{1D180D4C-42E5-7649-97B3-0821FE1926FF}" type="pres">
      <dgm:prSet presAssocID="{A5926812-74A4-E64C-A97D-69A8914BD417}" presName="text" presStyleLbl="node1" presStyleIdx="4" presStyleCnt="5">
        <dgm:presLayoutVars>
          <dgm:bulletEnabled val="1"/>
        </dgm:presLayoutVars>
      </dgm:prSet>
      <dgm:spPr/>
    </dgm:pt>
  </dgm:ptLst>
  <dgm:cxnLst>
    <dgm:cxn modelId="{90BB5E1E-007D-8F42-A777-361876E7C33C}" srcId="{E146070E-8AC4-664C-B47B-4BCA66DCB6FD}" destId="{979B68A4-D185-6F41-BDB7-7DD8B195D604}" srcOrd="1" destOrd="0" parTransId="{49E4B225-A5A2-EC46-8B9C-F6DC5CD8C2A3}" sibTransId="{22B9AE64-3F79-A149-8BE0-C30D7D2C2317}"/>
    <dgm:cxn modelId="{2A2F6030-3E9B-D048-A0FB-714A85447DFA}" type="presOf" srcId="{A5926812-74A4-E64C-A97D-69A8914BD417}" destId="{8BA020C0-56F1-2E4C-8B91-2B6D290D79E5}" srcOrd="0" destOrd="0" presId="urn:microsoft.com/office/officeart/2005/8/layout/vList4"/>
    <dgm:cxn modelId="{FADE2734-0D31-EB48-A7A1-790DD8320502}" type="presOf" srcId="{83FB809C-089F-654C-B289-FA15E78CB845}" destId="{CE42979A-F43C-E44E-B15F-5D0FDD792C1B}" srcOrd="1" destOrd="0" presId="urn:microsoft.com/office/officeart/2005/8/layout/vList4"/>
    <dgm:cxn modelId="{B3B17D37-F7AA-E649-8040-8136DFC8B249}" srcId="{E146070E-8AC4-664C-B47B-4BCA66DCB6FD}" destId="{A5926812-74A4-E64C-A97D-69A8914BD417}" srcOrd="4" destOrd="0" parTransId="{79530CDF-86DC-DD40-924E-F5AEE8E7EB2C}" sibTransId="{D882B879-1BFB-C441-B57A-8BDACC9CBA93}"/>
    <dgm:cxn modelId="{CA868C3A-74B5-744F-B744-D433998BD1F7}" srcId="{E146070E-8AC4-664C-B47B-4BCA66DCB6FD}" destId="{3950DAA9-35E2-0146-A429-1B42BD607DB0}" srcOrd="3" destOrd="0" parTransId="{DFD8FFC6-03AC-084B-A7BB-9A7DF97894F9}" sibTransId="{99927EDE-9DF5-394D-BCC9-2FAB3F269E30}"/>
    <dgm:cxn modelId="{12394A41-FC0D-FC49-B832-6C5889B26479}" type="presOf" srcId="{3950DAA9-35E2-0146-A429-1B42BD607DB0}" destId="{6C5C0148-C27F-7B42-83E6-31E80C388795}" srcOrd="1" destOrd="0" presId="urn:microsoft.com/office/officeart/2005/8/layout/vList4"/>
    <dgm:cxn modelId="{303D604B-2212-664C-AA15-A6ABA408D0CF}" type="presOf" srcId="{979B68A4-D185-6F41-BDB7-7DD8B195D604}" destId="{C3587977-75B8-9244-9C2D-118AECD579F0}" srcOrd="1" destOrd="0" presId="urn:microsoft.com/office/officeart/2005/8/layout/vList4"/>
    <dgm:cxn modelId="{D53D095C-CDFE-5B4D-A2B3-86FAAF28CA92}" type="presOf" srcId="{851BCC14-3C1C-3E49-93A7-BB25B4EE52BA}" destId="{18F14E86-513D-B449-9B50-F9A8F4CC313B}" srcOrd="1" destOrd="0" presId="urn:microsoft.com/office/officeart/2005/8/layout/vList4"/>
    <dgm:cxn modelId="{F685036B-30DB-3847-959E-EFA8B6F12B1A}" type="presOf" srcId="{E146070E-8AC4-664C-B47B-4BCA66DCB6FD}" destId="{5C83BDB9-FDD2-0241-9B3D-4AB98ABEB24A}" srcOrd="0" destOrd="0" presId="urn:microsoft.com/office/officeart/2005/8/layout/vList4"/>
    <dgm:cxn modelId="{41E78177-9767-644D-A586-C5212DFC611A}" type="presOf" srcId="{979B68A4-D185-6F41-BDB7-7DD8B195D604}" destId="{D96D31B2-AC79-0D4D-BCD4-BC21E527A462}" srcOrd="0" destOrd="0" presId="urn:microsoft.com/office/officeart/2005/8/layout/vList4"/>
    <dgm:cxn modelId="{872F0B86-CBDB-0F48-94D9-A03299F2E407}" type="presOf" srcId="{A5926812-74A4-E64C-A97D-69A8914BD417}" destId="{1D180D4C-42E5-7649-97B3-0821FE1926FF}" srcOrd="1" destOrd="0" presId="urn:microsoft.com/office/officeart/2005/8/layout/vList4"/>
    <dgm:cxn modelId="{2995C9A3-9478-074D-848A-0C7B5B2F1954}" srcId="{E146070E-8AC4-664C-B47B-4BCA66DCB6FD}" destId="{851BCC14-3C1C-3E49-93A7-BB25B4EE52BA}" srcOrd="0" destOrd="0" parTransId="{5C8A566C-E11F-3744-8CDF-A5B1F2B97244}" sibTransId="{E6BC4F12-BA34-184E-9884-FA69ED945A04}"/>
    <dgm:cxn modelId="{CCA1B1B8-1246-7E4E-81AE-1BA8FE08FF17}" type="presOf" srcId="{3950DAA9-35E2-0146-A429-1B42BD607DB0}" destId="{DBBD842C-6CC0-A844-928A-CA8119A20197}" srcOrd="0" destOrd="0" presId="urn:microsoft.com/office/officeart/2005/8/layout/vList4"/>
    <dgm:cxn modelId="{B33ED8CD-3543-EC4D-AE54-7EA2F90C4D09}" type="presOf" srcId="{83FB809C-089F-654C-B289-FA15E78CB845}" destId="{E030AFDB-D36A-AE47-BEF3-C13AEDAB04A4}" srcOrd="0" destOrd="0" presId="urn:microsoft.com/office/officeart/2005/8/layout/vList4"/>
    <dgm:cxn modelId="{E37A10EB-05DD-D843-9CB5-5DB5CDAA21B6}" type="presOf" srcId="{851BCC14-3C1C-3E49-93A7-BB25B4EE52BA}" destId="{A9D231CA-E878-1546-8579-CE6A66A4F85C}" srcOrd="0" destOrd="0" presId="urn:microsoft.com/office/officeart/2005/8/layout/vList4"/>
    <dgm:cxn modelId="{178127F9-FDFD-0F4D-BE65-C0A6F9915633}" srcId="{E146070E-8AC4-664C-B47B-4BCA66DCB6FD}" destId="{83FB809C-089F-654C-B289-FA15E78CB845}" srcOrd="2" destOrd="0" parTransId="{B92ED099-6E97-9E4F-AF41-9FE76B2567EC}" sibTransId="{44C7B6ED-D9C9-A54C-BDC5-427D9E4EBBD3}"/>
    <dgm:cxn modelId="{E2B41509-B232-AF45-A569-826ACE3F08D5}" type="presParOf" srcId="{5C83BDB9-FDD2-0241-9B3D-4AB98ABEB24A}" destId="{41EDD0B1-0F31-2C48-8CBF-DE40D7DFDA05}" srcOrd="0" destOrd="0" presId="urn:microsoft.com/office/officeart/2005/8/layout/vList4"/>
    <dgm:cxn modelId="{8F82C49A-D90C-E24E-A2C9-0376298ACE36}" type="presParOf" srcId="{41EDD0B1-0F31-2C48-8CBF-DE40D7DFDA05}" destId="{A9D231CA-E878-1546-8579-CE6A66A4F85C}" srcOrd="0" destOrd="0" presId="urn:microsoft.com/office/officeart/2005/8/layout/vList4"/>
    <dgm:cxn modelId="{37B6A39A-10A2-F245-BC2E-1371BDD6ADAA}" type="presParOf" srcId="{41EDD0B1-0F31-2C48-8CBF-DE40D7DFDA05}" destId="{2FFDD513-4151-714C-95FD-3AA5415C66EE}" srcOrd="1" destOrd="0" presId="urn:microsoft.com/office/officeart/2005/8/layout/vList4"/>
    <dgm:cxn modelId="{DD462961-41E3-1A47-BBDA-E8E1F7C5AB63}" type="presParOf" srcId="{41EDD0B1-0F31-2C48-8CBF-DE40D7DFDA05}" destId="{18F14E86-513D-B449-9B50-F9A8F4CC313B}" srcOrd="2" destOrd="0" presId="urn:microsoft.com/office/officeart/2005/8/layout/vList4"/>
    <dgm:cxn modelId="{AE6E55FB-DABE-5D46-B357-BF6BD4ACB49C}" type="presParOf" srcId="{5C83BDB9-FDD2-0241-9B3D-4AB98ABEB24A}" destId="{F26296F8-AAB0-0D4F-9307-12063DD0D8A4}" srcOrd="1" destOrd="0" presId="urn:microsoft.com/office/officeart/2005/8/layout/vList4"/>
    <dgm:cxn modelId="{38BE05EE-B381-DC48-BAAE-EDD4B039896C}" type="presParOf" srcId="{5C83BDB9-FDD2-0241-9B3D-4AB98ABEB24A}" destId="{D1A1ED41-DF0E-F64F-BC7F-758AC96BEF7B}" srcOrd="2" destOrd="0" presId="urn:microsoft.com/office/officeart/2005/8/layout/vList4"/>
    <dgm:cxn modelId="{C7853F27-4744-D74F-894D-6AB5E63946F7}" type="presParOf" srcId="{D1A1ED41-DF0E-F64F-BC7F-758AC96BEF7B}" destId="{D96D31B2-AC79-0D4D-BCD4-BC21E527A462}" srcOrd="0" destOrd="0" presId="urn:microsoft.com/office/officeart/2005/8/layout/vList4"/>
    <dgm:cxn modelId="{7CDA2B2D-D65A-E347-A3B7-94CD3DB1AF9C}" type="presParOf" srcId="{D1A1ED41-DF0E-F64F-BC7F-758AC96BEF7B}" destId="{EB10BBF3-7E94-6649-BD15-0F031A1EC7D4}" srcOrd="1" destOrd="0" presId="urn:microsoft.com/office/officeart/2005/8/layout/vList4"/>
    <dgm:cxn modelId="{1D5328CE-5158-0742-887F-9B0E8D5FFCE8}" type="presParOf" srcId="{D1A1ED41-DF0E-F64F-BC7F-758AC96BEF7B}" destId="{C3587977-75B8-9244-9C2D-118AECD579F0}" srcOrd="2" destOrd="0" presId="urn:microsoft.com/office/officeart/2005/8/layout/vList4"/>
    <dgm:cxn modelId="{9F83F5D8-E087-4747-8032-7233066DE4B1}" type="presParOf" srcId="{5C83BDB9-FDD2-0241-9B3D-4AB98ABEB24A}" destId="{D3DC3002-0950-D641-A3C7-B4F13E78C1E4}" srcOrd="3" destOrd="0" presId="urn:microsoft.com/office/officeart/2005/8/layout/vList4"/>
    <dgm:cxn modelId="{F2414DB0-8050-874B-8C72-00A4B4F043D9}" type="presParOf" srcId="{5C83BDB9-FDD2-0241-9B3D-4AB98ABEB24A}" destId="{352603A0-E60E-004D-AE0E-2D7C769FC873}" srcOrd="4" destOrd="0" presId="urn:microsoft.com/office/officeart/2005/8/layout/vList4"/>
    <dgm:cxn modelId="{1671B69C-0E31-AD45-BC8F-193913826A5F}" type="presParOf" srcId="{352603A0-E60E-004D-AE0E-2D7C769FC873}" destId="{E030AFDB-D36A-AE47-BEF3-C13AEDAB04A4}" srcOrd="0" destOrd="0" presId="urn:microsoft.com/office/officeart/2005/8/layout/vList4"/>
    <dgm:cxn modelId="{E1E5F24F-7762-1D47-85BF-DD57495A373E}" type="presParOf" srcId="{352603A0-E60E-004D-AE0E-2D7C769FC873}" destId="{EB6C143A-9DD9-A644-B15F-DF234AEA04D9}" srcOrd="1" destOrd="0" presId="urn:microsoft.com/office/officeart/2005/8/layout/vList4"/>
    <dgm:cxn modelId="{DE64A942-624D-E44E-B08E-C356AE8FDB04}" type="presParOf" srcId="{352603A0-E60E-004D-AE0E-2D7C769FC873}" destId="{CE42979A-F43C-E44E-B15F-5D0FDD792C1B}" srcOrd="2" destOrd="0" presId="urn:microsoft.com/office/officeart/2005/8/layout/vList4"/>
    <dgm:cxn modelId="{0CE0F294-B93B-9942-908C-25EF19171469}" type="presParOf" srcId="{5C83BDB9-FDD2-0241-9B3D-4AB98ABEB24A}" destId="{86A48613-17CB-AA41-B4F2-10F4AD3E9D17}" srcOrd="5" destOrd="0" presId="urn:microsoft.com/office/officeart/2005/8/layout/vList4"/>
    <dgm:cxn modelId="{1CEEC866-946B-CA47-BCF5-CB61B8C14012}" type="presParOf" srcId="{5C83BDB9-FDD2-0241-9B3D-4AB98ABEB24A}" destId="{F1C53BF6-DEB8-9F4F-B0B0-4B8576ED51B3}" srcOrd="6" destOrd="0" presId="urn:microsoft.com/office/officeart/2005/8/layout/vList4"/>
    <dgm:cxn modelId="{11C1D9A9-7FE6-4A4C-9D6B-CA3BA74534DC}" type="presParOf" srcId="{F1C53BF6-DEB8-9F4F-B0B0-4B8576ED51B3}" destId="{DBBD842C-6CC0-A844-928A-CA8119A20197}" srcOrd="0" destOrd="0" presId="urn:microsoft.com/office/officeart/2005/8/layout/vList4"/>
    <dgm:cxn modelId="{8FE8CFA3-986D-BC49-A17E-DC39CF9E35B2}" type="presParOf" srcId="{F1C53BF6-DEB8-9F4F-B0B0-4B8576ED51B3}" destId="{8165C826-065B-F948-9082-91EDC4D80DF3}" srcOrd="1" destOrd="0" presId="urn:microsoft.com/office/officeart/2005/8/layout/vList4"/>
    <dgm:cxn modelId="{960C2B06-90BF-414E-A4D5-CF4C0F5842B0}" type="presParOf" srcId="{F1C53BF6-DEB8-9F4F-B0B0-4B8576ED51B3}" destId="{6C5C0148-C27F-7B42-83E6-31E80C388795}" srcOrd="2" destOrd="0" presId="urn:microsoft.com/office/officeart/2005/8/layout/vList4"/>
    <dgm:cxn modelId="{418C8E7E-6423-5B40-A554-7147512C9DA4}" type="presParOf" srcId="{5C83BDB9-FDD2-0241-9B3D-4AB98ABEB24A}" destId="{FD3B49B1-FABD-D840-88A3-2B717EC460EB}" srcOrd="7" destOrd="0" presId="urn:microsoft.com/office/officeart/2005/8/layout/vList4"/>
    <dgm:cxn modelId="{36EA2549-D68B-E447-9011-6CBD10ED201D}" type="presParOf" srcId="{5C83BDB9-FDD2-0241-9B3D-4AB98ABEB24A}" destId="{ECBD4269-E074-DC45-9255-D7AE69F3DA57}" srcOrd="8" destOrd="0" presId="urn:microsoft.com/office/officeart/2005/8/layout/vList4"/>
    <dgm:cxn modelId="{D43CC1E9-EB25-6D4D-9DE1-E928455B8BC8}" type="presParOf" srcId="{ECBD4269-E074-DC45-9255-D7AE69F3DA57}" destId="{8BA020C0-56F1-2E4C-8B91-2B6D290D79E5}" srcOrd="0" destOrd="0" presId="urn:microsoft.com/office/officeart/2005/8/layout/vList4"/>
    <dgm:cxn modelId="{5A0453F5-7FF4-A347-85AA-A84F8CFFD3D6}" type="presParOf" srcId="{ECBD4269-E074-DC45-9255-D7AE69F3DA57}" destId="{66DB940C-C73F-0147-9D9A-942490EE028C}" srcOrd="1" destOrd="0" presId="urn:microsoft.com/office/officeart/2005/8/layout/vList4"/>
    <dgm:cxn modelId="{DB024824-B8E3-744F-91BA-BC41A7779457}" type="presParOf" srcId="{ECBD4269-E074-DC45-9255-D7AE69F3DA57}" destId="{1D180D4C-42E5-7649-97B3-0821FE1926FF}"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79570B4-670B-42C9-BF91-46C153C563E6}" type="doc">
      <dgm:prSet loTypeId="urn:microsoft.com/office/officeart/2016/7/layout/LinearBlockProcessNumbered" loCatId="process" qsTypeId="urn:microsoft.com/office/officeart/2005/8/quickstyle/simple1" qsCatId="simple" csTypeId="urn:microsoft.com/office/officeart/2005/8/colors/colorful1" csCatId="colorful" phldr="1"/>
      <dgm:spPr/>
      <dgm:t>
        <a:bodyPr/>
        <a:lstStyle/>
        <a:p>
          <a:endParaRPr lang="en-US"/>
        </a:p>
      </dgm:t>
    </dgm:pt>
    <dgm:pt modelId="{5E3528A0-B309-4B59-A4EA-EA7B6F3CE18F}">
      <dgm:prSet/>
      <dgm:spPr/>
      <dgm:t>
        <a:bodyPr/>
        <a:lstStyle/>
        <a:p>
          <a:r>
            <a:rPr lang="en-US" b="1" baseline="0" dirty="0"/>
            <a:t>Planning &amp; Preparation</a:t>
          </a:r>
          <a:endParaRPr lang="en-US" dirty="0"/>
        </a:p>
      </dgm:t>
    </dgm:pt>
    <dgm:pt modelId="{8B4712FB-C0A1-44BB-9C34-2CDDCA580763}" type="parTrans" cxnId="{BC4E2CE0-EB4E-4DDA-806D-17211305B5CA}">
      <dgm:prSet/>
      <dgm:spPr/>
      <dgm:t>
        <a:bodyPr/>
        <a:lstStyle/>
        <a:p>
          <a:endParaRPr lang="en-US"/>
        </a:p>
      </dgm:t>
    </dgm:pt>
    <dgm:pt modelId="{6BBCB496-AA82-47F4-97EB-3D7E2C081066}" type="sibTrans" cxnId="{BC4E2CE0-EB4E-4DDA-806D-17211305B5CA}">
      <dgm:prSet phldrT="01" phldr="0"/>
      <dgm:spPr/>
      <dgm:t>
        <a:bodyPr/>
        <a:lstStyle/>
        <a:p>
          <a:r>
            <a:rPr lang="en-US" dirty="0"/>
            <a:t>01</a:t>
          </a:r>
        </a:p>
      </dgm:t>
    </dgm:pt>
    <dgm:pt modelId="{5747CD0B-C499-4FA8-A1B3-73536D484281}">
      <dgm:prSet/>
      <dgm:spPr/>
      <dgm:t>
        <a:bodyPr/>
        <a:lstStyle/>
        <a:p>
          <a:r>
            <a:rPr lang="en-US" b="1" baseline="0" dirty="0"/>
            <a:t>Mixing</a:t>
          </a:r>
          <a:endParaRPr lang="en-US" dirty="0"/>
        </a:p>
      </dgm:t>
    </dgm:pt>
    <dgm:pt modelId="{F02C2AE8-5BE4-4A9B-BA0C-2EAF2AC4CBD7}" type="parTrans" cxnId="{D98853CA-5FA3-4944-9BD2-1F9DB167DA47}">
      <dgm:prSet/>
      <dgm:spPr/>
      <dgm:t>
        <a:bodyPr/>
        <a:lstStyle/>
        <a:p>
          <a:endParaRPr lang="en-US"/>
        </a:p>
      </dgm:t>
    </dgm:pt>
    <dgm:pt modelId="{BF81BEB4-FAF5-43A7-9165-BD9A9348385E}" type="sibTrans" cxnId="{D98853CA-5FA3-4944-9BD2-1F9DB167DA47}">
      <dgm:prSet phldrT="02" phldr="0"/>
      <dgm:spPr/>
      <dgm:t>
        <a:bodyPr/>
        <a:lstStyle/>
        <a:p>
          <a:r>
            <a:rPr lang="en-US"/>
            <a:t>02</a:t>
          </a:r>
          <a:endParaRPr lang="en-US" dirty="0"/>
        </a:p>
      </dgm:t>
    </dgm:pt>
    <dgm:pt modelId="{629D0AB6-EA6C-46FB-8E97-D882A75D1B3A}">
      <dgm:prSet/>
      <dgm:spPr/>
      <dgm:t>
        <a:bodyPr/>
        <a:lstStyle/>
        <a:p>
          <a:r>
            <a:rPr lang="en-US" b="1" baseline="0" dirty="0"/>
            <a:t>Baking</a:t>
          </a:r>
          <a:endParaRPr lang="en-US" dirty="0"/>
        </a:p>
      </dgm:t>
    </dgm:pt>
    <dgm:pt modelId="{06A4ABDC-7D12-453E-AE39-7AFDD4F443CD}" type="parTrans" cxnId="{68F9DA97-3926-4C92-B2B7-2187113D0BBC}">
      <dgm:prSet/>
      <dgm:spPr/>
      <dgm:t>
        <a:bodyPr/>
        <a:lstStyle/>
        <a:p>
          <a:endParaRPr lang="en-US"/>
        </a:p>
      </dgm:t>
    </dgm:pt>
    <dgm:pt modelId="{CBF7A17A-8B5B-4217-A302-E472D582459D}" type="sibTrans" cxnId="{68F9DA97-3926-4C92-B2B7-2187113D0BBC}">
      <dgm:prSet phldrT="03" phldr="0"/>
      <dgm:spPr/>
      <dgm:t>
        <a:bodyPr/>
        <a:lstStyle/>
        <a:p>
          <a:r>
            <a:rPr lang="en-US"/>
            <a:t>03</a:t>
          </a:r>
          <a:endParaRPr lang="en-US" dirty="0"/>
        </a:p>
      </dgm:t>
    </dgm:pt>
    <dgm:pt modelId="{8209B384-235B-47F9-8BA5-8E42CAD3B100}">
      <dgm:prSet/>
      <dgm:spPr/>
      <dgm:t>
        <a:bodyPr/>
        <a:lstStyle/>
        <a:p>
          <a:r>
            <a:rPr lang="en-US" b="1" baseline="0" dirty="0"/>
            <a:t>Finishing</a:t>
          </a:r>
          <a:br>
            <a:rPr lang="en-US" baseline="0" dirty="0"/>
          </a:br>
          <a:endParaRPr lang="en-US" dirty="0"/>
        </a:p>
      </dgm:t>
    </dgm:pt>
    <dgm:pt modelId="{024DCA4C-740A-4C56-B457-507C462EC332}" type="sibTrans" cxnId="{F7B837F0-FF18-4CFB-A573-25BFE43069E6}">
      <dgm:prSet phldrT="04" phldr="0"/>
      <dgm:spPr/>
      <dgm:t>
        <a:bodyPr/>
        <a:lstStyle/>
        <a:p>
          <a:r>
            <a:rPr lang="en-US"/>
            <a:t>04</a:t>
          </a:r>
          <a:endParaRPr lang="en-US" dirty="0"/>
        </a:p>
      </dgm:t>
    </dgm:pt>
    <dgm:pt modelId="{C2AE047E-A7F8-431E-AA47-D57FD54650C6}" type="parTrans" cxnId="{F7B837F0-FF18-4CFB-A573-25BFE43069E6}">
      <dgm:prSet/>
      <dgm:spPr/>
      <dgm:t>
        <a:bodyPr/>
        <a:lstStyle/>
        <a:p>
          <a:endParaRPr lang="en-US"/>
        </a:p>
      </dgm:t>
    </dgm:pt>
    <dgm:pt modelId="{A1B01282-6C5F-D54F-8A37-842DE7124E6F}" type="pres">
      <dgm:prSet presAssocID="{D79570B4-670B-42C9-BF91-46C153C563E6}" presName="Name0" presStyleCnt="0">
        <dgm:presLayoutVars>
          <dgm:animLvl val="lvl"/>
          <dgm:resizeHandles val="exact"/>
        </dgm:presLayoutVars>
      </dgm:prSet>
      <dgm:spPr/>
    </dgm:pt>
    <dgm:pt modelId="{4EA46E5E-F962-D64F-8456-3E2A0ABA85BD}" type="pres">
      <dgm:prSet presAssocID="{5E3528A0-B309-4B59-A4EA-EA7B6F3CE18F}" presName="compositeNode" presStyleCnt="0">
        <dgm:presLayoutVars>
          <dgm:bulletEnabled val="1"/>
        </dgm:presLayoutVars>
      </dgm:prSet>
      <dgm:spPr/>
    </dgm:pt>
    <dgm:pt modelId="{D79C4E89-C40F-0848-8C46-678473DEC50A}" type="pres">
      <dgm:prSet presAssocID="{5E3528A0-B309-4B59-A4EA-EA7B6F3CE18F}" presName="bgRect" presStyleLbl="alignNode1" presStyleIdx="0" presStyleCnt="4"/>
      <dgm:spPr/>
    </dgm:pt>
    <dgm:pt modelId="{A9FDF445-B884-C14D-A823-65FDFB1EEA77}" type="pres">
      <dgm:prSet presAssocID="{6BBCB496-AA82-47F4-97EB-3D7E2C081066}" presName="sibTransNodeRect" presStyleLbl="alignNode1" presStyleIdx="0" presStyleCnt="4">
        <dgm:presLayoutVars>
          <dgm:chMax val="0"/>
          <dgm:bulletEnabled val="1"/>
        </dgm:presLayoutVars>
      </dgm:prSet>
      <dgm:spPr/>
    </dgm:pt>
    <dgm:pt modelId="{AECD05AC-5133-FA44-B5CF-E560FC471E6A}" type="pres">
      <dgm:prSet presAssocID="{5E3528A0-B309-4B59-A4EA-EA7B6F3CE18F}" presName="nodeRect" presStyleLbl="alignNode1" presStyleIdx="0" presStyleCnt="4">
        <dgm:presLayoutVars>
          <dgm:bulletEnabled val="1"/>
        </dgm:presLayoutVars>
      </dgm:prSet>
      <dgm:spPr/>
    </dgm:pt>
    <dgm:pt modelId="{EE3106F5-AD4E-794D-94EB-E191C2790281}" type="pres">
      <dgm:prSet presAssocID="{6BBCB496-AA82-47F4-97EB-3D7E2C081066}" presName="sibTrans" presStyleCnt="0"/>
      <dgm:spPr/>
    </dgm:pt>
    <dgm:pt modelId="{FF433C1D-EAE6-3949-8A51-14A6E989A2BD}" type="pres">
      <dgm:prSet presAssocID="{5747CD0B-C499-4FA8-A1B3-73536D484281}" presName="compositeNode" presStyleCnt="0">
        <dgm:presLayoutVars>
          <dgm:bulletEnabled val="1"/>
        </dgm:presLayoutVars>
      </dgm:prSet>
      <dgm:spPr/>
    </dgm:pt>
    <dgm:pt modelId="{6C921614-D9EF-0B4D-A20C-1314A317C0E5}" type="pres">
      <dgm:prSet presAssocID="{5747CD0B-C499-4FA8-A1B3-73536D484281}" presName="bgRect" presStyleLbl="alignNode1" presStyleIdx="1" presStyleCnt="4"/>
      <dgm:spPr/>
    </dgm:pt>
    <dgm:pt modelId="{52D91C4D-1B4F-734E-839C-E1CBEDA71742}" type="pres">
      <dgm:prSet presAssocID="{BF81BEB4-FAF5-43A7-9165-BD9A9348385E}" presName="sibTransNodeRect" presStyleLbl="alignNode1" presStyleIdx="1" presStyleCnt="4">
        <dgm:presLayoutVars>
          <dgm:chMax val="0"/>
          <dgm:bulletEnabled val="1"/>
        </dgm:presLayoutVars>
      </dgm:prSet>
      <dgm:spPr/>
    </dgm:pt>
    <dgm:pt modelId="{7418169E-1761-D549-BD3F-FFB4F75C253A}" type="pres">
      <dgm:prSet presAssocID="{5747CD0B-C499-4FA8-A1B3-73536D484281}" presName="nodeRect" presStyleLbl="alignNode1" presStyleIdx="1" presStyleCnt="4">
        <dgm:presLayoutVars>
          <dgm:bulletEnabled val="1"/>
        </dgm:presLayoutVars>
      </dgm:prSet>
      <dgm:spPr/>
    </dgm:pt>
    <dgm:pt modelId="{6B03BD0A-7FA7-844A-BD99-B7BE3C934676}" type="pres">
      <dgm:prSet presAssocID="{BF81BEB4-FAF5-43A7-9165-BD9A9348385E}" presName="sibTrans" presStyleCnt="0"/>
      <dgm:spPr/>
    </dgm:pt>
    <dgm:pt modelId="{5DA91468-416E-E445-AE9E-657BFF93E792}" type="pres">
      <dgm:prSet presAssocID="{629D0AB6-EA6C-46FB-8E97-D882A75D1B3A}" presName="compositeNode" presStyleCnt="0">
        <dgm:presLayoutVars>
          <dgm:bulletEnabled val="1"/>
        </dgm:presLayoutVars>
      </dgm:prSet>
      <dgm:spPr/>
    </dgm:pt>
    <dgm:pt modelId="{E22D8C13-0648-F742-957D-70008D06CCB1}" type="pres">
      <dgm:prSet presAssocID="{629D0AB6-EA6C-46FB-8E97-D882A75D1B3A}" presName="bgRect" presStyleLbl="alignNode1" presStyleIdx="2" presStyleCnt="4"/>
      <dgm:spPr/>
    </dgm:pt>
    <dgm:pt modelId="{5AE1F9E6-F08C-AC4A-BA81-B5081C764F4F}" type="pres">
      <dgm:prSet presAssocID="{CBF7A17A-8B5B-4217-A302-E472D582459D}" presName="sibTransNodeRect" presStyleLbl="alignNode1" presStyleIdx="2" presStyleCnt="4">
        <dgm:presLayoutVars>
          <dgm:chMax val="0"/>
          <dgm:bulletEnabled val="1"/>
        </dgm:presLayoutVars>
      </dgm:prSet>
      <dgm:spPr/>
    </dgm:pt>
    <dgm:pt modelId="{63A99BE1-C70A-7C43-9B47-A2B65A257D49}" type="pres">
      <dgm:prSet presAssocID="{629D0AB6-EA6C-46FB-8E97-D882A75D1B3A}" presName="nodeRect" presStyleLbl="alignNode1" presStyleIdx="2" presStyleCnt="4">
        <dgm:presLayoutVars>
          <dgm:bulletEnabled val="1"/>
        </dgm:presLayoutVars>
      </dgm:prSet>
      <dgm:spPr/>
    </dgm:pt>
    <dgm:pt modelId="{9FE4CDAF-0A25-3442-AE95-C5BBEB11A660}" type="pres">
      <dgm:prSet presAssocID="{CBF7A17A-8B5B-4217-A302-E472D582459D}" presName="sibTrans" presStyleCnt="0"/>
      <dgm:spPr/>
    </dgm:pt>
    <dgm:pt modelId="{93B16F2B-BEC9-5B41-9731-15C7EF3FD899}" type="pres">
      <dgm:prSet presAssocID="{8209B384-235B-47F9-8BA5-8E42CAD3B100}" presName="compositeNode" presStyleCnt="0">
        <dgm:presLayoutVars>
          <dgm:bulletEnabled val="1"/>
        </dgm:presLayoutVars>
      </dgm:prSet>
      <dgm:spPr/>
    </dgm:pt>
    <dgm:pt modelId="{772BA08D-630F-714A-8F18-26A4FF91B768}" type="pres">
      <dgm:prSet presAssocID="{8209B384-235B-47F9-8BA5-8E42CAD3B100}" presName="bgRect" presStyleLbl="alignNode1" presStyleIdx="3" presStyleCnt="4"/>
      <dgm:spPr/>
    </dgm:pt>
    <dgm:pt modelId="{9091DA31-5D66-A244-9AD0-638DA3954598}" type="pres">
      <dgm:prSet presAssocID="{024DCA4C-740A-4C56-B457-507C462EC332}" presName="sibTransNodeRect" presStyleLbl="alignNode1" presStyleIdx="3" presStyleCnt="4">
        <dgm:presLayoutVars>
          <dgm:chMax val="0"/>
          <dgm:bulletEnabled val="1"/>
        </dgm:presLayoutVars>
      </dgm:prSet>
      <dgm:spPr/>
    </dgm:pt>
    <dgm:pt modelId="{32618CCF-1E4B-8842-B584-70354685AF78}" type="pres">
      <dgm:prSet presAssocID="{8209B384-235B-47F9-8BA5-8E42CAD3B100}" presName="nodeRect" presStyleLbl="alignNode1" presStyleIdx="3" presStyleCnt="4">
        <dgm:presLayoutVars>
          <dgm:bulletEnabled val="1"/>
        </dgm:presLayoutVars>
      </dgm:prSet>
      <dgm:spPr/>
    </dgm:pt>
  </dgm:ptLst>
  <dgm:cxnLst>
    <dgm:cxn modelId="{1980FE11-2F93-BC41-BB9A-C1473187644A}" type="presOf" srcId="{629D0AB6-EA6C-46FB-8E97-D882A75D1B3A}" destId="{E22D8C13-0648-F742-957D-70008D06CCB1}" srcOrd="0" destOrd="0" presId="urn:microsoft.com/office/officeart/2016/7/layout/LinearBlockProcessNumbered"/>
    <dgm:cxn modelId="{BCD29616-04D9-3E4E-BFF1-574F359A7801}" type="presOf" srcId="{5747CD0B-C499-4FA8-A1B3-73536D484281}" destId="{7418169E-1761-D549-BD3F-FFB4F75C253A}" srcOrd="1" destOrd="0" presId="urn:microsoft.com/office/officeart/2016/7/layout/LinearBlockProcessNumbered"/>
    <dgm:cxn modelId="{438E7A22-CA29-4D4C-9CFE-DE3E6EDDA231}" type="presOf" srcId="{BF81BEB4-FAF5-43A7-9165-BD9A9348385E}" destId="{52D91C4D-1B4F-734E-839C-E1CBEDA71742}" srcOrd="0" destOrd="0" presId="urn:microsoft.com/office/officeart/2016/7/layout/LinearBlockProcessNumbered"/>
    <dgm:cxn modelId="{0F501C2B-78F3-0543-9B2C-981CCD6ED931}" type="presOf" srcId="{D79570B4-670B-42C9-BF91-46C153C563E6}" destId="{A1B01282-6C5F-D54F-8A37-842DE7124E6F}" srcOrd="0" destOrd="0" presId="urn:microsoft.com/office/officeart/2016/7/layout/LinearBlockProcessNumbered"/>
    <dgm:cxn modelId="{0089033A-33E8-3B47-99CC-612399F767E5}" type="presOf" srcId="{5E3528A0-B309-4B59-A4EA-EA7B6F3CE18F}" destId="{AECD05AC-5133-FA44-B5CF-E560FC471E6A}" srcOrd="1" destOrd="0" presId="urn:microsoft.com/office/officeart/2016/7/layout/LinearBlockProcessNumbered"/>
    <dgm:cxn modelId="{1D28593C-4D86-5E48-B3CD-E6CBA0CC7D72}" type="presOf" srcId="{8209B384-235B-47F9-8BA5-8E42CAD3B100}" destId="{772BA08D-630F-714A-8F18-26A4FF91B768}" srcOrd="0" destOrd="0" presId="urn:microsoft.com/office/officeart/2016/7/layout/LinearBlockProcessNumbered"/>
    <dgm:cxn modelId="{9B6BCD59-19BB-1542-910A-4285DD0C862A}" type="presOf" srcId="{CBF7A17A-8B5B-4217-A302-E472D582459D}" destId="{5AE1F9E6-F08C-AC4A-BA81-B5081C764F4F}" srcOrd="0" destOrd="0" presId="urn:microsoft.com/office/officeart/2016/7/layout/LinearBlockProcessNumbered"/>
    <dgm:cxn modelId="{12866363-2F2B-0E45-BDF5-3983BE5D6123}" type="presOf" srcId="{5747CD0B-C499-4FA8-A1B3-73536D484281}" destId="{6C921614-D9EF-0B4D-A20C-1314A317C0E5}" srcOrd="0" destOrd="0" presId="urn:microsoft.com/office/officeart/2016/7/layout/LinearBlockProcessNumbered"/>
    <dgm:cxn modelId="{1E92A665-6F8C-914C-8220-2F88C1F584A6}" type="presOf" srcId="{024DCA4C-740A-4C56-B457-507C462EC332}" destId="{9091DA31-5D66-A244-9AD0-638DA3954598}" srcOrd="0" destOrd="0" presId="urn:microsoft.com/office/officeart/2016/7/layout/LinearBlockProcessNumbered"/>
    <dgm:cxn modelId="{08E8EC92-02D8-E248-B6B5-D1B844400B3B}" type="presOf" srcId="{629D0AB6-EA6C-46FB-8E97-D882A75D1B3A}" destId="{63A99BE1-C70A-7C43-9B47-A2B65A257D49}" srcOrd="1" destOrd="0" presId="urn:microsoft.com/office/officeart/2016/7/layout/LinearBlockProcessNumbered"/>
    <dgm:cxn modelId="{68F9DA97-3926-4C92-B2B7-2187113D0BBC}" srcId="{D79570B4-670B-42C9-BF91-46C153C563E6}" destId="{629D0AB6-EA6C-46FB-8E97-D882A75D1B3A}" srcOrd="2" destOrd="0" parTransId="{06A4ABDC-7D12-453E-AE39-7AFDD4F443CD}" sibTransId="{CBF7A17A-8B5B-4217-A302-E472D582459D}"/>
    <dgm:cxn modelId="{908849BF-22CB-D44E-8DE7-B44E22AD9230}" type="presOf" srcId="{8209B384-235B-47F9-8BA5-8E42CAD3B100}" destId="{32618CCF-1E4B-8842-B584-70354685AF78}" srcOrd="1" destOrd="0" presId="urn:microsoft.com/office/officeart/2016/7/layout/LinearBlockProcessNumbered"/>
    <dgm:cxn modelId="{D98853CA-5FA3-4944-9BD2-1F9DB167DA47}" srcId="{D79570B4-670B-42C9-BF91-46C153C563E6}" destId="{5747CD0B-C499-4FA8-A1B3-73536D484281}" srcOrd="1" destOrd="0" parTransId="{F02C2AE8-5BE4-4A9B-BA0C-2EAF2AC4CBD7}" sibTransId="{BF81BEB4-FAF5-43A7-9165-BD9A9348385E}"/>
    <dgm:cxn modelId="{5C2627D2-BE81-6145-8DF0-8FCD55159B60}" type="presOf" srcId="{5E3528A0-B309-4B59-A4EA-EA7B6F3CE18F}" destId="{D79C4E89-C40F-0848-8C46-678473DEC50A}" srcOrd="0" destOrd="0" presId="urn:microsoft.com/office/officeart/2016/7/layout/LinearBlockProcessNumbered"/>
    <dgm:cxn modelId="{BC4E2CE0-EB4E-4DDA-806D-17211305B5CA}" srcId="{D79570B4-670B-42C9-BF91-46C153C563E6}" destId="{5E3528A0-B309-4B59-A4EA-EA7B6F3CE18F}" srcOrd="0" destOrd="0" parTransId="{8B4712FB-C0A1-44BB-9C34-2CDDCA580763}" sibTransId="{6BBCB496-AA82-47F4-97EB-3D7E2C081066}"/>
    <dgm:cxn modelId="{19CCBFE3-4BD4-854A-B8D9-D6F65204CED5}" type="presOf" srcId="{6BBCB496-AA82-47F4-97EB-3D7E2C081066}" destId="{A9FDF445-B884-C14D-A823-65FDFB1EEA77}" srcOrd="0" destOrd="0" presId="urn:microsoft.com/office/officeart/2016/7/layout/LinearBlockProcessNumbered"/>
    <dgm:cxn modelId="{F7B837F0-FF18-4CFB-A573-25BFE43069E6}" srcId="{D79570B4-670B-42C9-BF91-46C153C563E6}" destId="{8209B384-235B-47F9-8BA5-8E42CAD3B100}" srcOrd="3" destOrd="0" parTransId="{C2AE047E-A7F8-431E-AA47-D57FD54650C6}" sibTransId="{024DCA4C-740A-4C56-B457-507C462EC332}"/>
    <dgm:cxn modelId="{A657F072-9E0B-6946-A27B-0166CE31AE96}" type="presParOf" srcId="{A1B01282-6C5F-D54F-8A37-842DE7124E6F}" destId="{4EA46E5E-F962-D64F-8456-3E2A0ABA85BD}" srcOrd="0" destOrd="0" presId="urn:microsoft.com/office/officeart/2016/7/layout/LinearBlockProcessNumbered"/>
    <dgm:cxn modelId="{D4AB7B3A-9CB0-C44D-83E1-4F5BFF1C8695}" type="presParOf" srcId="{4EA46E5E-F962-D64F-8456-3E2A0ABA85BD}" destId="{D79C4E89-C40F-0848-8C46-678473DEC50A}" srcOrd="0" destOrd="0" presId="urn:microsoft.com/office/officeart/2016/7/layout/LinearBlockProcessNumbered"/>
    <dgm:cxn modelId="{CCA61944-1699-D34B-83EA-4892C03AC392}" type="presParOf" srcId="{4EA46E5E-F962-D64F-8456-3E2A0ABA85BD}" destId="{A9FDF445-B884-C14D-A823-65FDFB1EEA77}" srcOrd="1" destOrd="0" presId="urn:microsoft.com/office/officeart/2016/7/layout/LinearBlockProcessNumbered"/>
    <dgm:cxn modelId="{010FFED6-88A8-B247-93E3-8C6B9A1EF705}" type="presParOf" srcId="{4EA46E5E-F962-D64F-8456-3E2A0ABA85BD}" destId="{AECD05AC-5133-FA44-B5CF-E560FC471E6A}" srcOrd="2" destOrd="0" presId="urn:microsoft.com/office/officeart/2016/7/layout/LinearBlockProcessNumbered"/>
    <dgm:cxn modelId="{B9653720-827A-674B-9F00-5EE1867B50C1}" type="presParOf" srcId="{A1B01282-6C5F-D54F-8A37-842DE7124E6F}" destId="{EE3106F5-AD4E-794D-94EB-E191C2790281}" srcOrd="1" destOrd="0" presId="urn:microsoft.com/office/officeart/2016/7/layout/LinearBlockProcessNumbered"/>
    <dgm:cxn modelId="{543C5D94-0A94-254A-B7B1-54DEB502F187}" type="presParOf" srcId="{A1B01282-6C5F-D54F-8A37-842DE7124E6F}" destId="{FF433C1D-EAE6-3949-8A51-14A6E989A2BD}" srcOrd="2" destOrd="0" presId="urn:microsoft.com/office/officeart/2016/7/layout/LinearBlockProcessNumbered"/>
    <dgm:cxn modelId="{BBADC868-5326-F046-92F3-D73F3F5BECB5}" type="presParOf" srcId="{FF433C1D-EAE6-3949-8A51-14A6E989A2BD}" destId="{6C921614-D9EF-0B4D-A20C-1314A317C0E5}" srcOrd="0" destOrd="0" presId="urn:microsoft.com/office/officeart/2016/7/layout/LinearBlockProcessNumbered"/>
    <dgm:cxn modelId="{F0F557A9-C5D6-534B-AA7A-26CF5BB8A4D2}" type="presParOf" srcId="{FF433C1D-EAE6-3949-8A51-14A6E989A2BD}" destId="{52D91C4D-1B4F-734E-839C-E1CBEDA71742}" srcOrd="1" destOrd="0" presId="urn:microsoft.com/office/officeart/2016/7/layout/LinearBlockProcessNumbered"/>
    <dgm:cxn modelId="{40C355AD-9BEF-6A4E-BD13-7DE7448F5C7F}" type="presParOf" srcId="{FF433C1D-EAE6-3949-8A51-14A6E989A2BD}" destId="{7418169E-1761-D549-BD3F-FFB4F75C253A}" srcOrd="2" destOrd="0" presId="urn:microsoft.com/office/officeart/2016/7/layout/LinearBlockProcessNumbered"/>
    <dgm:cxn modelId="{3CBFC1B5-B5C8-CC4B-806E-D5817701800C}" type="presParOf" srcId="{A1B01282-6C5F-D54F-8A37-842DE7124E6F}" destId="{6B03BD0A-7FA7-844A-BD99-B7BE3C934676}" srcOrd="3" destOrd="0" presId="urn:microsoft.com/office/officeart/2016/7/layout/LinearBlockProcessNumbered"/>
    <dgm:cxn modelId="{32CC1D29-759C-244B-8C61-4BCB2D8AA95E}" type="presParOf" srcId="{A1B01282-6C5F-D54F-8A37-842DE7124E6F}" destId="{5DA91468-416E-E445-AE9E-657BFF93E792}" srcOrd="4" destOrd="0" presId="urn:microsoft.com/office/officeart/2016/7/layout/LinearBlockProcessNumbered"/>
    <dgm:cxn modelId="{5A48C1DB-AFF6-014F-93E2-9D45A1292C45}" type="presParOf" srcId="{5DA91468-416E-E445-AE9E-657BFF93E792}" destId="{E22D8C13-0648-F742-957D-70008D06CCB1}" srcOrd="0" destOrd="0" presId="urn:microsoft.com/office/officeart/2016/7/layout/LinearBlockProcessNumbered"/>
    <dgm:cxn modelId="{772C5832-3CB8-7447-89D6-C223BC863C07}" type="presParOf" srcId="{5DA91468-416E-E445-AE9E-657BFF93E792}" destId="{5AE1F9E6-F08C-AC4A-BA81-B5081C764F4F}" srcOrd="1" destOrd="0" presId="urn:microsoft.com/office/officeart/2016/7/layout/LinearBlockProcessNumbered"/>
    <dgm:cxn modelId="{5B932F0D-8481-1540-96DA-1FB3B2384BF6}" type="presParOf" srcId="{5DA91468-416E-E445-AE9E-657BFF93E792}" destId="{63A99BE1-C70A-7C43-9B47-A2B65A257D49}" srcOrd="2" destOrd="0" presId="urn:microsoft.com/office/officeart/2016/7/layout/LinearBlockProcessNumbered"/>
    <dgm:cxn modelId="{FD90FA99-4AC7-4143-9114-D52597C861CA}" type="presParOf" srcId="{A1B01282-6C5F-D54F-8A37-842DE7124E6F}" destId="{9FE4CDAF-0A25-3442-AE95-C5BBEB11A660}" srcOrd="5" destOrd="0" presId="urn:microsoft.com/office/officeart/2016/7/layout/LinearBlockProcessNumbered"/>
    <dgm:cxn modelId="{D95BE175-0E94-4541-9273-34A66992DCFB}" type="presParOf" srcId="{A1B01282-6C5F-D54F-8A37-842DE7124E6F}" destId="{93B16F2B-BEC9-5B41-9731-15C7EF3FD899}" srcOrd="6" destOrd="0" presId="urn:microsoft.com/office/officeart/2016/7/layout/LinearBlockProcessNumbered"/>
    <dgm:cxn modelId="{B398A100-7572-FF44-BDC1-D1D661CB2165}" type="presParOf" srcId="{93B16F2B-BEC9-5B41-9731-15C7EF3FD899}" destId="{772BA08D-630F-714A-8F18-26A4FF91B768}" srcOrd="0" destOrd="0" presId="urn:microsoft.com/office/officeart/2016/7/layout/LinearBlockProcessNumbered"/>
    <dgm:cxn modelId="{3EA22B32-D686-2A44-9837-17BF28E8922F}" type="presParOf" srcId="{93B16F2B-BEC9-5B41-9731-15C7EF3FD899}" destId="{9091DA31-5D66-A244-9AD0-638DA3954598}" srcOrd="1" destOrd="0" presId="urn:microsoft.com/office/officeart/2016/7/layout/LinearBlockProcessNumbered"/>
    <dgm:cxn modelId="{AC0A6FD4-E4D5-0A40-A01A-F06186EEDEB9}" type="presParOf" srcId="{93B16F2B-BEC9-5B41-9731-15C7EF3FD899}" destId="{32618CCF-1E4B-8842-B584-70354685AF78}"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D231CA-E878-1546-8579-CE6A66A4F85C}">
      <dsp:nvSpPr>
        <dsp:cNvPr id="0" name=""/>
        <dsp:cNvSpPr/>
      </dsp:nvSpPr>
      <dsp:spPr>
        <a:xfrm>
          <a:off x="0" y="0"/>
          <a:ext cx="6342743" cy="782519"/>
        </a:xfrm>
        <a:prstGeom prst="roundRect">
          <a:avLst>
            <a:gd name="adj" fmla="val 1000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Decomposition</a:t>
          </a:r>
        </a:p>
      </dsp:txBody>
      <dsp:txXfrm>
        <a:off x="1346800" y="0"/>
        <a:ext cx="4995942" cy="782519"/>
      </dsp:txXfrm>
    </dsp:sp>
    <dsp:sp modelId="{2FFDD513-4151-714C-95FD-3AA5415C66EE}">
      <dsp:nvSpPr>
        <dsp:cNvPr id="0" name=""/>
        <dsp:cNvSpPr/>
      </dsp:nvSpPr>
      <dsp:spPr>
        <a:xfrm>
          <a:off x="78251" y="78251"/>
          <a:ext cx="1268548" cy="626015"/>
        </a:xfrm>
        <a:prstGeom prst="roundRect">
          <a:avLst>
            <a:gd name="adj" fmla="val 10000"/>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t="-16000" b="-16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96D31B2-AC79-0D4D-BCD4-BC21E527A462}">
      <dsp:nvSpPr>
        <dsp:cNvPr id="0" name=""/>
        <dsp:cNvSpPr/>
      </dsp:nvSpPr>
      <dsp:spPr>
        <a:xfrm>
          <a:off x="0" y="860771"/>
          <a:ext cx="6342743" cy="782519"/>
        </a:xfrm>
        <a:prstGeom prst="roundRect">
          <a:avLst>
            <a:gd name="adj" fmla="val 10000"/>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Pattern recognition</a:t>
          </a:r>
        </a:p>
      </dsp:txBody>
      <dsp:txXfrm>
        <a:off x="1346800" y="860771"/>
        <a:ext cx="4995942" cy="782519"/>
      </dsp:txXfrm>
    </dsp:sp>
    <dsp:sp modelId="{EB10BBF3-7E94-6649-BD15-0F031A1EC7D4}">
      <dsp:nvSpPr>
        <dsp:cNvPr id="0" name=""/>
        <dsp:cNvSpPr/>
      </dsp:nvSpPr>
      <dsp:spPr>
        <a:xfrm>
          <a:off x="78251" y="939023"/>
          <a:ext cx="1268548" cy="626015"/>
        </a:xfrm>
        <a:prstGeom prst="roundRect">
          <a:avLst>
            <a:gd name="adj" fmla="val 10000"/>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t="-31000" b="-3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030AFDB-D36A-AE47-BEF3-C13AEDAB04A4}">
      <dsp:nvSpPr>
        <dsp:cNvPr id="0" name=""/>
        <dsp:cNvSpPr/>
      </dsp:nvSpPr>
      <dsp:spPr>
        <a:xfrm>
          <a:off x="0" y="1721542"/>
          <a:ext cx="6342743" cy="782519"/>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Abstraction</a:t>
          </a:r>
        </a:p>
      </dsp:txBody>
      <dsp:txXfrm>
        <a:off x="1346800" y="1721542"/>
        <a:ext cx="4995942" cy="782519"/>
      </dsp:txXfrm>
    </dsp:sp>
    <dsp:sp modelId="{EB6C143A-9DD9-A644-B15F-DF234AEA04D9}">
      <dsp:nvSpPr>
        <dsp:cNvPr id="0" name=""/>
        <dsp:cNvSpPr/>
      </dsp:nvSpPr>
      <dsp:spPr>
        <a:xfrm>
          <a:off x="78251" y="1799794"/>
          <a:ext cx="1268548" cy="626015"/>
        </a:xfrm>
        <a:prstGeom prst="roundRect">
          <a:avLst>
            <a:gd name="adj" fmla="val 10000"/>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t="-10000" b="-10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BBD842C-6CC0-A844-928A-CA8119A20197}">
      <dsp:nvSpPr>
        <dsp:cNvPr id="0" name=""/>
        <dsp:cNvSpPr/>
      </dsp:nvSpPr>
      <dsp:spPr>
        <a:xfrm>
          <a:off x="0" y="2582314"/>
          <a:ext cx="6342743" cy="782519"/>
        </a:xfrm>
        <a:prstGeom prst="roundRect">
          <a:avLst>
            <a:gd name="adj" fmla="val 10000"/>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Algorithm design</a:t>
          </a:r>
        </a:p>
      </dsp:txBody>
      <dsp:txXfrm>
        <a:off x="1346800" y="2582314"/>
        <a:ext cx="4995942" cy="782519"/>
      </dsp:txXfrm>
    </dsp:sp>
    <dsp:sp modelId="{8165C826-065B-F948-9082-91EDC4D80DF3}">
      <dsp:nvSpPr>
        <dsp:cNvPr id="0" name=""/>
        <dsp:cNvSpPr/>
      </dsp:nvSpPr>
      <dsp:spPr>
        <a:xfrm>
          <a:off x="78251" y="2660566"/>
          <a:ext cx="1268548" cy="626015"/>
        </a:xfrm>
        <a:prstGeom prst="roundRect">
          <a:avLst>
            <a:gd name="adj" fmla="val 10000"/>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t="-10000" b="-10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BA020C0-56F1-2E4C-8B91-2B6D290D79E5}">
      <dsp:nvSpPr>
        <dsp:cNvPr id="0" name=""/>
        <dsp:cNvSpPr/>
      </dsp:nvSpPr>
      <dsp:spPr>
        <a:xfrm>
          <a:off x="0" y="3443085"/>
          <a:ext cx="6342743" cy="782519"/>
        </a:xfrm>
        <a:prstGeom prst="roundRect">
          <a:avLst>
            <a:gd name="adj" fmla="val 10000"/>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Evaluation &amp; debugging</a:t>
          </a:r>
        </a:p>
      </dsp:txBody>
      <dsp:txXfrm>
        <a:off x="1346800" y="3443085"/>
        <a:ext cx="4995942" cy="782519"/>
      </dsp:txXfrm>
    </dsp:sp>
    <dsp:sp modelId="{66DB940C-C73F-0147-9D9A-942490EE028C}">
      <dsp:nvSpPr>
        <dsp:cNvPr id="0" name=""/>
        <dsp:cNvSpPr/>
      </dsp:nvSpPr>
      <dsp:spPr>
        <a:xfrm>
          <a:off x="78251" y="3521337"/>
          <a:ext cx="1268548" cy="626015"/>
        </a:xfrm>
        <a:prstGeom prst="roundRect">
          <a:avLst>
            <a:gd name="adj" fmla="val 10000"/>
          </a:avLst>
        </a:prstGeom>
        <a:blipFill>
          <a:blip xmlns:r="http://schemas.openxmlformats.org/officeDocument/2006/relationships" r:embed="rId9">
            <a:extLst>
              <a:ext uri="{96DAC541-7B7A-43D3-8B79-37D633B846F1}">
                <asvg:svgBlip xmlns:asvg="http://schemas.microsoft.com/office/drawing/2016/SVG/main" r:embed="rId10"/>
              </a:ext>
            </a:extLst>
          </a:blip>
          <a:srcRect/>
          <a:stretch>
            <a:fillRect t="-51000" b="-5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9C4E89-C40F-0848-8C46-678473DEC50A}">
      <dsp:nvSpPr>
        <dsp:cNvPr id="0" name=""/>
        <dsp:cNvSpPr/>
      </dsp:nvSpPr>
      <dsp:spPr>
        <a:xfrm>
          <a:off x="189" y="635907"/>
          <a:ext cx="2292425" cy="2750910"/>
        </a:xfrm>
        <a:prstGeom prst="rect">
          <a:avLst/>
        </a:prstGeom>
        <a:solidFill>
          <a:schemeClr val="accent2">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Planning &amp; Preparation</a:t>
          </a:r>
          <a:endParaRPr lang="en-US" sz="2600" kern="1200" dirty="0"/>
        </a:p>
      </dsp:txBody>
      <dsp:txXfrm>
        <a:off x="189" y="1736271"/>
        <a:ext cx="2292425" cy="1650546"/>
      </dsp:txXfrm>
    </dsp:sp>
    <dsp:sp modelId="{A9FDF445-B884-C14D-A823-65FDFB1EEA77}">
      <dsp:nvSpPr>
        <dsp:cNvPr id="0" name=""/>
        <dsp:cNvSpPr/>
      </dsp:nvSpPr>
      <dsp:spPr>
        <a:xfrm>
          <a:off x="189"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dirty="0"/>
            <a:t>01</a:t>
          </a:r>
        </a:p>
      </dsp:txBody>
      <dsp:txXfrm>
        <a:off x="189" y="635907"/>
        <a:ext cx="2292425" cy="1100364"/>
      </dsp:txXfrm>
    </dsp:sp>
    <dsp:sp modelId="{6C921614-D9EF-0B4D-A20C-1314A317C0E5}">
      <dsp:nvSpPr>
        <dsp:cNvPr id="0" name=""/>
        <dsp:cNvSpPr/>
      </dsp:nvSpPr>
      <dsp:spPr>
        <a:xfrm>
          <a:off x="2476008" y="635907"/>
          <a:ext cx="2292425" cy="2750910"/>
        </a:xfrm>
        <a:prstGeom prst="rect">
          <a:avLst/>
        </a:prstGeom>
        <a:solidFill>
          <a:schemeClr val="accent3">
            <a:hueOff val="0"/>
            <a:satOff val="0"/>
            <a:lumOff val="0"/>
            <a:alphaOff val="0"/>
          </a:schemeClr>
        </a:solidFill>
        <a:ln w="1587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Mixing</a:t>
          </a:r>
          <a:endParaRPr lang="en-US" sz="2600" kern="1200" dirty="0"/>
        </a:p>
      </dsp:txBody>
      <dsp:txXfrm>
        <a:off x="2476008" y="1736271"/>
        <a:ext cx="2292425" cy="1650546"/>
      </dsp:txXfrm>
    </dsp:sp>
    <dsp:sp modelId="{52D91C4D-1B4F-734E-839C-E1CBEDA71742}">
      <dsp:nvSpPr>
        <dsp:cNvPr id="0" name=""/>
        <dsp:cNvSpPr/>
      </dsp:nvSpPr>
      <dsp:spPr>
        <a:xfrm>
          <a:off x="2476008"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a:t>02</a:t>
          </a:r>
          <a:endParaRPr lang="en-US" sz="6100" kern="1200" dirty="0"/>
        </a:p>
      </dsp:txBody>
      <dsp:txXfrm>
        <a:off x="2476008" y="635907"/>
        <a:ext cx="2292425" cy="1100364"/>
      </dsp:txXfrm>
    </dsp:sp>
    <dsp:sp modelId="{E22D8C13-0648-F742-957D-70008D06CCB1}">
      <dsp:nvSpPr>
        <dsp:cNvPr id="0" name=""/>
        <dsp:cNvSpPr/>
      </dsp:nvSpPr>
      <dsp:spPr>
        <a:xfrm>
          <a:off x="4951828" y="635907"/>
          <a:ext cx="2292425" cy="2750910"/>
        </a:xfrm>
        <a:prstGeom prst="rect">
          <a:avLst/>
        </a:prstGeom>
        <a:solidFill>
          <a:schemeClr val="accent4">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Baking</a:t>
          </a:r>
          <a:endParaRPr lang="en-US" sz="2600" kern="1200" dirty="0"/>
        </a:p>
      </dsp:txBody>
      <dsp:txXfrm>
        <a:off x="4951828" y="1736271"/>
        <a:ext cx="2292425" cy="1650546"/>
      </dsp:txXfrm>
    </dsp:sp>
    <dsp:sp modelId="{5AE1F9E6-F08C-AC4A-BA81-B5081C764F4F}">
      <dsp:nvSpPr>
        <dsp:cNvPr id="0" name=""/>
        <dsp:cNvSpPr/>
      </dsp:nvSpPr>
      <dsp:spPr>
        <a:xfrm>
          <a:off x="4951828"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a:t>03</a:t>
          </a:r>
          <a:endParaRPr lang="en-US" sz="6100" kern="1200" dirty="0"/>
        </a:p>
      </dsp:txBody>
      <dsp:txXfrm>
        <a:off x="4951828" y="635907"/>
        <a:ext cx="2292425" cy="1100364"/>
      </dsp:txXfrm>
    </dsp:sp>
    <dsp:sp modelId="{772BA08D-630F-714A-8F18-26A4FF91B768}">
      <dsp:nvSpPr>
        <dsp:cNvPr id="0" name=""/>
        <dsp:cNvSpPr/>
      </dsp:nvSpPr>
      <dsp:spPr>
        <a:xfrm>
          <a:off x="7427647" y="635907"/>
          <a:ext cx="2292425" cy="2750910"/>
        </a:xfrm>
        <a:prstGeom prst="rect">
          <a:avLst/>
        </a:prstGeom>
        <a:solidFill>
          <a:schemeClr val="accent5">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Finishing</a:t>
          </a:r>
          <a:br>
            <a:rPr lang="en-US" sz="2600" kern="1200" baseline="0" dirty="0"/>
          </a:br>
          <a:endParaRPr lang="en-US" sz="2600" kern="1200" dirty="0"/>
        </a:p>
      </dsp:txBody>
      <dsp:txXfrm>
        <a:off x="7427647" y="1736271"/>
        <a:ext cx="2292425" cy="1650546"/>
      </dsp:txXfrm>
    </dsp:sp>
    <dsp:sp modelId="{9091DA31-5D66-A244-9AD0-638DA3954598}">
      <dsp:nvSpPr>
        <dsp:cNvPr id="0" name=""/>
        <dsp:cNvSpPr/>
      </dsp:nvSpPr>
      <dsp:spPr>
        <a:xfrm>
          <a:off x="7427647"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a:t>04</a:t>
          </a:r>
          <a:endParaRPr lang="en-US" sz="6100" kern="1200" dirty="0"/>
        </a:p>
      </dsp:txBody>
      <dsp:txXfrm>
        <a:off x="7427647" y="635907"/>
        <a:ext cx="2292425" cy="1100364"/>
      </dsp:txXfrm>
    </dsp:sp>
  </dsp:spTree>
</dsp:drawing>
</file>

<file path=ppt/diagrams/layout1.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D3653-9E79-5C4D-8011-4255A78CAC35}" type="datetimeFigureOut">
              <a:rPr lang="en-US" smtClean="0"/>
              <a:t>9/23/25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564E20-9EA2-8947-B25E-DCABC392F652}" type="slidenum">
              <a:rPr lang="en-US" smtClean="0"/>
              <a:t>‹#›</a:t>
            </a:fld>
            <a:endParaRPr lang="en-US"/>
          </a:p>
        </p:txBody>
      </p:sp>
    </p:spTree>
    <p:extLst>
      <p:ext uri="{BB962C8B-B14F-4D97-AF65-F5344CB8AC3E}">
        <p14:creationId xmlns:p14="http://schemas.microsoft.com/office/powerpoint/2010/main" val="3456873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1</a:t>
            </a:fld>
            <a:endParaRPr lang="en-US"/>
          </a:p>
        </p:txBody>
      </p:sp>
    </p:spTree>
    <p:extLst>
      <p:ext uri="{BB962C8B-B14F-4D97-AF65-F5344CB8AC3E}">
        <p14:creationId xmlns:p14="http://schemas.microsoft.com/office/powerpoint/2010/main" val="10306850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28A3E-4113-4E57-478B-429CEEA29B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29F66B-9449-0EC9-BD38-BF9E770F90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948BE-0EC7-4D5B-F298-63699429CE2B}"/>
              </a:ext>
            </a:extLst>
          </p:cNvPr>
          <p:cNvSpPr>
            <a:spLocks noGrp="1"/>
          </p:cNvSpPr>
          <p:nvPr>
            <p:ph type="body" idx="1"/>
          </p:nvPr>
        </p:nvSpPr>
        <p:spPr/>
        <p:txBody>
          <a:bodyPr/>
          <a:lstStyle/>
          <a:p>
            <a:r>
              <a:rPr lang="en-US" dirty="0"/>
              <a:t>.</a:t>
            </a:r>
          </a:p>
          <a:p>
            <a:endParaRPr lang="en-US" dirty="0"/>
          </a:p>
        </p:txBody>
      </p:sp>
      <p:sp>
        <p:nvSpPr>
          <p:cNvPr id="4" name="Slide Number Placeholder 3">
            <a:extLst>
              <a:ext uri="{FF2B5EF4-FFF2-40B4-BE49-F238E27FC236}">
                <a16:creationId xmlns:a16="http://schemas.microsoft.com/office/drawing/2014/main" id="{6F253A33-F7C6-F06F-DB5B-02F6EB74DA81}"/>
              </a:ext>
            </a:extLst>
          </p:cNvPr>
          <p:cNvSpPr>
            <a:spLocks noGrp="1"/>
          </p:cNvSpPr>
          <p:nvPr>
            <p:ph type="sldNum" sz="quarter" idx="10"/>
          </p:nvPr>
        </p:nvSpPr>
        <p:spPr/>
        <p:txBody>
          <a:bodyPr/>
          <a:lstStyle/>
          <a:p>
            <a:fld id="{0A193586-FEB5-7C43-8F44-7EFAE4EECA28}" type="slidenum">
              <a:rPr lang="en-US" smtClean="0"/>
              <a:t>2</a:t>
            </a:fld>
            <a:endParaRPr lang="en-US"/>
          </a:p>
        </p:txBody>
      </p:sp>
    </p:spTree>
    <p:extLst>
      <p:ext uri="{BB962C8B-B14F-4D97-AF65-F5344CB8AC3E}">
        <p14:creationId xmlns:p14="http://schemas.microsoft.com/office/powerpoint/2010/main" val="10099858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latter two you don’t need to know how to code, you need to understand computational thinking so you are more effective at delivering your message or ideas to those who will translate it to a programming language and determine how to get it done. Understanding computational thinking will likely also improve your attempts to learn a programming language.</a:t>
            </a:r>
          </a:p>
        </p:txBody>
      </p:sp>
      <p:sp>
        <p:nvSpPr>
          <p:cNvPr id="4" name="Slide Number Placeholder 3"/>
          <p:cNvSpPr>
            <a:spLocks noGrp="1"/>
          </p:cNvSpPr>
          <p:nvPr>
            <p:ph type="sldNum" sz="quarter" idx="5"/>
          </p:nvPr>
        </p:nvSpPr>
        <p:spPr/>
        <p:txBody>
          <a:bodyPr/>
          <a:lstStyle/>
          <a:p>
            <a:fld id="{15564E20-9EA2-8947-B25E-DCABC392F652}" type="slidenum">
              <a:rPr lang="en-US" smtClean="0"/>
              <a:t>3</a:t>
            </a:fld>
            <a:endParaRPr lang="en-US"/>
          </a:p>
        </p:txBody>
      </p:sp>
    </p:spTree>
    <p:extLst>
      <p:ext uri="{BB962C8B-B14F-4D97-AF65-F5344CB8AC3E}">
        <p14:creationId xmlns:p14="http://schemas.microsoft.com/office/powerpoint/2010/main" val="9377067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addition to these skills must have right attitude and behaviors</a:t>
            </a:r>
          </a:p>
          <a:p>
            <a:endParaRPr lang="en-US" dirty="0"/>
          </a:p>
          <a:p>
            <a:r>
              <a:rPr lang="en-US" dirty="0"/>
              <a:t>Attitudes</a:t>
            </a:r>
          </a:p>
          <a:p>
            <a:r>
              <a:rPr lang="en-US" b="1" dirty="0"/>
              <a:t>Confident:</a:t>
            </a:r>
            <a:r>
              <a:rPr lang="en-US" dirty="0"/>
              <a:t> believing in one's own ability to solve problems</a:t>
            </a:r>
          </a:p>
          <a:p>
            <a:r>
              <a:rPr lang="en-US" b="1" dirty="0"/>
              <a:t>Communicative:</a:t>
            </a:r>
            <a:r>
              <a:rPr lang="en-US" dirty="0"/>
              <a:t> willing and able to communicate effectively with others.</a:t>
            </a:r>
          </a:p>
          <a:p>
            <a:r>
              <a:rPr lang="en-US" b="1" dirty="0"/>
              <a:t>Flexible:</a:t>
            </a:r>
            <a:r>
              <a:rPr lang="en-US" dirty="0"/>
              <a:t> able to deal with change and open-ended problems</a:t>
            </a:r>
          </a:p>
          <a:p>
            <a:r>
              <a:rPr lang="en-US" dirty="0"/>
              <a:t>Approaches</a:t>
            </a:r>
          </a:p>
          <a:p>
            <a:r>
              <a:rPr lang="en-US" b="1" dirty="0"/>
              <a:t>Tinkering:</a:t>
            </a:r>
            <a:r>
              <a:rPr lang="en-US" dirty="0"/>
              <a:t> experimenting and playing</a:t>
            </a:r>
          </a:p>
          <a:p>
            <a:r>
              <a:rPr lang="en-US" b="1" dirty="0"/>
              <a:t>Creating:</a:t>
            </a:r>
            <a:r>
              <a:rPr lang="en-US" dirty="0"/>
              <a:t> designing and making</a:t>
            </a:r>
          </a:p>
          <a:p>
            <a:r>
              <a:rPr lang="en-US" b="1" dirty="0"/>
              <a:t>Debugging:</a:t>
            </a:r>
            <a:r>
              <a:rPr lang="en-US" dirty="0"/>
              <a:t> finding and fixing errors</a:t>
            </a:r>
          </a:p>
          <a:p>
            <a:r>
              <a:rPr lang="en-US" b="1" dirty="0"/>
              <a:t>Persevering:</a:t>
            </a:r>
            <a:r>
              <a:rPr lang="en-US" dirty="0"/>
              <a:t> keeping going</a:t>
            </a:r>
          </a:p>
          <a:p>
            <a:r>
              <a:rPr lang="en-US" b="1" dirty="0"/>
              <a:t>Collaborating:</a:t>
            </a:r>
            <a:r>
              <a:rPr lang="en-US" dirty="0"/>
              <a:t> working together.</a:t>
            </a:r>
          </a:p>
        </p:txBody>
      </p:sp>
      <p:sp>
        <p:nvSpPr>
          <p:cNvPr id="4" name="Slide Number Placeholder 3"/>
          <p:cNvSpPr>
            <a:spLocks noGrp="1"/>
          </p:cNvSpPr>
          <p:nvPr>
            <p:ph type="sldNum" sz="quarter" idx="5"/>
          </p:nvPr>
        </p:nvSpPr>
        <p:spPr/>
        <p:txBody>
          <a:bodyPr/>
          <a:lstStyle/>
          <a:p>
            <a:fld id="{15564E20-9EA2-8947-B25E-DCABC392F652}" type="slidenum">
              <a:rPr lang="en-US" smtClean="0"/>
              <a:t>4</a:t>
            </a:fld>
            <a:endParaRPr lang="en-US"/>
          </a:p>
        </p:txBody>
      </p:sp>
    </p:spTree>
    <p:extLst>
      <p:ext uri="{BB962C8B-B14F-4D97-AF65-F5344CB8AC3E}">
        <p14:creationId xmlns:p14="http://schemas.microsoft.com/office/powerpoint/2010/main" val="9799799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is the process of breaking down a large, complex problem into smaller, more manageable parts. It is important because it makes the problem less overwhelming and easier to understand. Each smaller problem can be addressed individually, which is much more feasible than trying to solve the complex whole all at once.</a:t>
            </a:r>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5</a:t>
            </a:fld>
            <a:endParaRPr lang="en-US"/>
          </a:p>
        </p:txBody>
      </p:sp>
    </p:spTree>
    <p:extLst>
      <p:ext uri="{BB962C8B-B14F-4D97-AF65-F5344CB8AC3E}">
        <p14:creationId xmlns:p14="http://schemas.microsoft.com/office/powerpoint/2010/main" val="33747015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Prepare dry ingredients: Measure and combine the flour, sugar, baking powder, and salt in one bowl. </a:t>
            </a:r>
          </a:p>
          <a:p>
            <a:r>
              <a:rPr lang="en-US" dirty="0"/>
              <a:t>Prepare wet ingredients: In another bowl, mix the eggs, milk, and oil. </a:t>
            </a:r>
          </a:p>
          <a:p>
            <a:r>
              <a:rPr lang="en-US" dirty="0"/>
              <a:t>Combine wet and dry: Gradually mix the wet ingredients into the dry ingredients, following the recipe's instructions for order and speed to prevent overmixing. </a:t>
            </a:r>
          </a:p>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8</a:t>
            </a:fld>
            <a:endParaRPr lang="en-US"/>
          </a:p>
        </p:txBody>
      </p:sp>
    </p:spTree>
    <p:extLst>
      <p:ext uri="{BB962C8B-B14F-4D97-AF65-F5344CB8AC3E}">
        <p14:creationId xmlns:p14="http://schemas.microsoft.com/office/powerpoint/2010/main" val="12879391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Define inputs (order/collect/receive/result times, </a:t>
            </a:r>
            <a:r>
              <a:rPr lang="en-US" i="1" dirty="0" err="1"/>
              <a:t>assay_code</a:t>
            </a:r>
            <a:r>
              <a:rPr lang="en-US" i="1" dirty="0"/>
              <a:t>, </a:t>
            </a:r>
            <a:r>
              <a:rPr lang="en-US" i="1" dirty="0" err="1"/>
              <a:t>instrument_id</a:t>
            </a:r>
            <a:r>
              <a:rPr lang="en-US" i="1" dirty="0"/>
              <a:t>, priority, location), transforms (compute TAT, standardize time, missingness policy), outputs (flags, summaries, alerts), and constraints. Getting this list right prevents scope creep.</a:t>
            </a:r>
          </a:p>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14</a:t>
            </a:fld>
            <a:endParaRPr lang="en-US"/>
          </a:p>
        </p:txBody>
      </p:sp>
    </p:spTree>
    <p:extLst>
      <p:ext uri="{BB962C8B-B14F-4D97-AF65-F5344CB8AC3E}">
        <p14:creationId xmlns:p14="http://schemas.microsoft.com/office/powerpoint/2010/main" val="13538852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After decomposing problems, the problem solver will look for patterns among the parts. Recognizing patterns helps in identifying similarities or trends that can inform the solution. This is important because it can lead to solutions that solve not just one specific instance of a problem, but a whole class of problems.</a:t>
            </a:r>
          </a:p>
          <a:p>
            <a:endParaRPr lang="en-US" sz="1200" b="0" i="0" kern="1200" dirty="0">
              <a:solidFill>
                <a:schemeClr val="tx1"/>
              </a:solidFill>
              <a:effectLst/>
              <a:latin typeface="+mn-lt"/>
              <a:ea typeface="+mn-ea"/>
              <a:cs typeface="+mn-cs"/>
            </a:endParaRPr>
          </a:p>
          <a:p>
            <a:r>
              <a:rPr lang="en-US" dirty="0"/>
              <a:t>Look for motifs: weekday/weekend shifts, staffing transitions, maintenance windows. Feature ideas: rolling median, IQR, 95th percentile, slope, run length. Generalize by parameterizing thresholds—e.g., different SLAs for STAT vs routine. Beware Simpson’s paradox—always stratify.</a:t>
            </a:r>
          </a:p>
        </p:txBody>
      </p:sp>
      <p:sp>
        <p:nvSpPr>
          <p:cNvPr id="4" name="Slide Number Placeholder 3"/>
          <p:cNvSpPr>
            <a:spLocks noGrp="1"/>
          </p:cNvSpPr>
          <p:nvPr>
            <p:ph type="sldNum" sz="quarter" idx="5"/>
          </p:nvPr>
        </p:nvSpPr>
        <p:spPr/>
        <p:txBody>
          <a:bodyPr/>
          <a:lstStyle/>
          <a:p>
            <a:fld id="{15564E20-9EA2-8947-B25E-DCABC392F652}" type="slidenum">
              <a:rPr lang="en-US" smtClean="0"/>
              <a:t>16</a:t>
            </a:fld>
            <a:endParaRPr lang="en-US"/>
          </a:p>
        </p:txBody>
      </p:sp>
    </p:spTree>
    <p:extLst>
      <p:ext uri="{BB962C8B-B14F-4D97-AF65-F5344CB8AC3E}">
        <p14:creationId xmlns:p14="http://schemas.microsoft.com/office/powerpoint/2010/main" val="23456025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18</a:t>
            </a:fld>
            <a:endParaRPr lang="en-US"/>
          </a:p>
        </p:txBody>
      </p:sp>
    </p:spTree>
    <p:extLst>
      <p:ext uri="{BB962C8B-B14F-4D97-AF65-F5344CB8AC3E}">
        <p14:creationId xmlns:p14="http://schemas.microsoft.com/office/powerpoint/2010/main" val="12714384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you design a script or dashboard element that calculates duration between two timestamps, you can apply it across </a:t>
            </a:r>
            <a:r>
              <a:rPr lang="en-US" i="1" dirty="0"/>
              <a:t>all</a:t>
            </a:r>
            <a:r>
              <a:rPr lang="en-US" dirty="0"/>
              <a:t> time-based KPIs.</a:t>
            </a:r>
          </a:p>
        </p:txBody>
      </p:sp>
      <p:sp>
        <p:nvSpPr>
          <p:cNvPr id="4" name="Slide Number Placeholder 3"/>
          <p:cNvSpPr>
            <a:spLocks noGrp="1"/>
          </p:cNvSpPr>
          <p:nvPr>
            <p:ph type="sldNum" sz="quarter" idx="5"/>
          </p:nvPr>
        </p:nvSpPr>
        <p:spPr/>
        <p:txBody>
          <a:bodyPr/>
          <a:lstStyle/>
          <a:p>
            <a:fld id="{15564E20-9EA2-8947-B25E-DCABC392F652}" type="slidenum">
              <a:rPr lang="en-US" smtClean="0"/>
              <a:t>22</a:t>
            </a:fld>
            <a:endParaRPr lang="en-US"/>
          </a:p>
        </p:txBody>
      </p:sp>
    </p:spTree>
    <p:extLst>
      <p:ext uri="{BB962C8B-B14F-4D97-AF65-F5344CB8AC3E}">
        <p14:creationId xmlns:p14="http://schemas.microsoft.com/office/powerpoint/2010/main" val="19757765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involves filtering out the unnecessary details and focusing on what’s important. Abstraction is important to the computational thinking process because it allows problem solvers to disregard the irrelevant and complex details that can clutter the thought process, thus simplifying the problem-solving steps. It helps define the problem without getting sidetracked by details that do not affect the outcome.</a:t>
            </a:r>
          </a:p>
          <a:p>
            <a:endParaRPr lang="en-US" sz="1200" b="0" i="0" kern="1200" dirty="0">
              <a:solidFill>
                <a:schemeClr val="tx1"/>
              </a:solidFill>
              <a:effectLst/>
              <a:latin typeface="+mn-lt"/>
              <a:ea typeface="+mn-ea"/>
              <a:cs typeface="+mn-cs"/>
            </a:endParaRPr>
          </a:p>
          <a:p>
            <a:r>
              <a:rPr lang="en-US" dirty="0"/>
              <a:t>Keep the dataset minimal but sufficient. Define entities (specimen, order, instrument-day), keys (</a:t>
            </a:r>
            <a:r>
              <a:rPr lang="en-US" dirty="0" err="1"/>
              <a:t>specimen_id</a:t>
            </a:r>
            <a:r>
              <a:rPr lang="en-US" dirty="0"/>
              <a:t>, </a:t>
            </a:r>
            <a:r>
              <a:rPr lang="en-US" dirty="0" err="1"/>
              <a:t>instrument_id</a:t>
            </a:r>
            <a:r>
              <a:rPr lang="en-US" dirty="0"/>
              <a:t>, location, day), and policies (units, time zones, missingness, handling canceled orders). Add fields only if they change decisions.</a:t>
            </a:r>
          </a:p>
          <a:p>
            <a:r>
              <a:rPr lang="en-US" dirty="0"/>
              <a:t>This schema is enough to compute TAT, stratify by context, and trend: </a:t>
            </a:r>
            <a:r>
              <a:rPr lang="en-US" dirty="0" err="1"/>
              <a:t>specimen_id</a:t>
            </a:r>
            <a:r>
              <a:rPr lang="en-US" dirty="0"/>
              <a:t>, order/collect/receive/</a:t>
            </a:r>
            <a:r>
              <a:rPr lang="en-US" dirty="0" err="1"/>
              <a:t>result_time</a:t>
            </a:r>
            <a:r>
              <a:rPr lang="en-US" dirty="0"/>
              <a:t>, </a:t>
            </a:r>
            <a:r>
              <a:rPr lang="en-US" dirty="0" err="1"/>
              <a:t>assay_code</a:t>
            </a:r>
            <a:r>
              <a:rPr lang="en-US" dirty="0"/>
              <a:t>, </a:t>
            </a:r>
            <a:r>
              <a:rPr lang="en-US" dirty="0" err="1"/>
              <a:t>instrument_id</a:t>
            </a:r>
            <a:r>
              <a:rPr lang="en-US" dirty="0"/>
              <a:t>, priority, </a:t>
            </a:r>
            <a:r>
              <a:rPr lang="en-US" dirty="0" err="1"/>
              <a:t>patient_location</a:t>
            </a:r>
            <a:r>
              <a:rPr lang="en-US" dirty="0"/>
              <a:t>, and derived </a:t>
            </a:r>
            <a:r>
              <a:rPr lang="en-US" dirty="0" err="1"/>
              <a:t>tat_minutes</a:t>
            </a:r>
            <a:r>
              <a:rPr lang="en-US" dirty="0"/>
              <a:t>. Extend later with </a:t>
            </a:r>
            <a:r>
              <a:rPr lang="en-US" dirty="0" err="1"/>
              <a:t>batch_id</a:t>
            </a:r>
            <a:r>
              <a:rPr lang="en-US" dirty="0"/>
              <a:t> or maintenance flags as needed.</a:t>
            </a:r>
          </a:p>
        </p:txBody>
      </p:sp>
      <p:sp>
        <p:nvSpPr>
          <p:cNvPr id="4" name="Slide Number Placeholder 3"/>
          <p:cNvSpPr>
            <a:spLocks noGrp="1"/>
          </p:cNvSpPr>
          <p:nvPr>
            <p:ph type="sldNum" sz="quarter" idx="5"/>
          </p:nvPr>
        </p:nvSpPr>
        <p:spPr/>
        <p:txBody>
          <a:bodyPr/>
          <a:lstStyle/>
          <a:p>
            <a:fld id="{15564E20-9EA2-8947-B25E-DCABC392F652}" type="slidenum">
              <a:rPr lang="en-US" smtClean="0"/>
              <a:t>23</a:t>
            </a:fld>
            <a:endParaRPr lang="en-US"/>
          </a:p>
        </p:txBody>
      </p:sp>
    </p:spTree>
    <p:extLst>
      <p:ext uri="{BB962C8B-B14F-4D97-AF65-F5344CB8AC3E}">
        <p14:creationId xmlns:p14="http://schemas.microsoft.com/office/powerpoint/2010/main" val="17334971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you’re presenting TAT performance to your hospital’s Quality Committee. You have only one chart. Which essential data elements should be included so the committee can immediately see if you are meeting goals, spot concerning trends, and take action? What details can you safely leave out?</a:t>
            </a:r>
          </a:p>
        </p:txBody>
      </p:sp>
      <p:sp>
        <p:nvSpPr>
          <p:cNvPr id="4" name="Slide Number Placeholder 3"/>
          <p:cNvSpPr>
            <a:spLocks noGrp="1"/>
          </p:cNvSpPr>
          <p:nvPr>
            <p:ph type="sldNum" sz="quarter" idx="5"/>
          </p:nvPr>
        </p:nvSpPr>
        <p:spPr/>
        <p:txBody>
          <a:bodyPr/>
          <a:lstStyle/>
          <a:p>
            <a:fld id="{15564E20-9EA2-8947-B25E-DCABC392F652}" type="slidenum">
              <a:rPr lang="en-US" smtClean="0"/>
              <a:t>27</a:t>
            </a:fld>
            <a:endParaRPr lang="en-US"/>
          </a:p>
        </p:txBody>
      </p:sp>
    </p:spTree>
    <p:extLst>
      <p:ext uri="{BB962C8B-B14F-4D97-AF65-F5344CB8AC3E}">
        <p14:creationId xmlns:p14="http://schemas.microsoft.com/office/powerpoint/2010/main" val="31227533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C63DB-E181-7412-E355-0FB57B98F8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D61321-9E24-244D-04AE-BC0FA3A566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68A462-7913-F73A-FCC5-448BDB72E4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6EE916-2E87-F2EB-1E6D-2887C7261414}"/>
              </a:ext>
            </a:extLst>
          </p:cNvPr>
          <p:cNvSpPr>
            <a:spLocks noGrp="1"/>
          </p:cNvSpPr>
          <p:nvPr>
            <p:ph type="sldNum" sz="quarter" idx="5"/>
          </p:nvPr>
        </p:nvSpPr>
        <p:spPr/>
        <p:txBody>
          <a:bodyPr/>
          <a:lstStyle/>
          <a:p>
            <a:fld id="{15564E20-9EA2-8947-B25E-DCABC392F652}" type="slidenum">
              <a:rPr lang="en-US" smtClean="0"/>
              <a:t>29</a:t>
            </a:fld>
            <a:endParaRPr lang="en-US"/>
          </a:p>
        </p:txBody>
      </p:sp>
    </p:spTree>
    <p:extLst>
      <p:ext uri="{BB962C8B-B14F-4D97-AF65-F5344CB8AC3E}">
        <p14:creationId xmlns:p14="http://schemas.microsoft.com/office/powerpoint/2010/main" val="15213651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final component of computational thinking is about creating a clear, ordered series of instructions to solve a problem. This is important because having a well-defined set of steps ensures that the problem can be solved systematically and that the solution is repeatable. It also allows for the solution to be communicated to others easily—or even be automated.</a:t>
            </a:r>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30</a:t>
            </a:fld>
            <a:endParaRPr lang="en-US"/>
          </a:p>
        </p:txBody>
      </p:sp>
    </p:spTree>
    <p:extLst>
      <p:ext uri="{BB962C8B-B14F-4D97-AF65-F5344CB8AC3E}">
        <p14:creationId xmlns:p14="http://schemas.microsoft.com/office/powerpoint/2010/main" val="20947472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Decide pre-checks (columns present, non-negative durations, monotonic times). Compute TAT and robust baselines by stratum (assay, priority, location). Flag outliers (e.g., median + 3×IQR or SLA threshold). Aggregate to daily rates and route alerts. Log lineage for reproducibility.</a:t>
            </a:r>
          </a:p>
          <a:p>
            <a:r>
              <a:rPr lang="en-US" dirty="0"/>
              <a:t>How CT guides node-based workflows: make each node a decomposed step; label inputs/outputs; version &amp; export.</a:t>
            </a:r>
          </a:p>
          <a:p>
            <a:r>
              <a:rPr lang="en-US" dirty="0"/>
              <a:t>Reproducibility: parameterize thresholds, save configs, log data versions.</a:t>
            </a:r>
          </a:p>
          <a:p>
            <a:r>
              <a:rPr lang="en-US" dirty="0"/>
              <a:t>Validation: unit-like checks (expected rows/columns, % missing), golden test cases.</a:t>
            </a:r>
          </a:p>
          <a:p>
            <a:r>
              <a:rPr lang="en-US" dirty="0"/>
              <a:t>Governance: avoid black boxes; document assumptions; capture lineage.</a:t>
            </a:r>
          </a:p>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34</a:t>
            </a:fld>
            <a:endParaRPr lang="en-US"/>
          </a:p>
        </p:txBody>
      </p:sp>
    </p:spTree>
    <p:extLst>
      <p:ext uri="{BB962C8B-B14F-4D97-AF65-F5344CB8AC3E}">
        <p14:creationId xmlns:p14="http://schemas.microsoft.com/office/powerpoint/2010/main" val="26216897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5EBF7-1A6F-5CEC-FCCB-7BB9CD1CDB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2BEB82-8325-2EA9-1603-D016AD8C3F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7FD47D-6D6D-7F23-9C39-FE0C8D599D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8A4C5E-C4FD-82FD-2D04-2D0FADA57452}"/>
              </a:ext>
            </a:extLst>
          </p:cNvPr>
          <p:cNvSpPr>
            <a:spLocks noGrp="1"/>
          </p:cNvSpPr>
          <p:nvPr>
            <p:ph type="sldNum" sz="quarter" idx="5"/>
          </p:nvPr>
        </p:nvSpPr>
        <p:spPr/>
        <p:txBody>
          <a:bodyPr/>
          <a:lstStyle/>
          <a:p>
            <a:fld id="{15564E20-9EA2-8947-B25E-DCABC392F652}" type="slidenum">
              <a:rPr lang="en-US" smtClean="0"/>
              <a:t>36</a:t>
            </a:fld>
            <a:endParaRPr lang="en-US"/>
          </a:p>
        </p:txBody>
      </p:sp>
    </p:spTree>
    <p:extLst>
      <p:ext uri="{BB962C8B-B14F-4D97-AF65-F5344CB8AC3E}">
        <p14:creationId xmlns:p14="http://schemas.microsoft.com/office/powerpoint/2010/main" val="28003066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dirty="0"/>
              <a:t>is easily understood – is it fully </a:t>
            </a:r>
            <a:r>
              <a:rPr lang="en-US" i="1" dirty="0"/>
              <a:t>decomposed</a:t>
            </a:r>
            <a:r>
              <a:rPr lang="en-US" dirty="0"/>
              <a:t>?</a:t>
            </a:r>
          </a:p>
          <a:p>
            <a:pPr fontAlgn="base"/>
            <a:r>
              <a:rPr lang="en-US" dirty="0"/>
              <a:t>is complete – does it solve every aspect of the problem?</a:t>
            </a:r>
          </a:p>
          <a:p>
            <a:pPr fontAlgn="base"/>
            <a:r>
              <a:rPr lang="en-US" dirty="0"/>
              <a:t>is efficient – does it solve the problem, making best use of the available resources (</a:t>
            </a:r>
            <a:r>
              <a:rPr lang="en-US" dirty="0" err="1"/>
              <a:t>eg</a:t>
            </a:r>
            <a:r>
              <a:rPr lang="en-US" dirty="0"/>
              <a:t> as quickly as possible/using least space)?</a:t>
            </a:r>
          </a:p>
          <a:p>
            <a:pPr fontAlgn="base"/>
            <a:r>
              <a:rPr lang="en-US" dirty="0"/>
              <a:t>meets any </a:t>
            </a:r>
            <a:r>
              <a:rPr lang="en-US" i="1" dirty="0"/>
              <a:t>design criteria</a:t>
            </a:r>
            <a:r>
              <a:rPr lang="en-US" dirty="0"/>
              <a:t> we have been given</a:t>
            </a:r>
          </a:p>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37</a:t>
            </a:fld>
            <a:endParaRPr lang="en-US"/>
          </a:p>
        </p:txBody>
      </p:sp>
    </p:spTree>
    <p:extLst>
      <p:ext uri="{BB962C8B-B14F-4D97-AF65-F5344CB8AC3E}">
        <p14:creationId xmlns:p14="http://schemas.microsoft.com/office/powerpoint/2010/main" val="10393981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F80C3-3FCD-9508-4534-9C4820AECC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21D995-8BC0-9076-BDE5-D881F4453B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E059F0-C3D6-2C34-4FC5-21C19486DD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09537F-6263-C87E-EFBC-9ACE84E19169}"/>
              </a:ext>
            </a:extLst>
          </p:cNvPr>
          <p:cNvSpPr>
            <a:spLocks noGrp="1"/>
          </p:cNvSpPr>
          <p:nvPr>
            <p:ph type="sldNum" sz="quarter" idx="5"/>
          </p:nvPr>
        </p:nvSpPr>
        <p:spPr/>
        <p:txBody>
          <a:bodyPr/>
          <a:lstStyle/>
          <a:p>
            <a:fld id="{15564E20-9EA2-8947-B25E-DCABC392F652}" type="slidenum">
              <a:rPr lang="en-US" smtClean="0"/>
              <a:t>38</a:t>
            </a:fld>
            <a:endParaRPr lang="en-US"/>
          </a:p>
        </p:txBody>
      </p:sp>
    </p:spTree>
    <p:extLst>
      <p:ext uri="{BB962C8B-B14F-4D97-AF65-F5344CB8AC3E}">
        <p14:creationId xmlns:p14="http://schemas.microsoft.com/office/powerpoint/2010/main" val="38711211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Commands and Sequences is to give students an appreciation of the level of detail and rigor that programming requires. In everyday life, we do things without thinking about all the steps we need to take to accomplish them, but it is not easy to make the steps of some simple operations clear to other people or objects (such as computers).</a:t>
            </a:r>
          </a:p>
          <a:p>
            <a:endParaRPr lang="en-US" dirty="0"/>
          </a:p>
          <a:p>
            <a:r>
              <a:rPr lang="en-US" dirty="0"/>
              <a:t>The Thinking Efficiently - Functions and For Loops topic is designed to give students an understanding how functions and for loops are used in everyday situations and how to use them to program problems. The Thinking Repeatedly - while loops and algorithms topic is for students to understand the difference between while loops and for loops and how algorithms are used in everyday situations. The final challenge competition is to integrate program fragments and present them in the form of a work to achieve the purpose of learning to use.</a:t>
            </a:r>
          </a:p>
          <a:p>
            <a:endParaRPr lang="en-US" dirty="0"/>
          </a:p>
          <a:p>
            <a:r>
              <a:rPr lang="en-US" sz="1200" kern="1200" dirty="0">
                <a:solidFill>
                  <a:schemeClr val="tx1"/>
                </a:solidFill>
                <a:effectLst/>
                <a:latin typeface="+mn-lt"/>
                <a:ea typeface="+mn-ea"/>
                <a:cs typeface="+mn-cs"/>
              </a:rPr>
              <a:t>following seven computational concepts, ordered in increasing</a:t>
            </a:r>
          </a:p>
          <a:p>
            <a:r>
              <a:rPr lang="en-US" sz="1200" kern="1200" dirty="0">
                <a:solidFill>
                  <a:schemeClr val="tx1"/>
                </a:solidFill>
                <a:effectLst/>
                <a:latin typeface="+mn-lt"/>
                <a:ea typeface="+mn-ea"/>
                <a:cs typeface="+mn-cs"/>
              </a:rPr>
              <a:t>difficulty: Basic directions and sequences; Loops–</a:t>
            </a:r>
          </a:p>
          <a:p>
            <a:r>
              <a:rPr lang="en-US" sz="1200" kern="1200" dirty="0">
                <a:solidFill>
                  <a:schemeClr val="tx1"/>
                </a:solidFill>
                <a:effectLst/>
                <a:latin typeface="+mn-lt"/>
                <a:ea typeface="+mn-ea"/>
                <a:cs typeface="+mn-cs"/>
              </a:rPr>
              <a:t>repeat times; Loops–repeat until; If–simple</a:t>
            </a:r>
          </a:p>
          <a:p>
            <a:r>
              <a:rPr lang="en-US" sz="1200" kern="1200" dirty="0">
                <a:solidFill>
                  <a:schemeClr val="tx1"/>
                </a:solidFill>
                <a:effectLst/>
                <a:latin typeface="+mn-lt"/>
                <a:ea typeface="+mn-ea"/>
                <a:cs typeface="+mn-cs"/>
              </a:rPr>
              <a:t>conditional; If/else–complex conditional; While</a:t>
            </a:r>
          </a:p>
          <a:p>
            <a:r>
              <a:rPr lang="en-US" sz="1200" kern="1200" dirty="0">
                <a:solidFill>
                  <a:schemeClr val="tx1"/>
                </a:solidFill>
                <a:effectLst/>
                <a:latin typeface="+mn-lt"/>
                <a:ea typeface="+mn-ea"/>
                <a:cs typeface="+mn-cs"/>
              </a:rPr>
              <a:t>conditional; Simple functions.</a:t>
            </a:r>
          </a:p>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40</a:t>
            </a:fld>
            <a:endParaRPr lang="en-US"/>
          </a:p>
        </p:txBody>
      </p:sp>
    </p:spTree>
    <p:extLst>
      <p:ext uri="{BB962C8B-B14F-4D97-AF65-F5344CB8AC3E}">
        <p14:creationId xmlns:p14="http://schemas.microsoft.com/office/powerpoint/2010/main" val="7934576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41</a:t>
            </a:fld>
            <a:endParaRPr lang="en-US"/>
          </a:p>
        </p:txBody>
      </p:sp>
    </p:spTree>
    <p:extLst>
      <p:ext uri="{BB962C8B-B14F-4D97-AF65-F5344CB8AC3E}">
        <p14:creationId xmlns:p14="http://schemas.microsoft.com/office/powerpoint/2010/main" val="39103916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would you do this in Excel – copy and paste formula</a:t>
            </a:r>
          </a:p>
        </p:txBody>
      </p:sp>
      <p:sp>
        <p:nvSpPr>
          <p:cNvPr id="4" name="Slide Number Placeholder 3"/>
          <p:cNvSpPr>
            <a:spLocks noGrp="1"/>
          </p:cNvSpPr>
          <p:nvPr>
            <p:ph type="sldNum" sz="quarter" idx="5"/>
          </p:nvPr>
        </p:nvSpPr>
        <p:spPr/>
        <p:txBody>
          <a:bodyPr/>
          <a:lstStyle/>
          <a:p>
            <a:fld id="{15564E20-9EA2-8947-B25E-DCABC392F652}" type="slidenum">
              <a:rPr lang="en-US" smtClean="0"/>
              <a:t>46</a:t>
            </a:fld>
            <a:endParaRPr lang="en-US"/>
          </a:p>
        </p:txBody>
      </p:sp>
    </p:spTree>
    <p:extLst>
      <p:ext uri="{BB962C8B-B14F-4D97-AF65-F5344CB8AC3E}">
        <p14:creationId xmlns:p14="http://schemas.microsoft.com/office/powerpoint/2010/main" val="960458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D6FE0-2A07-3693-77D3-24DF9D10E1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7B664F-1BF7-AE80-3D1A-ABF45DE46E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E99BD8-CDD6-F1E7-8192-81B29022EBC0}"/>
              </a:ext>
            </a:extLst>
          </p:cNvPr>
          <p:cNvSpPr>
            <a:spLocks noGrp="1"/>
          </p:cNvSpPr>
          <p:nvPr>
            <p:ph type="body" idx="1"/>
          </p:nvPr>
        </p:nvSpPr>
        <p:spPr/>
        <p:txBody>
          <a:bodyPr/>
          <a:lstStyle/>
          <a:p>
            <a:r>
              <a:rPr lang="en-US" dirty="0"/>
              <a:t>In the latter two you don’t need to know how to code, you need to understand computational thinking so you are more effective at delivering your message or ideas to those who will translate it to a programming language and determine how to get it done. Understanding computational thinking will likely also improve your attempts to learn a programming language.</a:t>
            </a:r>
          </a:p>
        </p:txBody>
      </p:sp>
      <p:sp>
        <p:nvSpPr>
          <p:cNvPr id="4" name="Slide Number Placeholder 3">
            <a:extLst>
              <a:ext uri="{FF2B5EF4-FFF2-40B4-BE49-F238E27FC236}">
                <a16:creationId xmlns:a16="http://schemas.microsoft.com/office/drawing/2014/main" id="{5770803C-24C6-086B-3284-3C6022390AF4}"/>
              </a:ext>
            </a:extLst>
          </p:cNvPr>
          <p:cNvSpPr>
            <a:spLocks noGrp="1"/>
          </p:cNvSpPr>
          <p:nvPr>
            <p:ph type="sldNum" sz="quarter" idx="5"/>
          </p:nvPr>
        </p:nvSpPr>
        <p:spPr/>
        <p:txBody>
          <a:bodyPr/>
          <a:lstStyle/>
          <a:p>
            <a:fld id="{15564E20-9EA2-8947-B25E-DCABC392F652}" type="slidenum">
              <a:rPr lang="en-US" smtClean="0"/>
              <a:t>49</a:t>
            </a:fld>
            <a:endParaRPr lang="en-US"/>
          </a:p>
        </p:txBody>
      </p:sp>
    </p:spTree>
    <p:extLst>
      <p:ext uri="{BB962C8B-B14F-4D97-AF65-F5344CB8AC3E}">
        <p14:creationId xmlns:p14="http://schemas.microsoft.com/office/powerpoint/2010/main" val="36836787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Reasoning models think through problems, connect ideas, and make a logical decision based on its information and the context you provide.</a:t>
            </a:r>
          </a:p>
          <a:p>
            <a:r>
              <a:rPr lang="en-US" sz="1200" b="0" i="0" u="none" strike="noStrike" kern="1200" dirty="0">
                <a:solidFill>
                  <a:schemeClr val="tx1"/>
                </a:solidFill>
                <a:effectLst/>
                <a:latin typeface="+mn-lt"/>
                <a:ea typeface="+mn-ea"/>
                <a:cs typeface="+mn-cs"/>
              </a:rPr>
              <a:t>Generally speaking, they’re useful for tasks that require:</a:t>
            </a:r>
          </a:p>
          <a:p>
            <a:r>
              <a:rPr lang="en-US" sz="1200" b="0" i="0" u="none" strike="noStrike" kern="1200" dirty="0">
                <a:solidFill>
                  <a:schemeClr val="tx1"/>
                </a:solidFill>
                <a:effectLst/>
                <a:latin typeface="+mn-lt"/>
                <a:ea typeface="+mn-ea"/>
                <a:cs typeface="+mn-cs"/>
              </a:rPr>
              <a:t>Deep problem-solving (e.g. calculating a math problem)</a:t>
            </a:r>
          </a:p>
          <a:p>
            <a:r>
              <a:rPr lang="en-US" sz="1200" b="0" i="0" u="none" strike="noStrike" kern="1200" dirty="0">
                <a:solidFill>
                  <a:schemeClr val="tx1"/>
                </a:solidFill>
                <a:effectLst/>
                <a:latin typeface="+mn-lt"/>
                <a:ea typeface="+mn-ea"/>
                <a:cs typeface="+mn-cs"/>
              </a:rPr>
              <a:t>Logical reasoning (e.g. optimizing and debugging code)</a:t>
            </a:r>
          </a:p>
          <a:p>
            <a:r>
              <a:rPr lang="en-US" sz="1200" b="0" i="0" u="none" strike="noStrike" kern="1200" dirty="0">
                <a:solidFill>
                  <a:schemeClr val="tx1"/>
                </a:solidFill>
                <a:effectLst/>
                <a:latin typeface="+mn-lt"/>
                <a:ea typeface="+mn-ea"/>
                <a:cs typeface="+mn-cs"/>
              </a:rPr>
              <a:t>Multi-step thinking (e.g. developing a strategy)</a:t>
            </a:r>
          </a:p>
          <a:p>
            <a:endParaRPr lang="en-US" dirty="0">
              <a:latin typeface="Calibri"/>
              <a:ea typeface="Calibri"/>
              <a:cs typeface="Calibri"/>
            </a:endParaRPr>
          </a:p>
          <a:p>
            <a:r>
              <a:rPr lang="en-US" sz="1200" b="0" i="0" u="none" strike="noStrike" kern="1200" dirty="0">
                <a:solidFill>
                  <a:schemeClr val="tx1"/>
                </a:solidFill>
                <a:effectLst/>
                <a:latin typeface="+mn-lt"/>
                <a:ea typeface="+mn-ea"/>
                <a:cs typeface="+mn-cs"/>
              </a:rPr>
              <a:t>Non-reasoning GPT models focus on providing a quick, simple response. They rely on patterns in data, but they don’t analyze deeply or reason through problems.</a:t>
            </a:r>
          </a:p>
          <a:p>
            <a:r>
              <a:rPr lang="en-US" sz="1200" b="0" i="0" u="none" strike="noStrike" kern="1200" dirty="0">
                <a:solidFill>
                  <a:schemeClr val="tx1"/>
                </a:solidFill>
                <a:effectLst/>
                <a:latin typeface="+mn-lt"/>
                <a:ea typeface="+mn-ea"/>
                <a:cs typeface="+mn-cs"/>
              </a:rPr>
              <a:t>Some tasks they’re useful for are:</a:t>
            </a:r>
          </a:p>
          <a:p>
            <a:r>
              <a:rPr lang="en-US" sz="1200" b="0" i="0" u="none" strike="noStrike" kern="1200" dirty="0">
                <a:solidFill>
                  <a:schemeClr val="tx1"/>
                </a:solidFill>
                <a:effectLst/>
                <a:latin typeface="+mn-lt"/>
                <a:ea typeface="+mn-ea"/>
                <a:cs typeface="+mn-cs"/>
              </a:rPr>
              <a:t>Fast responses (e.g. addressing a question to customer support)</a:t>
            </a:r>
          </a:p>
          <a:p>
            <a:r>
              <a:rPr lang="en-US" sz="1200" b="0" i="0" u="none" strike="noStrike" kern="1200" dirty="0">
                <a:solidFill>
                  <a:schemeClr val="tx1"/>
                </a:solidFill>
                <a:effectLst/>
                <a:latin typeface="+mn-lt"/>
                <a:ea typeface="+mn-ea"/>
                <a:cs typeface="+mn-cs"/>
              </a:rPr>
              <a:t>Simple tasks (e.g. creating the answer to a frequently asked question)</a:t>
            </a:r>
          </a:p>
          <a:p>
            <a:r>
              <a:rPr lang="en-US" sz="1200" b="0" i="0" u="none" strike="noStrike" kern="1200" dirty="0">
                <a:solidFill>
                  <a:schemeClr val="tx1"/>
                </a:solidFill>
                <a:effectLst/>
                <a:latin typeface="+mn-lt"/>
                <a:ea typeface="+mn-ea"/>
                <a:cs typeface="+mn-cs"/>
              </a:rPr>
              <a:t>Creative content (e.g. writing straightforward marketing copy)</a:t>
            </a:r>
          </a:p>
          <a:p>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23D9E233-B67C-415A-A411-B18F44B627AA}" type="slidenum">
              <a:rPr lang="en-US" smtClean="0"/>
              <a:t>50</a:t>
            </a:fld>
            <a:endParaRPr lang="en-US"/>
          </a:p>
        </p:txBody>
      </p:sp>
    </p:spTree>
    <p:extLst>
      <p:ext uri="{BB962C8B-B14F-4D97-AF65-F5344CB8AC3E}">
        <p14:creationId xmlns:p14="http://schemas.microsoft.com/office/powerpoint/2010/main" val="27542423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Also mention chain of thought</a:t>
            </a:r>
          </a:p>
          <a:p>
            <a:r>
              <a:rPr lang="en-US">
                <a:latin typeface="Calibri"/>
                <a:ea typeface="Calibri"/>
                <a:cs typeface="Calibri"/>
              </a:rPr>
              <a:t>Shannon</a:t>
            </a:r>
          </a:p>
        </p:txBody>
      </p:sp>
      <p:sp>
        <p:nvSpPr>
          <p:cNvPr id="4" name="Slide Number Placeholder 3"/>
          <p:cNvSpPr>
            <a:spLocks noGrp="1"/>
          </p:cNvSpPr>
          <p:nvPr>
            <p:ph type="sldNum" sz="quarter" idx="5"/>
          </p:nvPr>
        </p:nvSpPr>
        <p:spPr/>
        <p:txBody>
          <a:bodyPr/>
          <a:lstStyle/>
          <a:p>
            <a:fld id="{23D9E233-B67C-415A-A411-B18F44B627AA}" type="slidenum">
              <a:rPr lang="en-US" smtClean="0"/>
              <a:t>51</a:t>
            </a:fld>
            <a:endParaRPr lang="en-US"/>
          </a:p>
        </p:txBody>
      </p:sp>
    </p:spTree>
    <p:extLst>
      <p:ext uri="{BB962C8B-B14F-4D97-AF65-F5344CB8AC3E}">
        <p14:creationId xmlns:p14="http://schemas.microsoft.com/office/powerpoint/2010/main" val="31449085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Shannon</a:t>
            </a:r>
          </a:p>
        </p:txBody>
      </p:sp>
      <p:sp>
        <p:nvSpPr>
          <p:cNvPr id="4" name="Slide Number Placeholder 3"/>
          <p:cNvSpPr>
            <a:spLocks noGrp="1"/>
          </p:cNvSpPr>
          <p:nvPr>
            <p:ph type="sldNum" sz="quarter" idx="5"/>
          </p:nvPr>
        </p:nvSpPr>
        <p:spPr/>
        <p:txBody>
          <a:bodyPr/>
          <a:lstStyle/>
          <a:p>
            <a:fld id="{23D9E233-B67C-415A-A411-B18F44B627AA}" type="slidenum">
              <a:rPr lang="en-US" smtClean="0"/>
              <a:t>57</a:t>
            </a:fld>
            <a:endParaRPr lang="en-US"/>
          </a:p>
        </p:txBody>
      </p:sp>
    </p:spTree>
    <p:extLst>
      <p:ext uri="{BB962C8B-B14F-4D97-AF65-F5344CB8AC3E}">
        <p14:creationId xmlns:p14="http://schemas.microsoft.com/office/powerpoint/2010/main" val="9547499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542C0-2ADE-766B-0CCE-1A0AA5F4C0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DA66EA-A1E0-6DB9-6518-483A8D6CD3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6BF0A9-3208-8566-F6D5-A4867D3AEDA0}"/>
              </a:ext>
            </a:extLst>
          </p:cNvPr>
          <p:cNvSpPr>
            <a:spLocks noGrp="1"/>
          </p:cNvSpPr>
          <p:nvPr>
            <p:ph type="body" idx="1"/>
          </p:nvPr>
        </p:nvSpPr>
        <p:spPr/>
        <p:txBody>
          <a:bodyPr/>
          <a:lstStyle/>
          <a:p>
            <a:r>
              <a:rPr lang="en-US" dirty="0"/>
              <a:t>.</a:t>
            </a:r>
          </a:p>
          <a:p>
            <a:endParaRPr lang="en-US" dirty="0"/>
          </a:p>
        </p:txBody>
      </p:sp>
      <p:sp>
        <p:nvSpPr>
          <p:cNvPr id="4" name="Slide Number Placeholder 3">
            <a:extLst>
              <a:ext uri="{FF2B5EF4-FFF2-40B4-BE49-F238E27FC236}">
                <a16:creationId xmlns:a16="http://schemas.microsoft.com/office/drawing/2014/main" id="{AC926C06-0D36-2CCB-8D4F-04D9D04EFB5C}"/>
              </a:ext>
            </a:extLst>
          </p:cNvPr>
          <p:cNvSpPr>
            <a:spLocks noGrp="1"/>
          </p:cNvSpPr>
          <p:nvPr>
            <p:ph type="sldNum" sz="quarter" idx="10"/>
          </p:nvPr>
        </p:nvSpPr>
        <p:spPr/>
        <p:txBody>
          <a:bodyPr/>
          <a:lstStyle/>
          <a:p>
            <a:fld id="{0A193586-FEB5-7C43-8F44-7EFAE4EECA28}" type="slidenum">
              <a:rPr lang="en-US" smtClean="0"/>
              <a:t>58</a:t>
            </a:fld>
            <a:endParaRPr lang="en-US"/>
          </a:p>
        </p:txBody>
      </p:sp>
    </p:spTree>
    <p:extLst>
      <p:ext uri="{BB962C8B-B14F-4D97-AF65-F5344CB8AC3E}">
        <p14:creationId xmlns:p14="http://schemas.microsoft.com/office/powerpoint/2010/main" val="6428877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EC085D8A-9CAE-5C47-9CA8-75814F650544}" type="datetimeFigureOut">
              <a:rPr lang="en-US" smtClean="0"/>
              <a:t>9/23/25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5738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hasCustomPrompt="1"/>
          </p:nvPr>
        </p:nvSpPr>
        <p:spPr/>
        <p:txBody>
          <a:bodyPr/>
          <a:lstStyle>
            <a:lvl1pPr marL="91440" indent="-91440">
              <a:buFont typeface="Arial" panose="020B0604020202020204" pitchFamily="34" charset="0"/>
              <a:buChar char="•"/>
              <a:defRPr sz="3200" baseline="0"/>
            </a:lvl1pPr>
            <a:lvl2pPr>
              <a:defRPr sz="2800" baseline="0"/>
            </a:lvl2pPr>
            <a:lvl3pPr>
              <a:defRPr sz="2400" baseline="0"/>
            </a:lvl3pPr>
            <a:lvl4pPr>
              <a:defRPr sz="2000" baseline="0"/>
            </a:lvl4pPr>
            <a:lvl5pPr>
              <a:defRPr sz="1600" baseline="0"/>
            </a:lvl5pPr>
          </a:lstStyle>
          <a:p>
            <a:pPr lvl="0"/>
            <a:r>
              <a:rPr lang="en-US" dirty="0"/>
              <a:t> 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C085D8A-9CAE-5C47-9CA8-75814F650544}" type="datetimeFigureOut">
              <a:rPr lang="en-US" smtClean="0"/>
              <a:t>9/23/25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041407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085D8A-9CAE-5C47-9CA8-75814F650544}" type="datetimeFigureOut">
              <a:rPr lang="en-US" smtClean="0"/>
              <a:t>9/23/25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3635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C085D8A-9CAE-5C47-9CA8-75814F650544}" type="datetimeFigureOut">
              <a:rPr lang="en-US" smtClean="0"/>
              <a:t>9/23/25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20639732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C085D8A-9CAE-5C47-9CA8-75814F650544}" type="datetimeFigureOut">
              <a:rPr lang="en-US" smtClean="0"/>
              <a:t>9/23/25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1715686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C085D8A-9CAE-5C47-9CA8-75814F650544}" type="datetimeFigureOut">
              <a:rPr lang="en-US" smtClean="0"/>
              <a:t>9/23/25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962134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085D8A-9CAE-5C47-9CA8-75814F650544}" type="datetimeFigureOut">
              <a:rPr lang="en-US" smtClean="0"/>
              <a:t>9/23/25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1180686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C085D8A-9CAE-5C47-9CA8-75814F650544}" type="datetimeFigureOut">
              <a:rPr lang="en-US" smtClean="0"/>
              <a:t>9/23/25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060818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C085D8A-9CAE-5C47-9CA8-75814F650544}" type="datetimeFigureOut">
              <a:rPr lang="en-US" smtClean="0"/>
              <a:t>9/23/25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1469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085D8A-9CAE-5C47-9CA8-75814F650544}" type="datetimeFigureOut">
              <a:rPr lang="en-US" smtClean="0"/>
              <a:t>9/23/25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707941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085D8A-9CAE-5C47-9CA8-75814F650544}" type="datetimeFigureOut">
              <a:rPr lang="en-US" smtClean="0"/>
              <a:t>9/23/25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5045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C085D8A-9CAE-5C47-9CA8-75814F650544}" type="datetimeFigureOut">
              <a:rPr lang="en-US" smtClean="0"/>
              <a:t>9/23/25</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A4070D86-A789-4044-8569-EB7759992B5A}"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42339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12.jpe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sv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6.xml"/><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sv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sv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 Id="rId9" Type="http://schemas.openxmlformats.org/officeDocument/2006/relationships/image" Target="../media/image19.sv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sv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1.sv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30.png"/></Relationships>
</file>

<file path=ppt/slides/_rels/slide4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2D5B3-39DD-0F84-9D56-A9F4D94D5C47}"/>
              </a:ext>
            </a:extLst>
          </p:cNvPr>
          <p:cNvSpPr>
            <a:spLocks noGrp="1"/>
          </p:cNvSpPr>
          <p:nvPr>
            <p:ph type="ctrTitle"/>
          </p:nvPr>
        </p:nvSpPr>
        <p:spPr/>
        <p:txBody>
          <a:bodyPr/>
          <a:lstStyle/>
          <a:p>
            <a:r>
              <a:rPr lang="en-US" b="1" cap="none" dirty="0"/>
              <a:t>Computational Thinking</a:t>
            </a:r>
          </a:p>
        </p:txBody>
      </p:sp>
      <p:sp>
        <p:nvSpPr>
          <p:cNvPr id="3" name="Subtitle 2">
            <a:extLst>
              <a:ext uri="{FF2B5EF4-FFF2-40B4-BE49-F238E27FC236}">
                <a16:creationId xmlns:a16="http://schemas.microsoft.com/office/drawing/2014/main" id="{683DFD6D-7CDF-8D74-9078-31CF84D69DE0}"/>
              </a:ext>
            </a:extLst>
          </p:cNvPr>
          <p:cNvSpPr>
            <a:spLocks noGrp="1"/>
          </p:cNvSpPr>
          <p:nvPr>
            <p:ph type="subTitle" idx="1"/>
          </p:nvPr>
        </p:nvSpPr>
        <p:spPr/>
        <p:txBody>
          <a:bodyPr>
            <a:normAutofit/>
          </a:bodyPr>
          <a:lstStyle/>
          <a:p>
            <a:r>
              <a:rPr lang="en-US" sz="2800" dirty="0"/>
              <a:t>Shannon Haymond</a:t>
            </a:r>
          </a:p>
        </p:txBody>
      </p:sp>
    </p:spTree>
    <p:extLst>
      <p:ext uri="{BB962C8B-B14F-4D97-AF65-F5344CB8AC3E}">
        <p14:creationId xmlns:p14="http://schemas.microsoft.com/office/powerpoint/2010/main" val="31809172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D3C0D-C93F-F8D0-3222-303D56B8F2E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41C9E6C-1ED2-3037-FC58-7809CD9451D6}"/>
              </a:ext>
            </a:extLst>
          </p:cNvPr>
          <p:cNvSpPr txBox="1"/>
          <p:nvPr/>
        </p:nvSpPr>
        <p:spPr>
          <a:xfrm>
            <a:off x="626225" y="201578"/>
            <a:ext cx="10939550" cy="6178999"/>
          </a:xfrm>
          <a:prstGeom prst="rect">
            <a:avLst/>
          </a:prstGeom>
          <a:noFill/>
        </p:spPr>
        <p:txBody>
          <a:bodyPr wrap="square" rtlCol="0">
            <a:spAutoFit/>
          </a:bodyPr>
          <a:lstStyle/>
          <a:p>
            <a:r>
              <a:rPr lang="en-US" sz="4000" dirty="0"/>
              <a:t>Lesson Goals</a:t>
            </a:r>
          </a:p>
          <a:p>
            <a:pPr marL="514350" marR="0" lvl="0" indent="-514350" rtl="0">
              <a:lnSpc>
                <a:spcPct val="107000"/>
              </a:lnSpc>
              <a:spcBef>
                <a:spcPts val="0"/>
              </a:spcBef>
              <a:spcAft>
                <a:spcPts val="0"/>
              </a:spcAft>
              <a:buFont typeface="+mj-lt"/>
              <a:buAutoNum type="arabicPeriod"/>
            </a:pPr>
            <a:r>
              <a:rPr lang="en-US" sz="3000" kern="100" dirty="0">
                <a:ea typeface="Calibri" panose="020F0502020204030204" pitchFamily="34" charset="0"/>
                <a:cs typeface="Arial" panose="020B0604020202020204" pitchFamily="34" charset="0"/>
              </a:rPr>
              <a:t>Develop computational thinking skills to more effectively utilize emerging digital technologies</a:t>
            </a:r>
          </a:p>
          <a:p>
            <a:pPr marR="0" lvl="0" rtl="0">
              <a:lnSpc>
                <a:spcPct val="107000"/>
              </a:lnSpc>
              <a:spcBef>
                <a:spcPts val="0"/>
              </a:spcBef>
              <a:spcAft>
                <a:spcPts val="0"/>
              </a:spcAft>
            </a:pPr>
            <a:endParaRPr lang="en-US" sz="3200" kern="100" dirty="0">
              <a:cs typeface="Arial" panose="020B0604020202020204" pitchFamily="34" charset="0"/>
            </a:endParaRPr>
          </a:p>
          <a:p>
            <a:pPr marR="0" lvl="0" rtl="0">
              <a:lnSpc>
                <a:spcPct val="107000"/>
              </a:lnSpc>
              <a:spcBef>
                <a:spcPts val="0"/>
              </a:spcBef>
              <a:spcAft>
                <a:spcPts val="0"/>
              </a:spcAft>
            </a:pPr>
            <a:r>
              <a:rPr lang="en-US" sz="4000" dirty="0"/>
              <a:t>Lesson Objectives</a:t>
            </a:r>
          </a:p>
          <a:p>
            <a:pPr marL="514350" indent="-514350">
              <a:buFontTx/>
              <a:buAutoNum type="arabicPeriod"/>
            </a:pPr>
            <a:r>
              <a:rPr lang="en-US" sz="3000" dirty="0"/>
              <a:t>Identify the key components of a complex problem and break it down into smaller, more manageable parts.</a:t>
            </a:r>
          </a:p>
          <a:p>
            <a:pPr marL="514350" indent="-514350">
              <a:buFontTx/>
              <a:buAutoNum type="arabicPeriod"/>
            </a:pPr>
            <a:r>
              <a:rPr lang="en-US" sz="3000" dirty="0"/>
              <a:t>Use patterns to predict future outcomes or generalize solutions.</a:t>
            </a:r>
          </a:p>
          <a:p>
            <a:pPr marL="514350" indent="-514350">
              <a:buFontTx/>
              <a:buAutoNum type="arabicPeriod"/>
            </a:pPr>
            <a:r>
              <a:rPr lang="en-US" sz="3000" dirty="0"/>
              <a:t>Create simplified models to represent complex systems.</a:t>
            </a:r>
          </a:p>
          <a:p>
            <a:pPr marL="514350" indent="-514350">
              <a:buFontTx/>
              <a:buAutoNum type="arabicPeriod"/>
            </a:pPr>
            <a:r>
              <a:rPr lang="en-US" sz="3000" dirty="0"/>
              <a:t>Design step-by-step instructions or algorithms to solve a problem.</a:t>
            </a:r>
          </a:p>
          <a:p>
            <a:pPr marL="514350" indent="-514350">
              <a:buFontTx/>
              <a:buAutoNum type="arabicPeriod"/>
            </a:pPr>
            <a:r>
              <a:rPr lang="en-US" sz="3000" dirty="0"/>
              <a:t>Describe basic coding concepts to better apply computational solutions.</a:t>
            </a:r>
          </a:p>
        </p:txBody>
      </p:sp>
    </p:spTree>
    <p:extLst>
      <p:ext uri="{BB962C8B-B14F-4D97-AF65-F5344CB8AC3E}">
        <p14:creationId xmlns:p14="http://schemas.microsoft.com/office/powerpoint/2010/main" val="37279853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87487-7585-2B09-7202-834D47BDE390}"/>
              </a:ext>
            </a:extLst>
          </p:cNvPr>
          <p:cNvSpPr>
            <a:spLocks noGrp="1"/>
          </p:cNvSpPr>
          <p:nvPr>
            <p:ph type="title"/>
          </p:nvPr>
        </p:nvSpPr>
        <p:spPr/>
        <p:txBody>
          <a:bodyPr/>
          <a:lstStyle/>
          <a:p>
            <a:r>
              <a:rPr lang="en-US" dirty="0"/>
              <a:t>What is computational thinking?</a:t>
            </a:r>
          </a:p>
        </p:txBody>
      </p:sp>
      <p:sp>
        <p:nvSpPr>
          <p:cNvPr id="3" name="Content Placeholder 2">
            <a:extLst>
              <a:ext uri="{FF2B5EF4-FFF2-40B4-BE49-F238E27FC236}">
                <a16:creationId xmlns:a16="http://schemas.microsoft.com/office/drawing/2014/main" id="{D0567B52-1637-9CB5-C6E9-1484C58B918A}"/>
              </a:ext>
            </a:extLst>
          </p:cNvPr>
          <p:cNvSpPr>
            <a:spLocks noGrp="1"/>
          </p:cNvSpPr>
          <p:nvPr>
            <p:ph idx="1"/>
          </p:nvPr>
        </p:nvSpPr>
        <p:spPr/>
        <p:txBody>
          <a:bodyPr>
            <a:normAutofit lnSpcReduction="10000"/>
          </a:bodyPr>
          <a:lstStyle/>
          <a:p>
            <a:pPr marL="0" indent="0">
              <a:buNone/>
            </a:pPr>
            <a:r>
              <a:rPr lang="en-US" i="1" dirty="0"/>
              <a:t>Formulating things with enough clarity, and in a systematic enough way, that one can tell a computer how to do them</a:t>
            </a:r>
          </a:p>
          <a:p>
            <a:pPr marL="0" indent="0">
              <a:buNone/>
            </a:pPr>
            <a:r>
              <a:rPr lang="en-US" dirty="0"/>
              <a:t>					- Stephen Wolfram</a:t>
            </a:r>
          </a:p>
          <a:p>
            <a:pPr marL="0" indent="0">
              <a:buNone/>
            </a:pPr>
            <a:endParaRPr lang="en-US" dirty="0"/>
          </a:p>
          <a:p>
            <a:pPr marL="0" indent="0">
              <a:buNone/>
            </a:pPr>
            <a:r>
              <a:rPr lang="en-US" dirty="0"/>
              <a:t>We tell computers how via language</a:t>
            </a:r>
          </a:p>
          <a:p>
            <a:pPr marL="412750" lvl="1" indent="-284163"/>
            <a:r>
              <a:rPr lang="en-US" dirty="0"/>
              <a:t>coding in programming language</a:t>
            </a:r>
          </a:p>
          <a:p>
            <a:pPr marL="412750" lvl="1" indent="-284163"/>
            <a:r>
              <a:rPr lang="en-US" dirty="0"/>
              <a:t>using data scientist interpreter</a:t>
            </a:r>
          </a:p>
          <a:p>
            <a:pPr marL="412750" lvl="1" indent="-284163"/>
            <a:r>
              <a:rPr lang="en-US" dirty="0"/>
              <a:t>low code/no code interface</a:t>
            </a:r>
          </a:p>
        </p:txBody>
      </p:sp>
    </p:spTree>
    <p:extLst>
      <p:ext uri="{BB962C8B-B14F-4D97-AF65-F5344CB8AC3E}">
        <p14:creationId xmlns:p14="http://schemas.microsoft.com/office/powerpoint/2010/main" val="187618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B7178-CCD3-D6A8-62E6-85CAF6D52979}"/>
              </a:ext>
            </a:extLst>
          </p:cNvPr>
          <p:cNvSpPr>
            <a:spLocks noGrp="1"/>
          </p:cNvSpPr>
          <p:nvPr>
            <p:ph type="title"/>
          </p:nvPr>
        </p:nvSpPr>
        <p:spPr/>
        <p:txBody>
          <a:bodyPr/>
          <a:lstStyle/>
          <a:p>
            <a:r>
              <a:rPr lang="en-US" dirty="0"/>
              <a:t>computational thinking skills</a:t>
            </a:r>
          </a:p>
        </p:txBody>
      </p:sp>
      <p:graphicFrame>
        <p:nvGraphicFramePr>
          <p:cNvPr id="6" name="Diagram 5">
            <a:extLst>
              <a:ext uri="{FF2B5EF4-FFF2-40B4-BE49-F238E27FC236}">
                <a16:creationId xmlns:a16="http://schemas.microsoft.com/office/drawing/2014/main" id="{82BD09AA-64F3-AE85-F782-36CE5567767A}"/>
              </a:ext>
            </a:extLst>
          </p:cNvPr>
          <p:cNvGraphicFramePr/>
          <p:nvPr>
            <p:extLst>
              <p:ext uri="{D42A27DB-BD31-4B8C-83A1-F6EECF244321}">
                <p14:modId xmlns:p14="http://schemas.microsoft.com/office/powerpoint/2010/main" val="1859057996"/>
              </p:ext>
            </p:extLst>
          </p:nvPr>
        </p:nvGraphicFramePr>
        <p:xfrm>
          <a:off x="2815771" y="2002391"/>
          <a:ext cx="6342743" cy="42284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800396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94938-0C8E-1D42-BC37-B4C3360E88D3}"/>
              </a:ext>
            </a:extLst>
          </p:cNvPr>
          <p:cNvSpPr>
            <a:spLocks noGrp="1"/>
          </p:cNvSpPr>
          <p:nvPr>
            <p:ph type="title"/>
          </p:nvPr>
        </p:nvSpPr>
        <p:spPr/>
        <p:txBody>
          <a:bodyPr/>
          <a:lstStyle/>
          <a:p>
            <a:r>
              <a:rPr lang="en-US" dirty="0"/>
              <a:t>decomposition</a:t>
            </a:r>
          </a:p>
        </p:txBody>
      </p:sp>
      <p:sp>
        <p:nvSpPr>
          <p:cNvPr id="3" name="Content Placeholder 2">
            <a:extLst>
              <a:ext uri="{FF2B5EF4-FFF2-40B4-BE49-F238E27FC236}">
                <a16:creationId xmlns:a16="http://schemas.microsoft.com/office/drawing/2014/main" id="{E0B9AEF0-9308-D102-879B-6D61573221C9}"/>
              </a:ext>
            </a:extLst>
          </p:cNvPr>
          <p:cNvSpPr>
            <a:spLocks noGrp="1"/>
          </p:cNvSpPr>
          <p:nvPr>
            <p:ph idx="1"/>
          </p:nvPr>
        </p:nvSpPr>
        <p:spPr/>
        <p:txBody>
          <a:bodyPr>
            <a:normAutofit fontScale="92500"/>
          </a:bodyPr>
          <a:lstStyle/>
          <a:p>
            <a:pPr marL="0" indent="0">
              <a:buNone/>
            </a:pPr>
            <a:r>
              <a:rPr lang="en-US" dirty="0"/>
              <a:t>Break down a large, complex problem into smaller, more manageable parts to make it easier to understand and solve</a:t>
            </a:r>
          </a:p>
          <a:p>
            <a:pPr marL="0" indent="0">
              <a:buNone/>
            </a:pPr>
            <a:endParaRPr lang="en-US" dirty="0"/>
          </a:p>
          <a:p>
            <a:pPr marL="514350" indent="-514350">
              <a:buAutoNum type="arabicPeriod"/>
            </a:pPr>
            <a:r>
              <a:rPr lang="en-US" dirty="0"/>
              <a:t>Identify the main (large, complex) problem</a:t>
            </a:r>
          </a:p>
          <a:p>
            <a:pPr marL="514350" indent="-514350">
              <a:buAutoNum type="arabicPeriod"/>
            </a:pPr>
            <a:r>
              <a:rPr lang="en-US" dirty="0"/>
              <a:t>Break it down into smaller tasks</a:t>
            </a:r>
          </a:p>
          <a:p>
            <a:pPr marL="514350" indent="-514350">
              <a:buAutoNum type="arabicPeriod"/>
            </a:pPr>
            <a:r>
              <a:rPr lang="en-US" dirty="0"/>
              <a:t>Solve each sub-task</a:t>
            </a:r>
          </a:p>
          <a:p>
            <a:pPr marL="514350" indent="-514350">
              <a:buAutoNum type="arabicPeriod"/>
            </a:pPr>
            <a:r>
              <a:rPr lang="en-US" dirty="0"/>
              <a:t>Combine solutions to solve main problem</a:t>
            </a:r>
          </a:p>
          <a:p>
            <a:pPr marL="514350" indent="-514350">
              <a:buAutoNum type="arabicPeriod"/>
            </a:pPr>
            <a:endParaRPr lang="en-US" dirty="0"/>
          </a:p>
          <a:p>
            <a:pPr marL="0" indent="0">
              <a:buNone/>
            </a:pPr>
            <a:endParaRPr lang="en-US" dirty="0"/>
          </a:p>
          <a:p>
            <a:pPr marL="0" indent="0">
              <a:buNone/>
            </a:pPr>
            <a:endParaRPr lang="en-US" dirty="0"/>
          </a:p>
          <a:p>
            <a:pPr marL="0" indent="0">
              <a:buNone/>
            </a:pPr>
            <a:endParaRPr lang="en-US" dirty="0"/>
          </a:p>
          <a:p>
            <a:endParaRPr lang="en-US" b="1" dirty="0"/>
          </a:p>
        </p:txBody>
      </p:sp>
      <p:grpSp>
        <p:nvGrpSpPr>
          <p:cNvPr id="13" name="Group 12">
            <a:extLst>
              <a:ext uri="{FF2B5EF4-FFF2-40B4-BE49-F238E27FC236}">
                <a16:creationId xmlns:a16="http://schemas.microsoft.com/office/drawing/2014/main" id="{019A2274-4000-0712-23E8-4B983523DCB7}"/>
              </a:ext>
            </a:extLst>
          </p:cNvPr>
          <p:cNvGrpSpPr/>
          <p:nvPr/>
        </p:nvGrpSpPr>
        <p:grpSpPr>
          <a:xfrm>
            <a:off x="867228" y="882804"/>
            <a:ext cx="6342743" cy="782519"/>
            <a:chOff x="7024188" y="157380"/>
            <a:chExt cx="6342743" cy="782519"/>
          </a:xfrm>
        </p:grpSpPr>
        <p:grpSp>
          <p:nvGrpSpPr>
            <p:cNvPr id="9" name="Group 8">
              <a:extLst>
                <a:ext uri="{FF2B5EF4-FFF2-40B4-BE49-F238E27FC236}">
                  <a16:creationId xmlns:a16="http://schemas.microsoft.com/office/drawing/2014/main" id="{D0222C13-A331-22FF-FE0D-18CEB21D3731}"/>
                </a:ext>
              </a:extLst>
            </p:cNvPr>
            <p:cNvGrpSpPr/>
            <p:nvPr/>
          </p:nvGrpSpPr>
          <p:grpSpPr>
            <a:xfrm>
              <a:off x="7024188" y="157380"/>
              <a:ext cx="6342743" cy="782519"/>
              <a:chOff x="0" y="0"/>
              <a:chExt cx="6342743" cy="782519"/>
            </a:xfrm>
          </p:grpSpPr>
          <p:sp>
            <p:nvSpPr>
              <p:cNvPr id="11" name="Rounded Rectangle 10">
                <a:extLst>
                  <a:ext uri="{FF2B5EF4-FFF2-40B4-BE49-F238E27FC236}">
                    <a16:creationId xmlns:a16="http://schemas.microsoft.com/office/drawing/2014/main" id="{D33F1CE1-C7DB-EA52-829E-8D8F1F9DC680}"/>
                  </a:ext>
                </a:extLst>
              </p:cNvPr>
              <p:cNvSpPr/>
              <p:nvPr/>
            </p:nvSpPr>
            <p:spPr>
              <a:xfrm>
                <a:off x="0" y="0"/>
                <a:ext cx="6342743" cy="782519"/>
              </a:xfrm>
              <a:prstGeom prst="roundRect">
                <a:avLst>
                  <a:gd name="adj" fmla="val 10000"/>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US" dirty="0"/>
              </a:p>
            </p:txBody>
          </p:sp>
          <p:sp>
            <p:nvSpPr>
              <p:cNvPr id="12" name="Rounded Rectangle 4">
                <a:extLst>
                  <a:ext uri="{FF2B5EF4-FFF2-40B4-BE49-F238E27FC236}">
                    <a16:creationId xmlns:a16="http://schemas.microsoft.com/office/drawing/2014/main" id="{062DFD64-217E-56F2-501A-CC068A450C27}"/>
                  </a:ext>
                </a:extLst>
              </p:cNvPr>
              <p:cNvSpPr txBox="1"/>
              <p:nvPr/>
            </p:nvSpPr>
            <p:spPr>
              <a:xfrm>
                <a:off x="1346800" y="0"/>
                <a:ext cx="4995942" cy="7825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Decomposition</a:t>
                </a:r>
              </a:p>
            </p:txBody>
          </p:sp>
        </p:grpSp>
        <p:sp>
          <p:nvSpPr>
            <p:cNvPr id="10" name="Rounded Rectangle 9" descr="Puzzle pieces with solid fill">
              <a:extLst>
                <a:ext uri="{FF2B5EF4-FFF2-40B4-BE49-F238E27FC236}">
                  <a16:creationId xmlns:a16="http://schemas.microsoft.com/office/drawing/2014/main" id="{D274EA08-A055-FF4A-7CD1-8EF0FF13B5B5}"/>
                </a:ext>
              </a:extLst>
            </p:cNvPr>
            <p:cNvSpPr/>
            <p:nvPr/>
          </p:nvSpPr>
          <p:spPr>
            <a:xfrm>
              <a:off x="7102439" y="235631"/>
              <a:ext cx="1268548" cy="626015"/>
            </a:xfrm>
            <a:prstGeom prst="roundRect">
              <a:avLst>
                <a:gd name="adj" fmla="val 10000"/>
              </a:avLst>
            </a:prstGeom>
            <a:blipFill>
              <a:blip r:embed="rId3">
                <a:extLst>
                  <a:ext uri="{96DAC541-7B7A-43D3-8B79-37D633B846F1}">
                    <asvg:svgBlip xmlns:asvg="http://schemas.microsoft.com/office/drawing/2016/SVG/main" r:embed="rId4"/>
                  </a:ext>
                </a:extLst>
              </a:blip>
              <a:srcRect/>
              <a:stretch>
                <a:fillRect t="-16000" b="-16000"/>
              </a:stretch>
            </a:blipFill>
          </p:spPr>
          <p:style>
            <a:lnRef idx="2">
              <a:schemeClr val="lt1">
                <a:hueOff val="0"/>
                <a:satOff val="0"/>
                <a:lumOff val="0"/>
                <a:alphaOff val="0"/>
              </a:schemeClr>
            </a:lnRef>
            <a:fillRef idx="1">
              <a:scrgbClr r="0" g="0" b="0"/>
            </a:fillRef>
            <a:effectRef idx="0">
              <a:schemeClr val="accent2">
                <a:tint val="50000"/>
                <a:hueOff val="0"/>
                <a:satOff val="0"/>
                <a:lumOff val="0"/>
                <a:alphaOff val="0"/>
              </a:schemeClr>
            </a:effectRef>
            <a:fontRef idx="minor">
              <a:schemeClr val="lt1">
                <a:hueOff val="0"/>
                <a:satOff val="0"/>
                <a:lumOff val="0"/>
                <a:alphaOff val="0"/>
              </a:schemeClr>
            </a:fontRef>
          </p:style>
          <p:txBody>
            <a:bodyPr/>
            <a:lstStyle/>
            <a:p>
              <a:endParaRPr lang="en-US"/>
            </a:p>
          </p:txBody>
        </p:sp>
      </p:grpSp>
    </p:spTree>
    <p:extLst>
      <p:ext uri="{BB962C8B-B14F-4D97-AF65-F5344CB8AC3E}">
        <p14:creationId xmlns:p14="http://schemas.microsoft.com/office/powerpoint/2010/main" val="2071938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54D41-4440-1C18-858E-8C750D6EB780}"/>
              </a:ext>
            </a:extLst>
          </p:cNvPr>
          <p:cNvSpPr>
            <a:spLocks noGrp="1"/>
          </p:cNvSpPr>
          <p:nvPr>
            <p:ph type="title"/>
          </p:nvPr>
        </p:nvSpPr>
        <p:spPr/>
        <p:txBody>
          <a:bodyPr/>
          <a:lstStyle/>
          <a:p>
            <a:r>
              <a:rPr lang="en-US" dirty="0"/>
              <a:t>Decomposing the act of Baking cupcakes</a:t>
            </a:r>
          </a:p>
        </p:txBody>
      </p:sp>
      <p:graphicFrame>
        <p:nvGraphicFramePr>
          <p:cNvPr id="4" name="Content Placeholder 2">
            <a:extLst>
              <a:ext uri="{FF2B5EF4-FFF2-40B4-BE49-F238E27FC236}">
                <a16:creationId xmlns:a16="http://schemas.microsoft.com/office/drawing/2014/main" id="{B5565ED4-7585-549A-19EE-8C91D0A80311}"/>
              </a:ext>
            </a:extLst>
          </p:cNvPr>
          <p:cNvGraphicFramePr>
            <a:graphicFrameLocks/>
          </p:cNvGraphicFramePr>
          <p:nvPr>
            <p:extLst>
              <p:ext uri="{D42A27DB-BD31-4B8C-83A1-F6EECF244321}">
                <p14:modId xmlns:p14="http://schemas.microsoft.com/office/powerpoint/2010/main" val="484794850"/>
              </p:ext>
            </p:extLst>
          </p:nvPr>
        </p:nvGraphicFramePr>
        <p:xfrm>
          <a:off x="1235869" y="2084832"/>
          <a:ext cx="9720262"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6">
            <a:extLst>
              <a:ext uri="{FF2B5EF4-FFF2-40B4-BE49-F238E27FC236}">
                <a16:creationId xmlns:a16="http://schemas.microsoft.com/office/drawing/2014/main" id="{8E426B5F-0206-10DC-CF82-5BCED20326DE}"/>
              </a:ext>
            </a:extLst>
          </p:cNvPr>
          <p:cNvPicPr>
            <a:picLocks noChangeAspect="1"/>
          </p:cNvPicPr>
          <p:nvPr/>
        </p:nvPicPr>
        <p:blipFill>
          <a:blip r:embed="rId7"/>
          <a:stretch>
            <a:fillRect/>
          </a:stretch>
        </p:blipFill>
        <p:spPr>
          <a:xfrm>
            <a:off x="10374630" y="0"/>
            <a:ext cx="1828800" cy="1849257"/>
          </a:xfrm>
          <a:prstGeom prst="rect">
            <a:avLst/>
          </a:prstGeom>
        </p:spPr>
      </p:pic>
    </p:spTree>
    <p:extLst>
      <p:ext uri="{BB962C8B-B14F-4D97-AF65-F5344CB8AC3E}">
        <p14:creationId xmlns:p14="http://schemas.microsoft.com/office/powerpoint/2010/main" val="20907910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FE7B7-04E6-672F-6303-E9EF5CFB9E24}"/>
              </a:ext>
            </a:extLst>
          </p:cNvPr>
          <p:cNvSpPr>
            <a:spLocks noGrp="1"/>
          </p:cNvSpPr>
          <p:nvPr>
            <p:ph type="title"/>
          </p:nvPr>
        </p:nvSpPr>
        <p:spPr/>
        <p:txBody>
          <a:bodyPr/>
          <a:lstStyle/>
          <a:p>
            <a:r>
              <a:rPr lang="en-US" dirty="0"/>
              <a:t>Cupcakes: planning &amp; preparation</a:t>
            </a:r>
          </a:p>
        </p:txBody>
      </p:sp>
      <p:sp>
        <p:nvSpPr>
          <p:cNvPr id="3" name="Content Placeholder 2">
            <a:extLst>
              <a:ext uri="{FF2B5EF4-FFF2-40B4-BE49-F238E27FC236}">
                <a16:creationId xmlns:a16="http://schemas.microsoft.com/office/drawing/2014/main" id="{2F586A1E-9B3B-2F5E-47F2-C23670E49143}"/>
              </a:ext>
            </a:extLst>
          </p:cNvPr>
          <p:cNvSpPr>
            <a:spLocks noGrp="1"/>
          </p:cNvSpPr>
          <p:nvPr>
            <p:ph idx="1"/>
          </p:nvPr>
        </p:nvSpPr>
        <p:spPr/>
        <p:txBody>
          <a:bodyPr>
            <a:normAutofit/>
          </a:bodyPr>
          <a:lstStyle/>
          <a:p>
            <a:pPr marL="241300" indent="-241300"/>
            <a:r>
              <a:rPr lang="en-US" dirty="0"/>
              <a:t>Select the recipe</a:t>
            </a:r>
          </a:p>
          <a:p>
            <a:pPr marL="241300" indent="-241300"/>
            <a:r>
              <a:rPr lang="en-US" dirty="0"/>
              <a:t>Gather ingredients</a:t>
            </a:r>
          </a:p>
          <a:p>
            <a:pPr marL="241300" indent="-241300"/>
            <a:r>
              <a:rPr lang="en-US" dirty="0"/>
              <a:t>Collect kitchen supplies, tools, and equipment</a:t>
            </a:r>
          </a:p>
          <a:p>
            <a:pPr marL="241300" indent="-241300"/>
            <a:r>
              <a:rPr lang="en-US" dirty="0"/>
              <a:t>Preheat the oven</a:t>
            </a:r>
          </a:p>
        </p:txBody>
      </p:sp>
    </p:spTree>
    <p:extLst>
      <p:ext uri="{BB962C8B-B14F-4D97-AF65-F5344CB8AC3E}">
        <p14:creationId xmlns:p14="http://schemas.microsoft.com/office/powerpoint/2010/main" val="419320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D441A-8492-C303-D899-A6858CEC32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EB67BF-FEB6-D3DA-59BC-937D89207C69}"/>
              </a:ext>
            </a:extLst>
          </p:cNvPr>
          <p:cNvSpPr>
            <a:spLocks noGrp="1"/>
          </p:cNvSpPr>
          <p:nvPr>
            <p:ph type="title"/>
          </p:nvPr>
        </p:nvSpPr>
        <p:spPr/>
        <p:txBody>
          <a:bodyPr/>
          <a:lstStyle/>
          <a:p>
            <a:r>
              <a:rPr lang="en-US" dirty="0"/>
              <a:t>Cupcakes: Mixing</a:t>
            </a:r>
          </a:p>
        </p:txBody>
      </p:sp>
      <p:sp>
        <p:nvSpPr>
          <p:cNvPr id="3" name="Content Placeholder 2">
            <a:extLst>
              <a:ext uri="{FF2B5EF4-FFF2-40B4-BE49-F238E27FC236}">
                <a16:creationId xmlns:a16="http://schemas.microsoft.com/office/drawing/2014/main" id="{6EBB7CEB-F396-F572-8A89-F746BC6173BA}"/>
              </a:ext>
            </a:extLst>
          </p:cNvPr>
          <p:cNvSpPr>
            <a:spLocks noGrp="1"/>
          </p:cNvSpPr>
          <p:nvPr>
            <p:ph idx="1"/>
          </p:nvPr>
        </p:nvSpPr>
        <p:spPr/>
        <p:txBody>
          <a:bodyPr/>
          <a:lstStyle/>
          <a:p>
            <a:pPr marL="241300" indent="-241300"/>
            <a:r>
              <a:rPr lang="en-US" dirty="0"/>
              <a:t>Prepare dry ingredients</a:t>
            </a:r>
          </a:p>
          <a:p>
            <a:pPr marL="241300" indent="-241300"/>
            <a:r>
              <a:rPr lang="en-US" dirty="0"/>
              <a:t>Prepare wet ingredients</a:t>
            </a:r>
          </a:p>
          <a:p>
            <a:pPr marL="241300" indent="-241300"/>
            <a:r>
              <a:rPr lang="en-US" dirty="0"/>
              <a:t>Combine wet and dry ingredients</a:t>
            </a:r>
          </a:p>
        </p:txBody>
      </p:sp>
    </p:spTree>
    <p:extLst>
      <p:ext uri="{BB962C8B-B14F-4D97-AF65-F5344CB8AC3E}">
        <p14:creationId xmlns:p14="http://schemas.microsoft.com/office/powerpoint/2010/main" val="37166975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DFD1B-E954-DA2D-EA44-0C56767E4D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74CC65-590B-B014-8803-78D163803017}"/>
              </a:ext>
            </a:extLst>
          </p:cNvPr>
          <p:cNvSpPr>
            <a:spLocks noGrp="1"/>
          </p:cNvSpPr>
          <p:nvPr>
            <p:ph type="title"/>
          </p:nvPr>
        </p:nvSpPr>
        <p:spPr/>
        <p:txBody>
          <a:bodyPr/>
          <a:lstStyle/>
          <a:p>
            <a:r>
              <a:rPr lang="en-US" dirty="0"/>
              <a:t>Cupcakes: Baking</a:t>
            </a:r>
          </a:p>
        </p:txBody>
      </p:sp>
      <p:sp>
        <p:nvSpPr>
          <p:cNvPr id="3" name="Content Placeholder 2">
            <a:extLst>
              <a:ext uri="{FF2B5EF4-FFF2-40B4-BE49-F238E27FC236}">
                <a16:creationId xmlns:a16="http://schemas.microsoft.com/office/drawing/2014/main" id="{71B6AF02-CFBF-7A1A-CE43-1602B43B60C4}"/>
              </a:ext>
            </a:extLst>
          </p:cNvPr>
          <p:cNvSpPr>
            <a:spLocks noGrp="1"/>
          </p:cNvSpPr>
          <p:nvPr>
            <p:ph idx="1"/>
          </p:nvPr>
        </p:nvSpPr>
        <p:spPr/>
        <p:txBody>
          <a:bodyPr>
            <a:normAutofit/>
          </a:bodyPr>
          <a:lstStyle/>
          <a:p>
            <a:pPr marL="285750" indent="-285750"/>
            <a:r>
              <a:rPr lang="en-US" dirty="0"/>
              <a:t>Prepare the pan</a:t>
            </a:r>
          </a:p>
          <a:p>
            <a:pPr marL="285750" indent="-285750"/>
            <a:r>
              <a:rPr lang="en-US" dirty="0"/>
              <a:t>Pour the batter </a:t>
            </a:r>
          </a:p>
          <a:p>
            <a:pPr marL="285750" indent="-285750"/>
            <a:r>
              <a:rPr lang="en-US" dirty="0"/>
              <a:t>Bake for required time</a:t>
            </a:r>
          </a:p>
          <a:p>
            <a:pPr marL="285750" indent="-285750"/>
            <a:r>
              <a:rPr lang="en-US" dirty="0"/>
              <a:t>Check for doneness</a:t>
            </a:r>
          </a:p>
          <a:p>
            <a:pPr marL="285750" indent="-285750"/>
            <a:r>
              <a:rPr lang="en-US" dirty="0"/>
              <a:t>When done remove pan from oven</a:t>
            </a:r>
          </a:p>
          <a:p>
            <a:pPr marL="285750" indent="-285750"/>
            <a:endParaRPr lang="en-US" dirty="0"/>
          </a:p>
        </p:txBody>
      </p:sp>
    </p:spTree>
    <p:extLst>
      <p:ext uri="{BB962C8B-B14F-4D97-AF65-F5344CB8AC3E}">
        <p14:creationId xmlns:p14="http://schemas.microsoft.com/office/powerpoint/2010/main" val="131324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55AA1-E964-9690-FF92-5C92423C22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C998C9-A471-14C5-7463-AC72AD69A010}"/>
              </a:ext>
            </a:extLst>
          </p:cNvPr>
          <p:cNvSpPr>
            <a:spLocks noGrp="1"/>
          </p:cNvSpPr>
          <p:nvPr>
            <p:ph type="title"/>
          </p:nvPr>
        </p:nvSpPr>
        <p:spPr/>
        <p:txBody>
          <a:bodyPr/>
          <a:lstStyle/>
          <a:p>
            <a:r>
              <a:rPr lang="en-US" dirty="0"/>
              <a:t>Cupcakes: finishing</a:t>
            </a:r>
          </a:p>
        </p:txBody>
      </p:sp>
      <p:sp>
        <p:nvSpPr>
          <p:cNvPr id="3" name="Content Placeholder 2">
            <a:extLst>
              <a:ext uri="{FF2B5EF4-FFF2-40B4-BE49-F238E27FC236}">
                <a16:creationId xmlns:a16="http://schemas.microsoft.com/office/drawing/2014/main" id="{4DB83757-1E26-7894-20C0-B07CFB38F591}"/>
              </a:ext>
            </a:extLst>
          </p:cNvPr>
          <p:cNvSpPr>
            <a:spLocks noGrp="1"/>
          </p:cNvSpPr>
          <p:nvPr>
            <p:ph idx="1"/>
          </p:nvPr>
        </p:nvSpPr>
        <p:spPr/>
        <p:txBody>
          <a:bodyPr/>
          <a:lstStyle/>
          <a:p>
            <a:pPr marL="285750" indent="-285750"/>
            <a:r>
              <a:rPr lang="en-US" dirty="0"/>
              <a:t>Remove cupcakes from pan</a:t>
            </a:r>
          </a:p>
          <a:p>
            <a:pPr marL="285750" indent="-285750"/>
            <a:r>
              <a:rPr lang="en-US" dirty="0"/>
              <a:t>Cool the cupcakes</a:t>
            </a:r>
          </a:p>
          <a:p>
            <a:pPr marL="285750" indent="-285750"/>
            <a:r>
              <a:rPr lang="en-US" dirty="0"/>
              <a:t>Decorate cupcakes</a:t>
            </a:r>
          </a:p>
        </p:txBody>
      </p:sp>
    </p:spTree>
    <p:extLst>
      <p:ext uri="{BB962C8B-B14F-4D97-AF65-F5344CB8AC3E}">
        <p14:creationId xmlns:p14="http://schemas.microsoft.com/office/powerpoint/2010/main" val="27828197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2AE8E50-35D4-4D5A-A4BB-168CBB027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16">
            <a:extLst>
              <a:ext uri="{FF2B5EF4-FFF2-40B4-BE49-F238E27FC236}">
                <a16:creationId xmlns:a16="http://schemas.microsoft.com/office/drawing/2014/main" id="{C37D1D6D-17D8-4296-B000-665D1892D0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1B26E892-1320-40AA-9CA1-246721C187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3F1A8-E4C6-4B24-E120-A64FC0B3820E}"/>
              </a:ext>
            </a:extLst>
          </p:cNvPr>
          <p:cNvSpPr>
            <a:spLocks noGrp="1"/>
          </p:cNvSpPr>
          <p:nvPr>
            <p:ph type="ctrTitle"/>
          </p:nvPr>
        </p:nvSpPr>
        <p:spPr>
          <a:xfrm>
            <a:off x="4713224" y="1105351"/>
            <a:ext cx="6353967" cy="3023981"/>
          </a:xfrm>
        </p:spPr>
        <p:txBody>
          <a:bodyPr anchor="b">
            <a:normAutofit/>
          </a:bodyPr>
          <a:lstStyle/>
          <a:p>
            <a:pPr algn="l"/>
            <a:r>
              <a:rPr lang="en-US" sz="4800" dirty="0">
                <a:solidFill>
                  <a:srgbClr val="FFFFFF"/>
                </a:solidFill>
              </a:rPr>
              <a:t>Let’s try it</a:t>
            </a:r>
          </a:p>
        </p:txBody>
      </p:sp>
      <p:sp>
        <p:nvSpPr>
          <p:cNvPr id="3" name="Subtitle 2">
            <a:extLst>
              <a:ext uri="{FF2B5EF4-FFF2-40B4-BE49-F238E27FC236}">
                <a16:creationId xmlns:a16="http://schemas.microsoft.com/office/drawing/2014/main" id="{6B8143AF-7AC0-609C-19F9-66A3612D4535}"/>
              </a:ext>
            </a:extLst>
          </p:cNvPr>
          <p:cNvSpPr>
            <a:spLocks noGrp="1"/>
          </p:cNvSpPr>
          <p:nvPr>
            <p:ph type="subTitle" idx="1"/>
          </p:nvPr>
        </p:nvSpPr>
        <p:spPr>
          <a:xfrm>
            <a:off x="4713224" y="4297556"/>
            <a:ext cx="6353968" cy="1433391"/>
          </a:xfrm>
        </p:spPr>
        <p:txBody>
          <a:bodyPr anchor="t">
            <a:normAutofit/>
          </a:bodyPr>
          <a:lstStyle/>
          <a:p>
            <a:endParaRPr lang="en-US">
              <a:solidFill>
                <a:srgbClr val="FFFFFF"/>
              </a:solidFill>
            </a:endParaRPr>
          </a:p>
        </p:txBody>
      </p:sp>
      <p:cxnSp>
        <p:nvCxnSpPr>
          <p:cNvPr id="14" name="Straight Connector 13">
            <a:extLst>
              <a:ext uri="{FF2B5EF4-FFF2-40B4-BE49-F238E27FC236}">
                <a16:creationId xmlns:a16="http://schemas.microsoft.com/office/drawing/2014/main" id="{C9A1F79C-E4D1-4AAE-BA11-3A09005252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C170DF7D-4686-4BD5-A9CD-C896492846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313213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9AD18-F95D-9380-D9D2-AB016794EA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FFC43B-DACA-6624-DB64-A81EE1B609C2}"/>
              </a:ext>
            </a:extLst>
          </p:cNvPr>
          <p:cNvSpPr>
            <a:spLocks noGrp="1"/>
          </p:cNvSpPr>
          <p:nvPr>
            <p:ph type="title"/>
          </p:nvPr>
        </p:nvSpPr>
        <p:spPr/>
        <p:txBody>
          <a:bodyPr/>
          <a:lstStyle/>
          <a:p>
            <a:r>
              <a:rPr lang="en-US" dirty="0"/>
              <a:t>Today’s lab-related case</a:t>
            </a:r>
          </a:p>
        </p:txBody>
      </p:sp>
      <p:pic>
        <p:nvPicPr>
          <p:cNvPr id="3" name="Graphic 2" descr="Database with solid fill">
            <a:extLst>
              <a:ext uri="{FF2B5EF4-FFF2-40B4-BE49-F238E27FC236}">
                <a16:creationId xmlns:a16="http://schemas.microsoft.com/office/drawing/2014/main" id="{8DCE0B15-FD3F-5850-D7D7-38AA12BDBAA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77647" y="2824355"/>
            <a:ext cx="1499616" cy="1499616"/>
          </a:xfrm>
          <a:prstGeom prst="rect">
            <a:avLst/>
          </a:prstGeom>
        </p:spPr>
      </p:pic>
      <p:grpSp>
        <p:nvGrpSpPr>
          <p:cNvPr id="4" name="Group 3">
            <a:extLst>
              <a:ext uri="{FF2B5EF4-FFF2-40B4-BE49-F238E27FC236}">
                <a16:creationId xmlns:a16="http://schemas.microsoft.com/office/drawing/2014/main" id="{9A24A108-D102-0968-1BB2-8F7A1FC49935}"/>
              </a:ext>
            </a:extLst>
          </p:cNvPr>
          <p:cNvGrpSpPr>
            <a:grpSpLocks noChangeAspect="1"/>
          </p:cNvGrpSpPr>
          <p:nvPr/>
        </p:nvGrpSpPr>
        <p:grpSpPr>
          <a:xfrm>
            <a:off x="902558" y="2842614"/>
            <a:ext cx="1484924" cy="1499616"/>
            <a:chOff x="361641" y="2581420"/>
            <a:chExt cx="1265366" cy="1277886"/>
          </a:xfrm>
        </p:grpSpPr>
        <p:grpSp>
          <p:nvGrpSpPr>
            <p:cNvPr id="6" name="Group 5">
              <a:extLst>
                <a:ext uri="{FF2B5EF4-FFF2-40B4-BE49-F238E27FC236}">
                  <a16:creationId xmlns:a16="http://schemas.microsoft.com/office/drawing/2014/main" id="{30AE21F1-D91F-43D4-64E4-6D7311BBF693}"/>
                </a:ext>
              </a:extLst>
            </p:cNvPr>
            <p:cNvGrpSpPr/>
            <p:nvPr/>
          </p:nvGrpSpPr>
          <p:grpSpPr>
            <a:xfrm>
              <a:off x="361641" y="2944906"/>
              <a:ext cx="914400" cy="914400"/>
              <a:chOff x="6653996" y="2295641"/>
              <a:chExt cx="914400" cy="914400"/>
            </a:xfrm>
          </p:grpSpPr>
          <p:sp>
            <p:nvSpPr>
              <p:cNvPr id="16" name="Rectangle 15">
                <a:extLst>
                  <a:ext uri="{FF2B5EF4-FFF2-40B4-BE49-F238E27FC236}">
                    <a16:creationId xmlns:a16="http://schemas.microsoft.com/office/drawing/2014/main" id="{81737BD7-718E-A72A-1407-BAA9C58E213B}"/>
                  </a:ext>
                </a:extLst>
              </p:cNvPr>
              <p:cNvSpPr/>
              <p:nvPr/>
            </p:nvSpPr>
            <p:spPr>
              <a:xfrm>
                <a:off x="6858000" y="2473874"/>
                <a:ext cx="524435" cy="6113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pic>
            <p:nvPicPr>
              <p:cNvPr id="17" name="Graphic 16" descr="Document with solid fill">
                <a:extLst>
                  <a:ext uri="{FF2B5EF4-FFF2-40B4-BE49-F238E27FC236}">
                    <a16:creationId xmlns:a16="http://schemas.microsoft.com/office/drawing/2014/main" id="{7BC69333-8D86-42B0-6D2E-7F314BCBB18C}"/>
                  </a:ext>
                </a:extLst>
              </p:cNvPr>
              <p:cNvPicPr>
                <a:picLocks noChangeAspect="1"/>
              </p:cNvPicPr>
              <p:nvPr/>
            </p:nvPicPr>
            <p:blipFill>
              <a:blip r:embed="rId4">
                <a:alphaModFix/>
                <a:extLst>
                  <a:ext uri="{96DAC541-7B7A-43D3-8B79-37D633B846F1}">
                    <asvg:svgBlip xmlns:asvg="http://schemas.microsoft.com/office/drawing/2016/SVG/main" r:embed="rId5"/>
                  </a:ext>
                </a:extLst>
              </a:blip>
              <a:stretch>
                <a:fillRect/>
              </a:stretch>
            </p:blipFill>
            <p:spPr>
              <a:xfrm>
                <a:off x="6653996" y="2295641"/>
                <a:ext cx="914400" cy="914400"/>
              </a:xfrm>
              <a:prstGeom prst="rect">
                <a:avLst/>
              </a:prstGeom>
            </p:spPr>
          </p:pic>
        </p:grpSp>
        <p:grpSp>
          <p:nvGrpSpPr>
            <p:cNvPr id="7" name="Group 6">
              <a:extLst>
                <a:ext uri="{FF2B5EF4-FFF2-40B4-BE49-F238E27FC236}">
                  <a16:creationId xmlns:a16="http://schemas.microsoft.com/office/drawing/2014/main" id="{271128E2-736C-C760-E77E-E084ED9D8994}"/>
                </a:ext>
              </a:extLst>
            </p:cNvPr>
            <p:cNvGrpSpPr/>
            <p:nvPr/>
          </p:nvGrpSpPr>
          <p:grpSpPr>
            <a:xfrm>
              <a:off x="475306" y="2813454"/>
              <a:ext cx="914400" cy="914400"/>
              <a:chOff x="6653996" y="2295641"/>
              <a:chExt cx="914400" cy="914400"/>
            </a:xfrm>
          </p:grpSpPr>
          <p:sp>
            <p:nvSpPr>
              <p:cNvPr id="14" name="Rectangle 13">
                <a:extLst>
                  <a:ext uri="{FF2B5EF4-FFF2-40B4-BE49-F238E27FC236}">
                    <a16:creationId xmlns:a16="http://schemas.microsoft.com/office/drawing/2014/main" id="{B536F572-BDAA-009A-725F-CF540FFDCE39}"/>
                  </a:ext>
                </a:extLst>
              </p:cNvPr>
              <p:cNvSpPr/>
              <p:nvPr/>
            </p:nvSpPr>
            <p:spPr>
              <a:xfrm>
                <a:off x="6858000" y="2473874"/>
                <a:ext cx="524435" cy="6113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pic>
            <p:nvPicPr>
              <p:cNvPr id="15" name="Graphic 14" descr="Document with solid fill">
                <a:extLst>
                  <a:ext uri="{FF2B5EF4-FFF2-40B4-BE49-F238E27FC236}">
                    <a16:creationId xmlns:a16="http://schemas.microsoft.com/office/drawing/2014/main" id="{7289DF34-228A-89AA-65CD-E2EB361DF32B}"/>
                  </a:ext>
                </a:extLst>
              </p:cNvPr>
              <p:cNvPicPr>
                <a:picLocks noChangeAspect="1"/>
              </p:cNvPicPr>
              <p:nvPr/>
            </p:nvPicPr>
            <p:blipFill>
              <a:blip r:embed="rId4">
                <a:alphaModFix/>
                <a:extLst>
                  <a:ext uri="{96DAC541-7B7A-43D3-8B79-37D633B846F1}">
                    <asvg:svgBlip xmlns:asvg="http://schemas.microsoft.com/office/drawing/2016/SVG/main" r:embed="rId5"/>
                  </a:ext>
                </a:extLst>
              </a:blip>
              <a:stretch>
                <a:fillRect/>
              </a:stretch>
            </p:blipFill>
            <p:spPr>
              <a:xfrm>
                <a:off x="6653996" y="2295641"/>
                <a:ext cx="914400" cy="914400"/>
              </a:xfrm>
              <a:prstGeom prst="rect">
                <a:avLst/>
              </a:prstGeom>
            </p:spPr>
          </p:pic>
        </p:grpSp>
        <p:grpSp>
          <p:nvGrpSpPr>
            <p:cNvPr id="8" name="Group 7">
              <a:extLst>
                <a:ext uri="{FF2B5EF4-FFF2-40B4-BE49-F238E27FC236}">
                  <a16:creationId xmlns:a16="http://schemas.microsoft.com/office/drawing/2014/main" id="{4403FA33-F46E-349A-D6C6-7C2D832D31AA}"/>
                </a:ext>
              </a:extLst>
            </p:cNvPr>
            <p:cNvGrpSpPr/>
            <p:nvPr/>
          </p:nvGrpSpPr>
          <p:grpSpPr>
            <a:xfrm>
              <a:off x="598942" y="2697437"/>
              <a:ext cx="914400" cy="914400"/>
              <a:chOff x="6653996" y="2295641"/>
              <a:chExt cx="914400" cy="914400"/>
            </a:xfrm>
          </p:grpSpPr>
          <p:sp>
            <p:nvSpPr>
              <p:cNvPr id="12" name="Rectangle 11">
                <a:extLst>
                  <a:ext uri="{FF2B5EF4-FFF2-40B4-BE49-F238E27FC236}">
                    <a16:creationId xmlns:a16="http://schemas.microsoft.com/office/drawing/2014/main" id="{25B49038-911A-C14D-5A03-428289EE6860}"/>
                  </a:ext>
                </a:extLst>
              </p:cNvPr>
              <p:cNvSpPr/>
              <p:nvPr/>
            </p:nvSpPr>
            <p:spPr>
              <a:xfrm>
                <a:off x="6858000" y="2473874"/>
                <a:ext cx="524435" cy="6113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pic>
            <p:nvPicPr>
              <p:cNvPr id="13" name="Graphic 12" descr="Document with solid fill">
                <a:extLst>
                  <a:ext uri="{FF2B5EF4-FFF2-40B4-BE49-F238E27FC236}">
                    <a16:creationId xmlns:a16="http://schemas.microsoft.com/office/drawing/2014/main" id="{176681C1-42C9-6441-2604-1525690D238D}"/>
                  </a:ext>
                </a:extLst>
              </p:cNvPr>
              <p:cNvPicPr>
                <a:picLocks noChangeAspect="1"/>
              </p:cNvPicPr>
              <p:nvPr/>
            </p:nvPicPr>
            <p:blipFill>
              <a:blip r:embed="rId4">
                <a:alphaModFix/>
                <a:extLst>
                  <a:ext uri="{96DAC541-7B7A-43D3-8B79-37D633B846F1}">
                    <asvg:svgBlip xmlns:asvg="http://schemas.microsoft.com/office/drawing/2016/SVG/main" r:embed="rId5"/>
                  </a:ext>
                </a:extLst>
              </a:blip>
              <a:stretch>
                <a:fillRect/>
              </a:stretch>
            </p:blipFill>
            <p:spPr>
              <a:xfrm>
                <a:off x="6653996" y="2295641"/>
                <a:ext cx="914400" cy="914400"/>
              </a:xfrm>
              <a:prstGeom prst="rect">
                <a:avLst/>
              </a:prstGeom>
            </p:spPr>
          </p:pic>
        </p:grpSp>
        <p:grpSp>
          <p:nvGrpSpPr>
            <p:cNvPr id="9" name="Group 8">
              <a:extLst>
                <a:ext uri="{FF2B5EF4-FFF2-40B4-BE49-F238E27FC236}">
                  <a16:creationId xmlns:a16="http://schemas.microsoft.com/office/drawing/2014/main" id="{E62B3C1E-5563-C053-291E-64D4375490F5}"/>
                </a:ext>
              </a:extLst>
            </p:cNvPr>
            <p:cNvGrpSpPr/>
            <p:nvPr/>
          </p:nvGrpSpPr>
          <p:grpSpPr>
            <a:xfrm>
              <a:off x="712607" y="2581420"/>
              <a:ext cx="914400" cy="914400"/>
              <a:chOff x="6653996" y="2295641"/>
              <a:chExt cx="914400" cy="914400"/>
            </a:xfrm>
          </p:grpSpPr>
          <p:sp>
            <p:nvSpPr>
              <p:cNvPr id="10" name="Rectangle 9">
                <a:extLst>
                  <a:ext uri="{FF2B5EF4-FFF2-40B4-BE49-F238E27FC236}">
                    <a16:creationId xmlns:a16="http://schemas.microsoft.com/office/drawing/2014/main" id="{3F4CD982-C968-96F1-8D29-2FDB7633221A}"/>
                  </a:ext>
                </a:extLst>
              </p:cNvPr>
              <p:cNvSpPr/>
              <p:nvPr/>
            </p:nvSpPr>
            <p:spPr>
              <a:xfrm>
                <a:off x="6858000" y="2473874"/>
                <a:ext cx="524435" cy="6113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pic>
            <p:nvPicPr>
              <p:cNvPr id="11" name="Graphic 10" descr="Document with solid fill">
                <a:extLst>
                  <a:ext uri="{FF2B5EF4-FFF2-40B4-BE49-F238E27FC236}">
                    <a16:creationId xmlns:a16="http://schemas.microsoft.com/office/drawing/2014/main" id="{7BF7BE99-8CC7-685F-BD7B-FDD160DF3A8F}"/>
                  </a:ext>
                </a:extLst>
              </p:cNvPr>
              <p:cNvPicPr>
                <a:picLocks noChangeAspect="1"/>
              </p:cNvPicPr>
              <p:nvPr/>
            </p:nvPicPr>
            <p:blipFill>
              <a:blip r:embed="rId4">
                <a:alphaModFix/>
                <a:extLst>
                  <a:ext uri="{96DAC541-7B7A-43D3-8B79-37D633B846F1}">
                    <asvg:svgBlip xmlns:asvg="http://schemas.microsoft.com/office/drawing/2016/SVG/main" r:embed="rId5"/>
                  </a:ext>
                </a:extLst>
              </a:blip>
              <a:stretch>
                <a:fillRect/>
              </a:stretch>
            </p:blipFill>
            <p:spPr>
              <a:xfrm>
                <a:off x="6653996" y="2295641"/>
                <a:ext cx="914400" cy="914400"/>
              </a:xfrm>
              <a:prstGeom prst="rect">
                <a:avLst/>
              </a:prstGeom>
            </p:spPr>
          </p:pic>
        </p:grpSp>
      </p:grpSp>
      <p:sp>
        <p:nvSpPr>
          <p:cNvPr id="18" name="Right Arrow 17">
            <a:extLst>
              <a:ext uri="{FF2B5EF4-FFF2-40B4-BE49-F238E27FC236}">
                <a16:creationId xmlns:a16="http://schemas.microsoft.com/office/drawing/2014/main" id="{5174ACA5-D0EA-7C9A-69AD-3CEBCEB67C7F}"/>
              </a:ext>
            </a:extLst>
          </p:cNvPr>
          <p:cNvSpPr/>
          <p:nvPr/>
        </p:nvSpPr>
        <p:spPr>
          <a:xfrm>
            <a:off x="2729312" y="3229768"/>
            <a:ext cx="3603245" cy="792238"/>
          </a:xfrm>
          <a:prstGeom prst="right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9" name="Right Arrow 18">
            <a:extLst>
              <a:ext uri="{FF2B5EF4-FFF2-40B4-BE49-F238E27FC236}">
                <a16:creationId xmlns:a16="http://schemas.microsoft.com/office/drawing/2014/main" id="{2571BCE2-2262-2C44-5B58-AE4E751692A7}"/>
              </a:ext>
            </a:extLst>
          </p:cNvPr>
          <p:cNvSpPr/>
          <p:nvPr/>
        </p:nvSpPr>
        <p:spPr>
          <a:xfrm>
            <a:off x="8094696" y="3435066"/>
            <a:ext cx="752389" cy="430306"/>
          </a:xfrm>
          <a:prstGeom prst="right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pic>
        <p:nvPicPr>
          <p:cNvPr id="20" name="Picture 19">
            <a:extLst>
              <a:ext uri="{FF2B5EF4-FFF2-40B4-BE49-F238E27FC236}">
                <a16:creationId xmlns:a16="http://schemas.microsoft.com/office/drawing/2014/main" id="{347949FC-9129-1008-57E3-01ACD28AAE5C}"/>
              </a:ext>
            </a:extLst>
          </p:cNvPr>
          <p:cNvPicPr>
            <a:picLocks noChangeAspect="1"/>
          </p:cNvPicPr>
          <p:nvPr/>
        </p:nvPicPr>
        <p:blipFill>
          <a:blip r:embed="rId6"/>
          <a:stretch>
            <a:fillRect/>
          </a:stretch>
        </p:blipFill>
        <p:spPr>
          <a:xfrm>
            <a:off x="9248531" y="2846540"/>
            <a:ext cx="1495669" cy="1495669"/>
          </a:xfrm>
          <a:prstGeom prst="rect">
            <a:avLst/>
          </a:prstGeom>
        </p:spPr>
      </p:pic>
      <p:grpSp>
        <p:nvGrpSpPr>
          <p:cNvPr id="21" name="Group 20">
            <a:extLst>
              <a:ext uri="{FF2B5EF4-FFF2-40B4-BE49-F238E27FC236}">
                <a16:creationId xmlns:a16="http://schemas.microsoft.com/office/drawing/2014/main" id="{7B88791A-9F4D-208F-74FD-A300E809F509}"/>
              </a:ext>
            </a:extLst>
          </p:cNvPr>
          <p:cNvGrpSpPr>
            <a:grpSpLocks noChangeAspect="1"/>
          </p:cNvGrpSpPr>
          <p:nvPr/>
        </p:nvGrpSpPr>
        <p:grpSpPr>
          <a:xfrm>
            <a:off x="2408657" y="2952909"/>
            <a:ext cx="1188720" cy="1188720"/>
            <a:chOff x="2732653" y="4969565"/>
            <a:chExt cx="685800" cy="685800"/>
          </a:xfrm>
        </p:grpSpPr>
        <p:sp>
          <p:nvSpPr>
            <p:cNvPr id="22" name="Oval 21">
              <a:extLst>
                <a:ext uri="{FF2B5EF4-FFF2-40B4-BE49-F238E27FC236}">
                  <a16:creationId xmlns:a16="http://schemas.microsoft.com/office/drawing/2014/main" id="{AB5EC009-CF80-2825-063D-E254A7453AF9}"/>
                </a:ext>
              </a:extLst>
            </p:cNvPr>
            <p:cNvSpPr/>
            <p:nvPr/>
          </p:nvSpPr>
          <p:spPr>
            <a:xfrm>
              <a:off x="2907465" y="5171271"/>
              <a:ext cx="336176" cy="3361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pic>
          <p:nvPicPr>
            <p:cNvPr id="23" name="Graphic 22" descr="Alarm clock with solid fill">
              <a:extLst>
                <a:ext uri="{FF2B5EF4-FFF2-40B4-BE49-F238E27FC236}">
                  <a16:creationId xmlns:a16="http://schemas.microsoft.com/office/drawing/2014/main" id="{5AB1A84A-184C-6893-8E1E-57513AE34F2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732653" y="4969565"/>
              <a:ext cx="685800" cy="685800"/>
            </a:xfrm>
            <a:prstGeom prst="rect">
              <a:avLst/>
            </a:prstGeom>
          </p:spPr>
        </p:pic>
      </p:grpSp>
      <p:sp>
        <p:nvSpPr>
          <p:cNvPr id="24" name="TextBox 23">
            <a:extLst>
              <a:ext uri="{FF2B5EF4-FFF2-40B4-BE49-F238E27FC236}">
                <a16:creationId xmlns:a16="http://schemas.microsoft.com/office/drawing/2014/main" id="{82A25E4C-5BFD-77E0-7E05-F3D5E57D63AD}"/>
              </a:ext>
            </a:extLst>
          </p:cNvPr>
          <p:cNvSpPr txBox="1"/>
          <p:nvPr/>
        </p:nvSpPr>
        <p:spPr>
          <a:xfrm>
            <a:off x="1314420" y="5100012"/>
            <a:ext cx="9044018"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Tw Cen MT" panose="020B0602020104020603"/>
                <a:ea typeface="+mn-ea"/>
                <a:cs typeface="+mn-cs"/>
              </a:rPr>
              <a:t>Several individual files in a folder that you’d like to set up an automated data pipeline for and visualize in a dashboard</a:t>
            </a:r>
          </a:p>
        </p:txBody>
      </p:sp>
      <p:sp>
        <p:nvSpPr>
          <p:cNvPr id="5" name="TextBox 4">
            <a:extLst>
              <a:ext uri="{FF2B5EF4-FFF2-40B4-BE49-F238E27FC236}">
                <a16:creationId xmlns:a16="http://schemas.microsoft.com/office/drawing/2014/main" id="{55210BC2-DC7F-0772-978D-E4AF701346B7}"/>
              </a:ext>
            </a:extLst>
          </p:cNvPr>
          <p:cNvSpPr txBox="1"/>
          <p:nvPr/>
        </p:nvSpPr>
        <p:spPr>
          <a:xfrm>
            <a:off x="8368328" y="264622"/>
            <a:ext cx="3299301" cy="1200329"/>
          </a:xfrm>
          <a:prstGeom prst="rect">
            <a:avLst/>
          </a:prstGeom>
          <a:noFill/>
        </p:spPr>
        <p:txBody>
          <a:bodyPr wrap="none" rtlCol="0">
            <a:spAutoFit/>
          </a:bodyPr>
          <a:lstStyle/>
          <a:p>
            <a:r>
              <a:rPr lang="en-US" sz="7200" b="1" dirty="0">
                <a:solidFill>
                  <a:schemeClr val="accent1"/>
                </a:solidFill>
              </a:rPr>
              <a:t>Exercise</a:t>
            </a:r>
          </a:p>
        </p:txBody>
      </p:sp>
    </p:spTree>
    <p:extLst>
      <p:ext uri="{BB962C8B-B14F-4D97-AF65-F5344CB8AC3E}">
        <p14:creationId xmlns:p14="http://schemas.microsoft.com/office/powerpoint/2010/main" val="42508937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F323D-B8BB-B9A4-9C1B-D0C701D92AC2}"/>
              </a:ext>
            </a:extLst>
          </p:cNvPr>
          <p:cNvSpPr>
            <a:spLocks noGrp="1"/>
          </p:cNvSpPr>
          <p:nvPr>
            <p:ph type="title"/>
          </p:nvPr>
        </p:nvSpPr>
        <p:spPr/>
        <p:txBody>
          <a:bodyPr/>
          <a:lstStyle/>
          <a:p>
            <a:r>
              <a:rPr lang="en-US" dirty="0"/>
              <a:t>decomposition</a:t>
            </a:r>
          </a:p>
        </p:txBody>
      </p:sp>
      <p:sp>
        <p:nvSpPr>
          <p:cNvPr id="3" name="Content Placeholder 2">
            <a:extLst>
              <a:ext uri="{FF2B5EF4-FFF2-40B4-BE49-F238E27FC236}">
                <a16:creationId xmlns:a16="http://schemas.microsoft.com/office/drawing/2014/main" id="{F996BA72-1EA8-2946-E22E-73F35A429586}"/>
              </a:ext>
            </a:extLst>
          </p:cNvPr>
          <p:cNvSpPr>
            <a:spLocks noGrp="1"/>
          </p:cNvSpPr>
          <p:nvPr>
            <p:ph idx="1"/>
          </p:nvPr>
        </p:nvSpPr>
        <p:spPr>
          <a:xfrm>
            <a:off x="1024127" y="3879142"/>
            <a:ext cx="9720073" cy="2606040"/>
          </a:xfrm>
        </p:spPr>
        <p:txBody>
          <a:bodyPr>
            <a:normAutofit fontScale="85000" lnSpcReduction="10000"/>
          </a:bodyPr>
          <a:lstStyle/>
          <a:p>
            <a:pPr marL="298450" indent="-298450"/>
            <a:r>
              <a:rPr lang="en-US" dirty="0"/>
              <a:t>Join your classmates in small groups</a:t>
            </a:r>
          </a:p>
          <a:p>
            <a:pPr marL="298450" indent="-298450"/>
            <a:r>
              <a:rPr lang="en-US" dirty="0"/>
              <a:t>Create list of sub-tasks for our dashboard job</a:t>
            </a:r>
          </a:p>
          <a:p>
            <a:pPr marL="298450" indent="-298450"/>
            <a:r>
              <a:rPr lang="en-US" dirty="0"/>
              <a:t>For each sub-task start to define the inputs, outputs, and constraints</a:t>
            </a:r>
          </a:p>
          <a:p>
            <a:pPr marL="298450" indent="-298450"/>
            <a:r>
              <a:rPr lang="en-US" dirty="0"/>
              <a:t>Consider how these will come together for a full solution</a:t>
            </a:r>
          </a:p>
          <a:p>
            <a:pPr marL="298450" indent="-298450"/>
            <a:r>
              <a:rPr lang="en-US" dirty="0"/>
              <a:t>Share your ideas with the group</a:t>
            </a:r>
          </a:p>
        </p:txBody>
      </p:sp>
      <p:sp>
        <p:nvSpPr>
          <p:cNvPr id="4" name="TextBox 3">
            <a:extLst>
              <a:ext uri="{FF2B5EF4-FFF2-40B4-BE49-F238E27FC236}">
                <a16:creationId xmlns:a16="http://schemas.microsoft.com/office/drawing/2014/main" id="{F097FEC2-C326-EC79-D313-660F7979554A}"/>
              </a:ext>
            </a:extLst>
          </p:cNvPr>
          <p:cNvSpPr txBox="1"/>
          <p:nvPr/>
        </p:nvSpPr>
        <p:spPr>
          <a:xfrm>
            <a:off x="8368328" y="264622"/>
            <a:ext cx="3299301" cy="1200329"/>
          </a:xfrm>
          <a:prstGeom prst="rect">
            <a:avLst/>
          </a:prstGeom>
          <a:noFill/>
        </p:spPr>
        <p:txBody>
          <a:bodyPr wrap="none" rtlCol="0">
            <a:spAutoFit/>
          </a:bodyPr>
          <a:lstStyle/>
          <a:p>
            <a:r>
              <a:rPr lang="en-US" sz="7200" b="1" dirty="0">
                <a:solidFill>
                  <a:schemeClr val="accent1"/>
                </a:solidFill>
              </a:rPr>
              <a:t>Exercise</a:t>
            </a:r>
          </a:p>
        </p:txBody>
      </p:sp>
      <p:pic>
        <p:nvPicPr>
          <p:cNvPr id="5" name="Graphic 4" descr="Database with solid fill">
            <a:extLst>
              <a:ext uri="{FF2B5EF4-FFF2-40B4-BE49-F238E27FC236}">
                <a16:creationId xmlns:a16="http://schemas.microsoft.com/office/drawing/2014/main" id="{D3909959-47BC-810F-AD62-52291D4FB16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77647" y="1911146"/>
            <a:ext cx="1499616" cy="1499616"/>
          </a:xfrm>
          <a:prstGeom prst="rect">
            <a:avLst/>
          </a:prstGeom>
        </p:spPr>
      </p:pic>
      <p:grpSp>
        <p:nvGrpSpPr>
          <p:cNvPr id="6" name="Group 5">
            <a:extLst>
              <a:ext uri="{FF2B5EF4-FFF2-40B4-BE49-F238E27FC236}">
                <a16:creationId xmlns:a16="http://schemas.microsoft.com/office/drawing/2014/main" id="{F26853CA-1B36-9F10-5674-3635BDE08FDA}"/>
              </a:ext>
            </a:extLst>
          </p:cNvPr>
          <p:cNvGrpSpPr>
            <a:grpSpLocks noChangeAspect="1"/>
          </p:cNvGrpSpPr>
          <p:nvPr/>
        </p:nvGrpSpPr>
        <p:grpSpPr>
          <a:xfrm>
            <a:off x="902558" y="1929405"/>
            <a:ext cx="1484924" cy="1499616"/>
            <a:chOff x="361641" y="2581420"/>
            <a:chExt cx="1265366" cy="1277886"/>
          </a:xfrm>
        </p:grpSpPr>
        <p:grpSp>
          <p:nvGrpSpPr>
            <p:cNvPr id="7" name="Group 6">
              <a:extLst>
                <a:ext uri="{FF2B5EF4-FFF2-40B4-BE49-F238E27FC236}">
                  <a16:creationId xmlns:a16="http://schemas.microsoft.com/office/drawing/2014/main" id="{2FEF55DB-7045-2FFF-1E00-1DDFD189574C}"/>
                </a:ext>
              </a:extLst>
            </p:cNvPr>
            <p:cNvGrpSpPr/>
            <p:nvPr/>
          </p:nvGrpSpPr>
          <p:grpSpPr>
            <a:xfrm>
              <a:off x="361641" y="2944906"/>
              <a:ext cx="914400" cy="914400"/>
              <a:chOff x="6653996" y="2295641"/>
              <a:chExt cx="914400" cy="914400"/>
            </a:xfrm>
          </p:grpSpPr>
          <p:sp>
            <p:nvSpPr>
              <p:cNvPr id="17" name="Rectangle 16">
                <a:extLst>
                  <a:ext uri="{FF2B5EF4-FFF2-40B4-BE49-F238E27FC236}">
                    <a16:creationId xmlns:a16="http://schemas.microsoft.com/office/drawing/2014/main" id="{FE927D51-330B-48F0-9E78-077BEE132D85}"/>
                  </a:ext>
                </a:extLst>
              </p:cNvPr>
              <p:cNvSpPr/>
              <p:nvPr/>
            </p:nvSpPr>
            <p:spPr>
              <a:xfrm>
                <a:off x="6858000" y="2473874"/>
                <a:ext cx="524435" cy="6113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raphic 17" descr="Document with solid fill">
                <a:extLst>
                  <a:ext uri="{FF2B5EF4-FFF2-40B4-BE49-F238E27FC236}">
                    <a16:creationId xmlns:a16="http://schemas.microsoft.com/office/drawing/2014/main" id="{59851C75-BC49-9B33-9CF5-2D41B0960A19}"/>
                  </a:ext>
                </a:extLst>
              </p:cNvPr>
              <p:cNvPicPr>
                <a:picLocks noChangeAspect="1"/>
              </p:cNvPicPr>
              <p:nvPr/>
            </p:nvPicPr>
            <p:blipFill>
              <a:blip r:embed="rId4">
                <a:alphaModFix/>
                <a:extLst>
                  <a:ext uri="{96DAC541-7B7A-43D3-8B79-37D633B846F1}">
                    <asvg:svgBlip xmlns:asvg="http://schemas.microsoft.com/office/drawing/2016/SVG/main" r:embed="rId5"/>
                  </a:ext>
                </a:extLst>
              </a:blip>
              <a:stretch>
                <a:fillRect/>
              </a:stretch>
            </p:blipFill>
            <p:spPr>
              <a:xfrm>
                <a:off x="6653996" y="2295641"/>
                <a:ext cx="914400" cy="914400"/>
              </a:xfrm>
              <a:prstGeom prst="rect">
                <a:avLst/>
              </a:prstGeom>
            </p:spPr>
          </p:pic>
        </p:grpSp>
        <p:grpSp>
          <p:nvGrpSpPr>
            <p:cNvPr id="8" name="Group 7">
              <a:extLst>
                <a:ext uri="{FF2B5EF4-FFF2-40B4-BE49-F238E27FC236}">
                  <a16:creationId xmlns:a16="http://schemas.microsoft.com/office/drawing/2014/main" id="{30C3076A-F9A0-E4EE-4419-BAF85C052F58}"/>
                </a:ext>
              </a:extLst>
            </p:cNvPr>
            <p:cNvGrpSpPr/>
            <p:nvPr/>
          </p:nvGrpSpPr>
          <p:grpSpPr>
            <a:xfrm>
              <a:off x="475306" y="2813454"/>
              <a:ext cx="914400" cy="914400"/>
              <a:chOff x="6653996" y="2295641"/>
              <a:chExt cx="914400" cy="914400"/>
            </a:xfrm>
          </p:grpSpPr>
          <p:sp>
            <p:nvSpPr>
              <p:cNvPr id="15" name="Rectangle 14">
                <a:extLst>
                  <a:ext uri="{FF2B5EF4-FFF2-40B4-BE49-F238E27FC236}">
                    <a16:creationId xmlns:a16="http://schemas.microsoft.com/office/drawing/2014/main" id="{7270FC75-8A24-3D7C-1BDD-FC59EE44EA76}"/>
                  </a:ext>
                </a:extLst>
              </p:cNvPr>
              <p:cNvSpPr/>
              <p:nvPr/>
            </p:nvSpPr>
            <p:spPr>
              <a:xfrm>
                <a:off x="6858000" y="2473874"/>
                <a:ext cx="524435" cy="6113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descr="Document with solid fill">
                <a:extLst>
                  <a:ext uri="{FF2B5EF4-FFF2-40B4-BE49-F238E27FC236}">
                    <a16:creationId xmlns:a16="http://schemas.microsoft.com/office/drawing/2014/main" id="{52B2AEFB-9B2E-CDAD-FB81-2EBEA9AEC0DB}"/>
                  </a:ext>
                </a:extLst>
              </p:cNvPr>
              <p:cNvPicPr>
                <a:picLocks noChangeAspect="1"/>
              </p:cNvPicPr>
              <p:nvPr/>
            </p:nvPicPr>
            <p:blipFill>
              <a:blip r:embed="rId4">
                <a:alphaModFix/>
                <a:extLst>
                  <a:ext uri="{96DAC541-7B7A-43D3-8B79-37D633B846F1}">
                    <asvg:svgBlip xmlns:asvg="http://schemas.microsoft.com/office/drawing/2016/SVG/main" r:embed="rId5"/>
                  </a:ext>
                </a:extLst>
              </a:blip>
              <a:stretch>
                <a:fillRect/>
              </a:stretch>
            </p:blipFill>
            <p:spPr>
              <a:xfrm>
                <a:off x="6653996" y="2295641"/>
                <a:ext cx="914400" cy="914400"/>
              </a:xfrm>
              <a:prstGeom prst="rect">
                <a:avLst/>
              </a:prstGeom>
            </p:spPr>
          </p:pic>
        </p:grpSp>
        <p:grpSp>
          <p:nvGrpSpPr>
            <p:cNvPr id="9" name="Group 8">
              <a:extLst>
                <a:ext uri="{FF2B5EF4-FFF2-40B4-BE49-F238E27FC236}">
                  <a16:creationId xmlns:a16="http://schemas.microsoft.com/office/drawing/2014/main" id="{5B4A6B00-C0AE-4390-E3FD-1CAA1FB8C018}"/>
                </a:ext>
              </a:extLst>
            </p:cNvPr>
            <p:cNvGrpSpPr/>
            <p:nvPr/>
          </p:nvGrpSpPr>
          <p:grpSpPr>
            <a:xfrm>
              <a:off x="598942" y="2697437"/>
              <a:ext cx="914400" cy="914400"/>
              <a:chOff x="6653996" y="2295641"/>
              <a:chExt cx="914400" cy="914400"/>
            </a:xfrm>
          </p:grpSpPr>
          <p:sp>
            <p:nvSpPr>
              <p:cNvPr id="13" name="Rectangle 12">
                <a:extLst>
                  <a:ext uri="{FF2B5EF4-FFF2-40B4-BE49-F238E27FC236}">
                    <a16:creationId xmlns:a16="http://schemas.microsoft.com/office/drawing/2014/main" id="{F8A587F9-9B35-E114-4254-B60AEEEE3CC1}"/>
                  </a:ext>
                </a:extLst>
              </p:cNvPr>
              <p:cNvSpPr/>
              <p:nvPr/>
            </p:nvSpPr>
            <p:spPr>
              <a:xfrm>
                <a:off x="6858000" y="2473874"/>
                <a:ext cx="524435" cy="6113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Graphic 13" descr="Document with solid fill">
                <a:extLst>
                  <a:ext uri="{FF2B5EF4-FFF2-40B4-BE49-F238E27FC236}">
                    <a16:creationId xmlns:a16="http://schemas.microsoft.com/office/drawing/2014/main" id="{C6CA2D48-2AE5-5804-27E7-600434F7D004}"/>
                  </a:ext>
                </a:extLst>
              </p:cNvPr>
              <p:cNvPicPr>
                <a:picLocks noChangeAspect="1"/>
              </p:cNvPicPr>
              <p:nvPr/>
            </p:nvPicPr>
            <p:blipFill>
              <a:blip r:embed="rId4">
                <a:alphaModFix/>
                <a:extLst>
                  <a:ext uri="{96DAC541-7B7A-43D3-8B79-37D633B846F1}">
                    <asvg:svgBlip xmlns:asvg="http://schemas.microsoft.com/office/drawing/2016/SVG/main" r:embed="rId5"/>
                  </a:ext>
                </a:extLst>
              </a:blip>
              <a:stretch>
                <a:fillRect/>
              </a:stretch>
            </p:blipFill>
            <p:spPr>
              <a:xfrm>
                <a:off x="6653996" y="2295641"/>
                <a:ext cx="914400" cy="914400"/>
              </a:xfrm>
              <a:prstGeom prst="rect">
                <a:avLst/>
              </a:prstGeom>
            </p:spPr>
          </p:pic>
        </p:grpSp>
        <p:grpSp>
          <p:nvGrpSpPr>
            <p:cNvPr id="10" name="Group 9">
              <a:extLst>
                <a:ext uri="{FF2B5EF4-FFF2-40B4-BE49-F238E27FC236}">
                  <a16:creationId xmlns:a16="http://schemas.microsoft.com/office/drawing/2014/main" id="{7D106D4C-D37E-5E92-CE9A-C81F02F7DF58}"/>
                </a:ext>
              </a:extLst>
            </p:cNvPr>
            <p:cNvGrpSpPr/>
            <p:nvPr/>
          </p:nvGrpSpPr>
          <p:grpSpPr>
            <a:xfrm>
              <a:off x="712607" y="2581420"/>
              <a:ext cx="914400" cy="914400"/>
              <a:chOff x="6653996" y="2295641"/>
              <a:chExt cx="914400" cy="914400"/>
            </a:xfrm>
          </p:grpSpPr>
          <p:sp>
            <p:nvSpPr>
              <p:cNvPr id="11" name="Rectangle 10">
                <a:extLst>
                  <a:ext uri="{FF2B5EF4-FFF2-40B4-BE49-F238E27FC236}">
                    <a16:creationId xmlns:a16="http://schemas.microsoft.com/office/drawing/2014/main" id="{6E55AD17-2F7E-28EC-CFB9-59DBD2E80453}"/>
                  </a:ext>
                </a:extLst>
              </p:cNvPr>
              <p:cNvSpPr/>
              <p:nvPr/>
            </p:nvSpPr>
            <p:spPr>
              <a:xfrm>
                <a:off x="6858000" y="2473874"/>
                <a:ext cx="524435" cy="6113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descr="Document with solid fill">
                <a:extLst>
                  <a:ext uri="{FF2B5EF4-FFF2-40B4-BE49-F238E27FC236}">
                    <a16:creationId xmlns:a16="http://schemas.microsoft.com/office/drawing/2014/main" id="{7E751C53-224E-BBB3-F38C-7CEB1CDE083B}"/>
                  </a:ext>
                </a:extLst>
              </p:cNvPr>
              <p:cNvPicPr>
                <a:picLocks noChangeAspect="1"/>
              </p:cNvPicPr>
              <p:nvPr/>
            </p:nvPicPr>
            <p:blipFill>
              <a:blip r:embed="rId4">
                <a:alphaModFix/>
                <a:extLst>
                  <a:ext uri="{96DAC541-7B7A-43D3-8B79-37D633B846F1}">
                    <asvg:svgBlip xmlns:asvg="http://schemas.microsoft.com/office/drawing/2016/SVG/main" r:embed="rId5"/>
                  </a:ext>
                </a:extLst>
              </a:blip>
              <a:stretch>
                <a:fillRect/>
              </a:stretch>
            </p:blipFill>
            <p:spPr>
              <a:xfrm>
                <a:off x="6653996" y="2295641"/>
                <a:ext cx="914400" cy="914400"/>
              </a:xfrm>
              <a:prstGeom prst="rect">
                <a:avLst/>
              </a:prstGeom>
            </p:spPr>
          </p:pic>
        </p:grpSp>
      </p:grpSp>
      <p:sp>
        <p:nvSpPr>
          <p:cNvPr id="19" name="Right Arrow 18">
            <a:extLst>
              <a:ext uri="{FF2B5EF4-FFF2-40B4-BE49-F238E27FC236}">
                <a16:creationId xmlns:a16="http://schemas.microsoft.com/office/drawing/2014/main" id="{4C53625E-0F8C-8174-79E7-5915D910C0BC}"/>
              </a:ext>
            </a:extLst>
          </p:cNvPr>
          <p:cNvSpPr/>
          <p:nvPr/>
        </p:nvSpPr>
        <p:spPr>
          <a:xfrm>
            <a:off x="2729312" y="2316559"/>
            <a:ext cx="3603245" cy="792238"/>
          </a:xfrm>
          <a:prstGeom prst="right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3BFA8BF8-3153-FA19-9122-5CE1509E9542}"/>
              </a:ext>
            </a:extLst>
          </p:cNvPr>
          <p:cNvSpPr/>
          <p:nvPr/>
        </p:nvSpPr>
        <p:spPr>
          <a:xfrm>
            <a:off x="8094696" y="2521857"/>
            <a:ext cx="752389" cy="430306"/>
          </a:xfrm>
          <a:prstGeom prst="right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91E5456E-B7CF-FD6B-8FFE-28C8AA4DE399}"/>
              </a:ext>
            </a:extLst>
          </p:cNvPr>
          <p:cNvPicPr>
            <a:picLocks noChangeAspect="1"/>
          </p:cNvPicPr>
          <p:nvPr/>
        </p:nvPicPr>
        <p:blipFill>
          <a:blip r:embed="rId6"/>
          <a:stretch>
            <a:fillRect/>
          </a:stretch>
        </p:blipFill>
        <p:spPr>
          <a:xfrm>
            <a:off x="9248531" y="1933331"/>
            <a:ext cx="1495669" cy="1495669"/>
          </a:xfrm>
          <a:prstGeom prst="rect">
            <a:avLst/>
          </a:prstGeom>
        </p:spPr>
      </p:pic>
      <p:grpSp>
        <p:nvGrpSpPr>
          <p:cNvPr id="22" name="Group 21">
            <a:extLst>
              <a:ext uri="{FF2B5EF4-FFF2-40B4-BE49-F238E27FC236}">
                <a16:creationId xmlns:a16="http://schemas.microsoft.com/office/drawing/2014/main" id="{F072F692-8094-59CC-118E-EF476DFFAFC9}"/>
              </a:ext>
            </a:extLst>
          </p:cNvPr>
          <p:cNvGrpSpPr>
            <a:grpSpLocks noChangeAspect="1"/>
          </p:cNvGrpSpPr>
          <p:nvPr/>
        </p:nvGrpSpPr>
        <p:grpSpPr>
          <a:xfrm>
            <a:off x="2408657" y="2039700"/>
            <a:ext cx="1188720" cy="1188720"/>
            <a:chOff x="2732653" y="4969565"/>
            <a:chExt cx="685800" cy="685800"/>
          </a:xfrm>
        </p:grpSpPr>
        <p:sp>
          <p:nvSpPr>
            <p:cNvPr id="23" name="Oval 22">
              <a:extLst>
                <a:ext uri="{FF2B5EF4-FFF2-40B4-BE49-F238E27FC236}">
                  <a16:creationId xmlns:a16="http://schemas.microsoft.com/office/drawing/2014/main" id="{39D1D75C-A8F7-FDB6-CEA1-46C3B3E860B1}"/>
                </a:ext>
              </a:extLst>
            </p:cNvPr>
            <p:cNvSpPr/>
            <p:nvPr/>
          </p:nvSpPr>
          <p:spPr>
            <a:xfrm>
              <a:off x="2907465" y="5171271"/>
              <a:ext cx="336176" cy="3361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descr="Alarm clock with solid fill">
              <a:extLst>
                <a:ext uri="{FF2B5EF4-FFF2-40B4-BE49-F238E27FC236}">
                  <a16:creationId xmlns:a16="http://schemas.microsoft.com/office/drawing/2014/main" id="{68B2DBCC-1AC1-A2F1-FE43-80DC08A9BC3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732653" y="4969565"/>
              <a:ext cx="685800" cy="685800"/>
            </a:xfrm>
            <a:prstGeom prst="rect">
              <a:avLst/>
            </a:prstGeom>
          </p:spPr>
        </p:pic>
      </p:grpSp>
    </p:spTree>
    <p:extLst>
      <p:ext uri="{BB962C8B-B14F-4D97-AF65-F5344CB8AC3E}">
        <p14:creationId xmlns:p14="http://schemas.microsoft.com/office/powerpoint/2010/main" val="27603836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83B41-1B94-5373-6232-504A2713F97D}"/>
              </a:ext>
            </a:extLst>
          </p:cNvPr>
          <p:cNvSpPr>
            <a:spLocks noGrp="1"/>
          </p:cNvSpPr>
          <p:nvPr>
            <p:ph type="title"/>
          </p:nvPr>
        </p:nvSpPr>
        <p:spPr/>
        <p:txBody>
          <a:bodyPr/>
          <a:lstStyle/>
          <a:p>
            <a:r>
              <a:rPr lang="en-US" dirty="0"/>
              <a:t>Examples of sub-tasks</a:t>
            </a:r>
          </a:p>
        </p:txBody>
      </p:sp>
      <p:sp>
        <p:nvSpPr>
          <p:cNvPr id="3" name="Content Placeholder 2">
            <a:extLst>
              <a:ext uri="{FF2B5EF4-FFF2-40B4-BE49-F238E27FC236}">
                <a16:creationId xmlns:a16="http://schemas.microsoft.com/office/drawing/2014/main" id="{2800CA80-FFFC-57B6-2B38-44BD2182D86A}"/>
              </a:ext>
            </a:extLst>
          </p:cNvPr>
          <p:cNvSpPr>
            <a:spLocks noGrp="1"/>
          </p:cNvSpPr>
          <p:nvPr>
            <p:ph idx="1"/>
          </p:nvPr>
        </p:nvSpPr>
        <p:spPr/>
        <p:txBody>
          <a:bodyPr>
            <a:normAutofit fontScale="92500" lnSpcReduction="10000"/>
          </a:bodyPr>
          <a:lstStyle/>
          <a:p>
            <a:pPr marL="241300" indent="-241300"/>
            <a:r>
              <a:rPr lang="en-US" dirty="0"/>
              <a:t>KPI selection (TAT, QC trends, volumes, ion ratios)</a:t>
            </a:r>
          </a:p>
          <a:p>
            <a:pPr marL="241300" indent="-241300"/>
            <a:r>
              <a:rPr lang="en-US" dirty="0"/>
              <a:t>Data extraction (from files, LIS, middleware, EMR)</a:t>
            </a:r>
          </a:p>
          <a:p>
            <a:pPr marL="241300" indent="-241300"/>
            <a:r>
              <a:rPr lang="en-US" dirty="0"/>
              <a:t>Data automation scheduling</a:t>
            </a:r>
          </a:p>
          <a:p>
            <a:pPr marL="241300" indent="-241300"/>
            <a:r>
              <a:rPr lang="en-US" dirty="0"/>
              <a:t>Database set up or ingestion</a:t>
            </a:r>
          </a:p>
          <a:p>
            <a:pPr marL="241300" indent="-241300"/>
            <a:r>
              <a:rPr lang="en-US" dirty="0"/>
              <a:t>Data cleaning/aggregation</a:t>
            </a:r>
          </a:p>
          <a:p>
            <a:pPr marL="241300" indent="-241300"/>
            <a:r>
              <a:rPr lang="en-US" dirty="0"/>
              <a:t>Visualization choices (control charts, bar plots, table)</a:t>
            </a:r>
          </a:p>
          <a:p>
            <a:pPr marL="241300" indent="-241300"/>
            <a:r>
              <a:rPr lang="en-US" dirty="0"/>
              <a:t>Dashboard platform (Power BI, R </a:t>
            </a:r>
            <a:r>
              <a:rPr lang="en-US" dirty="0" err="1"/>
              <a:t>flexdashboard</a:t>
            </a:r>
            <a:r>
              <a:rPr lang="en-US" dirty="0"/>
              <a:t>, Tableau)</a:t>
            </a:r>
          </a:p>
        </p:txBody>
      </p:sp>
      <p:sp>
        <p:nvSpPr>
          <p:cNvPr id="4" name="TextBox 3">
            <a:extLst>
              <a:ext uri="{FF2B5EF4-FFF2-40B4-BE49-F238E27FC236}">
                <a16:creationId xmlns:a16="http://schemas.microsoft.com/office/drawing/2014/main" id="{9CD96555-F38B-309A-F81E-00F8E8B8C049}"/>
              </a:ext>
            </a:extLst>
          </p:cNvPr>
          <p:cNvSpPr txBox="1"/>
          <p:nvPr/>
        </p:nvSpPr>
        <p:spPr>
          <a:xfrm>
            <a:off x="8368328" y="264622"/>
            <a:ext cx="3299301" cy="1200329"/>
          </a:xfrm>
          <a:prstGeom prst="rect">
            <a:avLst/>
          </a:prstGeom>
          <a:noFill/>
        </p:spPr>
        <p:txBody>
          <a:bodyPr wrap="none" rtlCol="0">
            <a:spAutoFit/>
          </a:bodyPr>
          <a:lstStyle/>
          <a:p>
            <a:r>
              <a:rPr lang="en-US" sz="7200" b="1" dirty="0">
                <a:solidFill>
                  <a:schemeClr val="accent1"/>
                </a:solidFill>
              </a:rPr>
              <a:t>Exercise</a:t>
            </a:r>
          </a:p>
        </p:txBody>
      </p:sp>
    </p:spTree>
    <p:extLst>
      <p:ext uri="{BB962C8B-B14F-4D97-AF65-F5344CB8AC3E}">
        <p14:creationId xmlns:p14="http://schemas.microsoft.com/office/powerpoint/2010/main" val="3704428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94809-B0D5-124C-B2EB-280312CB9B74}"/>
              </a:ext>
            </a:extLst>
          </p:cNvPr>
          <p:cNvSpPr>
            <a:spLocks noGrp="1"/>
          </p:cNvSpPr>
          <p:nvPr>
            <p:ph type="title"/>
          </p:nvPr>
        </p:nvSpPr>
        <p:spPr/>
        <p:txBody>
          <a:bodyPr/>
          <a:lstStyle/>
          <a:p>
            <a:r>
              <a:rPr lang="en-US" dirty="0"/>
              <a:t>How does this help us?</a:t>
            </a:r>
          </a:p>
        </p:txBody>
      </p:sp>
      <p:sp>
        <p:nvSpPr>
          <p:cNvPr id="3" name="Content Placeholder 2">
            <a:extLst>
              <a:ext uri="{FF2B5EF4-FFF2-40B4-BE49-F238E27FC236}">
                <a16:creationId xmlns:a16="http://schemas.microsoft.com/office/drawing/2014/main" id="{61F20066-EC7F-97DD-A6D8-F79279731F61}"/>
              </a:ext>
            </a:extLst>
          </p:cNvPr>
          <p:cNvSpPr>
            <a:spLocks noGrp="1"/>
          </p:cNvSpPr>
          <p:nvPr>
            <p:ph idx="1"/>
          </p:nvPr>
        </p:nvSpPr>
        <p:spPr/>
        <p:txBody>
          <a:bodyPr>
            <a:normAutofit fontScale="92500" lnSpcReduction="20000"/>
          </a:bodyPr>
          <a:lstStyle/>
          <a:p>
            <a:pPr marL="241300" indent="-241300"/>
            <a:r>
              <a:rPr lang="en-US" dirty="0"/>
              <a:t>Anticipate necessary components, required expertise, data access, tools</a:t>
            </a:r>
          </a:p>
          <a:p>
            <a:pPr marL="241300" indent="-241300"/>
            <a:r>
              <a:rPr lang="en-US" dirty="0"/>
              <a:t>Start to define user requirement and identify constraints and potential blockers</a:t>
            </a:r>
          </a:p>
          <a:p>
            <a:pPr marL="241300" indent="-241300"/>
            <a:r>
              <a:rPr lang="en-US" dirty="0"/>
              <a:t>Helps clarify the job and makes it more manageable</a:t>
            </a:r>
          </a:p>
          <a:p>
            <a:pPr marL="241300" indent="-241300"/>
            <a:endParaRPr lang="en-US" dirty="0"/>
          </a:p>
          <a:p>
            <a:pPr marL="241300" indent="-241300"/>
            <a:r>
              <a:rPr lang="en-US" b="1" dirty="0"/>
              <a:t>Computational examples: </a:t>
            </a:r>
            <a:r>
              <a:rPr lang="en-US" dirty="0"/>
              <a:t>writing code in chunks and splitting by task (reading data, graphing), distributed work of virtual machines, bioinformatic pipelines</a:t>
            </a:r>
          </a:p>
          <a:p>
            <a:endParaRPr lang="en-US" dirty="0"/>
          </a:p>
        </p:txBody>
      </p:sp>
    </p:spTree>
    <p:extLst>
      <p:ext uri="{BB962C8B-B14F-4D97-AF65-F5344CB8AC3E}">
        <p14:creationId xmlns:p14="http://schemas.microsoft.com/office/powerpoint/2010/main" val="25611009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68378-300E-D915-415B-B8C4DA83E060}"/>
              </a:ext>
            </a:extLst>
          </p:cNvPr>
          <p:cNvSpPr>
            <a:spLocks noGrp="1"/>
          </p:cNvSpPr>
          <p:nvPr>
            <p:ph type="title"/>
          </p:nvPr>
        </p:nvSpPr>
        <p:spPr/>
        <p:txBody>
          <a:bodyPr/>
          <a:lstStyle/>
          <a:p>
            <a:r>
              <a:rPr lang="en-US" dirty="0"/>
              <a:t>Pattern recognition</a:t>
            </a:r>
          </a:p>
        </p:txBody>
      </p:sp>
      <p:sp>
        <p:nvSpPr>
          <p:cNvPr id="3" name="Content Placeholder 2">
            <a:extLst>
              <a:ext uri="{FF2B5EF4-FFF2-40B4-BE49-F238E27FC236}">
                <a16:creationId xmlns:a16="http://schemas.microsoft.com/office/drawing/2014/main" id="{F9FD8879-E39D-B8B4-C0A0-DAD329F5D0CC}"/>
              </a:ext>
            </a:extLst>
          </p:cNvPr>
          <p:cNvSpPr>
            <a:spLocks noGrp="1"/>
          </p:cNvSpPr>
          <p:nvPr>
            <p:ph idx="1"/>
          </p:nvPr>
        </p:nvSpPr>
        <p:spPr/>
        <p:txBody>
          <a:bodyPr>
            <a:normAutofit/>
          </a:bodyPr>
          <a:lstStyle/>
          <a:p>
            <a:pPr marL="0" indent="0">
              <a:buNone/>
            </a:pPr>
            <a:r>
              <a:rPr lang="en-US" dirty="0"/>
              <a:t>Identify recurring patterns or trends within a problem to help formulate solutions</a:t>
            </a:r>
          </a:p>
          <a:p>
            <a:pPr marL="0" indent="0">
              <a:buNone/>
            </a:pPr>
            <a:endParaRPr lang="en-US" dirty="0"/>
          </a:p>
          <a:p>
            <a:pPr marL="514350" indent="-514350">
              <a:buAutoNum type="arabicPeriod"/>
            </a:pPr>
            <a:r>
              <a:rPr lang="en-US" dirty="0"/>
              <a:t>Look for common characteristics, motifs, and trends</a:t>
            </a:r>
          </a:p>
          <a:p>
            <a:pPr marL="514350" indent="-514350">
              <a:buAutoNum type="arabicPeriod"/>
            </a:pPr>
            <a:r>
              <a:rPr lang="en-US" dirty="0"/>
              <a:t>Use pattern to identify solution</a:t>
            </a:r>
          </a:p>
          <a:p>
            <a:pPr marL="514350" indent="-514350">
              <a:buAutoNum type="arabicPeriod"/>
            </a:pPr>
            <a:r>
              <a:rPr lang="en-US" dirty="0"/>
              <a:t>Generalize solution across pattern in sub-tasks but also in other problems</a:t>
            </a:r>
          </a:p>
        </p:txBody>
      </p:sp>
      <p:grpSp>
        <p:nvGrpSpPr>
          <p:cNvPr id="4" name="Group 3">
            <a:extLst>
              <a:ext uri="{FF2B5EF4-FFF2-40B4-BE49-F238E27FC236}">
                <a16:creationId xmlns:a16="http://schemas.microsoft.com/office/drawing/2014/main" id="{36A71F02-4560-480F-B0A1-58FAA9DA02AD}"/>
              </a:ext>
            </a:extLst>
          </p:cNvPr>
          <p:cNvGrpSpPr/>
          <p:nvPr/>
        </p:nvGrpSpPr>
        <p:grpSpPr>
          <a:xfrm>
            <a:off x="876300" y="886261"/>
            <a:ext cx="6342743" cy="782519"/>
            <a:chOff x="0" y="860771"/>
            <a:chExt cx="6342743" cy="782519"/>
          </a:xfrm>
        </p:grpSpPr>
        <p:sp>
          <p:nvSpPr>
            <p:cNvPr id="6" name="Rounded Rectangle 5">
              <a:extLst>
                <a:ext uri="{FF2B5EF4-FFF2-40B4-BE49-F238E27FC236}">
                  <a16:creationId xmlns:a16="http://schemas.microsoft.com/office/drawing/2014/main" id="{3DC3338E-9E05-7535-6DC7-7FC0581331E9}"/>
                </a:ext>
              </a:extLst>
            </p:cNvPr>
            <p:cNvSpPr/>
            <p:nvPr/>
          </p:nvSpPr>
          <p:spPr>
            <a:xfrm>
              <a:off x="0" y="860771"/>
              <a:ext cx="6342743" cy="782519"/>
            </a:xfrm>
            <a:prstGeom prst="roundRect">
              <a:avLst>
                <a:gd name="adj" fmla="val 10000"/>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US"/>
            </a:p>
          </p:txBody>
        </p:sp>
        <p:sp>
          <p:nvSpPr>
            <p:cNvPr id="7" name="Rounded Rectangle 4">
              <a:extLst>
                <a:ext uri="{FF2B5EF4-FFF2-40B4-BE49-F238E27FC236}">
                  <a16:creationId xmlns:a16="http://schemas.microsoft.com/office/drawing/2014/main" id="{C6259C79-C5C8-63BB-E779-66E6CA6DE447}"/>
                </a:ext>
              </a:extLst>
            </p:cNvPr>
            <p:cNvSpPr txBox="1"/>
            <p:nvPr/>
          </p:nvSpPr>
          <p:spPr>
            <a:xfrm>
              <a:off x="1346800" y="860771"/>
              <a:ext cx="4995942" cy="7825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Pattern recognition</a:t>
              </a:r>
            </a:p>
          </p:txBody>
        </p:sp>
      </p:grpSp>
      <p:sp>
        <p:nvSpPr>
          <p:cNvPr id="5" name="Rounded Rectangle 4" descr="Bar graph with upward trend with solid fill">
            <a:extLst>
              <a:ext uri="{FF2B5EF4-FFF2-40B4-BE49-F238E27FC236}">
                <a16:creationId xmlns:a16="http://schemas.microsoft.com/office/drawing/2014/main" id="{14A27668-9609-3163-1640-957BD9A2FF45}"/>
              </a:ext>
            </a:extLst>
          </p:cNvPr>
          <p:cNvSpPr/>
          <p:nvPr/>
        </p:nvSpPr>
        <p:spPr>
          <a:xfrm>
            <a:off x="954551" y="964513"/>
            <a:ext cx="1268548" cy="626015"/>
          </a:xfrm>
          <a:prstGeom prst="roundRect">
            <a:avLst>
              <a:gd name="adj" fmla="val 10000"/>
            </a:avLst>
          </a:prstGeom>
          <a:blipFill>
            <a:blip r:embed="rId3">
              <a:extLst>
                <a:ext uri="{96DAC541-7B7A-43D3-8B79-37D633B846F1}">
                  <asvg:svgBlip xmlns:asvg="http://schemas.microsoft.com/office/drawing/2016/SVG/main" r:embed="rId4"/>
                </a:ext>
              </a:extLst>
            </a:blip>
            <a:srcRect/>
            <a:stretch>
              <a:fillRect t="-31000" b="-31000"/>
            </a:stretch>
          </a:blipFill>
        </p:spPr>
        <p:style>
          <a:lnRef idx="2">
            <a:schemeClr val="lt1">
              <a:hueOff val="0"/>
              <a:satOff val="0"/>
              <a:lumOff val="0"/>
              <a:alphaOff val="0"/>
            </a:schemeClr>
          </a:lnRef>
          <a:fillRef idx="1">
            <a:scrgbClr r="0" g="0" b="0"/>
          </a:fillRef>
          <a:effectRef idx="0">
            <a:schemeClr val="accent3">
              <a:tint val="50000"/>
              <a:hueOff val="0"/>
              <a:satOff val="0"/>
              <a:lumOff val="0"/>
              <a:alphaOff val="0"/>
            </a:schemeClr>
          </a:effectRef>
          <a:fontRef idx="minor">
            <a:schemeClr val="lt1">
              <a:hueOff val="0"/>
              <a:satOff val="0"/>
              <a:lumOff val="0"/>
              <a:alphaOff val="0"/>
            </a:schemeClr>
          </a:fontRef>
        </p:style>
        <p:txBody>
          <a:bodyPr/>
          <a:lstStyle/>
          <a:p>
            <a:endParaRPr lang="en-US"/>
          </a:p>
        </p:txBody>
      </p:sp>
    </p:spTree>
    <p:extLst>
      <p:ext uri="{BB962C8B-B14F-4D97-AF65-F5344CB8AC3E}">
        <p14:creationId xmlns:p14="http://schemas.microsoft.com/office/powerpoint/2010/main" val="25071833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0563D26-9CD2-150B-6F40-DEFC79EDDEF0}"/>
              </a:ext>
            </a:extLst>
          </p:cNvPr>
          <p:cNvSpPr>
            <a:spLocks noGrp="1"/>
          </p:cNvSpPr>
          <p:nvPr>
            <p:ph type="title"/>
          </p:nvPr>
        </p:nvSpPr>
        <p:spPr/>
        <p:txBody>
          <a:bodyPr/>
          <a:lstStyle/>
          <a:p>
            <a:r>
              <a:rPr lang="en-US" dirty="0"/>
              <a:t>Recognizing patterns in sub-tasks</a:t>
            </a:r>
          </a:p>
        </p:txBody>
      </p:sp>
      <p:sp>
        <p:nvSpPr>
          <p:cNvPr id="8" name="Content Placeholder 7">
            <a:extLst>
              <a:ext uri="{FF2B5EF4-FFF2-40B4-BE49-F238E27FC236}">
                <a16:creationId xmlns:a16="http://schemas.microsoft.com/office/drawing/2014/main" id="{DEF0FEE9-D047-2CE3-48AF-FA15661521CE}"/>
              </a:ext>
            </a:extLst>
          </p:cNvPr>
          <p:cNvSpPr>
            <a:spLocks noGrp="1"/>
          </p:cNvSpPr>
          <p:nvPr>
            <p:ph idx="1"/>
          </p:nvPr>
        </p:nvSpPr>
        <p:spPr/>
        <p:txBody>
          <a:bodyPr/>
          <a:lstStyle/>
          <a:p>
            <a:pPr marL="241300" indent="-241300"/>
            <a:r>
              <a:rPr lang="en-US" dirty="0"/>
              <a:t>We’ll need to gather ingredients, for each ingredient this involves:</a:t>
            </a:r>
          </a:p>
          <a:p>
            <a:pPr marL="424180" lvl="2" indent="-241300"/>
            <a:r>
              <a:rPr lang="en-US" sz="2800" dirty="0"/>
              <a:t>Identifying (naming) the ingredient</a:t>
            </a:r>
          </a:p>
          <a:p>
            <a:pPr marL="424180" lvl="2" indent="-241300"/>
            <a:r>
              <a:rPr lang="en-US" sz="2800" dirty="0"/>
              <a:t>Specifying the amount needed</a:t>
            </a:r>
          </a:p>
          <a:p>
            <a:pPr marL="424180" lvl="2" indent="-241300"/>
            <a:r>
              <a:rPr lang="en-US" sz="2800" dirty="0"/>
              <a:t>Measuring the amount needed</a:t>
            </a:r>
          </a:p>
          <a:p>
            <a:pPr marL="241300" lvl="1" indent="-241300"/>
            <a:endParaRPr lang="en-US" dirty="0"/>
          </a:p>
          <a:p>
            <a:pPr marL="241300" indent="-241300"/>
            <a:r>
              <a:rPr lang="en-US" dirty="0"/>
              <a:t>We can then apply this method to each ingredient</a:t>
            </a:r>
          </a:p>
        </p:txBody>
      </p:sp>
    </p:spTree>
    <p:extLst>
      <p:ext uri="{BB962C8B-B14F-4D97-AF65-F5344CB8AC3E}">
        <p14:creationId xmlns:p14="http://schemas.microsoft.com/office/powerpoint/2010/main" val="36597658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4C986-4499-B4F7-4D5D-F5C290F826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9FC23B-EEA6-3CC8-02E3-DDE125EA2B72}"/>
              </a:ext>
            </a:extLst>
          </p:cNvPr>
          <p:cNvSpPr>
            <a:spLocks noGrp="1"/>
          </p:cNvSpPr>
          <p:nvPr>
            <p:ph type="title"/>
          </p:nvPr>
        </p:nvSpPr>
        <p:spPr/>
        <p:txBody>
          <a:bodyPr/>
          <a:lstStyle/>
          <a:p>
            <a:r>
              <a:rPr lang="en-US" dirty="0"/>
              <a:t>Recognizing patterns across problems</a:t>
            </a:r>
          </a:p>
        </p:txBody>
      </p:sp>
      <p:sp>
        <p:nvSpPr>
          <p:cNvPr id="5" name="Content Placeholder 4">
            <a:extLst>
              <a:ext uri="{FF2B5EF4-FFF2-40B4-BE49-F238E27FC236}">
                <a16:creationId xmlns:a16="http://schemas.microsoft.com/office/drawing/2014/main" id="{B365F16B-7B5B-9F3A-C966-F68AFAD91643}"/>
              </a:ext>
            </a:extLst>
          </p:cNvPr>
          <p:cNvSpPr>
            <a:spLocks noGrp="1"/>
          </p:cNvSpPr>
          <p:nvPr>
            <p:ph sz="half" idx="2"/>
          </p:nvPr>
        </p:nvSpPr>
        <p:spPr/>
        <p:txBody>
          <a:bodyPr>
            <a:normAutofit/>
          </a:bodyPr>
          <a:lstStyle/>
          <a:p>
            <a:pPr marL="241300" indent="-241300"/>
            <a:endParaRPr lang="en-US" dirty="0"/>
          </a:p>
          <a:p>
            <a:pPr marL="241300" indent="-241300"/>
            <a:endParaRPr lang="en-US" dirty="0"/>
          </a:p>
          <a:p>
            <a:endParaRPr lang="en-US" dirty="0"/>
          </a:p>
        </p:txBody>
      </p:sp>
      <p:graphicFrame>
        <p:nvGraphicFramePr>
          <p:cNvPr id="3" name="Content Placeholder 2">
            <a:extLst>
              <a:ext uri="{FF2B5EF4-FFF2-40B4-BE49-F238E27FC236}">
                <a16:creationId xmlns:a16="http://schemas.microsoft.com/office/drawing/2014/main" id="{C5DB123C-58E2-9EB5-F848-84209C998D3F}"/>
              </a:ext>
            </a:extLst>
          </p:cNvPr>
          <p:cNvGraphicFramePr>
            <a:graphicFrameLocks noGrp="1"/>
          </p:cNvGraphicFramePr>
          <p:nvPr>
            <p:ph sz="quarter" idx="4"/>
            <p:extLst>
              <p:ext uri="{D42A27DB-BD31-4B8C-83A1-F6EECF244321}">
                <p14:modId xmlns:p14="http://schemas.microsoft.com/office/powerpoint/2010/main" val="1050906533"/>
              </p:ext>
            </p:extLst>
          </p:nvPr>
        </p:nvGraphicFramePr>
        <p:xfrm>
          <a:off x="815340" y="2809774"/>
          <a:ext cx="10561320" cy="3657600"/>
        </p:xfrm>
        <a:graphic>
          <a:graphicData uri="http://schemas.openxmlformats.org/drawingml/2006/table">
            <a:tbl>
              <a:tblPr firstRow="1" bandRow="1">
                <a:tableStyleId>{2D5ABB26-0587-4C30-8999-92F81FD0307C}</a:tableStyleId>
              </a:tblPr>
              <a:tblGrid>
                <a:gridCol w="5638800">
                  <a:extLst>
                    <a:ext uri="{9D8B030D-6E8A-4147-A177-3AD203B41FA5}">
                      <a16:colId xmlns:a16="http://schemas.microsoft.com/office/drawing/2014/main" val="4262801093"/>
                    </a:ext>
                  </a:extLst>
                </a:gridCol>
                <a:gridCol w="457200">
                  <a:extLst>
                    <a:ext uri="{9D8B030D-6E8A-4147-A177-3AD203B41FA5}">
                      <a16:colId xmlns:a16="http://schemas.microsoft.com/office/drawing/2014/main" val="662881655"/>
                    </a:ext>
                  </a:extLst>
                </a:gridCol>
                <a:gridCol w="4465320">
                  <a:extLst>
                    <a:ext uri="{9D8B030D-6E8A-4147-A177-3AD203B41FA5}">
                      <a16:colId xmlns:a16="http://schemas.microsoft.com/office/drawing/2014/main" val="197863130"/>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Select the recipe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Prepare the pan</a:t>
                      </a:r>
                    </a:p>
                  </a:txBody>
                  <a:tcPr/>
                </a:tc>
                <a:extLst>
                  <a:ext uri="{0D108BD9-81ED-4DB2-BD59-A6C34878D82A}">
                    <a16:rowId xmlns:a16="http://schemas.microsoft.com/office/drawing/2014/main" val="395925325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rgbClr val="FF0000"/>
                          </a:solidFill>
                        </a:rPr>
                        <a:t>Gather ingredients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highlight>
                          <a:srgbClr val="FFFF00"/>
                        </a:highligh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rgbClr val="FF0000"/>
                          </a:solidFill>
                        </a:rPr>
                        <a:t>Pour the batter </a:t>
                      </a:r>
                    </a:p>
                  </a:txBody>
                  <a:tcPr/>
                </a:tc>
                <a:extLst>
                  <a:ext uri="{0D108BD9-81ED-4DB2-BD59-A6C34878D82A}">
                    <a16:rowId xmlns:a16="http://schemas.microsoft.com/office/drawing/2014/main" val="348094154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rgbClr val="FF0000"/>
                          </a:solidFill>
                        </a:rPr>
                        <a:t>Collect kitchen supplies, tools, and equipment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highlight>
                          <a:srgbClr val="FFFF00"/>
                        </a:highligh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rgbClr val="FF0000"/>
                          </a:solidFill>
                        </a:rPr>
                        <a:t>Bake for required time</a:t>
                      </a:r>
                    </a:p>
                  </a:txBody>
                  <a:tcPr/>
                </a:tc>
                <a:extLst>
                  <a:ext uri="{0D108BD9-81ED-4DB2-BD59-A6C34878D82A}">
                    <a16:rowId xmlns:a16="http://schemas.microsoft.com/office/drawing/2014/main" val="189574541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rgbClr val="FF0000"/>
                          </a:solidFill>
                        </a:rPr>
                        <a:t>Preheat the oven</a:t>
                      </a:r>
                    </a:p>
                  </a:txBody>
                  <a:tcP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Check for doneness</a:t>
                      </a:r>
                    </a:p>
                  </a:txBody>
                  <a:tcPr/>
                </a:tc>
                <a:extLst>
                  <a:ext uri="{0D108BD9-81ED-4DB2-BD59-A6C34878D82A}">
                    <a16:rowId xmlns:a16="http://schemas.microsoft.com/office/drawing/2014/main" val="18621722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Prepare dry ingredients</a:t>
                      </a:r>
                    </a:p>
                  </a:txBody>
                  <a:tcPr>
                    <a:lnT w="12700" cap="flat" cmpd="sng" algn="ctr">
                      <a:solidFill>
                        <a:schemeClr val="tx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lnB w="12700" cap="flat" cmpd="sng" algn="ctr">
                      <a:no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When done remove pan from oven</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615041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Prepare wet ingredients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lnT w="12700" cap="flat" cmpd="sng" algn="ctr">
                      <a:no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Remove items from pan</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6846697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Combine wet and dry ingredients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Cool items</a:t>
                      </a:r>
                    </a:p>
                  </a:txBody>
                  <a:tcPr/>
                </a:tc>
                <a:extLst>
                  <a:ext uri="{0D108BD9-81ED-4DB2-BD59-A6C34878D82A}">
                    <a16:rowId xmlns:a16="http://schemas.microsoft.com/office/drawing/2014/main" val="4227449694"/>
                  </a:ext>
                </a:extLst>
              </a:tr>
              <a:tr h="370840">
                <a:tc>
                  <a:txBody>
                    <a:bodyPr/>
                    <a:lstStyle/>
                    <a:p>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rgbClr val="FF0000"/>
                          </a:solidFill>
                        </a:rPr>
                        <a:t>Decorate items</a:t>
                      </a:r>
                    </a:p>
                  </a:txBody>
                  <a:tcPr/>
                </a:tc>
                <a:extLst>
                  <a:ext uri="{0D108BD9-81ED-4DB2-BD59-A6C34878D82A}">
                    <a16:rowId xmlns:a16="http://schemas.microsoft.com/office/drawing/2014/main" val="1437854126"/>
                  </a:ext>
                </a:extLst>
              </a:tr>
            </a:tbl>
          </a:graphicData>
        </a:graphic>
      </p:graphicFrame>
      <p:sp>
        <p:nvSpPr>
          <p:cNvPr id="12" name="TextBox 11">
            <a:extLst>
              <a:ext uri="{FF2B5EF4-FFF2-40B4-BE49-F238E27FC236}">
                <a16:creationId xmlns:a16="http://schemas.microsoft.com/office/drawing/2014/main" id="{52905A28-7C61-F9D6-E469-0D36FF765500}"/>
              </a:ext>
            </a:extLst>
          </p:cNvPr>
          <p:cNvSpPr txBox="1"/>
          <p:nvPr/>
        </p:nvSpPr>
        <p:spPr>
          <a:xfrm>
            <a:off x="876300" y="1946717"/>
            <a:ext cx="7466403" cy="646331"/>
          </a:xfrm>
          <a:prstGeom prst="rect">
            <a:avLst/>
          </a:prstGeom>
          <a:noFill/>
        </p:spPr>
        <p:txBody>
          <a:bodyPr wrap="none" rtlCol="0">
            <a:spAutoFit/>
          </a:bodyPr>
          <a:lstStyle/>
          <a:p>
            <a:r>
              <a:rPr lang="en-US" sz="3600" b="1" dirty="0">
                <a:solidFill>
                  <a:schemeClr val="accent1"/>
                </a:solidFill>
              </a:rPr>
              <a:t>Baking a cake vs cupcakes vs muffins</a:t>
            </a:r>
          </a:p>
        </p:txBody>
      </p:sp>
      <p:pic>
        <p:nvPicPr>
          <p:cNvPr id="13" name="Picture 12">
            <a:extLst>
              <a:ext uri="{FF2B5EF4-FFF2-40B4-BE49-F238E27FC236}">
                <a16:creationId xmlns:a16="http://schemas.microsoft.com/office/drawing/2014/main" id="{6C29AA70-43AD-768B-4D37-E6F52C8AAB7C}"/>
              </a:ext>
            </a:extLst>
          </p:cNvPr>
          <p:cNvPicPr>
            <a:picLocks noChangeAspect="1"/>
          </p:cNvPicPr>
          <p:nvPr/>
        </p:nvPicPr>
        <p:blipFill>
          <a:blip r:embed="rId3"/>
          <a:stretch>
            <a:fillRect/>
          </a:stretch>
        </p:blipFill>
        <p:spPr>
          <a:xfrm>
            <a:off x="10363200" y="0"/>
            <a:ext cx="1828800" cy="1849256"/>
          </a:xfrm>
          <a:prstGeom prst="rect">
            <a:avLst/>
          </a:prstGeom>
        </p:spPr>
      </p:pic>
    </p:spTree>
    <p:extLst>
      <p:ext uri="{BB962C8B-B14F-4D97-AF65-F5344CB8AC3E}">
        <p14:creationId xmlns:p14="http://schemas.microsoft.com/office/powerpoint/2010/main" val="14735338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4BEB5F9-138A-EF52-2938-2782A72A5373}"/>
            </a:ext>
          </a:extLst>
        </p:cNvPr>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62AE8E50-35D4-4D5A-A4BB-168CBB027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16">
            <a:extLst>
              <a:ext uri="{FF2B5EF4-FFF2-40B4-BE49-F238E27FC236}">
                <a16:creationId xmlns:a16="http://schemas.microsoft.com/office/drawing/2014/main" id="{C37D1D6D-17D8-4296-B000-665D1892D0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Rectangle 6">
            <a:extLst>
              <a:ext uri="{FF2B5EF4-FFF2-40B4-BE49-F238E27FC236}">
                <a16:creationId xmlns:a16="http://schemas.microsoft.com/office/drawing/2014/main" id="{1B26E892-1320-40AA-9CA1-246721C187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1B4B0F-6D44-C786-2C70-27602FB34984}"/>
              </a:ext>
            </a:extLst>
          </p:cNvPr>
          <p:cNvSpPr>
            <a:spLocks noGrp="1"/>
          </p:cNvSpPr>
          <p:nvPr>
            <p:ph type="ctrTitle"/>
          </p:nvPr>
        </p:nvSpPr>
        <p:spPr>
          <a:xfrm>
            <a:off x="4713224" y="1105351"/>
            <a:ext cx="6353967" cy="3023981"/>
          </a:xfrm>
        </p:spPr>
        <p:txBody>
          <a:bodyPr anchor="b">
            <a:normAutofit/>
          </a:bodyPr>
          <a:lstStyle/>
          <a:p>
            <a:pPr algn="l"/>
            <a:r>
              <a:rPr lang="en-US" sz="4800" dirty="0">
                <a:solidFill>
                  <a:srgbClr val="FFFFFF"/>
                </a:solidFill>
              </a:rPr>
              <a:t>Let’s try it</a:t>
            </a:r>
          </a:p>
        </p:txBody>
      </p:sp>
      <p:sp>
        <p:nvSpPr>
          <p:cNvPr id="3" name="Subtitle 2">
            <a:extLst>
              <a:ext uri="{FF2B5EF4-FFF2-40B4-BE49-F238E27FC236}">
                <a16:creationId xmlns:a16="http://schemas.microsoft.com/office/drawing/2014/main" id="{30C2824A-E1E5-C4E9-3C4E-52A240A1A2F0}"/>
              </a:ext>
            </a:extLst>
          </p:cNvPr>
          <p:cNvSpPr>
            <a:spLocks noGrp="1"/>
          </p:cNvSpPr>
          <p:nvPr>
            <p:ph type="subTitle" idx="1"/>
          </p:nvPr>
        </p:nvSpPr>
        <p:spPr>
          <a:xfrm>
            <a:off x="4713224" y="4297556"/>
            <a:ext cx="6353968" cy="1433391"/>
          </a:xfrm>
        </p:spPr>
        <p:txBody>
          <a:bodyPr anchor="t">
            <a:normAutofit/>
          </a:bodyPr>
          <a:lstStyle/>
          <a:p>
            <a:endParaRPr lang="en-US">
              <a:solidFill>
                <a:srgbClr val="FFFFFF"/>
              </a:solidFill>
            </a:endParaRPr>
          </a:p>
        </p:txBody>
      </p:sp>
      <p:cxnSp>
        <p:nvCxnSpPr>
          <p:cNvPr id="9" name="Straight Connector 8">
            <a:extLst>
              <a:ext uri="{FF2B5EF4-FFF2-40B4-BE49-F238E27FC236}">
                <a16:creationId xmlns:a16="http://schemas.microsoft.com/office/drawing/2014/main" id="{C9A1F79C-E4D1-4AAE-BA11-3A09005252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11" name="Rectangle 10">
            <a:extLst>
              <a:ext uri="{FF2B5EF4-FFF2-40B4-BE49-F238E27FC236}">
                <a16:creationId xmlns:a16="http://schemas.microsoft.com/office/drawing/2014/main" id="{C170DF7D-4686-4BD5-A9CD-C896492846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111653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2E9F0-7B1C-FA00-352D-87B938F5B5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E352A5-1146-0D00-98DE-BFFBC4F87C07}"/>
              </a:ext>
            </a:extLst>
          </p:cNvPr>
          <p:cNvSpPr>
            <a:spLocks noGrp="1"/>
          </p:cNvSpPr>
          <p:nvPr>
            <p:ph type="title"/>
          </p:nvPr>
        </p:nvSpPr>
        <p:spPr/>
        <p:txBody>
          <a:bodyPr/>
          <a:lstStyle/>
          <a:p>
            <a:r>
              <a:rPr lang="en-US" dirty="0"/>
              <a:t>Pattern recognition</a:t>
            </a:r>
          </a:p>
        </p:txBody>
      </p:sp>
      <p:sp>
        <p:nvSpPr>
          <p:cNvPr id="3" name="Content Placeholder 2">
            <a:extLst>
              <a:ext uri="{FF2B5EF4-FFF2-40B4-BE49-F238E27FC236}">
                <a16:creationId xmlns:a16="http://schemas.microsoft.com/office/drawing/2014/main" id="{79BAD60E-EACF-0EBE-51E3-8B77CF19F8D7}"/>
              </a:ext>
            </a:extLst>
          </p:cNvPr>
          <p:cNvSpPr>
            <a:spLocks noGrp="1"/>
          </p:cNvSpPr>
          <p:nvPr>
            <p:ph idx="1"/>
          </p:nvPr>
        </p:nvSpPr>
        <p:spPr>
          <a:xfrm>
            <a:off x="1024127" y="3879142"/>
            <a:ext cx="9994393" cy="2606040"/>
          </a:xfrm>
        </p:spPr>
        <p:txBody>
          <a:bodyPr>
            <a:noAutofit/>
          </a:bodyPr>
          <a:lstStyle/>
          <a:p>
            <a:pPr marL="298450" indent="-298450"/>
            <a:r>
              <a:rPr lang="en-US" sz="3000" dirty="0"/>
              <a:t>Join your classmates in small groups</a:t>
            </a:r>
          </a:p>
          <a:p>
            <a:pPr marL="298450" indent="-298450"/>
            <a:r>
              <a:rPr lang="en-US" sz="3000" dirty="0"/>
              <a:t>Select a sub-task from the prior exercise and list patterns you’d expect to find</a:t>
            </a:r>
          </a:p>
          <a:p>
            <a:pPr marL="298450" indent="-298450"/>
            <a:r>
              <a:rPr lang="en-US" sz="3000" dirty="0"/>
              <a:t>Consider how these patterns may help you re-use a solution</a:t>
            </a:r>
          </a:p>
          <a:p>
            <a:pPr marL="298450" indent="-298450"/>
            <a:r>
              <a:rPr lang="en-US" sz="3000" dirty="0"/>
              <a:t>Share your ideas with the group</a:t>
            </a:r>
          </a:p>
        </p:txBody>
      </p:sp>
      <p:sp>
        <p:nvSpPr>
          <p:cNvPr id="4" name="TextBox 3">
            <a:extLst>
              <a:ext uri="{FF2B5EF4-FFF2-40B4-BE49-F238E27FC236}">
                <a16:creationId xmlns:a16="http://schemas.microsoft.com/office/drawing/2014/main" id="{43E397C8-CC39-7DD4-4FAC-7D53CD2DAC91}"/>
              </a:ext>
            </a:extLst>
          </p:cNvPr>
          <p:cNvSpPr txBox="1"/>
          <p:nvPr/>
        </p:nvSpPr>
        <p:spPr>
          <a:xfrm>
            <a:off x="8368328" y="264622"/>
            <a:ext cx="3299301" cy="1200329"/>
          </a:xfrm>
          <a:prstGeom prst="rect">
            <a:avLst/>
          </a:prstGeom>
          <a:noFill/>
        </p:spPr>
        <p:txBody>
          <a:bodyPr wrap="none" rtlCol="0">
            <a:spAutoFit/>
          </a:bodyPr>
          <a:lstStyle/>
          <a:p>
            <a:r>
              <a:rPr lang="en-US" sz="7200" b="1" dirty="0">
                <a:solidFill>
                  <a:schemeClr val="accent1"/>
                </a:solidFill>
              </a:rPr>
              <a:t>Exercise</a:t>
            </a:r>
          </a:p>
        </p:txBody>
      </p:sp>
      <p:pic>
        <p:nvPicPr>
          <p:cNvPr id="5" name="Graphic 4" descr="Database with solid fill">
            <a:extLst>
              <a:ext uri="{FF2B5EF4-FFF2-40B4-BE49-F238E27FC236}">
                <a16:creationId xmlns:a16="http://schemas.microsoft.com/office/drawing/2014/main" id="{95C78647-44D3-1CC4-8155-665385461D3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77647" y="1911146"/>
            <a:ext cx="1499616" cy="1499616"/>
          </a:xfrm>
          <a:prstGeom prst="rect">
            <a:avLst/>
          </a:prstGeom>
        </p:spPr>
      </p:pic>
      <p:grpSp>
        <p:nvGrpSpPr>
          <p:cNvPr id="6" name="Group 5">
            <a:extLst>
              <a:ext uri="{FF2B5EF4-FFF2-40B4-BE49-F238E27FC236}">
                <a16:creationId xmlns:a16="http://schemas.microsoft.com/office/drawing/2014/main" id="{0714ADEB-6380-AA6E-4F5F-BBD45FD55843}"/>
              </a:ext>
            </a:extLst>
          </p:cNvPr>
          <p:cNvGrpSpPr>
            <a:grpSpLocks noChangeAspect="1"/>
          </p:cNvGrpSpPr>
          <p:nvPr/>
        </p:nvGrpSpPr>
        <p:grpSpPr>
          <a:xfrm>
            <a:off x="902558" y="1929405"/>
            <a:ext cx="1484924" cy="1499616"/>
            <a:chOff x="361641" y="2581420"/>
            <a:chExt cx="1265366" cy="1277886"/>
          </a:xfrm>
        </p:grpSpPr>
        <p:grpSp>
          <p:nvGrpSpPr>
            <p:cNvPr id="7" name="Group 6">
              <a:extLst>
                <a:ext uri="{FF2B5EF4-FFF2-40B4-BE49-F238E27FC236}">
                  <a16:creationId xmlns:a16="http://schemas.microsoft.com/office/drawing/2014/main" id="{A9548118-4357-2894-1C3D-AC81D4B3C78B}"/>
                </a:ext>
              </a:extLst>
            </p:cNvPr>
            <p:cNvGrpSpPr/>
            <p:nvPr/>
          </p:nvGrpSpPr>
          <p:grpSpPr>
            <a:xfrm>
              <a:off x="361641" y="2944906"/>
              <a:ext cx="914400" cy="914400"/>
              <a:chOff x="6653996" y="2295641"/>
              <a:chExt cx="914400" cy="914400"/>
            </a:xfrm>
          </p:grpSpPr>
          <p:sp>
            <p:nvSpPr>
              <p:cNvPr id="17" name="Rectangle 16">
                <a:extLst>
                  <a:ext uri="{FF2B5EF4-FFF2-40B4-BE49-F238E27FC236}">
                    <a16:creationId xmlns:a16="http://schemas.microsoft.com/office/drawing/2014/main" id="{F56B7293-02F6-F4EF-47E4-08A5990503DF}"/>
                  </a:ext>
                </a:extLst>
              </p:cNvPr>
              <p:cNvSpPr/>
              <p:nvPr/>
            </p:nvSpPr>
            <p:spPr>
              <a:xfrm>
                <a:off x="6858000" y="2473874"/>
                <a:ext cx="524435" cy="6113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raphic 17" descr="Document with solid fill">
                <a:extLst>
                  <a:ext uri="{FF2B5EF4-FFF2-40B4-BE49-F238E27FC236}">
                    <a16:creationId xmlns:a16="http://schemas.microsoft.com/office/drawing/2014/main" id="{89687803-333D-7BBF-B768-3D6A0F2457F8}"/>
                  </a:ext>
                </a:extLst>
              </p:cNvPr>
              <p:cNvPicPr>
                <a:picLocks noChangeAspect="1"/>
              </p:cNvPicPr>
              <p:nvPr/>
            </p:nvPicPr>
            <p:blipFill>
              <a:blip r:embed="rId4">
                <a:alphaModFix/>
                <a:extLst>
                  <a:ext uri="{96DAC541-7B7A-43D3-8B79-37D633B846F1}">
                    <asvg:svgBlip xmlns:asvg="http://schemas.microsoft.com/office/drawing/2016/SVG/main" r:embed="rId5"/>
                  </a:ext>
                </a:extLst>
              </a:blip>
              <a:stretch>
                <a:fillRect/>
              </a:stretch>
            </p:blipFill>
            <p:spPr>
              <a:xfrm>
                <a:off x="6653996" y="2295641"/>
                <a:ext cx="914400" cy="914400"/>
              </a:xfrm>
              <a:prstGeom prst="rect">
                <a:avLst/>
              </a:prstGeom>
            </p:spPr>
          </p:pic>
        </p:grpSp>
        <p:grpSp>
          <p:nvGrpSpPr>
            <p:cNvPr id="8" name="Group 7">
              <a:extLst>
                <a:ext uri="{FF2B5EF4-FFF2-40B4-BE49-F238E27FC236}">
                  <a16:creationId xmlns:a16="http://schemas.microsoft.com/office/drawing/2014/main" id="{7B0F3556-76BE-7321-E926-E247665551FF}"/>
                </a:ext>
              </a:extLst>
            </p:cNvPr>
            <p:cNvGrpSpPr/>
            <p:nvPr/>
          </p:nvGrpSpPr>
          <p:grpSpPr>
            <a:xfrm>
              <a:off x="475306" y="2813454"/>
              <a:ext cx="914400" cy="914400"/>
              <a:chOff x="6653996" y="2295641"/>
              <a:chExt cx="914400" cy="914400"/>
            </a:xfrm>
          </p:grpSpPr>
          <p:sp>
            <p:nvSpPr>
              <p:cNvPr id="15" name="Rectangle 14">
                <a:extLst>
                  <a:ext uri="{FF2B5EF4-FFF2-40B4-BE49-F238E27FC236}">
                    <a16:creationId xmlns:a16="http://schemas.microsoft.com/office/drawing/2014/main" id="{85E80A21-68F5-237D-965B-A4C5DE2A7B8D}"/>
                  </a:ext>
                </a:extLst>
              </p:cNvPr>
              <p:cNvSpPr/>
              <p:nvPr/>
            </p:nvSpPr>
            <p:spPr>
              <a:xfrm>
                <a:off x="6858000" y="2473874"/>
                <a:ext cx="524435" cy="6113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descr="Document with solid fill">
                <a:extLst>
                  <a:ext uri="{FF2B5EF4-FFF2-40B4-BE49-F238E27FC236}">
                    <a16:creationId xmlns:a16="http://schemas.microsoft.com/office/drawing/2014/main" id="{187F6330-F01E-DB96-46CC-F087A1F94DDF}"/>
                  </a:ext>
                </a:extLst>
              </p:cNvPr>
              <p:cNvPicPr>
                <a:picLocks noChangeAspect="1"/>
              </p:cNvPicPr>
              <p:nvPr/>
            </p:nvPicPr>
            <p:blipFill>
              <a:blip r:embed="rId4">
                <a:alphaModFix/>
                <a:extLst>
                  <a:ext uri="{96DAC541-7B7A-43D3-8B79-37D633B846F1}">
                    <asvg:svgBlip xmlns:asvg="http://schemas.microsoft.com/office/drawing/2016/SVG/main" r:embed="rId5"/>
                  </a:ext>
                </a:extLst>
              </a:blip>
              <a:stretch>
                <a:fillRect/>
              </a:stretch>
            </p:blipFill>
            <p:spPr>
              <a:xfrm>
                <a:off x="6653996" y="2295641"/>
                <a:ext cx="914400" cy="914400"/>
              </a:xfrm>
              <a:prstGeom prst="rect">
                <a:avLst/>
              </a:prstGeom>
            </p:spPr>
          </p:pic>
        </p:grpSp>
        <p:grpSp>
          <p:nvGrpSpPr>
            <p:cNvPr id="9" name="Group 8">
              <a:extLst>
                <a:ext uri="{FF2B5EF4-FFF2-40B4-BE49-F238E27FC236}">
                  <a16:creationId xmlns:a16="http://schemas.microsoft.com/office/drawing/2014/main" id="{4286E9C0-FDED-C0A0-9CC0-9E5C58D2E05B}"/>
                </a:ext>
              </a:extLst>
            </p:cNvPr>
            <p:cNvGrpSpPr/>
            <p:nvPr/>
          </p:nvGrpSpPr>
          <p:grpSpPr>
            <a:xfrm>
              <a:off x="598942" y="2697437"/>
              <a:ext cx="914400" cy="914400"/>
              <a:chOff x="6653996" y="2295641"/>
              <a:chExt cx="914400" cy="914400"/>
            </a:xfrm>
          </p:grpSpPr>
          <p:sp>
            <p:nvSpPr>
              <p:cNvPr id="13" name="Rectangle 12">
                <a:extLst>
                  <a:ext uri="{FF2B5EF4-FFF2-40B4-BE49-F238E27FC236}">
                    <a16:creationId xmlns:a16="http://schemas.microsoft.com/office/drawing/2014/main" id="{7315066F-626E-7479-ACBC-6549B7868B2A}"/>
                  </a:ext>
                </a:extLst>
              </p:cNvPr>
              <p:cNvSpPr/>
              <p:nvPr/>
            </p:nvSpPr>
            <p:spPr>
              <a:xfrm>
                <a:off x="6858000" y="2473874"/>
                <a:ext cx="524435" cy="6113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Graphic 13" descr="Document with solid fill">
                <a:extLst>
                  <a:ext uri="{FF2B5EF4-FFF2-40B4-BE49-F238E27FC236}">
                    <a16:creationId xmlns:a16="http://schemas.microsoft.com/office/drawing/2014/main" id="{E304D0BD-F95D-A68A-DCF4-6AA6949BCD6B}"/>
                  </a:ext>
                </a:extLst>
              </p:cNvPr>
              <p:cNvPicPr>
                <a:picLocks noChangeAspect="1"/>
              </p:cNvPicPr>
              <p:nvPr/>
            </p:nvPicPr>
            <p:blipFill>
              <a:blip r:embed="rId4">
                <a:alphaModFix/>
                <a:extLst>
                  <a:ext uri="{96DAC541-7B7A-43D3-8B79-37D633B846F1}">
                    <asvg:svgBlip xmlns:asvg="http://schemas.microsoft.com/office/drawing/2016/SVG/main" r:embed="rId5"/>
                  </a:ext>
                </a:extLst>
              </a:blip>
              <a:stretch>
                <a:fillRect/>
              </a:stretch>
            </p:blipFill>
            <p:spPr>
              <a:xfrm>
                <a:off x="6653996" y="2295641"/>
                <a:ext cx="914400" cy="914400"/>
              </a:xfrm>
              <a:prstGeom prst="rect">
                <a:avLst/>
              </a:prstGeom>
            </p:spPr>
          </p:pic>
        </p:grpSp>
        <p:grpSp>
          <p:nvGrpSpPr>
            <p:cNvPr id="10" name="Group 9">
              <a:extLst>
                <a:ext uri="{FF2B5EF4-FFF2-40B4-BE49-F238E27FC236}">
                  <a16:creationId xmlns:a16="http://schemas.microsoft.com/office/drawing/2014/main" id="{825D97DA-E453-8397-5575-A4CF22C9DA49}"/>
                </a:ext>
              </a:extLst>
            </p:cNvPr>
            <p:cNvGrpSpPr/>
            <p:nvPr/>
          </p:nvGrpSpPr>
          <p:grpSpPr>
            <a:xfrm>
              <a:off x="712607" y="2581420"/>
              <a:ext cx="914400" cy="914400"/>
              <a:chOff x="6653996" y="2295641"/>
              <a:chExt cx="914400" cy="914400"/>
            </a:xfrm>
          </p:grpSpPr>
          <p:sp>
            <p:nvSpPr>
              <p:cNvPr id="11" name="Rectangle 10">
                <a:extLst>
                  <a:ext uri="{FF2B5EF4-FFF2-40B4-BE49-F238E27FC236}">
                    <a16:creationId xmlns:a16="http://schemas.microsoft.com/office/drawing/2014/main" id="{C2AD6409-BAC0-EADF-A787-22E29049687D}"/>
                  </a:ext>
                </a:extLst>
              </p:cNvPr>
              <p:cNvSpPr/>
              <p:nvPr/>
            </p:nvSpPr>
            <p:spPr>
              <a:xfrm>
                <a:off x="6858000" y="2473874"/>
                <a:ext cx="524435" cy="6113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descr="Document with solid fill">
                <a:extLst>
                  <a:ext uri="{FF2B5EF4-FFF2-40B4-BE49-F238E27FC236}">
                    <a16:creationId xmlns:a16="http://schemas.microsoft.com/office/drawing/2014/main" id="{FB902C9E-6AA6-1024-20A6-FEFBE2D0B209}"/>
                  </a:ext>
                </a:extLst>
              </p:cNvPr>
              <p:cNvPicPr>
                <a:picLocks noChangeAspect="1"/>
              </p:cNvPicPr>
              <p:nvPr/>
            </p:nvPicPr>
            <p:blipFill>
              <a:blip r:embed="rId4">
                <a:alphaModFix/>
                <a:extLst>
                  <a:ext uri="{96DAC541-7B7A-43D3-8B79-37D633B846F1}">
                    <asvg:svgBlip xmlns:asvg="http://schemas.microsoft.com/office/drawing/2016/SVG/main" r:embed="rId5"/>
                  </a:ext>
                </a:extLst>
              </a:blip>
              <a:stretch>
                <a:fillRect/>
              </a:stretch>
            </p:blipFill>
            <p:spPr>
              <a:xfrm>
                <a:off x="6653996" y="2295641"/>
                <a:ext cx="914400" cy="914400"/>
              </a:xfrm>
              <a:prstGeom prst="rect">
                <a:avLst/>
              </a:prstGeom>
            </p:spPr>
          </p:pic>
        </p:grpSp>
      </p:grpSp>
      <p:sp>
        <p:nvSpPr>
          <p:cNvPr id="19" name="Right Arrow 18">
            <a:extLst>
              <a:ext uri="{FF2B5EF4-FFF2-40B4-BE49-F238E27FC236}">
                <a16:creationId xmlns:a16="http://schemas.microsoft.com/office/drawing/2014/main" id="{63A94F9E-BDC4-AE23-A718-F53B5D68397C}"/>
              </a:ext>
            </a:extLst>
          </p:cNvPr>
          <p:cNvSpPr/>
          <p:nvPr/>
        </p:nvSpPr>
        <p:spPr>
          <a:xfrm>
            <a:off x="2729312" y="2316559"/>
            <a:ext cx="3603245" cy="792238"/>
          </a:xfrm>
          <a:prstGeom prst="right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AD5029AD-B26B-0653-8FD9-EF78319FCF3F}"/>
              </a:ext>
            </a:extLst>
          </p:cNvPr>
          <p:cNvSpPr/>
          <p:nvPr/>
        </p:nvSpPr>
        <p:spPr>
          <a:xfrm>
            <a:off x="8094696" y="2521857"/>
            <a:ext cx="752389" cy="430306"/>
          </a:xfrm>
          <a:prstGeom prst="right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2943525F-7331-19FD-CFF3-07C47207CA5D}"/>
              </a:ext>
            </a:extLst>
          </p:cNvPr>
          <p:cNvPicPr>
            <a:picLocks noChangeAspect="1"/>
          </p:cNvPicPr>
          <p:nvPr/>
        </p:nvPicPr>
        <p:blipFill>
          <a:blip r:embed="rId6"/>
          <a:stretch>
            <a:fillRect/>
          </a:stretch>
        </p:blipFill>
        <p:spPr>
          <a:xfrm>
            <a:off x="9248531" y="1933331"/>
            <a:ext cx="1495669" cy="1495669"/>
          </a:xfrm>
          <a:prstGeom prst="rect">
            <a:avLst/>
          </a:prstGeom>
        </p:spPr>
      </p:pic>
      <p:grpSp>
        <p:nvGrpSpPr>
          <p:cNvPr id="22" name="Group 21">
            <a:extLst>
              <a:ext uri="{FF2B5EF4-FFF2-40B4-BE49-F238E27FC236}">
                <a16:creationId xmlns:a16="http://schemas.microsoft.com/office/drawing/2014/main" id="{56D4AE2D-3300-BDCF-A419-1A44047E76ED}"/>
              </a:ext>
            </a:extLst>
          </p:cNvPr>
          <p:cNvGrpSpPr>
            <a:grpSpLocks noChangeAspect="1"/>
          </p:cNvGrpSpPr>
          <p:nvPr/>
        </p:nvGrpSpPr>
        <p:grpSpPr>
          <a:xfrm>
            <a:off x="2408657" y="2039700"/>
            <a:ext cx="1188720" cy="1188720"/>
            <a:chOff x="2732653" y="4969565"/>
            <a:chExt cx="685800" cy="685800"/>
          </a:xfrm>
        </p:grpSpPr>
        <p:sp>
          <p:nvSpPr>
            <p:cNvPr id="23" name="Oval 22">
              <a:extLst>
                <a:ext uri="{FF2B5EF4-FFF2-40B4-BE49-F238E27FC236}">
                  <a16:creationId xmlns:a16="http://schemas.microsoft.com/office/drawing/2014/main" id="{1759F7F1-4C24-FE64-04D0-64F6CA7FF3A5}"/>
                </a:ext>
              </a:extLst>
            </p:cNvPr>
            <p:cNvSpPr/>
            <p:nvPr/>
          </p:nvSpPr>
          <p:spPr>
            <a:xfrm>
              <a:off x="2907465" y="5171271"/>
              <a:ext cx="336176" cy="3361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descr="Alarm clock with solid fill">
              <a:extLst>
                <a:ext uri="{FF2B5EF4-FFF2-40B4-BE49-F238E27FC236}">
                  <a16:creationId xmlns:a16="http://schemas.microsoft.com/office/drawing/2014/main" id="{EA993975-DF88-D773-006B-BE89D17565C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732653" y="4969565"/>
              <a:ext cx="685800" cy="685800"/>
            </a:xfrm>
            <a:prstGeom prst="rect">
              <a:avLst/>
            </a:prstGeom>
          </p:spPr>
        </p:pic>
      </p:grpSp>
    </p:spTree>
    <p:extLst>
      <p:ext uri="{BB962C8B-B14F-4D97-AF65-F5344CB8AC3E}">
        <p14:creationId xmlns:p14="http://schemas.microsoft.com/office/powerpoint/2010/main" val="13371650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DD498-E55B-D3D1-4F23-C7B72AD5FEA1}"/>
              </a:ext>
            </a:extLst>
          </p:cNvPr>
          <p:cNvSpPr>
            <a:spLocks noGrp="1"/>
          </p:cNvSpPr>
          <p:nvPr>
            <p:ph type="title"/>
          </p:nvPr>
        </p:nvSpPr>
        <p:spPr/>
        <p:txBody>
          <a:bodyPr/>
          <a:lstStyle/>
          <a:p>
            <a:r>
              <a:rPr lang="en-US" dirty="0"/>
              <a:t>Examples of pattern recognition</a:t>
            </a:r>
          </a:p>
        </p:txBody>
      </p:sp>
      <p:sp>
        <p:nvSpPr>
          <p:cNvPr id="3" name="Content Placeholder 2">
            <a:extLst>
              <a:ext uri="{FF2B5EF4-FFF2-40B4-BE49-F238E27FC236}">
                <a16:creationId xmlns:a16="http://schemas.microsoft.com/office/drawing/2014/main" id="{4F58758D-5E25-21A5-5538-3ED31C613449}"/>
              </a:ext>
            </a:extLst>
          </p:cNvPr>
          <p:cNvSpPr>
            <a:spLocks noGrp="1"/>
          </p:cNvSpPr>
          <p:nvPr>
            <p:ph idx="1"/>
          </p:nvPr>
        </p:nvSpPr>
        <p:spPr>
          <a:xfrm>
            <a:off x="1024128" y="2286000"/>
            <a:ext cx="10116312" cy="4023360"/>
          </a:xfrm>
        </p:spPr>
        <p:txBody>
          <a:bodyPr/>
          <a:lstStyle/>
          <a:p>
            <a:pPr marL="241300" indent="-241300"/>
            <a:r>
              <a:rPr lang="en-US" dirty="0"/>
              <a:t>Several metrics involve time intervals that require calculation</a:t>
            </a:r>
          </a:p>
          <a:p>
            <a:pPr marL="241300" indent="-241300"/>
            <a:r>
              <a:rPr lang="en-US" dirty="0"/>
              <a:t>QC and TAT both use thresholds for performance</a:t>
            </a:r>
          </a:p>
          <a:p>
            <a:pPr marL="241300" indent="-241300"/>
            <a:r>
              <a:rPr lang="en-US" dirty="0"/>
              <a:t>Many KPIs can be grouped into daily or monthly summaries</a:t>
            </a:r>
          </a:p>
          <a:p>
            <a:pPr marL="241300" indent="-241300"/>
            <a:r>
              <a:rPr lang="en-US" dirty="0"/>
              <a:t>Monitoring same metrics for several assays or labs or techs</a:t>
            </a:r>
          </a:p>
          <a:p>
            <a:endParaRPr lang="en-US" dirty="0"/>
          </a:p>
        </p:txBody>
      </p:sp>
      <p:sp>
        <p:nvSpPr>
          <p:cNvPr id="4" name="TextBox 3">
            <a:extLst>
              <a:ext uri="{FF2B5EF4-FFF2-40B4-BE49-F238E27FC236}">
                <a16:creationId xmlns:a16="http://schemas.microsoft.com/office/drawing/2014/main" id="{B031018B-72E6-6FBD-08A7-A86DB3391A1B}"/>
              </a:ext>
            </a:extLst>
          </p:cNvPr>
          <p:cNvSpPr txBox="1"/>
          <p:nvPr/>
        </p:nvSpPr>
        <p:spPr>
          <a:xfrm>
            <a:off x="8368328" y="264622"/>
            <a:ext cx="3299301" cy="1200329"/>
          </a:xfrm>
          <a:prstGeom prst="rect">
            <a:avLst/>
          </a:prstGeom>
          <a:noFill/>
        </p:spPr>
        <p:txBody>
          <a:bodyPr wrap="none" rtlCol="0">
            <a:spAutoFit/>
          </a:bodyPr>
          <a:lstStyle/>
          <a:p>
            <a:r>
              <a:rPr lang="en-US" sz="7200" b="1" dirty="0">
                <a:solidFill>
                  <a:schemeClr val="accent1"/>
                </a:solidFill>
              </a:rPr>
              <a:t>Exercise</a:t>
            </a:r>
          </a:p>
        </p:txBody>
      </p:sp>
    </p:spTree>
    <p:extLst>
      <p:ext uri="{BB962C8B-B14F-4D97-AF65-F5344CB8AC3E}">
        <p14:creationId xmlns:p14="http://schemas.microsoft.com/office/powerpoint/2010/main" val="37474075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096A1-4349-1191-10E2-1B84F33732A4}"/>
              </a:ext>
            </a:extLst>
          </p:cNvPr>
          <p:cNvSpPr>
            <a:spLocks noGrp="1"/>
          </p:cNvSpPr>
          <p:nvPr>
            <p:ph type="title"/>
          </p:nvPr>
        </p:nvSpPr>
        <p:spPr/>
        <p:txBody>
          <a:bodyPr/>
          <a:lstStyle/>
          <a:p>
            <a:r>
              <a:rPr lang="en-US" dirty="0"/>
              <a:t>How does this help us?</a:t>
            </a:r>
          </a:p>
        </p:txBody>
      </p:sp>
      <p:sp>
        <p:nvSpPr>
          <p:cNvPr id="3" name="Content Placeholder 2">
            <a:extLst>
              <a:ext uri="{FF2B5EF4-FFF2-40B4-BE49-F238E27FC236}">
                <a16:creationId xmlns:a16="http://schemas.microsoft.com/office/drawing/2014/main" id="{22D56438-18FE-116C-43B0-75F76C02ED07}"/>
              </a:ext>
            </a:extLst>
          </p:cNvPr>
          <p:cNvSpPr>
            <a:spLocks noGrp="1"/>
          </p:cNvSpPr>
          <p:nvPr>
            <p:ph idx="1"/>
          </p:nvPr>
        </p:nvSpPr>
        <p:spPr/>
        <p:txBody>
          <a:bodyPr>
            <a:normAutofit fontScale="92500" lnSpcReduction="20000"/>
          </a:bodyPr>
          <a:lstStyle/>
          <a:p>
            <a:pPr marL="241300" indent="-241300"/>
            <a:r>
              <a:rPr lang="en-US" dirty="0"/>
              <a:t>Identifying similarities or trends can inform solution that may be generalized to solve classes of problems vs single</a:t>
            </a:r>
          </a:p>
          <a:p>
            <a:pPr marL="241300" indent="-241300"/>
            <a:r>
              <a:rPr lang="en-US" dirty="0"/>
              <a:t>Addressing patterns with a shared solution ensures consistency and scalability</a:t>
            </a:r>
          </a:p>
          <a:p>
            <a:pPr marL="241300" indent="-241300"/>
            <a:r>
              <a:rPr lang="en-US" dirty="0"/>
              <a:t>Improve persistence and efficiency when faced with solving new problems</a:t>
            </a:r>
          </a:p>
          <a:p>
            <a:pPr marL="241300" indent="-241300"/>
            <a:endParaRPr lang="en-US" dirty="0"/>
          </a:p>
          <a:p>
            <a:pPr marL="241300" indent="-241300"/>
            <a:r>
              <a:rPr lang="en-US" b="1" dirty="0"/>
              <a:t>Computational examples: </a:t>
            </a:r>
            <a:r>
              <a:rPr lang="en-US" dirty="0"/>
              <a:t>solving optimization problems using gradient descent, applying loops to iterate over items</a:t>
            </a:r>
          </a:p>
        </p:txBody>
      </p:sp>
    </p:spTree>
    <p:extLst>
      <p:ext uri="{BB962C8B-B14F-4D97-AF65-F5344CB8AC3E}">
        <p14:creationId xmlns:p14="http://schemas.microsoft.com/office/powerpoint/2010/main" val="22179964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C6257-E23B-B275-5ADC-3A4E01E5C554}"/>
              </a:ext>
            </a:extLst>
          </p:cNvPr>
          <p:cNvSpPr>
            <a:spLocks noGrp="1"/>
          </p:cNvSpPr>
          <p:nvPr>
            <p:ph type="title"/>
          </p:nvPr>
        </p:nvSpPr>
        <p:spPr/>
        <p:txBody>
          <a:bodyPr/>
          <a:lstStyle/>
          <a:p>
            <a:r>
              <a:rPr lang="en-US" dirty="0"/>
              <a:t>abstraction</a:t>
            </a:r>
          </a:p>
        </p:txBody>
      </p:sp>
      <p:sp>
        <p:nvSpPr>
          <p:cNvPr id="3" name="Content Placeholder 2">
            <a:extLst>
              <a:ext uri="{FF2B5EF4-FFF2-40B4-BE49-F238E27FC236}">
                <a16:creationId xmlns:a16="http://schemas.microsoft.com/office/drawing/2014/main" id="{1EE056A3-FE4D-EF87-666B-9B309864B4DB}"/>
              </a:ext>
            </a:extLst>
          </p:cNvPr>
          <p:cNvSpPr>
            <a:spLocks noGrp="1"/>
          </p:cNvSpPr>
          <p:nvPr>
            <p:ph idx="1"/>
          </p:nvPr>
        </p:nvSpPr>
        <p:spPr>
          <a:xfrm>
            <a:off x="1024128" y="2286000"/>
            <a:ext cx="10101072" cy="4023360"/>
          </a:xfrm>
        </p:spPr>
        <p:txBody>
          <a:bodyPr>
            <a:normAutofit/>
          </a:bodyPr>
          <a:lstStyle/>
          <a:p>
            <a:pPr marL="0" indent="0">
              <a:buNone/>
            </a:pPr>
            <a:r>
              <a:rPr lang="en-US" dirty="0"/>
              <a:t>Focus on the essential details and ignore the irrelevant information to create a generalized understanding of the problem and solution. </a:t>
            </a:r>
          </a:p>
          <a:p>
            <a:endParaRPr lang="en-US" dirty="0"/>
          </a:p>
          <a:p>
            <a:pPr marL="514350" indent="-514350">
              <a:buAutoNum type="arabicPeriod"/>
            </a:pPr>
            <a:r>
              <a:rPr lang="en-US" dirty="0"/>
              <a:t>Identify essential information needed to solve the problem</a:t>
            </a:r>
          </a:p>
          <a:p>
            <a:pPr marL="514350" indent="-514350">
              <a:buAutoNum type="arabicPeriod"/>
            </a:pPr>
            <a:r>
              <a:rPr lang="en-US" dirty="0"/>
              <a:t>Filter unnecessary details</a:t>
            </a:r>
          </a:p>
          <a:p>
            <a:pPr marL="514350" indent="-514350">
              <a:buAutoNum type="arabicPeriod"/>
            </a:pPr>
            <a:r>
              <a:rPr lang="en-US" dirty="0"/>
              <a:t>Form a model that will be used to solve problem</a:t>
            </a:r>
          </a:p>
        </p:txBody>
      </p:sp>
      <p:grpSp>
        <p:nvGrpSpPr>
          <p:cNvPr id="4" name="Group 3">
            <a:extLst>
              <a:ext uri="{FF2B5EF4-FFF2-40B4-BE49-F238E27FC236}">
                <a16:creationId xmlns:a16="http://schemas.microsoft.com/office/drawing/2014/main" id="{8AEF553A-106B-D8F2-8BF4-F59CBF1BCD3B}"/>
              </a:ext>
            </a:extLst>
          </p:cNvPr>
          <p:cNvGrpSpPr/>
          <p:nvPr/>
        </p:nvGrpSpPr>
        <p:grpSpPr>
          <a:xfrm>
            <a:off x="876300" y="886261"/>
            <a:ext cx="6342743" cy="782519"/>
            <a:chOff x="0" y="1721542"/>
            <a:chExt cx="6342743" cy="782519"/>
          </a:xfrm>
        </p:grpSpPr>
        <p:sp>
          <p:nvSpPr>
            <p:cNvPr id="6" name="Rounded Rectangle 5">
              <a:extLst>
                <a:ext uri="{FF2B5EF4-FFF2-40B4-BE49-F238E27FC236}">
                  <a16:creationId xmlns:a16="http://schemas.microsoft.com/office/drawing/2014/main" id="{F92FFA44-B632-D0AD-6C4B-EB4783A03C50}"/>
                </a:ext>
              </a:extLst>
            </p:cNvPr>
            <p:cNvSpPr/>
            <p:nvPr/>
          </p:nvSpPr>
          <p:spPr>
            <a:xfrm>
              <a:off x="0" y="1721542"/>
              <a:ext cx="6342743" cy="782519"/>
            </a:xfrm>
            <a:prstGeom prst="roundRect">
              <a:avLst>
                <a:gd name="adj" fmla="val 10000"/>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a:lstStyle/>
            <a:p>
              <a:endParaRPr lang="en-US"/>
            </a:p>
          </p:txBody>
        </p:sp>
        <p:sp>
          <p:nvSpPr>
            <p:cNvPr id="7" name="Rounded Rectangle 4">
              <a:extLst>
                <a:ext uri="{FF2B5EF4-FFF2-40B4-BE49-F238E27FC236}">
                  <a16:creationId xmlns:a16="http://schemas.microsoft.com/office/drawing/2014/main" id="{6F359B4F-10C9-595A-0B1B-70B42EE600A1}"/>
                </a:ext>
              </a:extLst>
            </p:cNvPr>
            <p:cNvSpPr txBox="1"/>
            <p:nvPr/>
          </p:nvSpPr>
          <p:spPr>
            <a:xfrm>
              <a:off x="1346800" y="1721542"/>
              <a:ext cx="4995942" cy="7825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Abstraction</a:t>
              </a:r>
            </a:p>
          </p:txBody>
        </p:sp>
      </p:grpSp>
      <p:sp>
        <p:nvSpPr>
          <p:cNvPr id="5" name="Rounded Rectangle 4" descr="Filter with solid fill">
            <a:extLst>
              <a:ext uri="{FF2B5EF4-FFF2-40B4-BE49-F238E27FC236}">
                <a16:creationId xmlns:a16="http://schemas.microsoft.com/office/drawing/2014/main" id="{81CE967B-2E99-7B3B-BF69-E15079AB1A09}"/>
              </a:ext>
            </a:extLst>
          </p:cNvPr>
          <p:cNvSpPr/>
          <p:nvPr/>
        </p:nvSpPr>
        <p:spPr>
          <a:xfrm>
            <a:off x="954551" y="964513"/>
            <a:ext cx="1268548" cy="626015"/>
          </a:xfrm>
          <a:prstGeom prst="roundRect">
            <a:avLst>
              <a:gd name="adj" fmla="val 10000"/>
            </a:avLst>
          </a:prstGeom>
          <a:blipFill>
            <a:blip r:embed="rId3">
              <a:extLst>
                <a:ext uri="{96DAC541-7B7A-43D3-8B79-37D633B846F1}">
                  <asvg:svgBlip xmlns:asvg="http://schemas.microsoft.com/office/drawing/2016/SVG/main" r:embed="rId4"/>
                </a:ext>
              </a:extLst>
            </a:blip>
            <a:srcRect/>
            <a:stretch>
              <a:fillRect t="-10000" b="-10000"/>
            </a:stretch>
          </a:blipFill>
        </p:spPr>
        <p:style>
          <a:lnRef idx="2">
            <a:schemeClr val="lt1">
              <a:hueOff val="0"/>
              <a:satOff val="0"/>
              <a:lumOff val="0"/>
              <a:alphaOff val="0"/>
            </a:schemeClr>
          </a:lnRef>
          <a:fillRef idx="1">
            <a:scrgbClr r="0" g="0" b="0"/>
          </a:fillRef>
          <a:effectRef idx="0">
            <a:schemeClr val="accent4">
              <a:tint val="50000"/>
              <a:hueOff val="0"/>
              <a:satOff val="0"/>
              <a:lumOff val="0"/>
              <a:alphaOff val="0"/>
            </a:schemeClr>
          </a:effectRef>
          <a:fontRef idx="minor">
            <a:schemeClr val="lt1">
              <a:hueOff val="0"/>
              <a:satOff val="0"/>
              <a:lumOff val="0"/>
              <a:alphaOff val="0"/>
            </a:schemeClr>
          </a:fontRef>
        </p:style>
        <p:txBody>
          <a:bodyPr/>
          <a:lstStyle/>
          <a:p>
            <a:endParaRPr lang="en-US"/>
          </a:p>
        </p:txBody>
      </p:sp>
    </p:spTree>
    <p:extLst>
      <p:ext uri="{BB962C8B-B14F-4D97-AF65-F5344CB8AC3E}">
        <p14:creationId xmlns:p14="http://schemas.microsoft.com/office/powerpoint/2010/main" val="35305891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153B6-3748-0BDF-99C5-9377CB1F7311}"/>
              </a:ext>
            </a:extLst>
          </p:cNvPr>
          <p:cNvSpPr>
            <a:spLocks noGrp="1"/>
          </p:cNvSpPr>
          <p:nvPr>
            <p:ph type="title"/>
          </p:nvPr>
        </p:nvSpPr>
        <p:spPr>
          <a:xfrm>
            <a:off x="1024128" y="585216"/>
            <a:ext cx="10558272" cy="1499616"/>
          </a:xfrm>
        </p:spPr>
        <p:txBody>
          <a:bodyPr/>
          <a:lstStyle/>
          <a:p>
            <a:r>
              <a:rPr lang="en-US" dirty="0"/>
              <a:t>Abstracting the science of baking</a:t>
            </a:r>
          </a:p>
        </p:txBody>
      </p:sp>
      <p:sp>
        <p:nvSpPr>
          <p:cNvPr id="3" name="Content Placeholder 2">
            <a:extLst>
              <a:ext uri="{FF2B5EF4-FFF2-40B4-BE49-F238E27FC236}">
                <a16:creationId xmlns:a16="http://schemas.microsoft.com/office/drawing/2014/main" id="{94B06159-CCAA-95B2-0BFC-13187A7F67FD}"/>
              </a:ext>
            </a:extLst>
          </p:cNvPr>
          <p:cNvSpPr>
            <a:spLocks noGrp="1"/>
          </p:cNvSpPr>
          <p:nvPr>
            <p:ph idx="1"/>
          </p:nvPr>
        </p:nvSpPr>
        <p:spPr/>
        <p:txBody>
          <a:bodyPr/>
          <a:lstStyle/>
          <a:p>
            <a:pPr marL="0" indent="0">
              <a:buNone/>
            </a:pPr>
            <a:endParaRPr lang="en-US" dirty="0"/>
          </a:p>
          <a:p>
            <a:pPr marL="0" indent="0">
              <a:buNone/>
            </a:pPr>
            <a:r>
              <a:rPr lang="en-US" dirty="0"/>
              <a:t>Instead of thinking about the details of the chemistry of cooking or the physics and mechanics of the oven’s operations, we follow a recipe and operate the oven’s controls</a:t>
            </a:r>
          </a:p>
        </p:txBody>
      </p:sp>
    </p:spTree>
    <p:extLst>
      <p:ext uri="{BB962C8B-B14F-4D97-AF65-F5344CB8AC3E}">
        <p14:creationId xmlns:p14="http://schemas.microsoft.com/office/powerpoint/2010/main" val="29682732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34617-BB70-B0AA-16E8-0A1D3EDFEF21}"/>
              </a:ext>
            </a:extLst>
          </p:cNvPr>
          <p:cNvSpPr>
            <a:spLocks noGrp="1"/>
          </p:cNvSpPr>
          <p:nvPr>
            <p:ph type="title"/>
          </p:nvPr>
        </p:nvSpPr>
        <p:spPr/>
        <p:txBody>
          <a:bodyPr/>
          <a:lstStyle/>
          <a:p>
            <a:r>
              <a:rPr lang="en-US" dirty="0"/>
              <a:t>Basic Recipe: a model for baking</a:t>
            </a:r>
          </a:p>
        </p:txBody>
      </p:sp>
      <p:graphicFrame>
        <p:nvGraphicFramePr>
          <p:cNvPr id="4" name="Content Placeholder 2">
            <a:extLst>
              <a:ext uri="{FF2B5EF4-FFF2-40B4-BE49-F238E27FC236}">
                <a16:creationId xmlns:a16="http://schemas.microsoft.com/office/drawing/2014/main" id="{9F381C16-5A5D-5A64-6A53-E8DF6FC053FC}"/>
              </a:ext>
            </a:extLst>
          </p:cNvPr>
          <p:cNvGraphicFramePr>
            <a:graphicFrameLocks/>
          </p:cNvGraphicFramePr>
          <p:nvPr>
            <p:extLst>
              <p:ext uri="{D42A27DB-BD31-4B8C-83A1-F6EECF244321}">
                <p14:modId xmlns:p14="http://schemas.microsoft.com/office/powerpoint/2010/main" val="2147808628"/>
              </p:ext>
            </p:extLst>
          </p:nvPr>
        </p:nvGraphicFramePr>
        <p:xfrm>
          <a:off x="876300" y="2084832"/>
          <a:ext cx="10561320" cy="2743200"/>
        </p:xfrm>
        <a:graphic>
          <a:graphicData uri="http://schemas.openxmlformats.org/drawingml/2006/table">
            <a:tbl>
              <a:tblPr firstRow="1" bandRow="1">
                <a:tableStyleId>{2D5ABB26-0587-4C30-8999-92F81FD0307C}</a:tableStyleId>
              </a:tblPr>
              <a:tblGrid>
                <a:gridCol w="5638800">
                  <a:extLst>
                    <a:ext uri="{9D8B030D-6E8A-4147-A177-3AD203B41FA5}">
                      <a16:colId xmlns:a16="http://schemas.microsoft.com/office/drawing/2014/main" val="4262801093"/>
                    </a:ext>
                  </a:extLst>
                </a:gridCol>
                <a:gridCol w="457200">
                  <a:extLst>
                    <a:ext uri="{9D8B030D-6E8A-4147-A177-3AD203B41FA5}">
                      <a16:colId xmlns:a16="http://schemas.microsoft.com/office/drawing/2014/main" val="662881655"/>
                    </a:ext>
                  </a:extLst>
                </a:gridCol>
                <a:gridCol w="4465320">
                  <a:extLst>
                    <a:ext uri="{9D8B030D-6E8A-4147-A177-3AD203B41FA5}">
                      <a16:colId xmlns:a16="http://schemas.microsoft.com/office/drawing/2014/main" val="197863130"/>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chemeClr val="bg1"/>
                          </a:solidFill>
                        </a:rPr>
                        <a:t>Select the recipe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Prepare the pan</a:t>
                      </a:r>
                    </a:p>
                  </a:txBody>
                  <a:tcPr/>
                </a:tc>
                <a:extLst>
                  <a:ext uri="{0D108BD9-81ED-4DB2-BD59-A6C34878D82A}">
                    <a16:rowId xmlns:a16="http://schemas.microsoft.com/office/drawing/2014/main" val="395925325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chemeClr val="tx1"/>
                          </a:solidFill>
                        </a:rPr>
                        <a:t>Gather ingredients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highlight>
                          <a:srgbClr val="FFFF00"/>
                        </a:highligh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chemeClr val="tx1"/>
                          </a:solidFill>
                        </a:rPr>
                        <a:t>Add item to pan</a:t>
                      </a:r>
                    </a:p>
                  </a:txBody>
                  <a:tcPr/>
                </a:tc>
                <a:extLst>
                  <a:ext uri="{0D108BD9-81ED-4DB2-BD59-A6C34878D82A}">
                    <a16:rowId xmlns:a16="http://schemas.microsoft.com/office/drawing/2014/main" val="348094154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chemeClr val="tx1"/>
                          </a:solidFill>
                        </a:rPr>
                        <a:t>Collect kitchen supplies, tools, and equipment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highlight>
                          <a:srgbClr val="FFFF00"/>
                        </a:highligh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chemeClr val="tx1"/>
                          </a:solidFill>
                        </a:rPr>
                        <a:t>Bake for required time</a:t>
                      </a:r>
                    </a:p>
                  </a:txBody>
                  <a:tcPr/>
                </a:tc>
                <a:extLst>
                  <a:ext uri="{0D108BD9-81ED-4DB2-BD59-A6C34878D82A}">
                    <a16:rowId xmlns:a16="http://schemas.microsoft.com/office/drawing/2014/main" val="189574541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chemeClr val="tx1"/>
                          </a:solidFill>
                        </a:rPr>
                        <a:t>Preheat the oven</a:t>
                      </a:r>
                    </a:p>
                  </a:txBody>
                  <a:tcP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chemeClr val="tx1"/>
                          </a:solidFill>
                        </a:rPr>
                        <a:t>Check for doneness</a:t>
                      </a:r>
                    </a:p>
                  </a:txBody>
                  <a:tcPr/>
                </a:tc>
                <a:extLst>
                  <a:ext uri="{0D108BD9-81ED-4DB2-BD59-A6C34878D82A}">
                    <a16:rowId xmlns:a16="http://schemas.microsoft.com/office/drawing/2014/main" val="18621722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Prepare ingredients</a:t>
                      </a:r>
                    </a:p>
                  </a:txBody>
                  <a:tcPr>
                    <a:lnT w="12700" cap="flat" cmpd="sng" algn="ctr">
                      <a:solidFill>
                        <a:schemeClr val="tx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lnB w="12700" cap="flat" cmpd="sng" algn="ctr">
                      <a:no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chemeClr val="tx1"/>
                          </a:solidFill>
                        </a:rPr>
                        <a:t>When done remove pan from oven</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615041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Combine ingredients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lnT w="12700" cap="flat" cmpd="sng" algn="ctr">
                      <a:no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chemeClr val="tx1"/>
                          </a:solidFill>
                        </a:rPr>
                        <a:t>Prepare item for serving</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68466978"/>
                  </a:ext>
                </a:extLst>
              </a:tr>
            </a:tbl>
          </a:graphicData>
        </a:graphic>
      </p:graphicFrame>
      <p:sp>
        <p:nvSpPr>
          <p:cNvPr id="5" name="TextBox 4">
            <a:extLst>
              <a:ext uri="{FF2B5EF4-FFF2-40B4-BE49-F238E27FC236}">
                <a16:creationId xmlns:a16="http://schemas.microsoft.com/office/drawing/2014/main" id="{E141E0E5-37CB-659B-8ED1-7DCF4A7BE6DA}"/>
              </a:ext>
            </a:extLst>
          </p:cNvPr>
          <p:cNvSpPr txBox="1"/>
          <p:nvPr/>
        </p:nvSpPr>
        <p:spPr>
          <a:xfrm>
            <a:off x="876300" y="5496651"/>
            <a:ext cx="9959139" cy="954107"/>
          </a:xfrm>
          <a:prstGeom prst="rect">
            <a:avLst/>
          </a:prstGeom>
          <a:noFill/>
        </p:spPr>
        <p:txBody>
          <a:bodyPr wrap="square" rtlCol="0">
            <a:spAutoFit/>
          </a:bodyPr>
          <a:lstStyle/>
          <a:p>
            <a:r>
              <a:rPr lang="en-US" sz="2800" dirty="0">
                <a:solidFill>
                  <a:schemeClr val="accent1"/>
                </a:solidFill>
              </a:rPr>
              <a:t>We can filter out many of the specifics: what item, what ingredients, how much, how long, what temp, what flavor, what color frosting, etc.</a:t>
            </a:r>
          </a:p>
        </p:txBody>
      </p:sp>
      <p:pic>
        <p:nvPicPr>
          <p:cNvPr id="7" name="Picture 6">
            <a:extLst>
              <a:ext uri="{FF2B5EF4-FFF2-40B4-BE49-F238E27FC236}">
                <a16:creationId xmlns:a16="http://schemas.microsoft.com/office/drawing/2014/main" id="{1FE6765F-2670-3224-5281-C86F8D2D60AC}"/>
              </a:ext>
            </a:extLst>
          </p:cNvPr>
          <p:cNvPicPr>
            <a:picLocks noChangeAspect="1"/>
          </p:cNvPicPr>
          <p:nvPr/>
        </p:nvPicPr>
        <p:blipFill>
          <a:blip r:embed="rId2"/>
          <a:stretch>
            <a:fillRect/>
          </a:stretch>
        </p:blipFill>
        <p:spPr>
          <a:xfrm>
            <a:off x="10611889" y="0"/>
            <a:ext cx="1587731" cy="1828800"/>
          </a:xfrm>
          <a:prstGeom prst="rect">
            <a:avLst/>
          </a:prstGeom>
        </p:spPr>
      </p:pic>
    </p:spTree>
    <p:extLst>
      <p:ext uri="{BB962C8B-B14F-4D97-AF65-F5344CB8AC3E}">
        <p14:creationId xmlns:p14="http://schemas.microsoft.com/office/powerpoint/2010/main" val="31529980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A9F0CCA-FE48-8405-A1A4-F94D735461A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A3420BA-466F-7A33-F411-990C743E6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0" name="Freeform 16">
            <a:extLst>
              <a:ext uri="{FF2B5EF4-FFF2-40B4-BE49-F238E27FC236}">
                <a16:creationId xmlns:a16="http://schemas.microsoft.com/office/drawing/2014/main" id="{0C988C58-FC6A-50CF-E85A-33A440BCCA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2" name="Rectangle 11">
            <a:extLst>
              <a:ext uri="{FF2B5EF4-FFF2-40B4-BE49-F238E27FC236}">
                <a16:creationId xmlns:a16="http://schemas.microsoft.com/office/drawing/2014/main" id="{DD55625A-63F9-6BAE-34F2-8A58B2160F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 name="Title 1">
            <a:extLst>
              <a:ext uri="{FF2B5EF4-FFF2-40B4-BE49-F238E27FC236}">
                <a16:creationId xmlns:a16="http://schemas.microsoft.com/office/drawing/2014/main" id="{BC180295-0016-34FF-3806-B99B4699F20D}"/>
              </a:ext>
            </a:extLst>
          </p:cNvPr>
          <p:cNvSpPr>
            <a:spLocks noGrp="1"/>
          </p:cNvSpPr>
          <p:nvPr>
            <p:ph type="ctrTitle"/>
          </p:nvPr>
        </p:nvSpPr>
        <p:spPr>
          <a:xfrm>
            <a:off x="4713224" y="1105351"/>
            <a:ext cx="6353967" cy="3023981"/>
          </a:xfrm>
        </p:spPr>
        <p:txBody>
          <a:bodyPr anchor="b">
            <a:normAutofit/>
          </a:bodyPr>
          <a:lstStyle/>
          <a:p>
            <a:pPr algn="l"/>
            <a:r>
              <a:rPr lang="en-US" sz="4800" dirty="0">
                <a:solidFill>
                  <a:srgbClr val="FFFFFF"/>
                </a:solidFill>
              </a:rPr>
              <a:t>Let’s try it</a:t>
            </a:r>
          </a:p>
        </p:txBody>
      </p:sp>
      <p:sp>
        <p:nvSpPr>
          <p:cNvPr id="3" name="Subtitle 2">
            <a:extLst>
              <a:ext uri="{FF2B5EF4-FFF2-40B4-BE49-F238E27FC236}">
                <a16:creationId xmlns:a16="http://schemas.microsoft.com/office/drawing/2014/main" id="{06D9B05B-2F60-2B52-91D2-94EA5DBB7F9D}"/>
              </a:ext>
            </a:extLst>
          </p:cNvPr>
          <p:cNvSpPr>
            <a:spLocks noGrp="1"/>
          </p:cNvSpPr>
          <p:nvPr>
            <p:ph type="subTitle" idx="1"/>
          </p:nvPr>
        </p:nvSpPr>
        <p:spPr>
          <a:xfrm>
            <a:off x="4713224" y="4297556"/>
            <a:ext cx="6353968" cy="1433391"/>
          </a:xfrm>
        </p:spPr>
        <p:txBody>
          <a:bodyPr anchor="t">
            <a:normAutofit/>
          </a:bodyPr>
          <a:lstStyle/>
          <a:p>
            <a:endParaRPr lang="en-US">
              <a:solidFill>
                <a:srgbClr val="FFFFFF"/>
              </a:solidFill>
            </a:endParaRPr>
          </a:p>
        </p:txBody>
      </p:sp>
      <p:cxnSp>
        <p:nvCxnSpPr>
          <p:cNvPr id="14" name="Straight Connector 13">
            <a:extLst>
              <a:ext uri="{FF2B5EF4-FFF2-40B4-BE49-F238E27FC236}">
                <a16:creationId xmlns:a16="http://schemas.microsoft.com/office/drawing/2014/main" id="{C05AB8D6-5CDA-AB11-50B3-3BB59F90D21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EFC18227-0BA1-B045-A8F5-DB8F3F373C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Tree>
    <p:extLst>
      <p:ext uri="{BB962C8B-B14F-4D97-AF65-F5344CB8AC3E}">
        <p14:creationId xmlns:p14="http://schemas.microsoft.com/office/powerpoint/2010/main" val="37344634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69895-06CA-EDA3-DC9F-00ADA3BBB9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7C6465-752D-E3BD-2725-2586D49908B5}"/>
              </a:ext>
            </a:extLst>
          </p:cNvPr>
          <p:cNvSpPr>
            <a:spLocks noGrp="1"/>
          </p:cNvSpPr>
          <p:nvPr>
            <p:ph type="title"/>
          </p:nvPr>
        </p:nvSpPr>
        <p:spPr/>
        <p:txBody>
          <a:bodyPr/>
          <a:lstStyle/>
          <a:p>
            <a:r>
              <a:rPr lang="en-US" dirty="0"/>
              <a:t>abstraction</a:t>
            </a:r>
          </a:p>
        </p:txBody>
      </p:sp>
      <p:sp>
        <p:nvSpPr>
          <p:cNvPr id="3" name="Content Placeholder 2">
            <a:extLst>
              <a:ext uri="{FF2B5EF4-FFF2-40B4-BE49-F238E27FC236}">
                <a16:creationId xmlns:a16="http://schemas.microsoft.com/office/drawing/2014/main" id="{73E96C77-CE71-16F7-9661-DF81D3D93051}"/>
              </a:ext>
            </a:extLst>
          </p:cNvPr>
          <p:cNvSpPr>
            <a:spLocks noGrp="1"/>
          </p:cNvSpPr>
          <p:nvPr>
            <p:ph idx="1"/>
          </p:nvPr>
        </p:nvSpPr>
        <p:spPr>
          <a:xfrm>
            <a:off x="1024127" y="3879142"/>
            <a:ext cx="10434448" cy="2606040"/>
          </a:xfrm>
        </p:spPr>
        <p:txBody>
          <a:bodyPr>
            <a:normAutofit fontScale="92500" lnSpcReduction="10000"/>
          </a:bodyPr>
          <a:lstStyle/>
          <a:p>
            <a:pPr marL="298450" indent="-298450"/>
            <a:r>
              <a:rPr lang="en-US" dirty="0"/>
              <a:t>Join your classmates in small groups</a:t>
            </a:r>
          </a:p>
          <a:p>
            <a:pPr marL="298450" indent="-298450"/>
            <a:r>
              <a:rPr lang="en-US" dirty="0"/>
              <a:t>Select a visualization from your hypothetical dashboard.</a:t>
            </a:r>
          </a:p>
          <a:p>
            <a:pPr marL="298450" indent="-298450"/>
            <a:r>
              <a:rPr lang="en-US" dirty="0"/>
              <a:t>Define the essential data and elements you need for an effective visualization. What is your model?</a:t>
            </a:r>
          </a:p>
          <a:p>
            <a:pPr marL="298450" indent="-298450"/>
            <a:r>
              <a:rPr lang="en-US" dirty="0"/>
              <a:t>Share your ideas with the group</a:t>
            </a:r>
          </a:p>
        </p:txBody>
      </p:sp>
      <p:sp>
        <p:nvSpPr>
          <p:cNvPr id="4" name="TextBox 3">
            <a:extLst>
              <a:ext uri="{FF2B5EF4-FFF2-40B4-BE49-F238E27FC236}">
                <a16:creationId xmlns:a16="http://schemas.microsoft.com/office/drawing/2014/main" id="{DE77E466-320B-685E-90A0-12025ABD44E7}"/>
              </a:ext>
            </a:extLst>
          </p:cNvPr>
          <p:cNvSpPr txBox="1"/>
          <p:nvPr/>
        </p:nvSpPr>
        <p:spPr>
          <a:xfrm>
            <a:off x="8368328" y="264622"/>
            <a:ext cx="3299301" cy="1200329"/>
          </a:xfrm>
          <a:prstGeom prst="rect">
            <a:avLst/>
          </a:prstGeom>
          <a:noFill/>
        </p:spPr>
        <p:txBody>
          <a:bodyPr wrap="none" rtlCol="0">
            <a:spAutoFit/>
          </a:bodyPr>
          <a:lstStyle/>
          <a:p>
            <a:r>
              <a:rPr lang="en-US" sz="7200" b="1" dirty="0">
                <a:solidFill>
                  <a:schemeClr val="accent1"/>
                </a:solidFill>
              </a:rPr>
              <a:t>Exercise</a:t>
            </a:r>
          </a:p>
        </p:txBody>
      </p:sp>
      <p:pic>
        <p:nvPicPr>
          <p:cNvPr id="5" name="Graphic 4" descr="Database with solid fill">
            <a:extLst>
              <a:ext uri="{FF2B5EF4-FFF2-40B4-BE49-F238E27FC236}">
                <a16:creationId xmlns:a16="http://schemas.microsoft.com/office/drawing/2014/main" id="{96AADECF-669E-D7E7-CBEB-BD8B764D0C3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77647" y="1911146"/>
            <a:ext cx="1499616" cy="1499616"/>
          </a:xfrm>
          <a:prstGeom prst="rect">
            <a:avLst/>
          </a:prstGeom>
        </p:spPr>
      </p:pic>
      <p:grpSp>
        <p:nvGrpSpPr>
          <p:cNvPr id="6" name="Group 5">
            <a:extLst>
              <a:ext uri="{FF2B5EF4-FFF2-40B4-BE49-F238E27FC236}">
                <a16:creationId xmlns:a16="http://schemas.microsoft.com/office/drawing/2014/main" id="{9605733A-5008-16E4-9455-78666F06FCE0}"/>
              </a:ext>
            </a:extLst>
          </p:cNvPr>
          <p:cNvGrpSpPr>
            <a:grpSpLocks noChangeAspect="1"/>
          </p:cNvGrpSpPr>
          <p:nvPr/>
        </p:nvGrpSpPr>
        <p:grpSpPr>
          <a:xfrm>
            <a:off x="902558" y="1929405"/>
            <a:ext cx="1484924" cy="1499616"/>
            <a:chOff x="361641" y="2581420"/>
            <a:chExt cx="1265366" cy="1277886"/>
          </a:xfrm>
        </p:grpSpPr>
        <p:grpSp>
          <p:nvGrpSpPr>
            <p:cNvPr id="7" name="Group 6">
              <a:extLst>
                <a:ext uri="{FF2B5EF4-FFF2-40B4-BE49-F238E27FC236}">
                  <a16:creationId xmlns:a16="http://schemas.microsoft.com/office/drawing/2014/main" id="{95112FDB-D1BC-581E-AD58-43CBC24103DC}"/>
                </a:ext>
              </a:extLst>
            </p:cNvPr>
            <p:cNvGrpSpPr/>
            <p:nvPr/>
          </p:nvGrpSpPr>
          <p:grpSpPr>
            <a:xfrm>
              <a:off x="361641" y="2944906"/>
              <a:ext cx="914400" cy="914400"/>
              <a:chOff x="6653996" y="2295641"/>
              <a:chExt cx="914400" cy="914400"/>
            </a:xfrm>
          </p:grpSpPr>
          <p:sp>
            <p:nvSpPr>
              <p:cNvPr id="17" name="Rectangle 16">
                <a:extLst>
                  <a:ext uri="{FF2B5EF4-FFF2-40B4-BE49-F238E27FC236}">
                    <a16:creationId xmlns:a16="http://schemas.microsoft.com/office/drawing/2014/main" id="{E164932E-2315-C24D-3CA5-D862085E3F88}"/>
                  </a:ext>
                </a:extLst>
              </p:cNvPr>
              <p:cNvSpPr/>
              <p:nvPr/>
            </p:nvSpPr>
            <p:spPr>
              <a:xfrm>
                <a:off x="6858000" y="2473874"/>
                <a:ext cx="524435" cy="6113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raphic 17" descr="Document with solid fill">
                <a:extLst>
                  <a:ext uri="{FF2B5EF4-FFF2-40B4-BE49-F238E27FC236}">
                    <a16:creationId xmlns:a16="http://schemas.microsoft.com/office/drawing/2014/main" id="{74FB7378-7219-5DBF-6DD3-5E3C32D93A9C}"/>
                  </a:ext>
                </a:extLst>
              </p:cNvPr>
              <p:cNvPicPr>
                <a:picLocks noChangeAspect="1"/>
              </p:cNvPicPr>
              <p:nvPr/>
            </p:nvPicPr>
            <p:blipFill>
              <a:blip r:embed="rId5">
                <a:alphaModFix/>
                <a:extLst>
                  <a:ext uri="{96DAC541-7B7A-43D3-8B79-37D633B846F1}">
                    <asvg:svgBlip xmlns:asvg="http://schemas.microsoft.com/office/drawing/2016/SVG/main" r:embed="rId6"/>
                  </a:ext>
                </a:extLst>
              </a:blip>
              <a:stretch>
                <a:fillRect/>
              </a:stretch>
            </p:blipFill>
            <p:spPr>
              <a:xfrm>
                <a:off x="6653996" y="2295641"/>
                <a:ext cx="914400" cy="914400"/>
              </a:xfrm>
              <a:prstGeom prst="rect">
                <a:avLst/>
              </a:prstGeom>
            </p:spPr>
          </p:pic>
        </p:grpSp>
        <p:grpSp>
          <p:nvGrpSpPr>
            <p:cNvPr id="8" name="Group 7">
              <a:extLst>
                <a:ext uri="{FF2B5EF4-FFF2-40B4-BE49-F238E27FC236}">
                  <a16:creationId xmlns:a16="http://schemas.microsoft.com/office/drawing/2014/main" id="{C44A7987-C96D-83E3-1489-D10B96947D59}"/>
                </a:ext>
              </a:extLst>
            </p:cNvPr>
            <p:cNvGrpSpPr/>
            <p:nvPr/>
          </p:nvGrpSpPr>
          <p:grpSpPr>
            <a:xfrm>
              <a:off x="475306" y="2813454"/>
              <a:ext cx="914400" cy="914400"/>
              <a:chOff x="6653996" y="2295641"/>
              <a:chExt cx="914400" cy="914400"/>
            </a:xfrm>
          </p:grpSpPr>
          <p:sp>
            <p:nvSpPr>
              <p:cNvPr id="15" name="Rectangle 14">
                <a:extLst>
                  <a:ext uri="{FF2B5EF4-FFF2-40B4-BE49-F238E27FC236}">
                    <a16:creationId xmlns:a16="http://schemas.microsoft.com/office/drawing/2014/main" id="{8BA56BC5-9BB0-1D34-F0E9-1F8C63695989}"/>
                  </a:ext>
                </a:extLst>
              </p:cNvPr>
              <p:cNvSpPr/>
              <p:nvPr/>
            </p:nvSpPr>
            <p:spPr>
              <a:xfrm>
                <a:off x="6858000" y="2473874"/>
                <a:ext cx="524435" cy="6113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descr="Document with solid fill">
                <a:extLst>
                  <a:ext uri="{FF2B5EF4-FFF2-40B4-BE49-F238E27FC236}">
                    <a16:creationId xmlns:a16="http://schemas.microsoft.com/office/drawing/2014/main" id="{DCE81049-0F02-4BC9-3659-737138A97C95}"/>
                  </a:ext>
                </a:extLst>
              </p:cNvPr>
              <p:cNvPicPr>
                <a:picLocks noChangeAspect="1"/>
              </p:cNvPicPr>
              <p:nvPr/>
            </p:nvPicPr>
            <p:blipFill>
              <a:blip r:embed="rId5">
                <a:alphaModFix/>
                <a:extLst>
                  <a:ext uri="{96DAC541-7B7A-43D3-8B79-37D633B846F1}">
                    <asvg:svgBlip xmlns:asvg="http://schemas.microsoft.com/office/drawing/2016/SVG/main" r:embed="rId6"/>
                  </a:ext>
                </a:extLst>
              </a:blip>
              <a:stretch>
                <a:fillRect/>
              </a:stretch>
            </p:blipFill>
            <p:spPr>
              <a:xfrm>
                <a:off x="6653996" y="2295641"/>
                <a:ext cx="914400" cy="914400"/>
              </a:xfrm>
              <a:prstGeom prst="rect">
                <a:avLst/>
              </a:prstGeom>
            </p:spPr>
          </p:pic>
        </p:grpSp>
        <p:grpSp>
          <p:nvGrpSpPr>
            <p:cNvPr id="9" name="Group 8">
              <a:extLst>
                <a:ext uri="{FF2B5EF4-FFF2-40B4-BE49-F238E27FC236}">
                  <a16:creationId xmlns:a16="http://schemas.microsoft.com/office/drawing/2014/main" id="{EB12B8B6-38AD-FB9C-68D1-85CCC35BB90E}"/>
                </a:ext>
              </a:extLst>
            </p:cNvPr>
            <p:cNvGrpSpPr/>
            <p:nvPr/>
          </p:nvGrpSpPr>
          <p:grpSpPr>
            <a:xfrm>
              <a:off x="598942" y="2697437"/>
              <a:ext cx="914400" cy="914400"/>
              <a:chOff x="6653996" y="2295641"/>
              <a:chExt cx="914400" cy="914400"/>
            </a:xfrm>
          </p:grpSpPr>
          <p:sp>
            <p:nvSpPr>
              <p:cNvPr id="13" name="Rectangle 12">
                <a:extLst>
                  <a:ext uri="{FF2B5EF4-FFF2-40B4-BE49-F238E27FC236}">
                    <a16:creationId xmlns:a16="http://schemas.microsoft.com/office/drawing/2014/main" id="{9A4DA5D8-E85F-BE59-CB0A-945DDFC61641}"/>
                  </a:ext>
                </a:extLst>
              </p:cNvPr>
              <p:cNvSpPr/>
              <p:nvPr/>
            </p:nvSpPr>
            <p:spPr>
              <a:xfrm>
                <a:off x="6858000" y="2473874"/>
                <a:ext cx="524435" cy="6113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Graphic 13" descr="Document with solid fill">
                <a:extLst>
                  <a:ext uri="{FF2B5EF4-FFF2-40B4-BE49-F238E27FC236}">
                    <a16:creationId xmlns:a16="http://schemas.microsoft.com/office/drawing/2014/main" id="{804F23FF-9D7F-FE1C-11ED-E7B108484824}"/>
                  </a:ext>
                </a:extLst>
              </p:cNvPr>
              <p:cNvPicPr>
                <a:picLocks noChangeAspect="1"/>
              </p:cNvPicPr>
              <p:nvPr/>
            </p:nvPicPr>
            <p:blipFill>
              <a:blip r:embed="rId5">
                <a:alphaModFix/>
                <a:extLst>
                  <a:ext uri="{96DAC541-7B7A-43D3-8B79-37D633B846F1}">
                    <asvg:svgBlip xmlns:asvg="http://schemas.microsoft.com/office/drawing/2016/SVG/main" r:embed="rId6"/>
                  </a:ext>
                </a:extLst>
              </a:blip>
              <a:stretch>
                <a:fillRect/>
              </a:stretch>
            </p:blipFill>
            <p:spPr>
              <a:xfrm>
                <a:off x="6653996" y="2295641"/>
                <a:ext cx="914400" cy="914400"/>
              </a:xfrm>
              <a:prstGeom prst="rect">
                <a:avLst/>
              </a:prstGeom>
            </p:spPr>
          </p:pic>
        </p:grpSp>
        <p:grpSp>
          <p:nvGrpSpPr>
            <p:cNvPr id="10" name="Group 9">
              <a:extLst>
                <a:ext uri="{FF2B5EF4-FFF2-40B4-BE49-F238E27FC236}">
                  <a16:creationId xmlns:a16="http://schemas.microsoft.com/office/drawing/2014/main" id="{8D27CC85-2F8E-5CA4-FDE7-0AF937EB66B7}"/>
                </a:ext>
              </a:extLst>
            </p:cNvPr>
            <p:cNvGrpSpPr/>
            <p:nvPr/>
          </p:nvGrpSpPr>
          <p:grpSpPr>
            <a:xfrm>
              <a:off x="712607" y="2581420"/>
              <a:ext cx="914400" cy="914400"/>
              <a:chOff x="6653996" y="2295641"/>
              <a:chExt cx="914400" cy="914400"/>
            </a:xfrm>
          </p:grpSpPr>
          <p:sp>
            <p:nvSpPr>
              <p:cNvPr id="11" name="Rectangle 10">
                <a:extLst>
                  <a:ext uri="{FF2B5EF4-FFF2-40B4-BE49-F238E27FC236}">
                    <a16:creationId xmlns:a16="http://schemas.microsoft.com/office/drawing/2014/main" id="{E66C45B8-4E81-CFBE-8666-E30EBB7E353F}"/>
                  </a:ext>
                </a:extLst>
              </p:cNvPr>
              <p:cNvSpPr/>
              <p:nvPr/>
            </p:nvSpPr>
            <p:spPr>
              <a:xfrm>
                <a:off x="6858000" y="2473874"/>
                <a:ext cx="524435" cy="6113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descr="Document with solid fill">
                <a:extLst>
                  <a:ext uri="{FF2B5EF4-FFF2-40B4-BE49-F238E27FC236}">
                    <a16:creationId xmlns:a16="http://schemas.microsoft.com/office/drawing/2014/main" id="{8B02D36D-F46C-AE99-6FC0-330EE70B8D99}"/>
                  </a:ext>
                </a:extLst>
              </p:cNvPr>
              <p:cNvPicPr>
                <a:picLocks noChangeAspect="1"/>
              </p:cNvPicPr>
              <p:nvPr/>
            </p:nvPicPr>
            <p:blipFill>
              <a:blip r:embed="rId5">
                <a:alphaModFix/>
                <a:extLst>
                  <a:ext uri="{96DAC541-7B7A-43D3-8B79-37D633B846F1}">
                    <asvg:svgBlip xmlns:asvg="http://schemas.microsoft.com/office/drawing/2016/SVG/main" r:embed="rId6"/>
                  </a:ext>
                </a:extLst>
              </a:blip>
              <a:stretch>
                <a:fillRect/>
              </a:stretch>
            </p:blipFill>
            <p:spPr>
              <a:xfrm>
                <a:off x="6653996" y="2295641"/>
                <a:ext cx="914400" cy="914400"/>
              </a:xfrm>
              <a:prstGeom prst="rect">
                <a:avLst/>
              </a:prstGeom>
            </p:spPr>
          </p:pic>
        </p:grpSp>
      </p:grpSp>
      <p:sp>
        <p:nvSpPr>
          <p:cNvPr id="19" name="Right Arrow 18">
            <a:extLst>
              <a:ext uri="{FF2B5EF4-FFF2-40B4-BE49-F238E27FC236}">
                <a16:creationId xmlns:a16="http://schemas.microsoft.com/office/drawing/2014/main" id="{07C5BC0B-85A9-9F91-B627-89BF63CAAE16}"/>
              </a:ext>
            </a:extLst>
          </p:cNvPr>
          <p:cNvSpPr/>
          <p:nvPr/>
        </p:nvSpPr>
        <p:spPr>
          <a:xfrm>
            <a:off x="2729312" y="2316559"/>
            <a:ext cx="3603245" cy="792238"/>
          </a:xfrm>
          <a:prstGeom prst="right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80906E2F-F211-7FE7-7875-4EAB931233AC}"/>
              </a:ext>
            </a:extLst>
          </p:cNvPr>
          <p:cNvSpPr/>
          <p:nvPr/>
        </p:nvSpPr>
        <p:spPr>
          <a:xfrm>
            <a:off x="8094696" y="2521857"/>
            <a:ext cx="752389" cy="430306"/>
          </a:xfrm>
          <a:prstGeom prst="right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7AF3B652-5C48-A18B-89DB-9E06D08E9DCA}"/>
              </a:ext>
            </a:extLst>
          </p:cNvPr>
          <p:cNvPicPr>
            <a:picLocks noChangeAspect="1"/>
          </p:cNvPicPr>
          <p:nvPr/>
        </p:nvPicPr>
        <p:blipFill>
          <a:blip r:embed="rId7"/>
          <a:stretch>
            <a:fillRect/>
          </a:stretch>
        </p:blipFill>
        <p:spPr>
          <a:xfrm>
            <a:off x="9248531" y="1933331"/>
            <a:ext cx="1495669" cy="1495669"/>
          </a:xfrm>
          <a:prstGeom prst="rect">
            <a:avLst/>
          </a:prstGeom>
        </p:spPr>
      </p:pic>
      <p:grpSp>
        <p:nvGrpSpPr>
          <p:cNvPr id="22" name="Group 21">
            <a:extLst>
              <a:ext uri="{FF2B5EF4-FFF2-40B4-BE49-F238E27FC236}">
                <a16:creationId xmlns:a16="http://schemas.microsoft.com/office/drawing/2014/main" id="{99548548-7D04-0203-D259-24D9D600A1B9}"/>
              </a:ext>
            </a:extLst>
          </p:cNvPr>
          <p:cNvGrpSpPr>
            <a:grpSpLocks noChangeAspect="1"/>
          </p:cNvGrpSpPr>
          <p:nvPr/>
        </p:nvGrpSpPr>
        <p:grpSpPr>
          <a:xfrm>
            <a:off x="2408657" y="2039700"/>
            <a:ext cx="1188720" cy="1188720"/>
            <a:chOff x="2732653" y="4969565"/>
            <a:chExt cx="685800" cy="685800"/>
          </a:xfrm>
        </p:grpSpPr>
        <p:sp>
          <p:nvSpPr>
            <p:cNvPr id="23" name="Oval 22">
              <a:extLst>
                <a:ext uri="{FF2B5EF4-FFF2-40B4-BE49-F238E27FC236}">
                  <a16:creationId xmlns:a16="http://schemas.microsoft.com/office/drawing/2014/main" id="{D73E4701-E4F5-D518-0574-5114991CA583}"/>
                </a:ext>
              </a:extLst>
            </p:cNvPr>
            <p:cNvSpPr/>
            <p:nvPr/>
          </p:nvSpPr>
          <p:spPr>
            <a:xfrm>
              <a:off x="2907465" y="5171271"/>
              <a:ext cx="336176" cy="3361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descr="Alarm clock with solid fill">
              <a:extLst>
                <a:ext uri="{FF2B5EF4-FFF2-40B4-BE49-F238E27FC236}">
                  <a16:creationId xmlns:a16="http://schemas.microsoft.com/office/drawing/2014/main" id="{A151D030-05F2-9387-CCCE-E4888A6AFF5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732653" y="4969565"/>
              <a:ext cx="685800" cy="685800"/>
            </a:xfrm>
            <a:prstGeom prst="rect">
              <a:avLst/>
            </a:prstGeom>
          </p:spPr>
        </p:pic>
      </p:grpSp>
    </p:spTree>
    <p:extLst>
      <p:ext uri="{BB962C8B-B14F-4D97-AF65-F5344CB8AC3E}">
        <p14:creationId xmlns:p14="http://schemas.microsoft.com/office/powerpoint/2010/main" val="33056549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33186-74B6-7F2A-80DF-B483E07FF5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32B11E-C80C-FC05-028F-1F3210425AD9}"/>
              </a:ext>
            </a:extLst>
          </p:cNvPr>
          <p:cNvSpPr>
            <a:spLocks noGrp="1"/>
          </p:cNvSpPr>
          <p:nvPr>
            <p:ph type="title"/>
          </p:nvPr>
        </p:nvSpPr>
        <p:spPr/>
        <p:txBody>
          <a:bodyPr/>
          <a:lstStyle/>
          <a:p>
            <a:r>
              <a:rPr lang="en-US" dirty="0"/>
              <a:t>Examples of abstraction</a:t>
            </a:r>
          </a:p>
        </p:txBody>
      </p:sp>
      <p:sp>
        <p:nvSpPr>
          <p:cNvPr id="3" name="Content Placeholder 2">
            <a:extLst>
              <a:ext uri="{FF2B5EF4-FFF2-40B4-BE49-F238E27FC236}">
                <a16:creationId xmlns:a16="http://schemas.microsoft.com/office/drawing/2014/main" id="{48CBD1E5-EB6F-D847-2E98-222CCEF6268B}"/>
              </a:ext>
            </a:extLst>
          </p:cNvPr>
          <p:cNvSpPr>
            <a:spLocks noGrp="1"/>
          </p:cNvSpPr>
          <p:nvPr>
            <p:ph idx="1"/>
          </p:nvPr>
        </p:nvSpPr>
        <p:spPr>
          <a:xfrm>
            <a:off x="1024128" y="2286000"/>
            <a:ext cx="10116312" cy="4023360"/>
          </a:xfrm>
        </p:spPr>
        <p:txBody>
          <a:bodyPr/>
          <a:lstStyle/>
          <a:p>
            <a:pPr marL="241300" indent="-241300"/>
            <a:r>
              <a:rPr lang="en-US" dirty="0"/>
              <a:t>Decide chart type or table, axes, labels, encoding elements</a:t>
            </a:r>
          </a:p>
          <a:p>
            <a:pPr marL="241300" indent="-241300"/>
            <a:r>
              <a:rPr lang="en-US" dirty="0"/>
              <a:t>Define which data elements (timepoints, analytes, peak type), units, thresholds</a:t>
            </a:r>
          </a:p>
          <a:p>
            <a:pPr marL="241300" indent="-241300"/>
            <a:r>
              <a:rPr lang="en-US" dirty="0"/>
              <a:t>Select key tests and areas/services to monitor</a:t>
            </a:r>
          </a:p>
          <a:p>
            <a:pPr marL="241300" indent="-241300"/>
            <a:r>
              <a:rPr lang="en-US" dirty="0"/>
              <a:t>Decide which visualization tool to use</a:t>
            </a:r>
          </a:p>
          <a:p>
            <a:pPr marL="241300" indent="-241300"/>
            <a:endParaRPr lang="en-US" dirty="0">
              <a:solidFill>
                <a:srgbClr val="FF0000"/>
              </a:solidFill>
            </a:endParaRPr>
          </a:p>
          <a:p>
            <a:endParaRPr lang="en-US" dirty="0"/>
          </a:p>
        </p:txBody>
      </p:sp>
      <p:sp>
        <p:nvSpPr>
          <p:cNvPr id="4" name="TextBox 3">
            <a:extLst>
              <a:ext uri="{FF2B5EF4-FFF2-40B4-BE49-F238E27FC236}">
                <a16:creationId xmlns:a16="http://schemas.microsoft.com/office/drawing/2014/main" id="{A13ED30C-885F-F1B3-579E-051C33C2C345}"/>
              </a:ext>
            </a:extLst>
          </p:cNvPr>
          <p:cNvSpPr txBox="1"/>
          <p:nvPr/>
        </p:nvSpPr>
        <p:spPr>
          <a:xfrm>
            <a:off x="8368328" y="264622"/>
            <a:ext cx="3299301" cy="1200329"/>
          </a:xfrm>
          <a:prstGeom prst="rect">
            <a:avLst/>
          </a:prstGeom>
          <a:noFill/>
        </p:spPr>
        <p:txBody>
          <a:bodyPr wrap="none" rtlCol="0">
            <a:spAutoFit/>
          </a:bodyPr>
          <a:lstStyle/>
          <a:p>
            <a:r>
              <a:rPr lang="en-US" sz="7200" b="1" dirty="0">
                <a:solidFill>
                  <a:schemeClr val="accent1"/>
                </a:solidFill>
              </a:rPr>
              <a:t>Exercise</a:t>
            </a:r>
          </a:p>
        </p:txBody>
      </p:sp>
    </p:spTree>
    <p:extLst>
      <p:ext uri="{BB962C8B-B14F-4D97-AF65-F5344CB8AC3E}">
        <p14:creationId xmlns:p14="http://schemas.microsoft.com/office/powerpoint/2010/main" val="28616683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B4B01-6ACD-06F8-5AAF-FD1F9D942A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D9EC7E-CEC3-E450-24DE-DDEE841A20C3}"/>
              </a:ext>
            </a:extLst>
          </p:cNvPr>
          <p:cNvSpPr>
            <a:spLocks noGrp="1"/>
          </p:cNvSpPr>
          <p:nvPr>
            <p:ph type="title"/>
          </p:nvPr>
        </p:nvSpPr>
        <p:spPr/>
        <p:txBody>
          <a:bodyPr/>
          <a:lstStyle/>
          <a:p>
            <a:r>
              <a:rPr lang="en-US" dirty="0"/>
              <a:t>How does this help us?</a:t>
            </a:r>
          </a:p>
        </p:txBody>
      </p:sp>
      <p:sp>
        <p:nvSpPr>
          <p:cNvPr id="3" name="Content Placeholder 2">
            <a:extLst>
              <a:ext uri="{FF2B5EF4-FFF2-40B4-BE49-F238E27FC236}">
                <a16:creationId xmlns:a16="http://schemas.microsoft.com/office/drawing/2014/main" id="{D3C0F10C-7EDF-BFAB-D571-CF4D16870DE8}"/>
              </a:ext>
            </a:extLst>
          </p:cNvPr>
          <p:cNvSpPr>
            <a:spLocks noGrp="1"/>
          </p:cNvSpPr>
          <p:nvPr>
            <p:ph idx="1"/>
          </p:nvPr>
        </p:nvSpPr>
        <p:spPr/>
        <p:txBody>
          <a:bodyPr>
            <a:normAutofit lnSpcReduction="10000"/>
          </a:bodyPr>
          <a:lstStyle/>
          <a:p>
            <a:pPr marL="241300" indent="-241300"/>
            <a:r>
              <a:rPr lang="en-US" dirty="0"/>
              <a:t>Simplifies the situation to help focus on most important aspects, highlights similarities, and makes actions efficient and easier to perform</a:t>
            </a:r>
          </a:p>
          <a:p>
            <a:pPr marL="241300" indent="-241300"/>
            <a:r>
              <a:rPr lang="en-US" dirty="0"/>
              <a:t>Already seen examples of how this can make decision making easier in data visualization context</a:t>
            </a:r>
          </a:p>
          <a:p>
            <a:pPr marL="241300" indent="-241300"/>
            <a:endParaRPr lang="en-US" dirty="0"/>
          </a:p>
          <a:p>
            <a:pPr marL="241300" indent="-241300"/>
            <a:r>
              <a:rPr lang="en-US" b="1" dirty="0"/>
              <a:t>Computational examples: </a:t>
            </a:r>
            <a:r>
              <a:rPr lang="en-US" dirty="0"/>
              <a:t>APIs, programming functions, LLM chat interfaces, business intelligence tools</a:t>
            </a:r>
          </a:p>
        </p:txBody>
      </p:sp>
    </p:spTree>
    <p:extLst>
      <p:ext uri="{BB962C8B-B14F-4D97-AF65-F5344CB8AC3E}">
        <p14:creationId xmlns:p14="http://schemas.microsoft.com/office/powerpoint/2010/main" val="39348728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B6CAA-63C9-87A4-F89D-A9B9D56C7A87}"/>
              </a:ext>
            </a:extLst>
          </p:cNvPr>
          <p:cNvSpPr>
            <a:spLocks noGrp="1"/>
          </p:cNvSpPr>
          <p:nvPr>
            <p:ph type="title"/>
          </p:nvPr>
        </p:nvSpPr>
        <p:spPr/>
        <p:txBody>
          <a:bodyPr/>
          <a:lstStyle/>
          <a:p>
            <a:r>
              <a:rPr lang="en-US" dirty="0"/>
              <a:t>Algorithm Design</a:t>
            </a:r>
          </a:p>
        </p:txBody>
      </p:sp>
      <p:sp>
        <p:nvSpPr>
          <p:cNvPr id="3" name="Content Placeholder 2">
            <a:extLst>
              <a:ext uri="{FF2B5EF4-FFF2-40B4-BE49-F238E27FC236}">
                <a16:creationId xmlns:a16="http://schemas.microsoft.com/office/drawing/2014/main" id="{7827460C-A229-BDB8-2E79-97BD0565D772}"/>
              </a:ext>
            </a:extLst>
          </p:cNvPr>
          <p:cNvSpPr>
            <a:spLocks noGrp="1"/>
          </p:cNvSpPr>
          <p:nvPr>
            <p:ph idx="1"/>
          </p:nvPr>
        </p:nvSpPr>
        <p:spPr/>
        <p:txBody>
          <a:bodyPr>
            <a:normAutofit lnSpcReduction="10000"/>
          </a:bodyPr>
          <a:lstStyle/>
          <a:p>
            <a:pPr marL="0" indent="0">
              <a:buNone/>
            </a:pPr>
            <a:r>
              <a:rPr lang="en-US" dirty="0"/>
              <a:t>Develop clear, step-by-step instructions or plans for how to solve a problem, which can then be executed by a human or computer. </a:t>
            </a:r>
          </a:p>
          <a:p>
            <a:pPr marL="0" indent="0">
              <a:buNone/>
            </a:pPr>
            <a:endParaRPr lang="en-US" dirty="0"/>
          </a:p>
          <a:p>
            <a:pPr marL="514350" indent="-514350">
              <a:buAutoNum type="arabicPeriod"/>
            </a:pPr>
            <a:r>
              <a:rPr lang="en-US" dirty="0"/>
              <a:t>Define starting point (input) and ending point (output) with sequential steps in between</a:t>
            </a:r>
          </a:p>
          <a:p>
            <a:pPr marL="514350" indent="-514350">
              <a:buAutoNum type="arabicPeriod"/>
            </a:pPr>
            <a:r>
              <a:rPr lang="en-US" dirty="0"/>
              <a:t>Represent with words/pseudocode/code or flow diagram</a:t>
            </a:r>
          </a:p>
        </p:txBody>
      </p:sp>
      <p:grpSp>
        <p:nvGrpSpPr>
          <p:cNvPr id="4" name="Group 3">
            <a:extLst>
              <a:ext uri="{FF2B5EF4-FFF2-40B4-BE49-F238E27FC236}">
                <a16:creationId xmlns:a16="http://schemas.microsoft.com/office/drawing/2014/main" id="{E6607710-E00B-A76D-7502-E01484B4960D}"/>
              </a:ext>
            </a:extLst>
          </p:cNvPr>
          <p:cNvGrpSpPr/>
          <p:nvPr/>
        </p:nvGrpSpPr>
        <p:grpSpPr>
          <a:xfrm>
            <a:off x="876300" y="886261"/>
            <a:ext cx="6342743" cy="782519"/>
            <a:chOff x="0" y="2582314"/>
            <a:chExt cx="6342743" cy="782519"/>
          </a:xfrm>
        </p:grpSpPr>
        <p:sp>
          <p:nvSpPr>
            <p:cNvPr id="6" name="Rounded Rectangle 5">
              <a:extLst>
                <a:ext uri="{FF2B5EF4-FFF2-40B4-BE49-F238E27FC236}">
                  <a16:creationId xmlns:a16="http://schemas.microsoft.com/office/drawing/2014/main" id="{898B8233-6D22-3E52-BB13-A24F9A4B6674}"/>
                </a:ext>
              </a:extLst>
            </p:cNvPr>
            <p:cNvSpPr/>
            <p:nvPr/>
          </p:nvSpPr>
          <p:spPr>
            <a:xfrm>
              <a:off x="0" y="2582314"/>
              <a:ext cx="6342743" cy="782519"/>
            </a:xfrm>
            <a:prstGeom prst="roundRect">
              <a:avLst>
                <a:gd name="adj" fmla="val 10000"/>
              </a:avLst>
            </a:pr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endParaRPr lang="en-US"/>
            </a:p>
          </p:txBody>
        </p:sp>
        <p:sp>
          <p:nvSpPr>
            <p:cNvPr id="7" name="Rounded Rectangle 4">
              <a:extLst>
                <a:ext uri="{FF2B5EF4-FFF2-40B4-BE49-F238E27FC236}">
                  <a16:creationId xmlns:a16="http://schemas.microsoft.com/office/drawing/2014/main" id="{FB39ED99-69A4-B43A-8F8C-6568BADEE7B4}"/>
                </a:ext>
              </a:extLst>
            </p:cNvPr>
            <p:cNvSpPr txBox="1"/>
            <p:nvPr/>
          </p:nvSpPr>
          <p:spPr>
            <a:xfrm>
              <a:off x="1346800" y="2582314"/>
              <a:ext cx="4995942" cy="7825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Algorithm design</a:t>
              </a:r>
            </a:p>
          </p:txBody>
        </p:sp>
      </p:grpSp>
      <p:sp>
        <p:nvSpPr>
          <p:cNvPr id="5" name="Rounded Rectangle 4" descr="Dance steps with solid fill">
            <a:extLst>
              <a:ext uri="{FF2B5EF4-FFF2-40B4-BE49-F238E27FC236}">
                <a16:creationId xmlns:a16="http://schemas.microsoft.com/office/drawing/2014/main" id="{3DB3F710-A4DF-8640-60D0-244EB1B21FE5}"/>
              </a:ext>
            </a:extLst>
          </p:cNvPr>
          <p:cNvSpPr/>
          <p:nvPr/>
        </p:nvSpPr>
        <p:spPr>
          <a:xfrm>
            <a:off x="954551" y="964513"/>
            <a:ext cx="1268548" cy="626015"/>
          </a:xfrm>
          <a:prstGeom prst="roundRect">
            <a:avLst>
              <a:gd name="adj" fmla="val 10000"/>
            </a:avLst>
          </a:prstGeom>
          <a:blipFill>
            <a:blip r:embed="rId3">
              <a:extLst>
                <a:ext uri="{96DAC541-7B7A-43D3-8B79-37D633B846F1}">
                  <asvg:svgBlip xmlns:asvg="http://schemas.microsoft.com/office/drawing/2016/SVG/main" r:embed="rId4"/>
                </a:ext>
              </a:extLst>
            </a:blip>
            <a:srcRect/>
            <a:stretch>
              <a:fillRect t="-10000" b="-10000"/>
            </a:stretch>
          </a:blipFill>
        </p:spPr>
        <p:style>
          <a:lnRef idx="2">
            <a:schemeClr val="lt1">
              <a:hueOff val="0"/>
              <a:satOff val="0"/>
              <a:lumOff val="0"/>
              <a:alphaOff val="0"/>
            </a:schemeClr>
          </a:lnRef>
          <a:fillRef idx="1">
            <a:scrgbClr r="0" g="0" b="0"/>
          </a:fillRef>
          <a:effectRef idx="0">
            <a:schemeClr val="accent5">
              <a:tint val="50000"/>
              <a:hueOff val="0"/>
              <a:satOff val="0"/>
              <a:lumOff val="0"/>
              <a:alphaOff val="0"/>
            </a:schemeClr>
          </a:effectRef>
          <a:fontRef idx="minor">
            <a:schemeClr val="lt1">
              <a:hueOff val="0"/>
              <a:satOff val="0"/>
              <a:lumOff val="0"/>
              <a:alphaOff val="0"/>
            </a:schemeClr>
          </a:fontRef>
        </p:style>
        <p:txBody>
          <a:bodyPr/>
          <a:lstStyle/>
          <a:p>
            <a:endParaRPr lang="en-US"/>
          </a:p>
        </p:txBody>
      </p:sp>
    </p:spTree>
    <p:extLst>
      <p:ext uri="{BB962C8B-B14F-4D97-AF65-F5344CB8AC3E}">
        <p14:creationId xmlns:p14="http://schemas.microsoft.com/office/powerpoint/2010/main" val="32875339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2820B-3D3B-2C5A-F7DE-4635DDEC36C1}"/>
              </a:ext>
            </a:extLst>
          </p:cNvPr>
          <p:cNvSpPr>
            <a:spLocks noGrp="1"/>
          </p:cNvSpPr>
          <p:nvPr>
            <p:ph type="title"/>
          </p:nvPr>
        </p:nvSpPr>
        <p:spPr/>
        <p:txBody>
          <a:bodyPr/>
          <a:lstStyle/>
          <a:p>
            <a:r>
              <a:rPr lang="en-US" dirty="0"/>
              <a:t>Detailed recipe: algorithm for baking</a:t>
            </a:r>
          </a:p>
        </p:txBody>
      </p:sp>
      <p:sp>
        <p:nvSpPr>
          <p:cNvPr id="3" name="Content Placeholder 2">
            <a:extLst>
              <a:ext uri="{FF2B5EF4-FFF2-40B4-BE49-F238E27FC236}">
                <a16:creationId xmlns:a16="http://schemas.microsoft.com/office/drawing/2014/main" id="{FF2F53BD-9EFA-4987-65E9-3870934F5BAF}"/>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70BA3AFF-DAD1-CBB7-2A8C-F91EEBB36474}"/>
              </a:ext>
            </a:extLst>
          </p:cNvPr>
          <p:cNvPicPr>
            <a:picLocks noChangeAspect="1"/>
          </p:cNvPicPr>
          <p:nvPr/>
        </p:nvPicPr>
        <p:blipFill>
          <a:blip r:embed="rId2"/>
          <a:srcRect l="7888" t="2932" r="10123" b="33975"/>
          <a:stretch>
            <a:fillRect/>
          </a:stretch>
        </p:blipFill>
        <p:spPr>
          <a:xfrm>
            <a:off x="2881884" y="1863896"/>
            <a:ext cx="6004560" cy="4620724"/>
          </a:xfrm>
          <a:prstGeom prst="rect">
            <a:avLst/>
          </a:prstGeom>
        </p:spPr>
      </p:pic>
    </p:spTree>
    <p:extLst>
      <p:ext uri="{BB962C8B-B14F-4D97-AF65-F5344CB8AC3E}">
        <p14:creationId xmlns:p14="http://schemas.microsoft.com/office/powerpoint/2010/main" val="21496124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DC9A2F-5695-1A5C-6F35-9857971F3CC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BCF4DC-4EE6-92D1-767A-3140D47108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0" name="Freeform 16">
            <a:extLst>
              <a:ext uri="{FF2B5EF4-FFF2-40B4-BE49-F238E27FC236}">
                <a16:creationId xmlns:a16="http://schemas.microsoft.com/office/drawing/2014/main" id="{285DE9BC-5298-472C-CE35-5F4FC60817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2" name="Rectangle 11">
            <a:extLst>
              <a:ext uri="{FF2B5EF4-FFF2-40B4-BE49-F238E27FC236}">
                <a16:creationId xmlns:a16="http://schemas.microsoft.com/office/drawing/2014/main" id="{801C1412-5645-FF55-D19D-CA90CBD8E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 name="Title 1">
            <a:extLst>
              <a:ext uri="{FF2B5EF4-FFF2-40B4-BE49-F238E27FC236}">
                <a16:creationId xmlns:a16="http://schemas.microsoft.com/office/drawing/2014/main" id="{E5F014E1-7880-0133-B7AE-E47C8131971D}"/>
              </a:ext>
            </a:extLst>
          </p:cNvPr>
          <p:cNvSpPr>
            <a:spLocks noGrp="1"/>
          </p:cNvSpPr>
          <p:nvPr>
            <p:ph type="ctrTitle"/>
          </p:nvPr>
        </p:nvSpPr>
        <p:spPr>
          <a:xfrm>
            <a:off x="4713224" y="1105351"/>
            <a:ext cx="6353967" cy="3023981"/>
          </a:xfrm>
        </p:spPr>
        <p:txBody>
          <a:bodyPr anchor="b">
            <a:normAutofit/>
          </a:bodyPr>
          <a:lstStyle/>
          <a:p>
            <a:pPr algn="l"/>
            <a:r>
              <a:rPr lang="en-US" sz="4800" dirty="0">
                <a:solidFill>
                  <a:srgbClr val="FFFFFF"/>
                </a:solidFill>
              </a:rPr>
              <a:t>Let’s try it</a:t>
            </a:r>
          </a:p>
        </p:txBody>
      </p:sp>
      <p:sp>
        <p:nvSpPr>
          <p:cNvPr id="3" name="Subtitle 2">
            <a:extLst>
              <a:ext uri="{FF2B5EF4-FFF2-40B4-BE49-F238E27FC236}">
                <a16:creationId xmlns:a16="http://schemas.microsoft.com/office/drawing/2014/main" id="{AE9818E1-9782-2B13-1B04-442B4769E0A0}"/>
              </a:ext>
            </a:extLst>
          </p:cNvPr>
          <p:cNvSpPr>
            <a:spLocks noGrp="1"/>
          </p:cNvSpPr>
          <p:nvPr>
            <p:ph type="subTitle" idx="1"/>
          </p:nvPr>
        </p:nvSpPr>
        <p:spPr>
          <a:xfrm>
            <a:off x="4713224" y="4297556"/>
            <a:ext cx="6353968" cy="1433391"/>
          </a:xfrm>
        </p:spPr>
        <p:txBody>
          <a:bodyPr anchor="t">
            <a:normAutofit/>
          </a:bodyPr>
          <a:lstStyle/>
          <a:p>
            <a:endParaRPr lang="en-US">
              <a:solidFill>
                <a:srgbClr val="FFFFFF"/>
              </a:solidFill>
            </a:endParaRPr>
          </a:p>
        </p:txBody>
      </p:sp>
      <p:cxnSp>
        <p:nvCxnSpPr>
          <p:cNvPr id="14" name="Straight Connector 13">
            <a:extLst>
              <a:ext uri="{FF2B5EF4-FFF2-40B4-BE49-F238E27FC236}">
                <a16:creationId xmlns:a16="http://schemas.microsoft.com/office/drawing/2014/main" id="{ABD7CB5B-4DAA-03B1-A1A9-C68B9056BC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F9131479-2461-59FC-D973-113F8A2578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Tree>
    <p:extLst>
      <p:ext uri="{BB962C8B-B14F-4D97-AF65-F5344CB8AC3E}">
        <p14:creationId xmlns:p14="http://schemas.microsoft.com/office/powerpoint/2010/main" val="41114811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B319C-62F5-4278-89BC-CD7D8C6D8D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476E9B-69ED-41B3-1CCE-B6D7CF3D442D}"/>
              </a:ext>
            </a:extLst>
          </p:cNvPr>
          <p:cNvSpPr>
            <a:spLocks noGrp="1"/>
          </p:cNvSpPr>
          <p:nvPr>
            <p:ph type="title"/>
          </p:nvPr>
        </p:nvSpPr>
        <p:spPr/>
        <p:txBody>
          <a:bodyPr/>
          <a:lstStyle/>
          <a:p>
            <a:r>
              <a:rPr lang="en-US" dirty="0"/>
              <a:t>Algorithm design</a:t>
            </a:r>
          </a:p>
        </p:txBody>
      </p:sp>
      <p:sp>
        <p:nvSpPr>
          <p:cNvPr id="3" name="Content Placeholder 2">
            <a:extLst>
              <a:ext uri="{FF2B5EF4-FFF2-40B4-BE49-F238E27FC236}">
                <a16:creationId xmlns:a16="http://schemas.microsoft.com/office/drawing/2014/main" id="{184BE5A0-AD1B-016A-0C5E-BA9BE6ED01BB}"/>
              </a:ext>
            </a:extLst>
          </p:cNvPr>
          <p:cNvSpPr>
            <a:spLocks noGrp="1"/>
          </p:cNvSpPr>
          <p:nvPr>
            <p:ph idx="1"/>
          </p:nvPr>
        </p:nvSpPr>
        <p:spPr>
          <a:xfrm>
            <a:off x="1024127" y="3879142"/>
            <a:ext cx="9720073" cy="2606040"/>
          </a:xfrm>
        </p:spPr>
        <p:txBody>
          <a:bodyPr>
            <a:normAutofit fontScale="92500" lnSpcReduction="20000"/>
          </a:bodyPr>
          <a:lstStyle/>
          <a:p>
            <a:pPr marL="298450" indent="-298450"/>
            <a:r>
              <a:rPr lang="en-US" dirty="0"/>
              <a:t>Join your classmates in small groups</a:t>
            </a:r>
          </a:p>
          <a:p>
            <a:pPr marL="298450" indent="-298450"/>
            <a:r>
              <a:rPr lang="en-US" dirty="0"/>
              <a:t>Using the visual from the previous exercise, write out a flow diagram to create it. </a:t>
            </a:r>
          </a:p>
          <a:p>
            <a:pPr marL="298450" indent="-298450"/>
            <a:r>
              <a:rPr lang="en-US" dirty="0"/>
              <a:t>You can be sharing the instructions with a data scientist or with an LLM chat interface.</a:t>
            </a:r>
          </a:p>
          <a:p>
            <a:pPr marL="298450" indent="-298450"/>
            <a:r>
              <a:rPr lang="en-US" dirty="0"/>
              <a:t>Share your ideas with the group</a:t>
            </a:r>
          </a:p>
        </p:txBody>
      </p:sp>
      <p:sp>
        <p:nvSpPr>
          <p:cNvPr id="4" name="TextBox 3">
            <a:extLst>
              <a:ext uri="{FF2B5EF4-FFF2-40B4-BE49-F238E27FC236}">
                <a16:creationId xmlns:a16="http://schemas.microsoft.com/office/drawing/2014/main" id="{109C1E73-A297-981B-5246-A8BBB5C1B413}"/>
              </a:ext>
            </a:extLst>
          </p:cNvPr>
          <p:cNvSpPr txBox="1"/>
          <p:nvPr/>
        </p:nvSpPr>
        <p:spPr>
          <a:xfrm>
            <a:off x="8368328" y="264622"/>
            <a:ext cx="3299301" cy="1200329"/>
          </a:xfrm>
          <a:prstGeom prst="rect">
            <a:avLst/>
          </a:prstGeom>
          <a:noFill/>
        </p:spPr>
        <p:txBody>
          <a:bodyPr wrap="none" rtlCol="0">
            <a:spAutoFit/>
          </a:bodyPr>
          <a:lstStyle/>
          <a:p>
            <a:r>
              <a:rPr lang="en-US" sz="7200" b="1" dirty="0">
                <a:solidFill>
                  <a:schemeClr val="accent1"/>
                </a:solidFill>
              </a:rPr>
              <a:t>Exercise</a:t>
            </a:r>
          </a:p>
        </p:txBody>
      </p:sp>
      <p:pic>
        <p:nvPicPr>
          <p:cNvPr id="5" name="Graphic 4" descr="Database with solid fill">
            <a:extLst>
              <a:ext uri="{FF2B5EF4-FFF2-40B4-BE49-F238E27FC236}">
                <a16:creationId xmlns:a16="http://schemas.microsoft.com/office/drawing/2014/main" id="{47225ECD-CFED-84C1-B385-BA018E3516E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77647" y="1911146"/>
            <a:ext cx="1499616" cy="1499616"/>
          </a:xfrm>
          <a:prstGeom prst="rect">
            <a:avLst/>
          </a:prstGeom>
        </p:spPr>
      </p:pic>
      <p:grpSp>
        <p:nvGrpSpPr>
          <p:cNvPr id="6" name="Group 5">
            <a:extLst>
              <a:ext uri="{FF2B5EF4-FFF2-40B4-BE49-F238E27FC236}">
                <a16:creationId xmlns:a16="http://schemas.microsoft.com/office/drawing/2014/main" id="{C5C95CFF-14D5-18AA-305E-623548FA0594}"/>
              </a:ext>
            </a:extLst>
          </p:cNvPr>
          <p:cNvGrpSpPr>
            <a:grpSpLocks noChangeAspect="1"/>
          </p:cNvGrpSpPr>
          <p:nvPr/>
        </p:nvGrpSpPr>
        <p:grpSpPr>
          <a:xfrm>
            <a:off x="902558" y="1929405"/>
            <a:ext cx="1484924" cy="1499616"/>
            <a:chOff x="361641" y="2581420"/>
            <a:chExt cx="1265366" cy="1277886"/>
          </a:xfrm>
        </p:grpSpPr>
        <p:grpSp>
          <p:nvGrpSpPr>
            <p:cNvPr id="7" name="Group 6">
              <a:extLst>
                <a:ext uri="{FF2B5EF4-FFF2-40B4-BE49-F238E27FC236}">
                  <a16:creationId xmlns:a16="http://schemas.microsoft.com/office/drawing/2014/main" id="{94470705-06B5-BA3A-EE7B-D5B80FC6AEAC}"/>
                </a:ext>
              </a:extLst>
            </p:cNvPr>
            <p:cNvGrpSpPr/>
            <p:nvPr/>
          </p:nvGrpSpPr>
          <p:grpSpPr>
            <a:xfrm>
              <a:off x="361641" y="2944906"/>
              <a:ext cx="914400" cy="914400"/>
              <a:chOff x="6653996" y="2295641"/>
              <a:chExt cx="914400" cy="914400"/>
            </a:xfrm>
          </p:grpSpPr>
          <p:sp>
            <p:nvSpPr>
              <p:cNvPr id="17" name="Rectangle 16">
                <a:extLst>
                  <a:ext uri="{FF2B5EF4-FFF2-40B4-BE49-F238E27FC236}">
                    <a16:creationId xmlns:a16="http://schemas.microsoft.com/office/drawing/2014/main" id="{AE0AE6D3-E7F0-D9DF-8F3A-9F67C5EB73C0}"/>
                  </a:ext>
                </a:extLst>
              </p:cNvPr>
              <p:cNvSpPr/>
              <p:nvPr/>
            </p:nvSpPr>
            <p:spPr>
              <a:xfrm>
                <a:off x="6858000" y="2473874"/>
                <a:ext cx="524435" cy="6113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raphic 17" descr="Document with solid fill">
                <a:extLst>
                  <a:ext uri="{FF2B5EF4-FFF2-40B4-BE49-F238E27FC236}">
                    <a16:creationId xmlns:a16="http://schemas.microsoft.com/office/drawing/2014/main" id="{F9BC4061-2644-3A70-C07C-3ED1E1E84D84}"/>
                  </a:ext>
                </a:extLst>
              </p:cNvPr>
              <p:cNvPicPr>
                <a:picLocks noChangeAspect="1"/>
              </p:cNvPicPr>
              <p:nvPr/>
            </p:nvPicPr>
            <p:blipFill>
              <a:blip r:embed="rId4">
                <a:alphaModFix/>
                <a:extLst>
                  <a:ext uri="{96DAC541-7B7A-43D3-8B79-37D633B846F1}">
                    <asvg:svgBlip xmlns:asvg="http://schemas.microsoft.com/office/drawing/2016/SVG/main" r:embed="rId5"/>
                  </a:ext>
                </a:extLst>
              </a:blip>
              <a:stretch>
                <a:fillRect/>
              </a:stretch>
            </p:blipFill>
            <p:spPr>
              <a:xfrm>
                <a:off x="6653996" y="2295641"/>
                <a:ext cx="914400" cy="914400"/>
              </a:xfrm>
              <a:prstGeom prst="rect">
                <a:avLst/>
              </a:prstGeom>
            </p:spPr>
          </p:pic>
        </p:grpSp>
        <p:grpSp>
          <p:nvGrpSpPr>
            <p:cNvPr id="8" name="Group 7">
              <a:extLst>
                <a:ext uri="{FF2B5EF4-FFF2-40B4-BE49-F238E27FC236}">
                  <a16:creationId xmlns:a16="http://schemas.microsoft.com/office/drawing/2014/main" id="{8FD8A040-D411-D9CF-360C-57A6524314A5}"/>
                </a:ext>
              </a:extLst>
            </p:cNvPr>
            <p:cNvGrpSpPr/>
            <p:nvPr/>
          </p:nvGrpSpPr>
          <p:grpSpPr>
            <a:xfrm>
              <a:off x="475306" y="2813454"/>
              <a:ext cx="914400" cy="914400"/>
              <a:chOff x="6653996" y="2295641"/>
              <a:chExt cx="914400" cy="914400"/>
            </a:xfrm>
          </p:grpSpPr>
          <p:sp>
            <p:nvSpPr>
              <p:cNvPr id="15" name="Rectangle 14">
                <a:extLst>
                  <a:ext uri="{FF2B5EF4-FFF2-40B4-BE49-F238E27FC236}">
                    <a16:creationId xmlns:a16="http://schemas.microsoft.com/office/drawing/2014/main" id="{05EBF7AF-C37D-4067-1E97-4A3C87F05790}"/>
                  </a:ext>
                </a:extLst>
              </p:cNvPr>
              <p:cNvSpPr/>
              <p:nvPr/>
            </p:nvSpPr>
            <p:spPr>
              <a:xfrm>
                <a:off x="6858000" y="2473874"/>
                <a:ext cx="524435" cy="6113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descr="Document with solid fill">
                <a:extLst>
                  <a:ext uri="{FF2B5EF4-FFF2-40B4-BE49-F238E27FC236}">
                    <a16:creationId xmlns:a16="http://schemas.microsoft.com/office/drawing/2014/main" id="{DABA2617-F8CA-68A0-B3ED-44357F6AE57B}"/>
                  </a:ext>
                </a:extLst>
              </p:cNvPr>
              <p:cNvPicPr>
                <a:picLocks noChangeAspect="1"/>
              </p:cNvPicPr>
              <p:nvPr/>
            </p:nvPicPr>
            <p:blipFill>
              <a:blip r:embed="rId4">
                <a:alphaModFix/>
                <a:extLst>
                  <a:ext uri="{96DAC541-7B7A-43D3-8B79-37D633B846F1}">
                    <asvg:svgBlip xmlns:asvg="http://schemas.microsoft.com/office/drawing/2016/SVG/main" r:embed="rId5"/>
                  </a:ext>
                </a:extLst>
              </a:blip>
              <a:stretch>
                <a:fillRect/>
              </a:stretch>
            </p:blipFill>
            <p:spPr>
              <a:xfrm>
                <a:off x="6653996" y="2295641"/>
                <a:ext cx="914400" cy="914400"/>
              </a:xfrm>
              <a:prstGeom prst="rect">
                <a:avLst/>
              </a:prstGeom>
            </p:spPr>
          </p:pic>
        </p:grpSp>
        <p:grpSp>
          <p:nvGrpSpPr>
            <p:cNvPr id="9" name="Group 8">
              <a:extLst>
                <a:ext uri="{FF2B5EF4-FFF2-40B4-BE49-F238E27FC236}">
                  <a16:creationId xmlns:a16="http://schemas.microsoft.com/office/drawing/2014/main" id="{175206A7-73A7-C3F5-F965-18301EE8D4F9}"/>
                </a:ext>
              </a:extLst>
            </p:cNvPr>
            <p:cNvGrpSpPr/>
            <p:nvPr/>
          </p:nvGrpSpPr>
          <p:grpSpPr>
            <a:xfrm>
              <a:off x="598942" y="2697437"/>
              <a:ext cx="914400" cy="914400"/>
              <a:chOff x="6653996" y="2295641"/>
              <a:chExt cx="914400" cy="914400"/>
            </a:xfrm>
          </p:grpSpPr>
          <p:sp>
            <p:nvSpPr>
              <p:cNvPr id="13" name="Rectangle 12">
                <a:extLst>
                  <a:ext uri="{FF2B5EF4-FFF2-40B4-BE49-F238E27FC236}">
                    <a16:creationId xmlns:a16="http://schemas.microsoft.com/office/drawing/2014/main" id="{008C5E27-CCF4-1850-582B-F160D5E843E2}"/>
                  </a:ext>
                </a:extLst>
              </p:cNvPr>
              <p:cNvSpPr/>
              <p:nvPr/>
            </p:nvSpPr>
            <p:spPr>
              <a:xfrm>
                <a:off x="6858000" y="2473874"/>
                <a:ext cx="524435" cy="6113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Graphic 13" descr="Document with solid fill">
                <a:extLst>
                  <a:ext uri="{FF2B5EF4-FFF2-40B4-BE49-F238E27FC236}">
                    <a16:creationId xmlns:a16="http://schemas.microsoft.com/office/drawing/2014/main" id="{BCF564C8-CF0B-E3D3-FC95-32A3E974629F}"/>
                  </a:ext>
                </a:extLst>
              </p:cNvPr>
              <p:cNvPicPr>
                <a:picLocks noChangeAspect="1"/>
              </p:cNvPicPr>
              <p:nvPr/>
            </p:nvPicPr>
            <p:blipFill>
              <a:blip r:embed="rId4">
                <a:alphaModFix/>
                <a:extLst>
                  <a:ext uri="{96DAC541-7B7A-43D3-8B79-37D633B846F1}">
                    <asvg:svgBlip xmlns:asvg="http://schemas.microsoft.com/office/drawing/2016/SVG/main" r:embed="rId5"/>
                  </a:ext>
                </a:extLst>
              </a:blip>
              <a:stretch>
                <a:fillRect/>
              </a:stretch>
            </p:blipFill>
            <p:spPr>
              <a:xfrm>
                <a:off x="6653996" y="2295641"/>
                <a:ext cx="914400" cy="914400"/>
              </a:xfrm>
              <a:prstGeom prst="rect">
                <a:avLst/>
              </a:prstGeom>
            </p:spPr>
          </p:pic>
        </p:grpSp>
        <p:grpSp>
          <p:nvGrpSpPr>
            <p:cNvPr id="10" name="Group 9">
              <a:extLst>
                <a:ext uri="{FF2B5EF4-FFF2-40B4-BE49-F238E27FC236}">
                  <a16:creationId xmlns:a16="http://schemas.microsoft.com/office/drawing/2014/main" id="{ED22094A-477D-F31B-C2BC-5864E23937FE}"/>
                </a:ext>
              </a:extLst>
            </p:cNvPr>
            <p:cNvGrpSpPr/>
            <p:nvPr/>
          </p:nvGrpSpPr>
          <p:grpSpPr>
            <a:xfrm>
              <a:off x="712607" y="2581420"/>
              <a:ext cx="914400" cy="914400"/>
              <a:chOff x="6653996" y="2295641"/>
              <a:chExt cx="914400" cy="914400"/>
            </a:xfrm>
          </p:grpSpPr>
          <p:sp>
            <p:nvSpPr>
              <p:cNvPr id="11" name="Rectangle 10">
                <a:extLst>
                  <a:ext uri="{FF2B5EF4-FFF2-40B4-BE49-F238E27FC236}">
                    <a16:creationId xmlns:a16="http://schemas.microsoft.com/office/drawing/2014/main" id="{90F95D40-049E-B181-6177-5FBF3B5C1ECF}"/>
                  </a:ext>
                </a:extLst>
              </p:cNvPr>
              <p:cNvSpPr/>
              <p:nvPr/>
            </p:nvSpPr>
            <p:spPr>
              <a:xfrm>
                <a:off x="6858000" y="2473874"/>
                <a:ext cx="524435" cy="6113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descr="Document with solid fill">
                <a:extLst>
                  <a:ext uri="{FF2B5EF4-FFF2-40B4-BE49-F238E27FC236}">
                    <a16:creationId xmlns:a16="http://schemas.microsoft.com/office/drawing/2014/main" id="{A234E4C5-B38E-C9E9-9FD7-66941BEF5F7D}"/>
                  </a:ext>
                </a:extLst>
              </p:cNvPr>
              <p:cNvPicPr>
                <a:picLocks noChangeAspect="1"/>
              </p:cNvPicPr>
              <p:nvPr/>
            </p:nvPicPr>
            <p:blipFill>
              <a:blip r:embed="rId4">
                <a:alphaModFix/>
                <a:extLst>
                  <a:ext uri="{96DAC541-7B7A-43D3-8B79-37D633B846F1}">
                    <asvg:svgBlip xmlns:asvg="http://schemas.microsoft.com/office/drawing/2016/SVG/main" r:embed="rId5"/>
                  </a:ext>
                </a:extLst>
              </a:blip>
              <a:stretch>
                <a:fillRect/>
              </a:stretch>
            </p:blipFill>
            <p:spPr>
              <a:xfrm>
                <a:off x="6653996" y="2295641"/>
                <a:ext cx="914400" cy="914400"/>
              </a:xfrm>
              <a:prstGeom prst="rect">
                <a:avLst/>
              </a:prstGeom>
            </p:spPr>
          </p:pic>
        </p:grpSp>
      </p:grpSp>
      <p:sp>
        <p:nvSpPr>
          <p:cNvPr id="19" name="Right Arrow 18">
            <a:extLst>
              <a:ext uri="{FF2B5EF4-FFF2-40B4-BE49-F238E27FC236}">
                <a16:creationId xmlns:a16="http://schemas.microsoft.com/office/drawing/2014/main" id="{CF2EE6B0-7FB8-83AF-B02F-B7787D508324}"/>
              </a:ext>
            </a:extLst>
          </p:cNvPr>
          <p:cNvSpPr/>
          <p:nvPr/>
        </p:nvSpPr>
        <p:spPr>
          <a:xfrm>
            <a:off x="2729312" y="2316559"/>
            <a:ext cx="3603245" cy="792238"/>
          </a:xfrm>
          <a:prstGeom prst="right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40B172B9-F4BF-4B11-6D09-C1C320943C57}"/>
              </a:ext>
            </a:extLst>
          </p:cNvPr>
          <p:cNvSpPr/>
          <p:nvPr/>
        </p:nvSpPr>
        <p:spPr>
          <a:xfrm>
            <a:off x="8094696" y="2521857"/>
            <a:ext cx="752389" cy="430306"/>
          </a:xfrm>
          <a:prstGeom prst="right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9394601C-8C5C-737B-925D-573006EC9147}"/>
              </a:ext>
            </a:extLst>
          </p:cNvPr>
          <p:cNvPicPr>
            <a:picLocks noChangeAspect="1"/>
          </p:cNvPicPr>
          <p:nvPr/>
        </p:nvPicPr>
        <p:blipFill>
          <a:blip r:embed="rId6"/>
          <a:stretch>
            <a:fillRect/>
          </a:stretch>
        </p:blipFill>
        <p:spPr>
          <a:xfrm>
            <a:off x="9248531" y="1933331"/>
            <a:ext cx="1495669" cy="1495669"/>
          </a:xfrm>
          <a:prstGeom prst="rect">
            <a:avLst/>
          </a:prstGeom>
        </p:spPr>
      </p:pic>
      <p:grpSp>
        <p:nvGrpSpPr>
          <p:cNvPr id="22" name="Group 21">
            <a:extLst>
              <a:ext uri="{FF2B5EF4-FFF2-40B4-BE49-F238E27FC236}">
                <a16:creationId xmlns:a16="http://schemas.microsoft.com/office/drawing/2014/main" id="{8B9E0DB5-7497-A2CD-DE3F-280982621054}"/>
              </a:ext>
            </a:extLst>
          </p:cNvPr>
          <p:cNvGrpSpPr>
            <a:grpSpLocks noChangeAspect="1"/>
          </p:cNvGrpSpPr>
          <p:nvPr/>
        </p:nvGrpSpPr>
        <p:grpSpPr>
          <a:xfrm>
            <a:off x="2408657" y="2039700"/>
            <a:ext cx="1188720" cy="1188720"/>
            <a:chOff x="2732653" y="4969565"/>
            <a:chExt cx="685800" cy="685800"/>
          </a:xfrm>
        </p:grpSpPr>
        <p:sp>
          <p:nvSpPr>
            <p:cNvPr id="23" name="Oval 22">
              <a:extLst>
                <a:ext uri="{FF2B5EF4-FFF2-40B4-BE49-F238E27FC236}">
                  <a16:creationId xmlns:a16="http://schemas.microsoft.com/office/drawing/2014/main" id="{A1A6544E-F57C-DD90-05F2-095D9A2C06BC}"/>
                </a:ext>
              </a:extLst>
            </p:cNvPr>
            <p:cNvSpPr/>
            <p:nvPr/>
          </p:nvSpPr>
          <p:spPr>
            <a:xfrm>
              <a:off x="2907465" y="5171271"/>
              <a:ext cx="336176" cy="3361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descr="Alarm clock with solid fill">
              <a:extLst>
                <a:ext uri="{FF2B5EF4-FFF2-40B4-BE49-F238E27FC236}">
                  <a16:creationId xmlns:a16="http://schemas.microsoft.com/office/drawing/2014/main" id="{07D59D6F-77C4-6420-CEAB-064E1329461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732653" y="4969565"/>
              <a:ext cx="685800" cy="685800"/>
            </a:xfrm>
            <a:prstGeom prst="rect">
              <a:avLst/>
            </a:prstGeom>
          </p:spPr>
        </p:pic>
      </p:grpSp>
    </p:spTree>
    <p:extLst>
      <p:ext uri="{BB962C8B-B14F-4D97-AF65-F5344CB8AC3E}">
        <p14:creationId xmlns:p14="http://schemas.microsoft.com/office/powerpoint/2010/main" val="35969378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E2206-CDFF-8A13-23A5-874FA4DD69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DC8357-22F5-8FE8-FB3B-E123CD468181}"/>
              </a:ext>
            </a:extLst>
          </p:cNvPr>
          <p:cNvSpPr>
            <a:spLocks noGrp="1"/>
          </p:cNvSpPr>
          <p:nvPr>
            <p:ph type="title"/>
          </p:nvPr>
        </p:nvSpPr>
        <p:spPr/>
        <p:txBody>
          <a:bodyPr/>
          <a:lstStyle/>
          <a:p>
            <a:r>
              <a:rPr lang="en-US" dirty="0"/>
              <a:t>Examples of algorithm design</a:t>
            </a:r>
          </a:p>
        </p:txBody>
      </p:sp>
      <p:sp>
        <p:nvSpPr>
          <p:cNvPr id="3" name="Content Placeholder 2">
            <a:extLst>
              <a:ext uri="{FF2B5EF4-FFF2-40B4-BE49-F238E27FC236}">
                <a16:creationId xmlns:a16="http://schemas.microsoft.com/office/drawing/2014/main" id="{4AA2F61A-D5D5-DF74-B7CF-47840E321CED}"/>
              </a:ext>
            </a:extLst>
          </p:cNvPr>
          <p:cNvSpPr>
            <a:spLocks noGrp="1"/>
          </p:cNvSpPr>
          <p:nvPr>
            <p:ph idx="1"/>
          </p:nvPr>
        </p:nvSpPr>
        <p:spPr>
          <a:xfrm>
            <a:off x="1024128" y="2286000"/>
            <a:ext cx="10116312" cy="4023360"/>
          </a:xfrm>
        </p:spPr>
        <p:txBody>
          <a:bodyPr/>
          <a:lstStyle/>
          <a:p>
            <a:pPr marL="241300" indent="-241300"/>
            <a:r>
              <a:rPr lang="en-US" dirty="0"/>
              <a:t>Read data: which data to use</a:t>
            </a:r>
          </a:p>
          <a:p>
            <a:pPr marL="241300" indent="-241300"/>
            <a:r>
              <a:rPr lang="en-US" dirty="0"/>
              <a:t>Prepare data: how filter, treat missing, treat outliers, calculations, how join</a:t>
            </a:r>
          </a:p>
          <a:p>
            <a:pPr marL="241300" indent="-241300"/>
            <a:r>
              <a:rPr lang="en-US" dirty="0"/>
              <a:t>Select visual: table vs chart, what metric, what threshold, color, size, shape, titles, labels</a:t>
            </a:r>
          </a:p>
          <a:p>
            <a:pPr marL="241300" indent="-241300"/>
            <a:r>
              <a:rPr lang="en-US" dirty="0"/>
              <a:t>Create visual: how to render</a:t>
            </a:r>
          </a:p>
        </p:txBody>
      </p:sp>
      <p:sp>
        <p:nvSpPr>
          <p:cNvPr id="4" name="TextBox 3">
            <a:extLst>
              <a:ext uri="{FF2B5EF4-FFF2-40B4-BE49-F238E27FC236}">
                <a16:creationId xmlns:a16="http://schemas.microsoft.com/office/drawing/2014/main" id="{FA832E08-E1AF-4A12-DF56-7AE22896622D}"/>
              </a:ext>
            </a:extLst>
          </p:cNvPr>
          <p:cNvSpPr txBox="1"/>
          <p:nvPr/>
        </p:nvSpPr>
        <p:spPr>
          <a:xfrm>
            <a:off x="8368328" y="264622"/>
            <a:ext cx="3299301" cy="1200329"/>
          </a:xfrm>
          <a:prstGeom prst="rect">
            <a:avLst/>
          </a:prstGeom>
          <a:noFill/>
        </p:spPr>
        <p:txBody>
          <a:bodyPr wrap="none" rtlCol="0">
            <a:spAutoFit/>
          </a:bodyPr>
          <a:lstStyle/>
          <a:p>
            <a:r>
              <a:rPr lang="en-US" sz="7200" b="1" dirty="0">
                <a:solidFill>
                  <a:schemeClr val="accent1"/>
                </a:solidFill>
              </a:rPr>
              <a:t>Exercise</a:t>
            </a:r>
          </a:p>
        </p:txBody>
      </p:sp>
    </p:spTree>
    <p:extLst>
      <p:ext uri="{BB962C8B-B14F-4D97-AF65-F5344CB8AC3E}">
        <p14:creationId xmlns:p14="http://schemas.microsoft.com/office/powerpoint/2010/main" val="42454964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42A92FA-D86C-A5FE-92DF-0D3354713D71}"/>
              </a:ext>
            </a:extLst>
          </p:cNvPr>
          <p:cNvSpPr>
            <a:spLocks noGrp="1"/>
          </p:cNvSpPr>
          <p:nvPr>
            <p:ph type="title"/>
          </p:nvPr>
        </p:nvSpPr>
        <p:spPr/>
        <p:txBody>
          <a:bodyPr/>
          <a:lstStyle/>
          <a:p>
            <a:r>
              <a:rPr lang="en-US" dirty="0"/>
              <a:t>Algorithm design for graphing in R</a:t>
            </a:r>
          </a:p>
        </p:txBody>
      </p:sp>
      <p:pic>
        <p:nvPicPr>
          <p:cNvPr id="6" name="Picture 5" descr="A screenshot of a computer program&#10;&#10;AI-generated content may be incorrect.">
            <a:extLst>
              <a:ext uri="{FF2B5EF4-FFF2-40B4-BE49-F238E27FC236}">
                <a16:creationId xmlns:a16="http://schemas.microsoft.com/office/drawing/2014/main" id="{02246B9E-D16E-A5D0-ABFE-A17D09D75D92}"/>
              </a:ext>
            </a:extLst>
          </p:cNvPr>
          <p:cNvPicPr>
            <a:picLocks noChangeAspect="1"/>
          </p:cNvPicPr>
          <p:nvPr/>
        </p:nvPicPr>
        <p:blipFill>
          <a:blip r:embed="rId2"/>
          <a:stretch>
            <a:fillRect/>
          </a:stretch>
        </p:blipFill>
        <p:spPr>
          <a:xfrm>
            <a:off x="871728" y="2176272"/>
            <a:ext cx="4843272" cy="4515302"/>
          </a:xfrm>
          <a:prstGeom prst="rect">
            <a:avLst/>
          </a:prstGeom>
        </p:spPr>
      </p:pic>
      <p:pic>
        <p:nvPicPr>
          <p:cNvPr id="8" name="Picture 7" descr="A graph of different colored bars&#10;&#10;AI-generated content may be incorrect.">
            <a:extLst>
              <a:ext uri="{FF2B5EF4-FFF2-40B4-BE49-F238E27FC236}">
                <a16:creationId xmlns:a16="http://schemas.microsoft.com/office/drawing/2014/main" id="{11E8A27E-EB67-98CC-5E92-7D19E21DFD39}"/>
              </a:ext>
            </a:extLst>
          </p:cNvPr>
          <p:cNvPicPr>
            <a:picLocks noChangeAspect="1"/>
          </p:cNvPicPr>
          <p:nvPr/>
        </p:nvPicPr>
        <p:blipFill>
          <a:blip r:embed="rId3"/>
          <a:stretch>
            <a:fillRect/>
          </a:stretch>
        </p:blipFill>
        <p:spPr>
          <a:xfrm>
            <a:off x="5956775" y="2677414"/>
            <a:ext cx="5939584" cy="3449066"/>
          </a:xfrm>
          <a:prstGeom prst="rect">
            <a:avLst/>
          </a:prstGeom>
        </p:spPr>
      </p:pic>
    </p:spTree>
    <p:extLst>
      <p:ext uri="{BB962C8B-B14F-4D97-AF65-F5344CB8AC3E}">
        <p14:creationId xmlns:p14="http://schemas.microsoft.com/office/powerpoint/2010/main" val="27721089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AD52C-762B-51F1-4600-D77C753A12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DB8399-2590-10F8-459D-076DC24589B2}"/>
              </a:ext>
            </a:extLst>
          </p:cNvPr>
          <p:cNvSpPr>
            <a:spLocks noGrp="1"/>
          </p:cNvSpPr>
          <p:nvPr>
            <p:ph type="title"/>
          </p:nvPr>
        </p:nvSpPr>
        <p:spPr/>
        <p:txBody>
          <a:bodyPr/>
          <a:lstStyle/>
          <a:p>
            <a:r>
              <a:rPr lang="en-US" dirty="0"/>
              <a:t>How does this help us?</a:t>
            </a:r>
          </a:p>
        </p:txBody>
      </p:sp>
      <p:sp>
        <p:nvSpPr>
          <p:cNvPr id="3" name="Content Placeholder 2">
            <a:extLst>
              <a:ext uri="{FF2B5EF4-FFF2-40B4-BE49-F238E27FC236}">
                <a16:creationId xmlns:a16="http://schemas.microsoft.com/office/drawing/2014/main" id="{91344A39-1030-4E23-6AC2-0651394B55DE}"/>
              </a:ext>
            </a:extLst>
          </p:cNvPr>
          <p:cNvSpPr>
            <a:spLocks noGrp="1"/>
          </p:cNvSpPr>
          <p:nvPr>
            <p:ph idx="1"/>
          </p:nvPr>
        </p:nvSpPr>
        <p:spPr/>
        <p:txBody>
          <a:bodyPr>
            <a:normAutofit/>
          </a:bodyPr>
          <a:lstStyle/>
          <a:p>
            <a:pPr marL="241300" indent="-241300"/>
            <a:r>
              <a:rPr lang="en-US" dirty="0"/>
              <a:t>Designing an algorithm helps understand the problem and often means the solution is generalizable</a:t>
            </a:r>
          </a:p>
          <a:p>
            <a:pPr marL="241300" indent="-241300"/>
            <a:r>
              <a:rPr lang="en-US" dirty="0"/>
              <a:t>Strengthens critical thinking and problem-solving skills</a:t>
            </a:r>
          </a:p>
          <a:p>
            <a:pPr marL="241300" indent="-241300"/>
            <a:r>
              <a:rPr lang="en-US" dirty="0"/>
              <a:t>Makes output predictable and reliable</a:t>
            </a:r>
          </a:p>
          <a:p>
            <a:pPr marL="241300" indent="-241300"/>
            <a:endParaRPr lang="en-US" dirty="0">
              <a:solidFill>
                <a:srgbClr val="FF0000"/>
              </a:solidFill>
            </a:endParaRPr>
          </a:p>
          <a:p>
            <a:pPr marL="241300" indent="-241300"/>
            <a:r>
              <a:rPr lang="en-US" b="1" dirty="0"/>
              <a:t>Computational examples: </a:t>
            </a:r>
            <a:r>
              <a:rPr lang="en-US" dirty="0"/>
              <a:t>computer code, machine learning</a:t>
            </a:r>
          </a:p>
          <a:p>
            <a:pPr marL="241300" indent="-241300"/>
            <a:endParaRPr lang="en-US" dirty="0"/>
          </a:p>
        </p:txBody>
      </p:sp>
    </p:spTree>
    <p:extLst>
      <p:ext uri="{BB962C8B-B14F-4D97-AF65-F5344CB8AC3E}">
        <p14:creationId xmlns:p14="http://schemas.microsoft.com/office/powerpoint/2010/main" val="19056661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3F621-C686-D009-2BB3-9C412F2BB93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110F525-878E-A2B3-0E5A-096D3FF9B2F7}"/>
              </a:ext>
            </a:extLst>
          </p:cNvPr>
          <p:cNvSpPr>
            <a:spLocks noGrp="1"/>
          </p:cNvSpPr>
          <p:nvPr>
            <p:ph idx="1"/>
          </p:nvPr>
        </p:nvSpPr>
        <p:spPr/>
        <p:txBody>
          <a:bodyPr>
            <a:normAutofit/>
          </a:bodyPr>
          <a:lstStyle/>
          <a:p>
            <a:pPr marL="0" indent="0">
              <a:buNone/>
            </a:pPr>
            <a:r>
              <a:rPr lang="en-US" dirty="0"/>
              <a:t>Assess whether solution does the job it has been designed to do, fix errors, and consider improvements</a:t>
            </a:r>
          </a:p>
          <a:p>
            <a:pPr marL="0" indent="0">
              <a:buNone/>
            </a:pPr>
            <a:endParaRPr lang="en-US" dirty="0"/>
          </a:p>
          <a:p>
            <a:pPr marL="514350" indent="-514350">
              <a:buFont typeface="+mj-lt"/>
              <a:buAutoNum type="arabicPeriod"/>
            </a:pPr>
            <a:r>
              <a:rPr lang="en-US" dirty="0"/>
              <a:t>Evaluate the solution, check correctness + usefulness</a:t>
            </a:r>
          </a:p>
          <a:p>
            <a:pPr marL="514350" indent="-514350">
              <a:buFont typeface="+mj-lt"/>
              <a:buAutoNum type="arabicPeriod"/>
            </a:pPr>
            <a:r>
              <a:rPr lang="en-US" dirty="0"/>
              <a:t>Debug it, find and fix errors with test cases</a:t>
            </a:r>
          </a:p>
          <a:p>
            <a:pPr marL="514350" indent="-514350">
              <a:buFont typeface="+mj-lt"/>
              <a:buAutoNum type="arabicPeriod"/>
            </a:pPr>
            <a:r>
              <a:rPr lang="en-US" dirty="0"/>
              <a:t>Expect iteration to refine correctness and efficiency</a:t>
            </a:r>
          </a:p>
        </p:txBody>
      </p:sp>
      <p:grpSp>
        <p:nvGrpSpPr>
          <p:cNvPr id="4" name="Group 3">
            <a:extLst>
              <a:ext uri="{FF2B5EF4-FFF2-40B4-BE49-F238E27FC236}">
                <a16:creationId xmlns:a16="http://schemas.microsoft.com/office/drawing/2014/main" id="{C227CA55-5847-C32A-237E-BF8C4BE91544}"/>
              </a:ext>
            </a:extLst>
          </p:cNvPr>
          <p:cNvGrpSpPr/>
          <p:nvPr/>
        </p:nvGrpSpPr>
        <p:grpSpPr>
          <a:xfrm>
            <a:off x="876300" y="886261"/>
            <a:ext cx="6342743" cy="782519"/>
            <a:chOff x="0" y="3443085"/>
            <a:chExt cx="6342743" cy="782519"/>
          </a:xfrm>
        </p:grpSpPr>
        <p:sp>
          <p:nvSpPr>
            <p:cNvPr id="6" name="Rounded Rectangle 5">
              <a:extLst>
                <a:ext uri="{FF2B5EF4-FFF2-40B4-BE49-F238E27FC236}">
                  <a16:creationId xmlns:a16="http://schemas.microsoft.com/office/drawing/2014/main" id="{02D10176-1327-C601-DD60-AA909AF95B14}"/>
                </a:ext>
              </a:extLst>
            </p:cNvPr>
            <p:cNvSpPr/>
            <p:nvPr/>
          </p:nvSpPr>
          <p:spPr>
            <a:xfrm>
              <a:off x="0" y="3443085"/>
              <a:ext cx="6342743" cy="782519"/>
            </a:xfrm>
            <a:prstGeom prst="roundRect">
              <a:avLst>
                <a:gd name="adj" fmla="val 10000"/>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US"/>
            </a:p>
          </p:txBody>
        </p:sp>
        <p:sp>
          <p:nvSpPr>
            <p:cNvPr id="7" name="Rounded Rectangle 4">
              <a:extLst>
                <a:ext uri="{FF2B5EF4-FFF2-40B4-BE49-F238E27FC236}">
                  <a16:creationId xmlns:a16="http://schemas.microsoft.com/office/drawing/2014/main" id="{1B48DA2F-45C6-81D8-77CB-1D53787098E4}"/>
                </a:ext>
              </a:extLst>
            </p:cNvPr>
            <p:cNvSpPr txBox="1"/>
            <p:nvPr/>
          </p:nvSpPr>
          <p:spPr>
            <a:xfrm>
              <a:off x="1346800" y="3443085"/>
              <a:ext cx="4995942" cy="7825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Evaluation &amp; debugging</a:t>
              </a:r>
            </a:p>
          </p:txBody>
        </p:sp>
      </p:grpSp>
      <p:sp>
        <p:nvSpPr>
          <p:cNvPr id="5" name="Rounded Rectangle 4" descr="Brain in head with solid fill">
            <a:extLst>
              <a:ext uri="{FF2B5EF4-FFF2-40B4-BE49-F238E27FC236}">
                <a16:creationId xmlns:a16="http://schemas.microsoft.com/office/drawing/2014/main" id="{7A967677-79C6-C88B-275E-1F23FDC469C6}"/>
              </a:ext>
            </a:extLst>
          </p:cNvPr>
          <p:cNvSpPr/>
          <p:nvPr/>
        </p:nvSpPr>
        <p:spPr>
          <a:xfrm>
            <a:off x="954551" y="964513"/>
            <a:ext cx="1268548" cy="626015"/>
          </a:xfrm>
          <a:prstGeom prst="roundRect">
            <a:avLst>
              <a:gd name="adj" fmla="val 10000"/>
            </a:avLst>
          </a:prstGeom>
          <a:blipFill>
            <a:blip r:embed="rId3">
              <a:extLst>
                <a:ext uri="{96DAC541-7B7A-43D3-8B79-37D633B846F1}">
                  <asvg:svgBlip xmlns:asvg="http://schemas.microsoft.com/office/drawing/2016/SVG/main" r:embed="rId4"/>
                </a:ext>
              </a:extLst>
            </a:blip>
            <a:srcRect/>
            <a:stretch>
              <a:fillRect t="-51000" b="-51000"/>
            </a:stretch>
          </a:blipFill>
        </p:spPr>
        <p:style>
          <a:lnRef idx="2">
            <a:schemeClr val="lt1">
              <a:hueOff val="0"/>
              <a:satOff val="0"/>
              <a:lumOff val="0"/>
              <a:alphaOff val="0"/>
            </a:schemeClr>
          </a:lnRef>
          <a:fillRef idx="1">
            <a:scrgbClr r="0" g="0" b="0"/>
          </a:fillRef>
          <a:effectRef idx="0">
            <a:schemeClr val="accent6">
              <a:tint val="50000"/>
              <a:hueOff val="0"/>
              <a:satOff val="0"/>
              <a:lumOff val="0"/>
              <a:alphaOff val="0"/>
            </a:schemeClr>
          </a:effectRef>
          <a:fontRef idx="minor">
            <a:schemeClr val="lt1">
              <a:hueOff val="0"/>
              <a:satOff val="0"/>
              <a:lumOff val="0"/>
              <a:alphaOff val="0"/>
            </a:schemeClr>
          </a:fontRef>
        </p:style>
        <p:txBody>
          <a:bodyPr/>
          <a:lstStyle/>
          <a:p>
            <a:endParaRPr lang="en-US"/>
          </a:p>
        </p:txBody>
      </p:sp>
    </p:spTree>
    <p:extLst>
      <p:ext uri="{BB962C8B-B14F-4D97-AF65-F5344CB8AC3E}">
        <p14:creationId xmlns:p14="http://schemas.microsoft.com/office/powerpoint/2010/main" val="8998779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12F7D-3B7B-072A-7307-82E1E0F6DF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AB6510-7F15-5129-176F-B46370DA3402}"/>
              </a:ext>
            </a:extLst>
          </p:cNvPr>
          <p:cNvSpPr>
            <a:spLocks noGrp="1"/>
          </p:cNvSpPr>
          <p:nvPr>
            <p:ph type="title"/>
          </p:nvPr>
        </p:nvSpPr>
        <p:spPr/>
        <p:txBody>
          <a:bodyPr/>
          <a:lstStyle/>
          <a:p>
            <a:r>
              <a:rPr lang="en-US" dirty="0"/>
              <a:t>How does this help us?</a:t>
            </a:r>
          </a:p>
        </p:txBody>
      </p:sp>
      <p:sp>
        <p:nvSpPr>
          <p:cNvPr id="3" name="Content Placeholder 2">
            <a:extLst>
              <a:ext uri="{FF2B5EF4-FFF2-40B4-BE49-F238E27FC236}">
                <a16:creationId xmlns:a16="http://schemas.microsoft.com/office/drawing/2014/main" id="{C1555F6B-772F-4D8A-EA55-DD5F854A42FB}"/>
              </a:ext>
            </a:extLst>
          </p:cNvPr>
          <p:cNvSpPr>
            <a:spLocks noGrp="1"/>
          </p:cNvSpPr>
          <p:nvPr>
            <p:ph idx="1"/>
          </p:nvPr>
        </p:nvSpPr>
        <p:spPr/>
        <p:txBody>
          <a:bodyPr>
            <a:normAutofit/>
          </a:bodyPr>
          <a:lstStyle/>
          <a:p>
            <a:pPr marL="241300" indent="-241300"/>
            <a:r>
              <a:rPr lang="en-US" dirty="0"/>
              <a:t>Builds confidence in results</a:t>
            </a:r>
          </a:p>
          <a:p>
            <a:pPr marL="241300" indent="-241300"/>
            <a:r>
              <a:rPr lang="en-US" dirty="0"/>
              <a:t>Ensures solution is useful and will be effective</a:t>
            </a:r>
          </a:p>
          <a:p>
            <a:pPr marL="241300" indent="-241300"/>
            <a:r>
              <a:rPr lang="en-US" dirty="0"/>
              <a:t>Develops problem-solving skills through systematic analysis</a:t>
            </a:r>
          </a:p>
          <a:p>
            <a:pPr marL="241300" indent="-241300"/>
            <a:r>
              <a:rPr lang="en-US" dirty="0"/>
              <a:t>Increases adaptability as more comfortable experimenting, testing, and iterating</a:t>
            </a:r>
          </a:p>
          <a:p>
            <a:pPr marL="241300" indent="-241300"/>
            <a:endParaRPr lang="en-US" dirty="0"/>
          </a:p>
        </p:txBody>
      </p:sp>
    </p:spTree>
    <p:extLst>
      <p:ext uri="{BB962C8B-B14F-4D97-AF65-F5344CB8AC3E}">
        <p14:creationId xmlns:p14="http://schemas.microsoft.com/office/powerpoint/2010/main" val="5698846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25AB7-9745-472F-11F7-52754640A3EC}"/>
              </a:ext>
            </a:extLst>
          </p:cNvPr>
          <p:cNvSpPr>
            <a:spLocks noGrp="1"/>
          </p:cNvSpPr>
          <p:nvPr>
            <p:ph type="title"/>
          </p:nvPr>
        </p:nvSpPr>
        <p:spPr/>
        <p:txBody>
          <a:bodyPr/>
          <a:lstStyle/>
          <a:p>
            <a:r>
              <a:rPr lang="en-US" dirty="0"/>
              <a:t>Building a foundation for ds101</a:t>
            </a:r>
          </a:p>
        </p:txBody>
      </p:sp>
      <p:sp>
        <p:nvSpPr>
          <p:cNvPr id="3" name="Content Placeholder 2">
            <a:extLst>
              <a:ext uri="{FF2B5EF4-FFF2-40B4-BE49-F238E27FC236}">
                <a16:creationId xmlns:a16="http://schemas.microsoft.com/office/drawing/2014/main" id="{0866C08C-2D32-CB26-4C4C-277B588A7E80}"/>
              </a:ext>
            </a:extLst>
          </p:cNvPr>
          <p:cNvSpPr>
            <a:spLocks noGrp="1"/>
          </p:cNvSpPr>
          <p:nvPr>
            <p:ph idx="1"/>
          </p:nvPr>
        </p:nvSpPr>
        <p:spPr>
          <a:xfrm>
            <a:off x="1024127" y="2084832"/>
            <a:ext cx="9720073" cy="1143000"/>
          </a:xfrm>
        </p:spPr>
        <p:txBody>
          <a:bodyPr/>
          <a:lstStyle/>
          <a:p>
            <a:pPr marL="0" indent="0">
              <a:buNone/>
            </a:pPr>
            <a:r>
              <a:rPr lang="en-US" dirty="0">
                <a:solidFill>
                  <a:schemeClr val="accent1"/>
                </a:solidFill>
              </a:rPr>
              <a:t>The computational thinking skills we’ve learned so far relate directly to basic programming concepts</a:t>
            </a:r>
          </a:p>
        </p:txBody>
      </p:sp>
      <p:graphicFrame>
        <p:nvGraphicFramePr>
          <p:cNvPr id="4" name="Table 3">
            <a:extLst>
              <a:ext uri="{FF2B5EF4-FFF2-40B4-BE49-F238E27FC236}">
                <a16:creationId xmlns:a16="http://schemas.microsoft.com/office/drawing/2014/main" id="{975BBD24-D964-7230-FFAC-5DB156F4DE31}"/>
              </a:ext>
            </a:extLst>
          </p:cNvPr>
          <p:cNvGraphicFramePr>
            <a:graphicFrameLocks noGrp="1"/>
          </p:cNvGraphicFramePr>
          <p:nvPr>
            <p:extLst>
              <p:ext uri="{D42A27DB-BD31-4B8C-83A1-F6EECF244321}">
                <p14:modId xmlns:p14="http://schemas.microsoft.com/office/powerpoint/2010/main" val="3928402005"/>
              </p:ext>
            </p:extLst>
          </p:nvPr>
        </p:nvGraphicFramePr>
        <p:xfrm>
          <a:off x="1024127" y="3432412"/>
          <a:ext cx="9674012" cy="2926080"/>
        </p:xfrm>
        <a:graphic>
          <a:graphicData uri="http://schemas.openxmlformats.org/drawingml/2006/table">
            <a:tbl>
              <a:tblPr firstRow="1" bandRow="1">
                <a:tableStyleId>{5940675A-B579-460E-94D1-54222C63F5DA}</a:tableStyleId>
              </a:tblPr>
              <a:tblGrid>
                <a:gridCol w="6630561">
                  <a:extLst>
                    <a:ext uri="{9D8B030D-6E8A-4147-A177-3AD203B41FA5}">
                      <a16:colId xmlns:a16="http://schemas.microsoft.com/office/drawing/2014/main" val="63775097"/>
                    </a:ext>
                  </a:extLst>
                </a:gridCol>
                <a:gridCol w="3043451">
                  <a:extLst>
                    <a:ext uri="{9D8B030D-6E8A-4147-A177-3AD203B41FA5}">
                      <a16:colId xmlns:a16="http://schemas.microsoft.com/office/drawing/2014/main" val="676232085"/>
                    </a:ext>
                  </a:extLst>
                </a:gridCol>
              </a:tblGrid>
              <a:tr h="370840">
                <a:tc>
                  <a:txBody>
                    <a:bodyPr/>
                    <a:lstStyle/>
                    <a:p>
                      <a:r>
                        <a:rPr lang="en-US" sz="2400" b="1" dirty="0"/>
                        <a:t>Computational thinking skill</a:t>
                      </a:r>
                    </a:p>
                  </a:txBody>
                  <a:tcPr/>
                </a:tc>
                <a:tc>
                  <a:txBody>
                    <a:bodyPr/>
                    <a:lstStyle/>
                    <a:p>
                      <a:r>
                        <a:rPr lang="en-US" sz="2400" b="1" dirty="0"/>
                        <a:t>Programming concept</a:t>
                      </a:r>
                    </a:p>
                  </a:txBody>
                  <a:tcPr/>
                </a:tc>
                <a:extLst>
                  <a:ext uri="{0D108BD9-81ED-4DB2-BD59-A6C34878D82A}">
                    <a16:rowId xmlns:a16="http://schemas.microsoft.com/office/drawing/2014/main" val="1629335367"/>
                  </a:ext>
                </a:extLst>
              </a:tr>
              <a:tr h="370840">
                <a:tc>
                  <a:txBody>
                    <a:bodyPr/>
                    <a:lstStyle/>
                    <a:p>
                      <a:r>
                        <a:rPr lang="en-US" sz="2400" dirty="0"/>
                        <a:t>Abstraction steps identify essential elements that are re-used</a:t>
                      </a:r>
                    </a:p>
                  </a:txBody>
                  <a:tcPr/>
                </a:tc>
                <a:tc>
                  <a:txBody>
                    <a:bodyPr/>
                    <a:lstStyle/>
                    <a:p>
                      <a:r>
                        <a:rPr lang="en-US" sz="2400" dirty="0"/>
                        <a:t>Function</a:t>
                      </a:r>
                    </a:p>
                  </a:txBody>
                  <a:tcPr/>
                </a:tc>
                <a:extLst>
                  <a:ext uri="{0D108BD9-81ED-4DB2-BD59-A6C34878D82A}">
                    <a16:rowId xmlns:a16="http://schemas.microsoft.com/office/drawing/2014/main" val="144124473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Abstraction and algorithm design identify rules or decisions that guide actions</a:t>
                      </a:r>
                    </a:p>
                  </a:txBody>
                  <a:tcPr/>
                </a:tc>
                <a:tc>
                  <a:txBody>
                    <a:bodyPr/>
                    <a:lstStyle/>
                    <a:p>
                      <a:r>
                        <a:rPr lang="en-US" sz="2400" dirty="0"/>
                        <a:t>Conditional</a:t>
                      </a:r>
                    </a:p>
                  </a:txBody>
                  <a:tcPr/>
                </a:tc>
                <a:extLst>
                  <a:ext uri="{0D108BD9-81ED-4DB2-BD59-A6C34878D82A}">
                    <a16:rowId xmlns:a16="http://schemas.microsoft.com/office/drawing/2014/main" val="48949588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Pattern recognition and algorithm design identify repeated steps</a:t>
                      </a:r>
                    </a:p>
                  </a:txBody>
                  <a:tcPr/>
                </a:tc>
                <a:tc>
                  <a:txBody>
                    <a:bodyPr/>
                    <a:lstStyle/>
                    <a:p>
                      <a:r>
                        <a:rPr lang="en-US" sz="2400" dirty="0"/>
                        <a:t>Loop</a:t>
                      </a:r>
                    </a:p>
                  </a:txBody>
                  <a:tcPr/>
                </a:tc>
                <a:extLst>
                  <a:ext uri="{0D108BD9-81ED-4DB2-BD59-A6C34878D82A}">
                    <a16:rowId xmlns:a16="http://schemas.microsoft.com/office/drawing/2014/main" val="3410805236"/>
                  </a:ext>
                </a:extLst>
              </a:tr>
            </a:tbl>
          </a:graphicData>
        </a:graphic>
      </p:graphicFrame>
    </p:spTree>
    <p:extLst>
      <p:ext uri="{BB962C8B-B14F-4D97-AF65-F5344CB8AC3E}">
        <p14:creationId xmlns:p14="http://schemas.microsoft.com/office/powerpoint/2010/main" val="11940702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2C0C7-D2ED-5ECE-DF39-3BEDD0E33AD3}"/>
              </a:ext>
            </a:extLst>
          </p:cNvPr>
          <p:cNvSpPr>
            <a:spLocks noGrp="1"/>
          </p:cNvSpPr>
          <p:nvPr>
            <p:ph type="title"/>
          </p:nvPr>
        </p:nvSpPr>
        <p:spPr/>
        <p:txBody>
          <a:bodyPr/>
          <a:lstStyle/>
          <a:p>
            <a:r>
              <a:rPr lang="en-US" dirty="0"/>
              <a:t>Basic computational concepts</a:t>
            </a:r>
          </a:p>
        </p:txBody>
      </p:sp>
      <p:sp>
        <p:nvSpPr>
          <p:cNvPr id="3" name="Content Placeholder 2">
            <a:extLst>
              <a:ext uri="{FF2B5EF4-FFF2-40B4-BE49-F238E27FC236}">
                <a16:creationId xmlns:a16="http://schemas.microsoft.com/office/drawing/2014/main" id="{FEB9CC36-678B-AB10-77AE-87B85413A79E}"/>
              </a:ext>
            </a:extLst>
          </p:cNvPr>
          <p:cNvSpPr>
            <a:spLocks noGrp="1"/>
          </p:cNvSpPr>
          <p:nvPr>
            <p:ph idx="1"/>
          </p:nvPr>
        </p:nvSpPr>
        <p:spPr>
          <a:xfrm>
            <a:off x="1024128" y="2286000"/>
            <a:ext cx="10741152" cy="4023360"/>
          </a:xfrm>
        </p:spPr>
        <p:txBody>
          <a:bodyPr>
            <a:normAutofit/>
          </a:bodyPr>
          <a:lstStyle/>
          <a:p>
            <a:pPr marL="0" indent="0">
              <a:buNone/>
            </a:pPr>
            <a:r>
              <a:rPr lang="en-US" b="1" dirty="0"/>
              <a:t>Concept 		Description </a:t>
            </a:r>
          </a:p>
          <a:p>
            <a:pPr marL="0" indent="0">
              <a:buNone/>
            </a:pPr>
            <a:r>
              <a:rPr lang="en-US" dirty="0"/>
              <a:t>Function 		Set of commands to generate outputs from inputs</a:t>
            </a:r>
          </a:p>
          <a:p>
            <a:pPr marL="0" indent="0">
              <a:buNone/>
            </a:pPr>
            <a:r>
              <a:rPr lang="en-US" dirty="0"/>
              <a:t>Conditional 	Change action based on specific conditions</a:t>
            </a:r>
          </a:p>
          <a:p>
            <a:pPr marL="0" indent="0">
              <a:buNone/>
            </a:pPr>
            <a:r>
              <a:rPr lang="en-US" dirty="0"/>
              <a:t>Loop 			Run the same command(s) repeatedly  </a:t>
            </a:r>
          </a:p>
        </p:txBody>
      </p:sp>
    </p:spTree>
    <p:extLst>
      <p:ext uri="{BB962C8B-B14F-4D97-AF65-F5344CB8AC3E}">
        <p14:creationId xmlns:p14="http://schemas.microsoft.com/office/powerpoint/2010/main" val="19154508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AC3FC-5E08-5F9E-1DCE-F76D922287CF}"/>
              </a:ext>
            </a:extLst>
          </p:cNvPr>
          <p:cNvSpPr>
            <a:spLocks noGrp="1"/>
          </p:cNvSpPr>
          <p:nvPr>
            <p:ph type="title"/>
          </p:nvPr>
        </p:nvSpPr>
        <p:spPr/>
        <p:txBody>
          <a:bodyPr/>
          <a:lstStyle/>
          <a:p>
            <a:r>
              <a:rPr lang="en-US" dirty="0"/>
              <a:t>What is a function?</a:t>
            </a:r>
          </a:p>
        </p:txBody>
      </p:sp>
      <p:sp>
        <p:nvSpPr>
          <p:cNvPr id="3" name="Content Placeholder 2">
            <a:extLst>
              <a:ext uri="{FF2B5EF4-FFF2-40B4-BE49-F238E27FC236}">
                <a16:creationId xmlns:a16="http://schemas.microsoft.com/office/drawing/2014/main" id="{89934CEA-F223-6F01-1F4A-AF14234ECDF6}"/>
              </a:ext>
            </a:extLst>
          </p:cNvPr>
          <p:cNvSpPr>
            <a:spLocks noGrp="1"/>
          </p:cNvSpPr>
          <p:nvPr>
            <p:ph idx="1"/>
          </p:nvPr>
        </p:nvSpPr>
        <p:spPr>
          <a:xfrm>
            <a:off x="1024128" y="2286000"/>
            <a:ext cx="10320631" cy="4023360"/>
          </a:xfrm>
        </p:spPr>
        <p:txBody>
          <a:bodyPr>
            <a:normAutofit fontScale="85000" lnSpcReduction="20000"/>
          </a:bodyPr>
          <a:lstStyle/>
          <a:p>
            <a:pPr marL="241300" indent="-228600"/>
            <a:r>
              <a:rPr lang="en-US" dirty="0"/>
              <a:t>Computational method for performing a specified task you will use repeatedly</a:t>
            </a:r>
          </a:p>
          <a:p>
            <a:pPr marL="241300" indent="-228600"/>
            <a:r>
              <a:rPr lang="en-US" dirty="0"/>
              <a:t>Takes inputs (arguments) and generates outputs</a:t>
            </a:r>
          </a:p>
          <a:p>
            <a:pPr marL="241300" indent="-228600"/>
            <a:r>
              <a:rPr lang="en-US" dirty="0"/>
              <a:t>May be custom or pre-built within a tool</a:t>
            </a:r>
          </a:p>
          <a:p>
            <a:pPr marL="241300" indent="-228600"/>
            <a:r>
              <a:rPr lang="en-US" dirty="0"/>
              <a:t>Ensures consistency and efficiency</a:t>
            </a:r>
          </a:p>
          <a:p>
            <a:pPr marL="241300" indent="-228600"/>
            <a:r>
              <a:rPr lang="en-US" dirty="0"/>
              <a:t>Packaged into packages (R) or libraries (python) in coding languages</a:t>
            </a:r>
          </a:p>
          <a:p>
            <a:pPr marL="241300" indent="-228600"/>
            <a:endParaRPr lang="en-US" dirty="0"/>
          </a:p>
          <a:p>
            <a:pPr marL="241300" indent="-228600"/>
            <a:r>
              <a:rPr lang="en-US" dirty="0"/>
              <a:t>Excel formulas: manually enter or use existing (e.g., AVERAGE() )</a:t>
            </a:r>
          </a:p>
          <a:p>
            <a:pPr marL="241300" indent="-228600"/>
            <a:r>
              <a:rPr lang="en-US" dirty="0"/>
              <a:t>R functions: create your own or use from packages (e.g., </a:t>
            </a:r>
            <a:r>
              <a:rPr lang="en-US" dirty="0" err="1"/>
              <a:t>ggplot</a:t>
            </a:r>
            <a:r>
              <a:rPr lang="en-US" dirty="0"/>
              <a:t>())</a:t>
            </a:r>
          </a:p>
        </p:txBody>
      </p:sp>
    </p:spTree>
    <p:extLst>
      <p:ext uri="{BB962C8B-B14F-4D97-AF65-F5344CB8AC3E}">
        <p14:creationId xmlns:p14="http://schemas.microsoft.com/office/powerpoint/2010/main" val="22927918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1690085B-D309-4FB3-BCB2-06AC1B0CCAFF}"/>
              </a:ext>
            </a:extLst>
          </p:cNvPr>
          <p:cNvPicPr>
            <a:picLocks noChangeAspect="1"/>
          </p:cNvPicPr>
          <p:nvPr/>
        </p:nvPicPr>
        <p:blipFill>
          <a:blip r:embed="rId2"/>
          <a:stretch>
            <a:fillRect/>
          </a:stretch>
        </p:blipFill>
        <p:spPr>
          <a:xfrm>
            <a:off x="1580435" y="2314589"/>
            <a:ext cx="7023100" cy="1435100"/>
          </a:xfrm>
          <a:prstGeom prst="rect">
            <a:avLst/>
          </a:prstGeom>
        </p:spPr>
      </p:pic>
      <p:sp>
        <p:nvSpPr>
          <p:cNvPr id="2" name="Title 1">
            <a:extLst>
              <a:ext uri="{FF2B5EF4-FFF2-40B4-BE49-F238E27FC236}">
                <a16:creationId xmlns:a16="http://schemas.microsoft.com/office/drawing/2014/main" id="{3E414AAD-693E-18CC-DCE3-6264742FD9F4}"/>
              </a:ext>
            </a:extLst>
          </p:cNvPr>
          <p:cNvSpPr>
            <a:spLocks noGrp="1"/>
          </p:cNvSpPr>
          <p:nvPr>
            <p:ph type="title"/>
          </p:nvPr>
        </p:nvSpPr>
        <p:spPr>
          <a:xfrm>
            <a:off x="1024128" y="585216"/>
            <a:ext cx="10436352" cy="1499616"/>
          </a:xfrm>
        </p:spPr>
        <p:txBody>
          <a:bodyPr/>
          <a:lstStyle/>
          <a:p>
            <a:r>
              <a:rPr lang="en-US" dirty="0" err="1"/>
              <a:t>Ggplot</a:t>
            </a:r>
            <a:r>
              <a:rPr lang="en-US" dirty="0"/>
              <a:t> R function creates a new graph object</a:t>
            </a:r>
          </a:p>
        </p:txBody>
      </p:sp>
      <p:sp>
        <p:nvSpPr>
          <p:cNvPr id="6" name="Bent-Up Arrow 5">
            <a:extLst>
              <a:ext uri="{FF2B5EF4-FFF2-40B4-BE49-F238E27FC236}">
                <a16:creationId xmlns:a16="http://schemas.microsoft.com/office/drawing/2014/main" id="{1DA74CFB-E8EF-0FFA-2831-1B8177A93DCF}"/>
              </a:ext>
            </a:extLst>
          </p:cNvPr>
          <p:cNvSpPr/>
          <p:nvPr/>
        </p:nvSpPr>
        <p:spPr>
          <a:xfrm rot="5400000">
            <a:off x="4959635" y="3881323"/>
            <a:ext cx="1238491" cy="1522825"/>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F29B519D-2C66-0F47-4613-443FCF7EB426}"/>
              </a:ext>
            </a:extLst>
          </p:cNvPr>
          <p:cNvSpPr txBox="1"/>
          <p:nvPr/>
        </p:nvSpPr>
        <p:spPr>
          <a:xfrm>
            <a:off x="601030" y="1968396"/>
            <a:ext cx="1863011" cy="461665"/>
          </a:xfrm>
          <a:prstGeom prst="rect">
            <a:avLst/>
          </a:prstGeom>
          <a:noFill/>
        </p:spPr>
        <p:txBody>
          <a:bodyPr wrap="none" rtlCol="0">
            <a:spAutoFit/>
          </a:bodyPr>
          <a:lstStyle/>
          <a:p>
            <a:r>
              <a:rPr lang="en-US" sz="2400" dirty="0"/>
              <a:t>function name</a:t>
            </a:r>
          </a:p>
        </p:txBody>
      </p:sp>
      <p:sp>
        <p:nvSpPr>
          <p:cNvPr id="8" name="Oval 7">
            <a:extLst>
              <a:ext uri="{FF2B5EF4-FFF2-40B4-BE49-F238E27FC236}">
                <a16:creationId xmlns:a16="http://schemas.microsoft.com/office/drawing/2014/main" id="{A52E2B5E-0A31-29C9-61F3-A7C19DC84D81}"/>
              </a:ext>
            </a:extLst>
          </p:cNvPr>
          <p:cNvSpPr/>
          <p:nvPr/>
        </p:nvSpPr>
        <p:spPr>
          <a:xfrm>
            <a:off x="1630921" y="2669511"/>
            <a:ext cx="652031" cy="300942"/>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19327E23-9033-B20A-040B-EE9FBA0FBF17}"/>
              </a:ext>
            </a:extLst>
          </p:cNvPr>
          <p:cNvCxnSpPr/>
          <p:nvPr/>
        </p:nvCxnSpPr>
        <p:spPr>
          <a:xfrm>
            <a:off x="1434151" y="2403723"/>
            <a:ext cx="196770" cy="25464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7A00C6CF-66D1-EFC5-E2C4-4B0939BCDB9A}"/>
              </a:ext>
            </a:extLst>
          </p:cNvPr>
          <p:cNvSpPr txBox="1"/>
          <p:nvPr/>
        </p:nvSpPr>
        <p:spPr>
          <a:xfrm>
            <a:off x="3440328" y="1809955"/>
            <a:ext cx="3959738" cy="461665"/>
          </a:xfrm>
          <a:prstGeom prst="rect">
            <a:avLst/>
          </a:prstGeom>
          <a:noFill/>
        </p:spPr>
        <p:txBody>
          <a:bodyPr wrap="none" rtlCol="0">
            <a:spAutoFit/>
          </a:bodyPr>
          <a:lstStyle/>
          <a:p>
            <a:r>
              <a:rPr lang="en-US" sz="2400" dirty="0"/>
              <a:t>function inputs (aka arguments)</a:t>
            </a:r>
          </a:p>
        </p:txBody>
      </p:sp>
      <p:sp>
        <p:nvSpPr>
          <p:cNvPr id="12" name="Oval 11">
            <a:extLst>
              <a:ext uri="{FF2B5EF4-FFF2-40B4-BE49-F238E27FC236}">
                <a16:creationId xmlns:a16="http://schemas.microsoft.com/office/drawing/2014/main" id="{29F6E21A-0D86-A24C-3524-301D7E0FA30C}"/>
              </a:ext>
            </a:extLst>
          </p:cNvPr>
          <p:cNvSpPr/>
          <p:nvPr/>
        </p:nvSpPr>
        <p:spPr>
          <a:xfrm>
            <a:off x="2333439" y="2588390"/>
            <a:ext cx="3881434" cy="382064"/>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0686BF15-CA07-F385-65EA-D59E99DFE9C8}"/>
              </a:ext>
            </a:extLst>
          </p:cNvPr>
          <p:cNvCxnSpPr>
            <a:cxnSpLocks/>
          </p:cNvCxnSpPr>
          <p:nvPr/>
        </p:nvCxnSpPr>
        <p:spPr>
          <a:xfrm flipH="1">
            <a:off x="3302304" y="2242637"/>
            <a:ext cx="276048" cy="28840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586290BD-6D9A-55C0-E7AE-3C21AF0F1CDB}"/>
              </a:ext>
            </a:extLst>
          </p:cNvPr>
          <p:cNvSpPr txBox="1"/>
          <p:nvPr/>
        </p:nvSpPr>
        <p:spPr>
          <a:xfrm>
            <a:off x="4322929" y="5239692"/>
            <a:ext cx="1515158" cy="369332"/>
          </a:xfrm>
          <a:prstGeom prst="rect">
            <a:avLst/>
          </a:prstGeom>
          <a:noFill/>
        </p:spPr>
        <p:txBody>
          <a:bodyPr wrap="none" rtlCol="0">
            <a:spAutoFit/>
          </a:bodyPr>
          <a:lstStyle/>
          <a:p>
            <a:r>
              <a:rPr lang="en-US" dirty="0"/>
              <a:t>function output</a:t>
            </a:r>
          </a:p>
        </p:txBody>
      </p:sp>
      <p:pic>
        <p:nvPicPr>
          <p:cNvPr id="22" name="Picture 21">
            <a:extLst>
              <a:ext uri="{FF2B5EF4-FFF2-40B4-BE49-F238E27FC236}">
                <a16:creationId xmlns:a16="http://schemas.microsoft.com/office/drawing/2014/main" id="{A5DB828E-0B86-60DF-AB8B-D2DD38629D7E}"/>
              </a:ext>
            </a:extLst>
          </p:cNvPr>
          <p:cNvPicPr>
            <a:picLocks noChangeAspect="1"/>
          </p:cNvPicPr>
          <p:nvPr/>
        </p:nvPicPr>
        <p:blipFill>
          <a:blip r:embed="rId3"/>
          <a:stretch>
            <a:fillRect/>
          </a:stretch>
        </p:blipFill>
        <p:spPr>
          <a:xfrm>
            <a:off x="6712912" y="4006307"/>
            <a:ext cx="4454960" cy="2752977"/>
          </a:xfrm>
          <a:prstGeom prst="rect">
            <a:avLst/>
          </a:prstGeom>
        </p:spPr>
      </p:pic>
    </p:spTree>
    <p:extLst>
      <p:ext uri="{BB962C8B-B14F-4D97-AF65-F5344CB8AC3E}">
        <p14:creationId xmlns:p14="http://schemas.microsoft.com/office/powerpoint/2010/main" val="2479774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animBg="1"/>
      <p:bldP spid="11" grpId="0"/>
      <p:bldP spid="12" grpId="0" animBg="1"/>
      <p:bldP spid="1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66B99-B0E7-F4EE-CEC8-C6D3A7CF150B}"/>
              </a:ext>
            </a:extLst>
          </p:cNvPr>
          <p:cNvSpPr>
            <a:spLocks noGrp="1"/>
          </p:cNvSpPr>
          <p:nvPr>
            <p:ph type="title"/>
          </p:nvPr>
        </p:nvSpPr>
        <p:spPr/>
        <p:txBody>
          <a:bodyPr/>
          <a:lstStyle/>
          <a:p>
            <a:r>
              <a:rPr lang="en-US" dirty="0"/>
              <a:t>What is a condition?</a:t>
            </a:r>
          </a:p>
        </p:txBody>
      </p:sp>
      <p:sp>
        <p:nvSpPr>
          <p:cNvPr id="3" name="Content Placeholder 2">
            <a:extLst>
              <a:ext uri="{FF2B5EF4-FFF2-40B4-BE49-F238E27FC236}">
                <a16:creationId xmlns:a16="http://schemas.microsoft.com/office/drawing/2014/main" id="{109C9EB6-83AF-EEE5-4BCB-6AB81258BF4E}"/>
              </a:ext>
            </a:extLst>
          </p:cNvPr>
          <p:cNvSpPr>
            <a:spLocks noGrp="1"/>
          </p:cNvSpPr>
          <p:nvPr>
            <p:ph idx="1"/>
          </p:nvPr>
        </p:nvSpPr>
        <p:spPr>
          <a:xfrm>
            <a:off x="1024129" y="2286000"/>
            <a:ext cx="9580182" cy="4023360"/>
          </a:xfrm>
        </p:spPr>
        <p:txBody>
          <a:bodyPr>
            <a:noAutofit/>
          </a:bodyPr>
          <a:lstStyle/>
          <a:p>
            <a:pPr marL="296863" indent="-296863"/>
            <a:r>
              <a:rPr lang="en-US" sz="2400" dirty="0"/>
              <a:t>Algorithms frequently include decision points with different actions taken based on decision result</a:t>
            </a:r>
          </a:p>
          <a:p>
            <a:pPr marL="296863" indent="-296863"/>
            <a:r>
              <a:rPr lang="en-US" sz="2400" dirty="0"/>
              <a:t>Use conditionals to apply functions appropriately given situation, whether statements are true or false</a:t>
            </a:r>
          </a:p>
          <a:p>
            <a:pPr marL="296863" indent="-296863"/>
            <a:r>
              <a:rPr lang="en-US" sz="2400" dirty="0"/>
              <a:t>If, else if, and else are very commonly used examples</a:t>
            </a:r>
          </a:p>
          <a:p>
            <a:pPr marL="0" indent="0">
              <a:buNone/>
            </a:pPr>
            <a:endParaRPr lang="en-US" sz="1100" dirty="0"/>
          </a:p>
          <a:p>
            <a:pPr marL="0" indent="0">
              <a:buNone/>
            </a:pPr>
            <a:r>
              <a:rPr lang="en-US" sz="2400" dirty="0"/>
              <a:t>When selecting a pan:</a:t>
            </a:r>
          </a:p>
          <a:p>
            <a:pPr marL="296863" indent="-296863"/>
            <a:r>
              <a:rPr lang="en-US" sz="2400" dirty="0">
                <a:solidFill>
                  <a:schemeClr val="accent1"/>
                </a:solidFill>
              </a:rPr>
              <a:t>If</a:t>
            </a:r>
            <a:r>
              <a:rPr lang="en-US" sz="2400" dirty="0"/>
              <a:t> baking cupcakes, use cupcake tin</a:t>
            </a:r>
          </a:p>
          <a:p>
            <a:pPr marL="479743" lvl="2" indent="-296863"/>
            <a:r>
              <a:rPr lang="en-US" dirty="0"/>
              <a:t>If not cupcakes, but is (</a:t>
            </a:r>
            <a:r>
              <a:rPr lang="en-US" dirty="0">
                <a:solidFill>
                  <a:schemeClr val="accent1"/>
                </a:solidFill>
              </a:rPr>
              <a:t>else if</a:t>
            </a:r>
            <a:r>
              <a:rPr lang="en-US" dirty="0"/>
              <a:t>) a cake, use round cake pan, </a:t>
            </a:r>
          </a:p>
          <a:p>
            <a:pPr marL="626047" lvl="4" indent="-296863"/>
            <a:r>
              <a:rPr lang="en-US" sz="2400" dirty="0"/>
              <a:t>Otherwise (</a:t>
            </a:r>
            <a:r>
              <a:rPr lang="en-US" sz="2400" dirty="0">
                <a:solidFill>
                  <a:schemeClr val="accent1"/>
                </a:solidFill>
              </a:rPr>
              <a:t>else</a:t>
            </a:r>
            <a:r>
              <a:rPr lang="en-US" sz="2400" dirty="0"/>
              <a:t>), use square pan</a:t>
            </a:r>
          </a:p>
        </p:txBody>
      </p:sp>
    </p:spTree>
    <p:extLst>
      <p:ext uri="{BB962C8B-B14F-4D97-AF65-F5344CB8AC3E}">
        <p14:creationId xmlns:p14="http://schemas.microsoft.com/office/powerpoint/2010/main" val="9503333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CB625B91-C3A6-9FD7-76A3-1A647CA49A62}"/>
              </a:ext>
            </a:extLst>
          </p:cNvPr>
          <p:cNvPicPr>
            <a:picLocks noChangeAspect="1"/>
          </p:cNvPicPr>
          <p:nvPr/>
        </p:nvPicPr>
        <p:blipFill>
          <a:blip r:embed="rId2"/>
          <a:srcRect b="4020"/>
          <a:stretch>
            <a:fillRect/>
          </a:stretch>
        </p:blipFill>
        <p:spPr>
          <a:xfrm>
            <a:off x="197960" y="3333514"/>
            <a:ext cx="5930900" cy="2852351"/>
          </a:xfrm>
          <a:prstGeom prst="rect">
            <a:avLst/>
          </a:prstGeom>
        </p:spPr>
      </p:pic>
      <p:sp>
        <p:nvSpPr>
          <p:cNvPr id="4" name="Title 3">
            <a:extLst>
              <a:ext uri="{FF2B5EF4-FFF2-40B4-BE49-F238E27FC236}">
                <a16:creationId xmlns:a16="http://schemas.microsoft.com/office/drawing/2014/main" id="{660A18EE-01E2-5AA7-5CE7-0E02E6915767}"/>
              </a:ext>
            </a:extLst>
          </p:cNvPr>
          <p:cNvSpPr>
            <a:spLocks noGrp="1"/>
          </p:cNvSpPr>
          <p:nvPr>
            <p:ph type="title"/>
          </p:nvPr>
        </p:nvSpPr>
        <p:spPr/>
        <p:txBody>
          <a:bodyPr/>
          <a:lstStyle/>
          <a:p>
            <a:r>
              <a:rPr lang="en-US" dirty="0"/>
              <a:t>Combining functions with conditionals</a:t>
            </a:r>
          </a:p>
        </p:txBody>
      </p:sp>
      <p:sp>
        <p:nvSpPr>
          <p:cNvPr id="7" name="TextBox 6">
            <a:extLst>
              <a:ext uri="{FF2B5EF4-FFF2-40B4-BE49-F238E27FC236}">
                <a16:creationId xmlns:a16="http://schemas.microsoft.com/office/drawing/2014/main" id="{A2D5F2FE-FE68-8C68-1F1D-9F60B07D2CFC}"/>
              </a:ext>
            </a:extLst>
          </p:cNvPr>
          <p:cNvSpPr txBox="1"/>
          <p:nvPr/>
        </p:nvSpPr>
        <p:spPr>
          <a:xfrm>
            <a:off x="483723" y="1885662"/>
            <a:ext cx="9651104" cy="461665"/>
          </a:xfrm>
          <a:prstGeom prst="rect">
            <a:avLst/>
          </a:prstGeom>
          <a:noFill/>
        </p:spPr>
        <p:txBody>
          <a:bodyPr wrap="none" rtlCol="0">
            <a:spAutoFit/>
          </a:bodyPr>
          <a:lstStyle/>
          <a:p>
            <a:r>
              <a:rPr lang="en-US" sz="2400" dirty="0"/>
              <a:t>Write the function to provide different outputs based on inputs and conditions</a:t>
            </a:r>
          </a:p>
        </p:txBody>
      </p:sp>
      <p:sp>
        <p:nvSpPr>
          <p:cNvPr id="13" name="TextBox 12">
            <a:extLst>
              <a:ext uri="{FF2B5EF4-FFF2-40B4-BE49-F238E27FC236}">
                <a16:creationId xmlns:a16="http://schemas.microsoft.com/office/drawing/2014/main" id="{9777614C-AD1D-EA23-2B1C-AAB202252992}"/>
              </a:ext>
            </a:extLst>
          </p:cNvPr>
          <p:cNvSpPr txBox="1"/>
          <p:nvPr/>
        </p:nvSpPr>
        <p:spPr>
          <a:xfrm>
            <a:off x="4119163" y="3295906"/>
            <a:ext cx="774571" cy="461665"/>
          </a:xfrm>
          <a:prstGeom prst="rect">
            <a:avLst/>
          </a:prstGeom>
          <a:noFill/>
        </p:spPr>
        <p:txBody>
          <a:bodyPr wrap="square" rtlCol="0">
            <a:spAutoFit/>
          </a:bodyPr>
          <a:lstStyle/>
          <a:p>
            <a:r>
              <a:rPr lang="en-US" sz="2400" dirty="0"/>
              <a:t>input</a:t>
            </a:r>
          </a:p>
        </p:txBody>
      </p:sp>
      <p:sp>
        <p:nvSpPr>
          <p:cNvPr id="14" name="TextBox 13">
            <a:extLst>
              <a:ext uri="{FF2B5EF4-FFF2-40B4-BE49-F238E27FC236}">
                <a16:creationId xmlns:a16="http://schemas.microsoft.com/office/drawing/2014/main" id="{52C1157B-2320-E639-8BED-0C452F7F83CC}"/>
              </a:ext>
            </a:extLst>
          </p:cNvPr>
          <p:cNvSpPr txBox="1"/>
          <p:nvPr/>
        </p:nvSpPr>
        <p:spPr>
          <a:xfrm>
            <a:off x="2035759" y="5638899"/>
            <a:ext cx="944489" cy="461665"/>
          </a:xfrm>
          <a:prstGeom prst="rect">
            <a:avLst/>
          </a:prstGeom>
          <a:noFill/>
        </p:spPr>
        <p:txBody>
          <a:bodyPr wrap="none" rtlCol="0">
            <a:spAutoFit/>
          </a:bodyPr>
          <a:lstStyle/>
          <a:p>
            <a:r>
              <a:rPr lang="en-US" sz="2400" dirty="0"/>
              <a:t>output</a:t>
            </a:r>
          </a:p>
        </p:txBody>
      </p:sp>
      <p:sp>
        <p:nvSpPr>
          <p:cNvPr id="15" name="Oval 14">
            <a:extLst>
              <a:ext uri="{FF2B5EF4-FFF2-40B4-BE49-F238E27FC236}">
                <a16:creationId xmlns:a16="http://schemas.microsoft.com/office/drawing/2014/main" id="{014B5FEA-E174-3163-4DB4-B23996EF52F9}"/>
              </a:ext>
            </a:extLst>
          </p:cNvPr>
          <p:cNvSpPr/>
          <p:nvPr/>
        </p:nvSpPr>
        <p:spPr>
          <a:xfrm>
            <a:off x="2520535" y="3608466"/>
            <a:ext cx="1191656" cy="298210"/>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41B5AD48-0876-65BD-3344-ED3F15607FCE}"/>
              </a:ext>
            </a:extLst>
          </p:cNvPr>
          <p:cNvCxnSpPr>
            <a:cxnSpLocks/>
          </p:cNvCxnSpPr>
          <p:nvPr/>
        </p:nvCxnSpPr>
        <p:spPr>
          <a:xfrm flipH="1">
            <a:off x="3712191" y="3568503"/>
            <a:ext cx="417509" cy="10855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A54D7566-8979-B5DB-DF41-DCCE44935F4D}"/>
              </a:ext>
            </a:extLst>
          </p:cNvPr>
          <p:cNvSpPr/>
          <p:nvPr/>
        </p:nvSpPr>
        <p:spPr>
          <a:xfrm>
            <a:off x="1024128" y="5556239"/>
            <a:ext cx="662499" cy="279799"/>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272259D7-4CB4-8F20-657D-8CD268C1197C}"/>
              </a:ext>
            </a:extLst>
          </p:cNvPr>
          <p:cNvCxnSpPr>
            <a:cxnSpLocks/>
          </p:cNvCxnSpPr>
          <p:nvPr/>
        </p:nvCxnSpPr>
        <p:spPr>
          <a:xfrm flipH="1" flipV="1">
            <a:off x="1721461" y="5790251"/>
            <a:ext cx="354671" cy="1043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84B3B36A-A037-9733-68A2-50ABB9D25FAF}"/>
              </a:ext>
            </a:extLst>
          </p:cNvPr>
          <p:cNvPicPr>
            <a:picLocks noChangeAspect="1"/>
          </p:cNvPicPr>
          <p:nvPr/>
        </p:nvPicPr>
        <p:blipFill>
          <a:blip r:embed="rId3"/>
          <a:srcRect b="50316"/>
          <a:stretch>
            <a:fillRect/>
          </a:stretch>
        </p:blipFill>
        <p:spPr>
          <a:xfrm>
            <a:off x="6338980" y="3324596"/>
            <a:ext cx="3657600" cy="3035029"/>
          </a:xfrm>
          <a:prstGeom prst="rect">
            <a:avLst/>
          </a:prstGeom>
        </p:spPr>
      </p:pic>
      <p:pic>
        <p:nvPicPr>
          <p:cNvPr id="27" name="Picture 26">
            <a:extLst>
              <a:ext uri="{FF2B5EF4-FFF2-40B4-BE49-F238E27FC236}">
                <a16:creationId xmlns:a16="http://schemas.microsoft.com/office/drawing/2014/main" id="{2E2FE42D-2E05-1B1D-A6D4-7CF70CD2839B}"/>
              </a:ext>
            </a:extLst>
          </p:cNvPr>
          <p:cNvPicPr>
            <a:picLocks noChangeAspect="1"/>
          </p:cNvPicPr>
          <p:nvPr/>
        </p:nvPicPr>
        <p:blipFill>
          <a:blip r:embed="rId3"/>
          <a:srcRect t="50316"/>
          <a:stretch>
            <a:fillRect/>
          </a:stretch>
        </p:blipFill>
        <p:spPr>
          <a:xfrm>
            <a:off x="6338980" y="3253507"/>
            <a:ext cx="3657600" cy="3035029"/>
          </a:xfrm>
          <a:prstGeom prst="rect">
            <a:avLst/>
          </a:prstGeom>
        </p:spPr>
      </p:pic>
      <p:grpSp>
        <p:nvGrpSpPr>
          <p:cNvPr id="32" name="Group 31">
            <a:extLst>
              <a:ext uri="{FF2B5EF4-FFF2-40B4-BE49-F238E27FC236}">
                <a16:creationId xmlns:a16="http://schemas.microsoft.com/office/drawing/2014/main" id="{953637A2-D679-78A2-D215-076E93CE875F}"/>
              </a:ext>
            </a:extLst>
          </p:cNvPr>
          <p:cNvGrpSpPr/>
          <p:nvPr/>
        </p:nvGrpSpPr>
        <p:grpSpPr>
          <a:xfrm>
            <a:off x="197960" y="3862954"/>
            <a:ext cx="5639448" cy="2305415"/>
            <a:chOff x="197960" y="3385278"/>
            <a:chExt cx="5639448" cy="2305415"/>
          </a:xfrm>
        </p:grpSpPr>
        <p:sp>
          <p:nvSpPr>
            <p:cNvPr id="28" name="TextBox 27">
              <a:extLst>
                <a:ext uri="{FF2B5EF4-FFF2-40B4-BE49-F238E27FC236}">
                  <a16:creationId xmlns:a16="http://schemas.microsoft.com/office/drawing/2014/main" id="{D6A90697-5769-9B98-57AD-4D054245AD7D}"/>
                </a:ext>
              </a:extLst>
            </p:cNvPr>
            <p:cNvSpPr txBox="1"/>
            <p:nvPr/>
          </p:nvSpPr>
          <p:spPr>
            <a:xfrm>
              <a:off x="4466520" y="5229028"/>
              <a:ext cx="1370888" cy="461665"/>
            </a:xfrm>
            <a:prstGeom prst="rect">
              <a:avLst/>
            </a:prstGeom>
            <a:noFill/>
          </p:spPr>
          <p:txBody>
            <a:bodyPr wrap="none" rtlCol="0">
              <a:spAutoFit/>
            </a:bodyPr>
            <a:lstStyle/>
            <a:p>
              <a:r>
                <a:rPr lang="en-US" sz="2400" dirty="0"/>
                <a:t>conditions</a:t>
              </a:r>
            </a:p>
          </p:txBody>
        </p:sp>
        <p:sp>
          <p:nvSpPr>
            <p:cNvPr id="29" name="Oval 28">
              <a:extLst>
                <a:ext uri="{FF2B5EF4-FFF2-40B4-BE49-F238E27FC236}">
                  <a16:creationId xmlns:a16="http://schemas.microsoft.com/office/drawing/2014/main" id="{970E8A73-96F3-5CBD-61EB-17C48059EA38}"/>
                </a:ext>
              </a:extLst>
            </p:cNvPr>
            <p:cNvSpPr/>
            <p:nvPr/>
          </p:nvSpPr>
          <p:spPr>
            <a:xfrm>
              <a:off x="197960" y="3385278"/>
              <a:ext cx="5167246" cy="1670562"/>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Arrow Connector 29">
              <a:extLst>
                <a:ext uri="{FF2B5EF4-FFF2-40B4-BE49-F238E27FC236}">
                  <a16:creationId xmlns:a16="http://schemas.microsoft.com/office/drawing/2014/main" id="{D055ADFB-355C-9511-E556-6301040671D3}"/>
                </a:ext>
              </a:extLst>
            </p:cNvPr>
            <p:cNvCxnSpPr>
              <a:cxnSpLocks/>
            </p:cNvCxnSpPr>
            <p:nvPr/>
          </p:nvCxnSpPr>
          <p:spPr>
            <a:xfrm flipH="1" flipV="1">
              <a:off x="3838964" y="5078563"/>
              <a:ext cx="667484" cy="38311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sp>
        <p:nvSpPr>
          <p:cNvPr id="33" name="TextBox 32">
            <a:extLst>
              <a:ext uri="{FF2B5EF4-FFF2-40B4-BE49-F238E27FC236}">
                <a16:creationId xmlns:a16="http://schemas.microsoft.com/office/drawing/2014/main" id="{41A15DEC-C88C-DA12-4EF5-589C29679CD1}"/>
              </a:ext>
            </a:extLst>
          </p:cNvPr>
          <p:cNvSpPr txBox="1"/>
          <p:nvPr/>
        </p:nvSpPr>
        <p:spPr>
          <a:xfrm>
            <a:off x="197960" y="2889307"/>
            <a:ext cx="4626331" cy="369332"/>
          </a:xfrm>
          <a:prstGeom prst="rect">
            <a:avLst/>
          </a:prstGeom>
          <a:noFill/>
        </p:spPr>
        <p:txBody>
          <a:bodyPr wrap="none" rtlCol="0">
            <a:spAutoFit/>
          </a:bodyPr>
          <a:lstStyle/>
          <a:p>
            <a:r>
              <a:rPr lang="en-US" dirty="0"/>
              <a:t>1. Write the function (be sure to test it) and save</a:t>
            </a:r>
          </a:p>
        </p:txBody>
      </p:sp>
      <p:sp>
        <p:nvSpPr>
          <p:cNvPr id="34" name="TextBox 33">
            <a:extLst>
              <a:ext uri="{FF2B5EF4-FFF2-40B4-BE49-F238E27FC236}">
                <a16:creationId xmlns:a16="http://schemas.microsoft.com/office/drawing/2014/main" id="{ABB3D115-A5A5-DAD5-C3C1-0EC78A9AB771}"/>
              </a:ext>
            </a:extLst>
          </p:cNvPr>
          <p:cNvSpPr txBox="1"/>
          <p:nvPr/>
        </p:nvSpPr>
        <p:spPr>
          <a:xfrm>
            <a:off x="6338980" y="2904304"/>
            <a:ext cx="4609339" cy="369332"/>
          </a:xfrm>
          <a:prstGeom prst="rect">
            <a:avLst/>
          </a:prstGeom>
          <a:noFill/>
        </p:spPr>
        <p:txBody>
          <a:bodyPr wrap="none" rtlCol="0">
            <a:spAutoFit/>
          </a:bodyPr>
          <a:lstStyle/>
          <a:p>
            <a:r>
              <a:rPr lang="en-US" dirty="0"/>
              <a:t>2. Use the function: provide input and get output</a:t>
            </a:r>
          </a:p>
        </p:txBody>
      </p:sp>
    </p:spTree>
    <p:extLst>
      <p:ext uri="{BB962C8B-B14F-4D97-AF65-F5344CB8AC3E}">
        <p14:creationId xmlns:p14="http://schemas.microsoft.com/office/powerpoint/2010/main" val="424995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animBg="1"/>
      <p:bldP spid="19" grpId="0" animBg="1"/>
      <p:bldP spid="3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09389-8B76-794E-80BC-4D91FF75E2C4}"/>
              </a:ext>
            </a:extLst>
          </p:cNvPr>
          <p:cNvSpPr>
            <a:spLocks noGrp="1"/>
          </p:cNvSpPr>
          <p:nvPr>
            <p:ph type="title"/>
          </p:nvPr>
        </p:nvSpPr>
        <p:spPr/>
        <p:txBody>
          <a:bodyPr/>
          <a:lstStyle/>
          <a:p>
            <a:r>
              <a:rPr lang="en-US" dirty="0"/>
              <a:t>What is a loop?</a:t>
            </a:r>
          </a:p>
        </p:txBody>
      </p:sp>
      <p:sp>
        <p:nvSpPr>
          <p:cNvPr id="3" name="Content Placeholder 2">
            <a:extLst>
              <a:ext uri="{FF2B5EF4-FFF2-40B4-BE49-F238E27FC236}">
                <a16:creationId xmlns:a16="http://schemas.microsoft.com/office/drawing/2014/main" id="{90AD906D-33C3-C78B-3F59-F87BD6EB5FC5}"/>
              </a:ext>
            </a:extLst>
          </p:cNvPr>
          <p:cNvSpPr>
            <a:spLocks noGrp="1"/>
          </p:cNvSpPr>
          <p:nvPr>
            <p:ph idx="1"/>
          </p:nvPr>
        </p:nvSpPr>
        <p:spPr/>
        <p:txBody>
          <a:bodyPr/>
          <a:lstStyle/>
          <a:p>
            <a:pPr marL="296863" indent="-296863"/>
            <a:r>
              <a:rPr lang="en-US" dirty="0"/>
              <a:t>Coding process that executes a specific instruction (block of code) repeatedly until a condition is met</a:t>
            </a:r>
          </a:p>
          <a:p>
            <a:pPr marL="296863" indent="-296863"/>
            <a:r>
              <a:rPr lang="en-US" dirty="0"/>
              <a:t>Common conditions describe the type of loop:</a:t>
            </a:r>
          </a:p>
          <a:p>
            <a:pPr marL="525463" lvl="2" indent="-214313"/>
            <a:r>
              <a:rPr lang="en-US" dirty="0"/>
              <a:t>For loop: repeat a specified number of times</a:t>
            </a:r>
          </a:p>
          <a:p>
            <a:pPr marL="525463" lvl="2" indent="-214313"/>
            <a:r>
              <a:rPr lang="en-US" dirty="0"/>
              <a:t>For each loop: Iterate over specified items without knowing index</a:t>
            </a:r>
          </a:p>
          <a:p>
            <a:pPr marL="525463" lvl="2" indent="-214313"/>
            <a:r>
              <a:rPr lang="en-US" dirty="0"/>
              <a:t>While loop: continue if a condition is true</a:t>
            </a:r>
          </a:p>
        </p:txBody>
      </p:sp>
    </p:spTree>
    <p:extLst>
      <p:ext uri="{BB962C8B-B14F-4D97-AF65-F5344CB8AC3E}">
        <p14:creationId xmlns:p14="http://schemas.microsoft.com/office/powerpoint/2010/main" val="8247018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816E61-AA2B-786B-C3CB-1537791626F3}"/>
              </a:ext>
            </a:extLst>
          </p:cNvPr>
          <p:cNvSpPr>
            <a:spLocks noGrp="1"/>
          </p:cNvSpPr>
          <p:nvPr>
            <p:ph type="title"/>
          </p:nvPr>
        </p:nvSpPr>
        <p:spPr/>
        <p:txBody>
          <a:bodyPr/>
          <a:lstStyle/>
          <a:p>
            <a:r>
              <a:rPr lang="en-US" dirty="0"/>
              <a:t>Calculate the median for each column:</a:t>
            </a:r>
            <a:br>
              <a:rPr lang="en-US" dirty="0"/>
            </a:br>
            <a:r>
              <a:rPr lang="en-US" dirty="0"/>
              <a:t>Copy and paste method</a:t>
            </a:r>
          </a:p>
        </p:txBody>
      </p:sp>
      <p:pic>
        <p:nvPicPr>
          <p:cNvPr id="6" name="Picture 5" descr="A screenshot of a computer&#10;&#10;AI-generated content may be incorrect.">
            <a:extLst>
              <a:ext uri="{FF2B5EF4-FFF2-40B4-BE49-F238E27FC236}">
                <a16:creationId xmlns:a16="http://schemas.microsoft.com/office/drawing/2014/main" id="{591B7847-0B99-C095-4870-42D29A91FB6D}"/>
              </a:ext>
            </a:extLst>
          </p:cNvPr>
          <p:cNvPicPr>
            <a:picLocks noChangeAspect="1"/>
          </p:cNvPicPr>
          <p:nvPr/>
        </p:nvPicPr>
        <p:blipFill>
          <a:blip r:embed="rId3"/>
          <a:stretch>
            <a:fillRect/>
          </a:stretch>
        </p:blipFill>
        <p:spPr>
          <a:xfrm>
            <a:off x="5437538" y="2399284"/>
            <a:ext cx="6121400" cy="3873500"/>
          </a:xfrm>
          <a:prstGeom prst="rect">
            <a:avLst/>
          </a:prstGeom>
        </p:spPr>
      </p:pic>
      <p:pic>
        <p:nvPicPr>
          <p:cNvPr id="12" name="Picture 11" descr="A table of numbers with black and white text&#10;&#10;AI-generated content may be incorrect.">
            <a:extLst>
              <a:ext uri="{FF2B5EF4-FFF2-40B4-BE49-F238E27FC236}">
                <a16:creationId xmlns:a16="http://schemas.microsoft.com/office/drawing/2014/main" id="{230CB963-2BED-E82F-FB37-E3F3ED8E38FE}"/>
              </a:ext>
            </a:extLst>
          </p:cNvPr>
          <p:cNvPicPr>
            <a:picLocks noChangeAspect="1"/>
          </p:cNvPicPr>
          <p:nvPr/>
        </p:nvPicPr>
        <p:blipFill>
          <a:blip r:embed="rId4"/>
          <a:stretch>
            <a:fillRect/>
          </a:stretch>
        </p:blipFill>
        <p:spPr>
          <a:xfrm>
            <a:off x="456352" y="2634427"/>
            <a:ext cx="4754844" cy="3403213"/>
          </a:xfrm>
          <a:prstGeom prst="rect">
            <a:avLst/>
          </a:prstGeom>
        </p:spPr>
      </p:pic>
    </p:spTree>
    <p:extLst>
      <p:ext uri="{BB962C8B-B14F-4D97-AF65-F5344CB8AC3E}">
        <p14:creationId xmlns:p14="http://schemas.microsoft.com/office/powerpoint/2010/main" val="7095107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C7D6D-8B15-BA15-B598-ED632EB0A66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6A44B8D-7A9B-69A5-3D57-D9B5C01BC0AB}"/>
              </a:ext>
            </a:extLst>
          </p:cNvPr>
          <p:cNvSpPr>
            <a:spLocks noGrp="1"/>
          </p:cNvSpPr>
          <p:nvPr>
            <p:ph type="title"/>
          </p:nvPr>
        </p:nvSpPr>
        <p:spPr/>
        <p:txBody>
          <a:bodyPr/>
          <a:lstStyle/>
          <a:p>
            <a:r>
              <a:rPr lang="en-US" dirty="0"/>
              <a:t>Calculate the median for each column:</a:t>
            </a:r>
            <a:br>
              <a:rPr lang="en-US" dirty="0"/>
            </a:br>
            <a:r>
              <a:rPr lang="en-US" dirty="0"/>
              <a:t>for loop method</a:t>
            </a:r>
          </a:p>
        </p:txBody>
      </p:sp>
      <p:pic>
        <p:nvPicPr>
          <p:cNvPr id="8" name="Picture 7" descr="A screenshot of a computer code&#10;&#10;AI-generated content may be incorrect.">
            <a:extLst>
              <a:ext uri="{FF2B5EF4-FFF2-40B4-BE49-F238E27FC236}">
                <a16:creationId xmlns:a16="http://schemas.microsoft.com/office/drawing/2014/main" id="{D51BFABB-072F-E4B5-4236-C3C2F860E827}"/>
              </a:ext>
            </a:extLst>
          </p:cNvPr>
          <p:cNvPicPr>
            <a:picLocks noChangeAspect="1"/>
          </p:cNvPicPr>
          <p:nvPr/>
        </p:nvPicPr>
        <p:blipFill>
          <a:blip r:embed="rId2"/>
          <a:stretch>
            <a:fillRect/>
          </a:stretch>
        </p:blipFill>
        <p:spPr>
          <a:xfrm>
            <a:off x="5417230" y="2750683"/>
            <a:ext cx="6318418" cy="3169670"/>
          </a:xfrm>
          <a:prstGeom prst="rect">
            <a:avLst/>
          </a:prstGeom>
        </p:spPr>
      </p:pic>
      <p:pic>
        <p:nvPicPr>
          <p:cNvPr id="2" name="Picture 1" descr="A table of numbers with black and white text&#10;&#10;AI-generated content may be incorrect.">
            <a:extLst>
              <a:ext uri="{FF2B5EF4-FFF2-40B4-BE49-F238E27FC236}">
                <a16:creationId xmlns:a16="http://schemas.microsoft.com/office/drawing/2014/main" id="{85C337E4-0F72-EAF4-5360-849F412518BA}"/>
              </a:ext>
            </a:extLst>
          </p:cNvPr>
          <p:cNvPicPr>
            <a:picLocks noChangeAspect="1"/>
          </p:cNvPicPr>
          <p:nvPr/>
        </p:nvPicPr>
        <p:blipFill>
          <a:blip r:embed="rId3"/>
          <a:stretch>
            <a:fillRect/>
          </a:stretch>
        </p:blipFill>
        <p:spPr>
          <a:xfrm>
            <a:off x="456352" y="2634427"/>
            <a:ext cx="4754844" cy="3403213"/>
          </a:xfrm>
          <a:prstGeom prst="rect">
            <a:avLst/>
          </a:prstGeom>
        </p:spPr>
      </p:pic>
    </p:spTree>
    <p:extLst>
      <p:ext uri="{BB962C8B-B14F-4D97-AF65-F5344CB8AC3E}">
        <p14:creationId xmlns:p14="http://schemas.microsoft.com/office/powerpoint/2010/main" val="8602858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35F2A-16CD-0A05-8D1E-9E5F8803952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1B20E02-0740-2766-BA15-7FD57ABBF31C}"/>
              </a:ext>
            </a:extLst>
          </p:cNvPr>
          <p:cNvSpPr>
            <a:spLocks noGrp="1"/>
          </p:cNvSpPr>
          <p:nvPr>
            <p:ph type="title"/>
          </p:nvPr>
        </p:nvSpPr>
        <p:spPr/>
        <p:txBody>
          <a:bodyPr/>
          <a:lstStyle/>
          <a:p>
            <a:r>
              <a:rPr lang="en-US" dirty="0"/>
              <a:t>Calculate the median for each column:</a:t>
            </a:r>
            <a:br>
              <a:rPr lang="en-US" dirty="0"/>
            </a:br>
            <a:r>
              <a:rPr lang="en-US" dirty="0"/>
              <a:t>for loop method</a:t>
            </a:r>
          </a:p>
        </p:txBody>
      </p:sp>
      <p:pic>
        <p:nvPicPr>
          <p:cNvPr id="10" name="Picture 9" descr="A screenshot of a computer&#10;&#10;AI-generated content may be incorrect.">
            <a:extLst>
              <a:ext uri="{FF2B5EF4-FFF2-40B4-BE49-F238E27FC236}">
                <a16:creationId xmlns:a16="http://schemas.microsoft.com/office/drawing/2014/main" id="{0047A3F7-F91F-5923-717E-E65BE431D928}"/>
              </a:ext>
            </a:extLst>
          </p:cNvPr>
          <p:cNvPicPr>
            <a:picLocks noChangeAspect="1"/>
          </p:cNvPicPr>
          <p:nvPr/>
        </p:nvPicPr>
        <p:blipFill>
          <a:blip r:embed="rId2"/>
          <a:stretch>
            <a:fillRect/>
          </a:stretch>
        </p:blipFill>
        <p:spPr>
          <a:xfrm>
            <a:off x="5884164" y="3170064"/>
            <a:ext cx="5473700" cy="1803400"/>
          </a:xfrm>
          <a:prstGeom prst="rect">
            <a:avLst/>
          </a:prstGeom>
        </p:spPr>
      </p:pic>
      <p:pic>
        <p:nvPicPr>
          <p:cNvPr id="2" name="Picture 1" descr="A table of numbers with black and white text&#10;&#10;AI-generated content may be incorrect.">
            <a:extLst>
              <a:ext uri="{FF2B5EF4-FFF2-40B4-BE49-F238E27FC236}">
                <a16:creationId xmlns:a16="http://schemas.microsoft.com/office/drawing/2014/main" id="{9CE8544C-F2E4-6818-C540-5165BF1579B2}"/>
              </a:ext>
            </a:extLst>
          </p:cNvPr>
          <p:cNvPicPr>
            <a:picLocks noChangeAspect="1"/>
          </p:cNvPicPr>
          <p:nvPr/>
        </p:nvPicPr>
        <p:blipFill>
          <a:blip r:embed="rId3"/>
          <a:stretch>
            <a:fillRect/>
          </a:stretch>
        </p:blipFill>
        <p:spPr>
          <a:xfrm>
            <a:off x="456352" y="2634427"/>
            <a:ext cx="4754844" cy="3403213"/>
          </a:xfrm>
          <a:prstGeom prst="rect">
            <a:avLst/>
          </a:prstGeom>
        </p:spPr>
      </p:pic>
    </p:spTree>
    <p:extLst>
      <p:ext uri="{BB962C8B-B14F-4D97-AF65-F5344CB8AC3E}">
        <p14:creationId xmlns:p14="http://schemas.microsoft.com/office/powerpoint/2010/main" val="31549175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2496C-5E3C-F294-D5E4-2AAB27E23C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A53882-EEC6-9A1C-39B2-6F049BF3FDB5}"/>
              </a:ext>
            </a:extLst>
          </p:cNvPr>
          <p:cNvSpPr>
            <a:spLocks noGrp="1"/>
          </p:cNvSpPr>
          <p:nvPr>
            <p:ph type="title"/>
          </p:nvPr>
        </p:nvSpPr>
        <p:spPr/>
        <p:txBody>
          <a:bodyPr/>
          <a:lstStyle/>
          <a:p>
            <a:r>
              <a:rPr lang="en-US" dirty="0"/>
              <a:t>What is computational thinking?</a:t>
            </a:r>
          </a:p>
        </p:txBody>
      </p:sp>
      <p:sp>
        <p:nvSpPr>
          <p:cNvPr id="3" name="Content Placeholder 2">
            <a:extLst>
              <a:ext uri="{FF2B5EF4-FFF2-40B4-BE49-F238E27FC236}">
                <a16:creationId xmlns:a16="http://schemas.microsoft.com/office/drawing/2014/main" id="{7F0BFD8A-A22F-10B8-F373-6BD8594A6DD2}"/>
              </a:ext>
            </a:extLst>
          </p:cNvPr>
          <p:cNvSpPr>
            <a:spLocks noGrp="1"/>
          </p:cNvSpPr>
          <p:nvPr>
            <p:ph idx="1"/>
          </p:nvPr>
        </p:nvSpPr>
        <p:spPr/>
        <p:txBody>
          <a:bodyPr>
            <a:normAutofit lnSpcReduction="10000"/>
          </a:bodyPr>
          <a:lstStyle/>
          <a:p>
            <a:pPr marL="0" indent="0">
              <a:buNone/>
            </a:pPr>
            <a:r>
              <a:rPr lang="en-US" i="1" dirty="0"/>
              <a:t>Formulating things with enough clarity, and in a systematic enough way, that one can tell a computer how to do them</a:t>
            </a:r>
          </a:p>
          <a:p>
            <a:pPr marL="0" indent="0">
              <a:buNone/>
            </a:pPr>
            <a:r>
              <a:rPr lang="en-US" dirty="0"/>
              <a:t>					- Stephen Wolfram</a:t>
            </a:r>
          </a:p>
          <a:p>
            <a:pPr marL="0" indent="0">
              <a:buNone/>
            </a:pPr>
            <a:endParaRPr lang="en-US" dirty="0"/>
          </a:p>
          <a:p>
            <a:pPr marL="0" indent="0">
              <a:buNone/>
            </a:pPr>
            <a:r>
              <a:rPr lang="en-US" dirty="0"/>
              <a:t>We tell computers how via language</a:t>
            </a:r>
          </a:p>
          <a:p>
            <a:pPr marL="412750" lvl="1" indent="-284163"/>
            <a:r>
              <a:rPr lang="en-US" dirty="0"/>
              <a:t>coding in programming language</a:t>
            </a:r>
          </a:p>
          <a:p>
            <a:pPr marL="412750" lvl="1" indent="-284163"/>
            <a:r>
              <a:rPr lang="en-US" dirty="0"/>
              <a:t>using data scientist interpreter</a:t>
            </a:r>
          </a:p>
          <a:p>
            <a:pPr marL="412750" lvl="1" indent="-284163"/>
            <a:r>
              <a:rPr lang="en-US" dirty="0"/>
              <a:t>low code/no code interface</a:t>
            </a:r>
          </a:p>
        </p:txBody>
      </p:sp>
      <p:sp>
        <p:nvSpPr>
          <p:cNvPr id="4" name="Oval 3">
            <a:extLst>
              <a:ext uri="{FF2B5EF4-FFF2-40B4-BE49-F238E27FC236}">
                <a16:creationId xmlns:a16="http://schemas.microsoft.com/office/drawing/2014/main" id="{C752E8CA-E126-6B2B-7D91-684FE506413E}"/>
              </a:ext>
            </a:extLst>
          </p:cNvPr>
          <p:cNvSpPr/>
          <p:nvPr/>
        </p:nvSpPr>
        <p:spPr>
          <a:xfrm>
            <a:off x="1024128" y="5547360"/>
            <a:ext cx="4675632" cy="67056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881345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E2013-6817-9B9C-6F40-15F1E71EFC4C}"/>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B30E2109-08F0-617F-F4B8-C9239847D644}"/>
              </a:ext>
            </a:extLst>
          </p:cNvPr>
          <p:cNvSpPr>
            <a:spLocks noGrp="1"/>
          </p:cNvSpPr>
          <p:nvPr>
            <p:ph type="body" idx="4294967295"/>
          </p:nvPr>
        </p:nvSpPr>
        <p:spPr>
          <a:xfrm>
            <a:off x="501953" y="477687"/>
            <a:ext cx="5157788" cy="1053721"/>
          </a:xfrm>
        </p:spPr>
        <p:txBody>
          <a:bodyPr vert="horz" lIns="91440" tIns="45720" rIns="91440" bIns="45720" rtlCol="0" anchor="t">
            <a:normAutofit fontScale="92500"/>
          </a:bodyPr>
          <a:lstStyle/>
          <a:p>
            <a:pPr marL="0" indent="0">
              <a:buNone/>
            </a:pPr>
            <a:r>
              <a:rPr lang="en-US" sz="4400" b="1" dirty="0"/>
              <a:t>GPT (GPT-4o, GPT-4.5)</a:t>
            </a:r>
          </a:p>
        </p:txBody>
      </p:sp>
      <p:sp>
        <p:nvSpPr>
          <p:cNvPr id="9" name="Text Placeholder 3">
            <a:extLst>
              <a:ext uri="{FF2B5EF4-FFF2-40B4-BE49-F238E27FC236}">
                <a16:creationId xmlns:a16="http://schemas.microsoft.com/office/drawing/2014/main" id="{EB945653-26E3-334A-3A68-983C2FB30362}"/>
              </a:ext>
            </a:extLst>
          </p:cNvPr>
          <p:cNvSpPr txBox="1">
            <a:spLocks/>
          </p:cNvSpPr>
          <p:nvPr/>
        </p:nvSpPr>
        <p:spPr>
          <a:xfrm>
            <a:off x="6526591" y="477687"/>
            <a:ext cx="5157788" cy="1053721"/>
          </a:xfrm>
          <a:prstGeom prst="rect">
            <a:avLst/>
          </a:prstGeom>
        </p:spPr>
        <p:txBody>
          <a:bodyPr vert="horz" lIns="91440" tIns="45720" rIns="91440" bIns="45720" rtlCol="0" anchor="t">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b="1" dirty="0"/>
              <a:t>Reasoning (o4, GPT-5)</a:t>
            </a:r>
          </a:p>
        </p:txBody>
      </p:sp>
      <p:sp>
        <p:nvSpPr>
          <p:cNvPr id="2" name="Rectangle: Rounded Corners 1">
            <a:extLst>
              <a:ext uri="{FF2B5EF4-FFF2-40B4-BE49-F238E27FC236}">
                <a16:creationId xmlns:a16="http://schemas.microsoft.com/office/drawing/2014/main" id="{159FD8C7-CC3E-4BAE-1582-CCD0FC4345AB}"/>
              </a:ext>
            </a:extLst>
          </p:cNvPr>
          <p:cNvSpPr/>
          <p:nvPr/>
        </p:nvSpPr>
        <p:spPr>
          <a:xfrm>
            <a:off x="368968" y="1251284"/>
            <a:ext cx="5598694" cy="1809157"/>
          </a:xfrm>
          <a:prstGeom prst="round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dirty="0"/>
              <a:t>Like a junior co-worke</a:t>
            </a:r>
            <a:r>
              <a:rPr lang="en-US" sz="2800" dirty="0">
                <a:solidFill>
                  <a:schemeClr val="bg1"/>
                </a:solidFill>
              </a:rPr>
              <a:t>r</a:t>
            </a:r>
            <a:endParaRPr lang="en-US" dirty="0">
              <a:solidFill>
                <a:schemeClr val="bg1"/>
              </a:solidFill>
            </a:endParaRPr>
          </a:p>
          <a:p>
            <a:pPr algn="ctr"/>
            <a:endParaRPr lang="en-US" dirty="0">
              <a:solidFill>
                <a:schemeClr val="bg1"/>
              </a:solidFill>
            </a:endParaRPr>
          </a:p>
          <a:p>
            <a:pPr algn="ctr"/>
            <a:r>
              <a:rPr lang="en-US" sz="2400" dirty="0">
                <a:solidFill>
                  <a:schemeClr val="bg1"/>
                </a:solidFill>
              </a:rPr>
              <a:t>Will perform best with explicit instructions and examples for a specific output</a:t>
            </a:r>
            <a:endParaRPr lang="en-US" dirty="0">
              <a:solidFill>
                <a:schemeClr val="bg1"/>
              </a:solidFill>
            </a:endParaRPr>
          </a:p>
        </p:txBody>
      </p:sp>
      <p:sp>
        <p:nvSpPr>
          <p:cNvPr id="3" name="Rectangle: Rounded Corners 2">
            <a:extLst>
              <a:ext uri="{FF2B5EF4-FFF2-40B4-BE49-F238E27FC236}">
                <a16:creationId xmlns:a16="http://schemas.microsoft.com/office/drawing/2014/main" id="{EE9FD3AC-AA54-C41B-3ACD-6F6CE81ECC42}"/>
              </a:ext>
            </a:extLst>
          </p:cNvPr>
          <p:cNvSpPr/>
          <p:nvPr/>
        </p:nvSpPr>
        <p:spPr>
          <a:xfrm>
            <a:off x="6108158" y="1251283"/>
            <a:ext cx="5598694" cy="1805493"/>
          </a:xfrm>
          <a:prstGeom prst="round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a:t>Like a senior co-worke</a:t>
            </a:r>
            <a:r>
              <a:rPr lang="en-US" sz="2800">
                <a:solidFill>
                  <a:schemeClr val="bg1"/>
                </a:solidFill>
              </a:rPr>
              <a:t>r </a:t>
            </a:r>
          </a:p>
          <a:p>
            <a:pPr algn="ctr"/>
            <a:endParaRPr lang="en-US" sz="2800">
              <a:solidFill>
                <a:schemeClr val="bg1"/>
              </a:solidFill>
            </a:endParaRPr>
          </a:p>
          <a:p>
            <a:pPr algn="ctr"/>
            <a:r>
              <a:rPr lang="en-US" sz="2400">
                <a:solidFill>
                  <a:schemeClr val="bg1"/>
                </a:solidFill>
              </a:rPr>
              <a:t>You can give them a goal to achieve and trust them to work out the details</a:t>
            </a:r>
            <a:endParaRPr lang="en-US">
              <a:solidFill>
                <a:schemeClr val="bg1"/>
              </a:solidFill>
            </a:endParaRPr>
          </a:p>
        </p:txBody>
      </p:sp>
      <p:sp>
        <p:nvSpPr>
          <p:cNvPr id="6" name="TextBox 5">
            <a:extLst>
              <a:ext uri="{FF2B5EF4-FFF2-40B4-BE49-F238E27FC236}">
                <a16:creationId xmlns:a16="http://schemas.microsoft.com/office/drawing/2014/main" id="{6A456C8C-122B-A7A8-974A-90B5AF8DCD88}"/>
              </a:ext>
            </a:extLst>
          </p:cNvPr>
          <p:cNvSpPr txBox="1"/>
          <p:nvPr/>
        </p:nvSpPr>
        <p:spPr>
          <a:xfrm>
            <a:off x="1426676" y="4571714"/>
            <a:ext cx="5233419" cy="830997"/>
          </a:xfrm>
          <a:prstGeom prst="rect">
            <a:avLst/>
          </a:prstGeom>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a:t>Given these differences, we may need to prompt them differently</a:t>
            </a:r>
          </a:p>
        </p:txBody>
      </p:sp>
      <p:pic>
        <p:nvPicPr>
          <p:cNvPr id="7" name="Picture 6" descr="A couple of robots in a kitchen&#10;&#10;AI-generated content may be incorrect.">
            <a:extLst>
              <a:ext uri="{FF2B5EF4-FFF2-40B4-BE49-F238E27FC236}">
                <a16:creationId xmlns:a16="http://schemas.microsoft.com/office/drawing/2014/main" id="{FE1733F0-175E-AE87-BEE7-A5C5A5C4B5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78027" y="3237723"/>
            <a:ext cx="3498980" cy="3498980"/>
          </a:xfrm>
          <a:prstGeom prst="rect">
            <a:avLst/>
          </a:prstGeom>
        </p:spPr>
      </p:pic>
      <p:sp>
        <p:nvSpPr>
          <p:cNvPr id="5" name="TextBox 4">
            <a:extLst>
              <a:ext uri="{FF2B5EF4-FFF2-40B4-BE49-F238E27FC236}">
                <a16:creationId xmlns:a16="http://schemas.microsoft.com/office/drawing/2014/main" id="{613DE77D-4649-E8ED-CBA9-572B6885069A}"/>
              </a:ext>
            </a:extLst>
          </p:cNvPr>
          <p:cNvSpPr txBox="1"/>
          <p:nvPr/>
        </p:nvSpPr>
        <p:spPr>
          <a:xfrm>
            <a:off x="368968" y="6367371"/>
            <a:ext cx="6371616" cy="369332"/>
          </a:xfrm>
          <a:prstGeom prst="rect">
            <a:avLst/>
          </a:prstGeom>
          <a:noFill/>
        </p:spPr>
        <p:txBody>
          <a:bodyPr wrap="none" rtlCol="0">
            <a:spAutoFit/>
          </a:bodyPr>
          <a:lstStyle/>
          <a:p>
            <a:r>
              <a:rPr lang="en-US" dirty="0"/>
              <a:t>https://</a:t>
            </a:r>
            <a:r>
              <a:rPr lang="en-US" dirty="0" err="1"/>
              <a:t>platform.openai.com</a:t>
            </a:r>
            <a:r>
              <a:rPr lang="en-US" dirty="0"/>
              <a:t>/docs/guides/reasoning-best-practices</a:t>
            </a:r>
          </a:p>
        </p:txBody>
      </p:sp>
    </p:spTree>
    <p:extLst>
      <p:ext uri="{BB962C8B-B14F-4D97-AF65-F5344CB8AC3E}">
        <p14:creationId xmlns:p14="http://schemas.microsoft.com/office/powerpoint/2010/main" val="25839880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ACF6D-ADDB-283A-CE86-FD85F3C0B9AE}"/>
              </a:ext>
            </a:extLst>
          </p:cNvPr>
          <p:cNvSpPr>
            <a:spLocks noGrp="1"/>
          </p:cNvSpPr>
          <p:nvPr>
            <p:ph type="title"/>
          </p:nvPr>
        </p:nvSpPr>
        <p:spPr/>
        <p:txBody>
          <a:bodyPr/>
          <a:lstStyle/>
          <a:p>
            <a:r>
              <a:rPr lang="en-US" dirty="0"/>
              <a:t>Prompting methods</a:t>
            </a:r>
          </a:p>
        </p:txBody>
      </p:sp>
      <p:sp>
        <p:nvSpPr>
          <p:cNvPr id="3" name="Content Placeholder 2">
            <a:extLst>
              <a:ext uri="{FF2B5EF4-FFF2-40B4-BE49-F238E27FC236}">
                <a16:creationId xmlns:a16="http://schemas.microsoft.com/office/drawing/2014/main" id="{6155796F-ACB0-79BA-D5A1-7268DB89D70E}"/>
              </a:ext>
            </a:extLst>
          </p:cNvPr>
          <p:cNvSpPr>
            <a:spLocks noGrp="1"/>
          </p:cNvSpPr>
          <p:nvPr>
            <p:ph idx="1"/>
          </p:nvPr>
        </p:nvSpPr>
        <p:spPr>
          <a:xfrm>
            <a:off x="1024128" y="1825625"/>
            <a:ext cx="9485685" cy="4847242"/>
          </a:xfrm>
        </p:spPr>
        <p:txBody>
          <a:bodyPr vert="horz" lIns="91440" tIns="45720" rIns="91440" bIns="45720" rtlCol="0" anchor="t">
            <a:normAutofit/>
          </a:bodyPr>
          <a:lstStyle/>
          <a:p>
            <a:pPr marL="0" indent="0">
              <a:buNone/>
            </a:pPr>
            <a:r>
              <a:rPr lang="en-US" sz="2400" b="1" dirty="0"/>
              <a:t>One-Shot Prompt </a:t>
            </a:r>
            <a:endParaRPr lang="en-US" sz="1400" b="1" dirty="0"/>
          </a:p>
          <a:p>
            <a:pPr lvl="1"/>
            <a:r>
              <a:rPr lang="en-US" sz="1900" dirty="0"/>
              <a:t>Provides the data and asks directly for desired output</a:t>
            </a:r>
          </a:p>
          <a:p>
            <a:pPr lvl="1"/>
            <a:r>
              <a:rPr lang="en-US" sz="1900" dirty="0"/>
              <a:t>Relies on the model's existing knowledge of the subject</a:t>
            </a:r>
          </a:p>
          <a:p>
            <a:pPr lvl="1"/>
            <a:r>
              <a:rPr lang="en-US" sz="1900" dirty="0"/>
              <a:t>More concise but may produce less consistent results in some models: best for reasoning models and less reliable for GPT models</a:t>
            </a:r>
          </a:p>
          <a:p>
            <a:endParaRPr lang="en-US" sz="1600" b="1" dirty="0"/>
          </a:p>
          <a:p>
            <a:pPr marL="0" indent="0">
              <a:buNone/>
            </a:pPr>
            <a:r>
              <a:rPr lang="en-US" sz="2400" b="1" dirty="0"/>
              <a:t>Few-Shot Prompt</a:t>
            </a:r>
          </a:p>
          <a:p>
            <a:pPr lvl="1"/>
            <a:r>
              <a:rPr lang="en-US" sz="1900" dirty="0"/>
              <a:t>Shows examples of the desired input-output pattern</a:t>
            </a:r>
          </a:p>
          <a:p>
            <a:pPr lvl="1"/>
            <a:r>
              <a:rPr lang="en-US" sz="1900" dirty="0"/>
              <a:t>Provides context for output</a:t>
            </a:r>
          </a:p>
          <a:p>
            <a:pPr lvl="1"/>
            <a:r>
              <a:rPr lang="en-US" sz="1900" dirty="0"/>
              <a:t>More likely to produce consistent, well-formatted results</a:t>
            </a:r>
          </a:p>
          <a:p>
            <a:pPr lvl="1"/>
            <a:r>
              <a:rPr lang="en-US" sz="1900" dirty="0"/>
              <a:t>May work best with GPT models</a:t>
            </a:r>
          </a:p>
        </p:txBody>
      </p:sp>
    </p:spTree>
    <p:extLst>
      <p:ext uri="{BB962C8B-B14F-4D97-AF65-F5344CB8AC3E}">
        <p14:creationId xmlns:p14="http://schemas.microsoft.com/office/powerpoint/2010/main" val="425514426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BBFF9-31D3-6919-43D1-32F0858D6752}"/>
              </a:ext>
            </a:extLst>
          </p:cNvPr>
          <p:cNvSpPr>
            <a:spLocks noGrp="1"/>
          </p:cNvSpPr>
          <p:nvPr>
            <p:ph type="title"/>
          </p:nvPr>
        </p:nvSpPr>
        <p:spPr/>
        <p:txBody>
          <a:bodyPr/>
          <a:lstStyle/>
          <a:p>
            <a:r>
              <a:rPr lang="en-US" dirty="0"/>
              <a:t>ONE SHOT Prompting example</a:t>
            </a:r>
          </a:p>
        </p:txBody>
      </p:sp>
      <p:sp>
        <p:nvSpPr>
          <p:cNvPr id="3" name="Content Placeholder 2">
            <a:extLst>
              <a:ext uri="{FF2B5EF4-FFF2-40B4-BE49-F238E27FC236}">
                <a16:creationId xmlns:a16="http://schemas.microsoft.com/office/drawing/2014/main" id="{17640E5A-EFD6-6F8C-97F9-5A8B3862785F}"/>
              </a:ext>
            </a:extLst>
          </p:cNvPr>
          <p:cNvSpPr>
            <a:spLocks noGrp="1"/>
          </p:cNvSpPr>
          <p:nvPr>
            <p:ph idx="1"/>
          </p:nvPr>
        </p:nvSpPr>
        <p:spPr/>
        <p:txBody>
          <a:bodyPr>
            <a:normAutofit/>
          </a:bodyPr>
          <a:lstStyle/>
          <a:p>
            <a:pPr marL="0" indent="0">
              <a:buNone/>
            </a:pPr>
            <a:r>
              <a:rPr lang="en-US" sz="2800" dirty="0"/>
              <a:t>You are a laboratory director analyzing fasting glucose results from 300 adult male and female patients collected at multiple hospital locations. Create a visualization (such as a boxplot or violin plot) of the </a:t>
            </a:r>
            <a:r>
              <a:rPr lang="en-US" sz="2800" dirty="0" err="1"/>
              <a:t>fasting_glucose_dataset.csv</a:t>
            </a:r>
            <a:r>
              <a:rPr lang="en-US" sz="2800" dirty="0"/>
              <a:t> that compares fasting glucose distributions across locations and highlights any significant insights or differences. Provide R code and also a plain-English interpretation of what the graph might reveal.</a:t>
            </a:r>
            <a:endParaRPr lang="en-US" sz="2800" dirty="0">
              <a:solidFill>
                <a:srgbClr val="FF0000"/>
              </a:solidFill>
            </a:endParaRPr>
          </a:p>
        </p:txBody>
      </p:sp>
    </p:spTree>
    <p:extLst>
      <p:ext uri="{BB962C8B-B14F-4D97-AF65-F5344CB8AC3E}">
        <p14:creationId xmlns:p14="http://schemas.microsoft.com/office/powerpoint/2010/main" val="5728301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40D2978-997F-6929-137B-F8D69D7ECA5F}"/>
              </a:ext>
            </a:extLst>
          </p:cNvPr>
          <p:cNvSpPr>
            <a:spLocks noGrp="1"/>
          </p:cNvSpPr>
          <p:nvPr>
            <p:ph type="title"/>
          </p:nvPr>
        </p:nvSpPr>
        <p:spPr/>
        <p:txBody>
          <a:bodyPr/>
          <a:lstStyle/>
          <a:p>
            <a:r>
              <a:rPr lang="en-US" dirty="0"/>
              <a:t>Chatgpt5 output</a:t>
            </a:r>
          </a:p>
        </p:txBody>
      </p:sp>
      <p:sp>
        <p:nvSpPr>
          <p:cNvPr id="7" name="TextBox 6">
            <a:extLst>
              <a:ext uri="{FF2B5EF4-FFF2-40B4-BE49-F238E27FC236}">
                <a16:creationId xmlns:a16="http://schemas.microsoft.com/office/drawing/2014/main" id="{F30C4F3E-0B03-D0DF-D94B-33C985C0FD54}"/>
              </a:ext>
            </a:extLst>
          </p:cNvPr>
          <p:cNvSpPr txBox="1"/>
          <p:nvPr/>
        </p:nvSpPr>
        <p:spPr>
          <a:xfrm>
            <a:off x="6369804" y="1194471"/>
            <a:ext cx="5269424" cy="5078313"/>
          </a:xfrm>
          <a:prstGeom prst="rect">
            <a:avLst/>
          </a:prstGeom>
          <a:noFill/>
        </p:spPr>
        <p:txBody>
          <a:bodyPr wrap="square" rtlCol="0">
            <a:spAutoFit/>
          </a:bodyPr>
          <a:lstStyle/>
          <a:p>
            <a:r>
              <a:rPr lang="en-US" dirty="0"/>
              <a:t>Expect visibly different distributions across sites. In the dataset I generated, </a:t>
            </a:r>
            <a:r>
              <a:rPr lang="en-US" dirty="0" err="1">
                <a:highlight>
                  <a:srgbClr val="FFFF00"/>
                </a:highlight>
              </a:rPr>
              <a:t>Site_B</a:t>
            </a:r>
            <a:r>
              <a:rPr lang="en-US" dirty="0">
                <a:highlight>
                  <a:srgbClr val="FFFF00"/>
                </a:highlight>
              </a:rPr>
              <a:t> tends to show a slightly higher median and a wider spread than </a:t>
            </a:r>
            <a:r>
              <a:rPr lang="en-US" dirty="0" err="1">
                <a:highlight>
                  <a:srgbClr val="FFFF00"/>
                </a:highlight>
              </a:rPr>
              <a:t>Site_A</a:t>
            </a:r>
            <a:r>
              <a:rPr lang="en-US" dirty="0">
                <a:highlight>
                  <a:srgbClr val="FFFF00"/>
                </a:highlight>
              </a:rPr>
              <a:t> and </a:t>
            </a:r>
            <a:r>
              <a:rPr lang="en-US" dirty="0" err="1">
                <a:highlight>
                  <a:srgbClr val="FFFF00"/>
                </a:highlight>
              </a:rPr>
              <a:t>Site_C</a:t>
            </a:r>
            <a:r>
              <a:rPr lang="en-US" dirty="0">
                <a:highlight>
                  <a:srgbClr val="FFFF00"/>
                </a:highlight>
              </a:rPr>
              <a:t>, with more values above 126 mg/dL (the dotted line) and a higher share in the 100–125 mg/dL range (dashed to dotted line).</a:t>
            </a:r>
          </a:p>
          <a:p>
            <a:r>
              <a:rPr lang="en-US" dirty="0" err="1">
                <a:highlight>
                  <a:srgbClr val="FFFF00"/>
                </a:highlight>
              </a:rPr>
              <a:t>Site_A</a:t>
            </a:r>
            <a:r>
              <a:rPr lang="en-US" dirty="0">
                <a:highlight>
                  <a:srgbClr val="FFFF00"/>
                </a:highlight>
              </a:rPr>
              <a:t> and </a:t>
            </a:r>
            <a:r>
              <a:rPr lang="en-US" dirty="0" err="1">
                <a:highlight>
                  <a:srgbClr val="FFFF00"/>
                </a:highlight>
              </a:rPr>
              <a:t>Site_C</a:t>
            </a:r>
            <a:r>
              <a:rPr lang="en-US" dirty="0">
                <a:highlight>
                  <a:srgbClr val="FFFF00"/>
                </a:highlight>
              </a:rPr>
              <a:t> typically look more similar, with tighter IQRs and fewer high outliers.</a:t>
            </a:r>
          </a:p>
          <a:p>
            <a:r>
              <a:rPr lang="en-US" dirty="0"/>
              <a:t>If the Kruskal–Wallis test reports a significant p-value (and pairwise Wilcoxon tests confirm </a:t>
            </a:r>
            <a:r>
              <a:rPr lang="en-US" dirty="0" err="1"/>
              <a:t>Site_B</a:t>
            </a:r>
            <a:r>
              <a:rPr lang="en-US" dirty="0"/>
              <a:t> &gt; others), that supports a site effect. Practically, that could prompt a pre-analytical/process review at the higher-median site (e.g., fasting adherence, draw timing, tube handling, transport time/temperature, centrifugation delays).</a:t>
            </a:r>
          </a:p>
          <a:p>
            <a:r>
              <a:rPr lang="en-US" dirty="0"/>
              <a:t>In the sex-stratified view, you may see small, not dramatic differences between males and females; the main pattern remains the site-level shift.</a:t>
            </a:r>
          </a:p>
        </p:txBody>
      </p:sp>
      <p:pic>
        <p:nvPicPr>
          <p:cNvPr id="11" name="Picture 10" descr="A chart of a fasting glucose distribution&#10;&#10;AI-generated content may be incorrect.">
            <a:extLst>
              <a:ext uri="{FF2B5EF4-FFF2-40B4-BE49-F238E27FC236}">
                <a16:creationId xmlns:a16="http://schemas.microsoft.com/office/drawing/2014/main" id="{C8D2D64A-46CD-D274-B1F8-CE9B23CEB015}"/>
              </a:ext>
            </a:extLst>
          </p:cNvPr>
          <p:cNvPicPr>
            <a:picLocks noChangeAspect="1"/>
          </p:cNvPicPr>
          <p:nvPr/>
        </p:nvPicPr>
        <p:blipFill>
          <a:blip r:embed="rId2"/>
          <a:stretch>
            <a:fillRect/>
          </a:stretch>
        </p:blipFill>
        <p:spPr>
          <a:xfrm>
            <a:off x="552772" y="2223852"/>
            <a:ext cx="5398576" cy="4048932"/>
          </a:xfrm>
          <a:prstGeom prst="rect">
            <a:avLst/>
          </a:prstGeom>
        </p:spPr>
      </p:pic>
      <p:sp>
        <p:nvSpPr>
          <p:cNvPr id="14" name="Oval 13">
            <a:extLst>
              <a:ext uri="{FF2B5EF4-FFF2-40B4-BE49-F238E27FC236}">
                <a16:creationId xmlns:a16="http://schemas.microsoft.com/office/drawing/2014/main" id="{3EBA11D0-7AA4-154A-E90B-526662DABECF}"/>
              </a:ext>
            </a:extLst>
          </p:cNvPr>
          <p:cNvSpPr/>
          <p:nvPr/>
        </p:nvSpPr>
        <p:spPr>
          <a:xfrm>
            <a:off x="666427" y="5672380"/>
            <a:ext cx="4928461" cy="960895"/>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DE145D61-BE83-4F0D-0E9E-8E706AF41CB8}"/>
              </a:ext>
            </a:extLst>
          </p:cNvPr>
          <p:cNvSpPr txBox="1"/>
          <p:nvPr/>
        </p:nvSpPr>
        <p:spPr>
          <a:xfrm>
            <a:off x="247973" y="1895746"/>
            <a:ext cx="5193794" cy="369332"/>
          </a:xfrm>
          <a:prstGeom prst="rect">
            <a:avLst/>
          </a:prstGeom>
          <a:noFill/>
        </p:spPr>
        <p:txBody>
          <a:bodyPr wrap="none" rtlCol="0">
            <a:spAutoFit/>
          </a:bodyPr>
          <a:lstStyle/>
          <a:p>
            <a:r>
              <a:rPr lang="en-US" dirty="0">
                <a:solidFill>
                  <a:srgbClr val="FF0000"/>
                </a:solidFill>
              </a:rPr>
              <a:t>Where are the jittered points shown in code provided?</a:t>
            </a:r>
          </a:p>
        </p:txBody>
      </p:sp>
    </p:spTree>
    <p:extLst>
      <p:ext uri="{BB962C8B-B14F-4D97-AF65-F5344CB8AC3E}">
        <p14:creationId xmlns:p14="http://schemas.microsoft.com/office/powerpoint/2010/main" val="1048713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DF06A-3851-E280-44CB-B0020510E9CB}"/>
              </a:ext>
            </a:extLst>
          </p:cNvPr>
          <p:cNvSpPr>
            <a:spLocks noGrp="1"/>
          </p:cNvSpPr>
          <p:nvPr>
            <p:ph type="title"/>
          </p:nvPr>
        </p:nvSpPr>
        <p:spPr/>
        <p:txBody>
          <a:bodyPr/>
          <a:lstStyle/>
          <a:p>
            <a:r>
              <a:rPr lang="en-US" dirty="0"/>
              <a:t>Let me check your work,</a:t>
            </a:r>
            <a:br>
              <a:rPr lang="en-US" dirty="0"/>
            </a:br>
            <a:r>
              <a:rPr lang="en-US" dirty="0"/>
              <a:t>You need to try again</a:t>
            </a:r>
          </a:p>
        </p:txBody>
      </p:sp>
      <p:pic>
        <p:nvPicPr>
          <p:cNvPr id="3" name="Picture 2" descr="A screenshot of a computer screen&#10;&#10;AI-generated content may be incorrect.">
            <a:extLst>
              <a:ext uri="{FF2B5EF4-FFF2-40B4-BE49-F238E27FC236}">
                <a16:creationId xmlns:a16="http://schemas.microsoft.com/office/drawing/2014/main" id="{3E80F7CE-8A40-8493-7766-9417C90E8C2E}"/>
              </a:ext>
            </a:extLst>
          </p:cNvPr>
          <p:cNvPicPr>
            <a:picLocks noChangeAspect="1"/>
          </p:cNvPicPr>
          <p:nvPr/>
        </p:nvPicPr>
        <p:blipFill>
          <a:blip r:embed="rId2"/>
          <a:stretch>
            <a:fillRect/>
          </a:stretch>
        </p:blipFill>
        <p:spPr>
          <a:xfrm>
            <a:off x="6504121" y="585216"/>
            <a:ext cx="5500254" cy="5742122"/>
          </a:xfrm>
          <a:prstGeom prst="rect">
            <a:avLst/>
          </a:prstGeom>
        </p:spPr>
      </p:pic>
      <p:sp>
        <p:nvSpPr>
          <p:cNvPr id="5" name="Rectangle 1">
            <a:extLst>
              <a:ext uri="{FF2B5EF4-FFF2-40B4-BE49-F238E27FC236}">
                <a16:creationId xmlns:a16="http://schemas.microsoft.com/office/drawing/2014/main" id="{355548AE-E00B-5CE3-CE6A-56A3F0F072B3}"/>
              </a:ext>
            </a:extLst>
          </p:cNvPr>
          <p:cNvSpPr>
            <a:spLocks noChangeArrowheads="1"/>
          </p:cNvSpPr>
          <p:nvPr/>
        </p:nvSpPr>
        <p:spPr bwMode="auto">
          <a:xfrm>
            <a:off x="3438525" y="3277285"/>
            <a:ext cx="726799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5D0293F6-1439-E6E2-9D16-6A2F74B56CDF}"/>
              </a:ext>
            </a:extLst>
          </p:cNvPr>
          <p:cNvSpPr txBox="1"/>
          <p:nvPr/>
        </p:nvSpPr>
        <p:spPr>
          <a:xfrm>
            <a:off x="7687160" y="6327338"/>
            <a:ext cx="742511" cy="369332"/>
          </a:xfrm>
          <a:prstGeom prst="rect">
            <a:avLst/>
          </a:prstGeom>
          <a:noFill/>
        </p:spPr>
        <p:txBody>
          <a:bodyPr wrap="none" rtlCol="0">
            <a:spAutoFit/>
          </a:bodyPr>
          <a:lstStyle/>
          <a:p>
            <a:r>
              <a:rPr lang="en-US" dirty="0"/>
              <a:t>96.25</a:t>
            </a:r>
          </a:p>
        </p:txBody>
      </p:sp>
      <p:sp>
        <p:nvSpPr>
          <p:cNvPr id="7" name="TextBox 6">
            <a:extLst>
              <a:ext uri="{FF2B5EF4-FFF2-40B4-BE49-F238E27FC236}">
                <a16:creationId xmlns:a16="http://schemas.microsoft.com/office/drawing/2014/main" id="{B8092690-2697-B471-E2B8-0CBE3BDB572E}"/>
              </a:ext>
            </a:extLst>
          </p:cNvPr>
          <p:cNvSpPr txBox="1"/>
          <p:nvPr/>
        </p:nvSpPr>
        <p:spPr>
          <a:xfrm>
            <a:off x="9126504" y="6327338"/>
            <a:ext cx="742511" cy="369332"/>
          </a:xfrm>
          <a:prstGeom prst="rect">
            <a:avLst/>
          </a:prstGeom>
          <a:noFill/>
        </p:spPr>
        <p:txBody>
          <a:bodyPr wrap="none" rtlCol="0">
            <a:spAutoFit/>
          </a:bodyPr>
          <a:lstStyle/>
          <a:p>
            <a:r>
              <a:rPr lang="en-US" dirty="0"/>
              <a:t>95.95</a:t>
            </a:r>
          </a:p>
        </p:txBody>
      </p:sp>
      <p:sp>
        <p:nvSpPr>
          <p:cNvPr id="8" name="TextBox 7">
            <a:extLst>
              <a:ext uri="{FF2B5EF4-FFF2-40B4-BE49-F238E27FC236}">
                <a16:creationId xmlns:a16="http://schemas.microsoft.com/office/drawing/2014/main" id="{449B6D52-1BED-1D20-A243-ED84FEAC0C6C}"/>
              </a:ext>
            </a:extLst>
          </p:cNvPr>
          <p:cNvSpPr txBox="1"/>
          <p:nvPr/>
        </p:nvSpPr>
        <p:spPr>
          <a:xfrm>
            <a:off x="10565848" y="6327338"/>
            <a:ext cx="742511" cy="369332"/>
          </a:xfrm>
          <a:prstGeom prst="rect">
            <a:avLst/>
          </a:prstGeom>
          <a:noFill/>
        </p:spPr>
        <p:txBody>
          <a:bodyPr wrap="none" rtlCol="0">
            <a:spAutoFit/>
          </a:bodyPr>
          <a:lstStyle/>
          <a:p>
            <a:r>
              <a:rPr lang="en-US" dirty="0"/>
              <a:t>94.60</a:t>
            </a:r>
          </a:p>
        </p:txBody>
      </p:sp>
      <p:sp>
        <p:nvSpPr>
          <p:cNvPr id="9" name="TextBox 8">
            <a:extLst>
              <a:ext uri="{FF2B5EF4-FFF2-40B4-BE49-F238E27FC236}">
                <a16:creationId xmlns:a16="http://schemas.microsoft.com/office/drawing/2014/main" id="{4FB91803-5CBE-B09F-328A-4FD957ED39AA}"/>
              </a:ext>
            </a:extLst>
          </p:cNvPr>
          <p:cNvSpPr txBox="1"/>
          <p:nvPr/>
        </p:nvSpPr>
        <p:spPr>
          <a:xfrm>
            <a:off x="480447" y="3095684"/>
            <a:ext cx="5615553" cy="3416320"/>
          </a:xfrm>
          <a:prstGeom prst="rect">
            <a:avLst/>
          </a:prstGeom>
          <a:noFill/>
        </p:spPr>
        <p:txBody>
          <a:bodyPr wrap="square" rtlCol="0">
            <a:spAutoFit/>
          </a:bodyPr>
          <a:lstStyle/>
          <a:p>
            <a:r>
              <a:rPr lang="en-US" dirty="0"/>
              <a:t>Interpretation (plain English):</a:t>
            </a:r>
          </a:p>
          <a:p>
            <a:r>
              <a:rPr lang="en-US" dirty="0"/>
              <a:t>All three sites have very similar fasting glucose distributions, with means around 95–97 mg/dL.</a:t>
            </a:r>
          </a:p>
          <a:p>
            <a:r>
              <a:rPr lang="en-US" dirty="0"/>
              <a:t>Roughly one-third of patients at each site fall in the impaired fasting glucose range (100–125 mg/dL).</a:t>
            </a:r>
          </a:p>
          <a:p>
            <a:r>
              <a:rPr lang="en-US" dirty="0"/>
              <a:t>Very few patients exceed the 126 mg/dL diabetes threshold (1–3%).</a:t>
            </a:r>
          </a:p>
          <a:p>
            <a:r>
              <a:rPr lang="en-US" dirty="0"/>
              <a:t>The Kruskal–Wallis test confirms there’s no statistically meaningful difference among the sites.</a:t>
            </a:r>
          </a:p>
          <a:p>
            <a:r>
              <a:rPr lang="en-US" dirty="0"/>
              <a:t>This suggests that any site-to-site variation in the dataset is minor and likely due to chance, not systematic issues in specimen handling or processing.</a:t>
            </a:r>
          </a:p>
        </p:txBody>
      </p:sp>
      <p:sp>
        <p:nvSpPr>
          <p:cNvPr id="10" name="TextBox 9">
            <a:extLst>
              <a:ext uri="{FF2B5EF4-FFF2-40B4-BE49-F238E27FC236}">
                <a16:creationId xmlns:a16="http://schemas.microsoft.com/office/drawing/2014/main" id="{A7107C82-03CC-2A1C-A2EE-8A9375517DFB}"/>
              </a:ext>
            </a:extLst>
          </p:cNvPr>
          <p:cNvSpPr txBox="1"/>
          <p:nvPr/>
        </p:nvSpPr>
        <p:spPr>
          <a:xfrm>
            <a:off x="480447" y="2726352"/>
            <a:ext cx="1442703" cy="369332"/>
          </a:xfrm>
          <a:prstGeom prst="rect">
            <a:avLst/>
          </a:prstGeom>
          <a:noFill/>
        </p:spPr>
        <p:txBody>
          <a:bodyPr wrap="none" rtlCol="0">
            <a:spAutoFit/>
          </a:bodyPr>
          <a:lstStyle/>
          <a:p>
            <a:r>
              <a:rPr lang="en-US" dirty="0"/>
              <a:t>SECOND TRY:</a:t>
            </a:r>
          </a:p>
        </p:txBody>
      </p:sp>
    </p:spTree>
    <p:extLst>
      <p:ext uri="{BB962C8B-B14F-4D97-AF65-F5344CB8AC3E}">
        <p14:creationId xmlns:p14="http://schemas.microsoft.com/office/powerpoint/2010/main" val="8077128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4BBEA-F147-2E52-4B53-C3D1BD058DC3}"/>
              </a:ext>
            </a:extLst>
          </p:cNvPr>
          <p:cNvSpPr>
            <a:spLocks noGrp="1"/>
          </p:cNvSpPr>
          <p:nvPr>
            <p:ph type="title"/>
          </p:nvPr>
        </p:nvSpPr>
        <p:spPr/>
        <p:txBody>
          <a:bodyPr/>
          <a:lstStyle/>
          <a:p>
            <a:r>
              <a:rPr lang="en-US" dirty="0"/>
              <a:t>Few shot prompting example</a:t>
            </a:r>
          </a:p>
        </p:txBody>
      </p:sp>
      <p:sp>
        <p:nvSpPr>
          <p:cNvPr id="3" name="Content Placeholder 2">
            <a:extLst>
              <a:ext uri="{FF2B5EF4-FFF2-40B4-BE49-F238E27FC236}">
                <a16:creationId xmlns:a16="http://schemas.microsoft.com/office/drawing/2014/main" id="{B773A6B2-0EC4-8714-9182-7D3749514BCD}"/>
              </a:ext>
            </a:extLst>
          </p:cNvPr>
          <p:cNvSpPr>
            <a:spLocks noGrp="1"/>
          </p:cNvSpPr>
          <p:nvPr>
            <p:ph idx="1"/>
          </p:nvPr>
        </p:nvSpPr>
        <p:spPr/>
        <p:txBody>
          <a:bodyPr/>
          <a:lstStyle/>
          <a:p>
            <a:pPr marL="287338" indent="-287338"/>
            <a:r>
              <a:rPr lang="en-US" dirty="0"/>
              <a:t>Aiming to train the model using examples of </a:t>
            </a:r>
            <a:r>
              <a:rPr lang="en-US" b="1" dirty="0"/>
              <a:t>different types of visualizations</a:t>
            </a:r>
            <a:r>
              <a:rPr lang="en-US" dirty="0"/>
              <a:t>, the model sees a broader </a:t>
            </a:r>
            <a:r>
              <a:rPr lang="en-US" b="1" dirty="0"/>
              <a:t>pattern of reasoning </a:t>
            </a:r>
            <a:r>
              <a:rPr lang="en-US" dirty="0"/>
              <a:t>vs learning a template for a specific type of model</a:t>
            </a:r>
          </a:p>
          <a:p>
            <a:pPr marL="287338" indent="-287338"/>
            <a:endParaRPr lang="en-US" i="1" dirty="0"/>
          </a:p>
          <a:p>
            <a:pPr marL="287338" indent="-287338"/>
            <a:r>
              <a:rPr lang="en-US" i="1" dirty="0"/>
              <a:t>Identify the analytical question → choose an appropriate chart → generate code → interpret results</a:t>
            </a:r>
            <a:endParaRPr lang="en-US" dirty="0"/>
          </a:p>
          <a:p>
            <a:pPr marL="0" indent="0">
              <a:buNone/>
            </a:pPr>
            <a:endParaRPr lang="en-US" dirty="0"/>
          </a:p>
        </p:txBody>
      </p:sp>
    </p:spTree>
    <p:extLst>
      <p:ext uri="{BB962C8B-B14F-4D97-AF65-F5344CB8AC3E}">
        <p14:creationId xmlns:p14="http://schemas.microsoft.com/office/powerpoint/2010/main" val="6495138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99219-323C-1B81-7F2E-4A0B58697E90}"/>
              </a:ext>
            </a:extLst>
          </p:cNvPr>
          <p:cNvSpPr>
            <a:spLocks noGrp="1"/>
          </p:cNvSpPr>
          <p:nvPr>
            <p:ph type="title"/>
          </p:nvPr>
        </p:nvSpPr>
        <p:spPr/>
        <p:txBody>
          <a:bodyPr/>
          <a:lstStyle/>
          <a:p>
            <a:r>
              <a:rPr lang="en-US" dirty="0"/>
              <a:t>Few shot prompting example</a:t>
            </a:r>
          </a:p>
        </p:txBody>
      </p:sp>
      <p:sp>
        <p:nvSpPr>
          <p:cNvPr id="3" name="Content Placeholder 2">
            <a:extLst>
              <a:ext uri="{FF2B5EF4-FFF2-40B4-BE49-F238E27FC236}">
                <a16:creationId xmlns:a16="http://schemas.microsoft.com/office/drawing/2014/main" id="{BE5BA1D0-112F-CFD1-424B-ACE68D453BA8}"/>
              </a:ext>
            </a:extLst>
          </p:cNvPr>
          <p:cNvSpPr>
            <a:spLocks noGrp="1"/>
          </p:cNvSpPr>
          <p:nvPr>
            <p:ph idx="1"/>
          </p:nvPr>
        </p:nvSpPr>
        <p:spPr>
          <a:xfrm>
            <a:off x="1024128" y="1747777"/>
            <a:ext cx="10143744" cy="4826643"/>
          </a:xfrm>
        </p:spPr>
        <p:txBody>
          <a:bodyPr>
            <a:noAutofit/>
          </a:bodyPr>
          <a:lstStyle/>
          <a:p>
            <a:pPr marL="0" indent="0">
              <a:buNone/>
            </a:pPr>
            <a:r>
              <a:rPr lang="en-US" sz="2000" dirty="0"/>
              <a:t>Example 1:</a:t>
            </a:r>
            <a:br>
              <a:rPr lang="en-US" sz="2000" dirty="0"/>
            </a:br>
            <a:r>
              <a:rPr lang="en-US" sz="2000" dirty="0"/>
              <a:t>Data: Potassium measurements from 200 patients across 4 locations.</a:t>
            </a:r>
            <a:br>
              <a:rPr lang="en-US" sz="2000" dirty="0"/>
            </a:br>
            <a:r>
              <a:rPr lang="en-US" sz="2000" dirty="0"/>
              <a:t>Task: Create side-by-side boxplots comparing locations.</a:t>
            </a:r>
            <a:br>
              <a:rPr lang="en-US" sz="2000" dirty="0"/>
            </a:br>
            <a:r>
              <a:rPr lang="en-US" sz="2000" dirty="0"/>
              <a:t>Expected Output: R code for </a:t>
            </a:r>
            <a:r>
              <a:rPr lang="en-US" sz="2000" dirty="0" err="1"/>
              <a:t>ggplot</a:t>
            </a:r>
            <a:r>
              <a:rPr lang="en-US" sz="2000" dirty="0"/>
              <a:t>, and a short interpretation noting if any site shows higher variability suggesting sample hemolysis.</a:t>
            </a:r>
          </a:p>
          <a:p>
            <a:pPr marL="0" indent="0">
              <a:buNone/>
            </a:pPr>
            <a:r>
              <a:rPr lang="en-US" sz="2000" dirty="0"/>
              <a:t>Example 2:</a:t>
            </a:r>
            <a:br>
              <a:rPr lang="en-US" sz="2000" dirty="0"/>
            </a:br>
            <a:r>
              <a:rPr lang="en-US" sz="2000" dirty="0"/>
              <a:t>Data: Troponin I QC results at 2 levels over 20 days.</a:t>
            </a:r>
            <a:br>
              <a:rPr lang="en-US" sz="2000" dirty="0"/>
            </a:br>
            <a:r>
              <a:rPr lang="en-US" sz="2000" dirty="0"/>
              <a:t>Task: Generate a Levey-Jennings plot with Westgard rule violations highlighted.</a:t>
            </a:r>
            <a:br>
              <a:rPr lang="en-US" sz="2000" dirty="0"/>
            </a:br>
            <a:r>
              <a:rPr lang="en-US" sz="2000" dirty="0"/>
              <a:t>Expected Output: R code and a short interpretation of QC stability.</a:t>
            </a:r>
          </a:p>
          <a:p>
            <a:pPr marL="0" indent="0">
              <a:buNone/>
            </a:pPr>
            <a:r>
              <a:rPr lang="en-US" sz="2000" dirty="0"/>
              <a:t>Now apply the same approach to this real case:</a:t>
            </a:r>
            <a:br>
              <a:rPr lang="en-US" sz="2000" dirty="0"/>
            </a:br>
            <a:r>
              <a:rPr lang="en-US" sz="2000" dirty="0"/>
              <a:t>Data: Use the provided CSV that contains fasting glucose results from 300 adult male and female patients collected at multiple hospital locations.</a:t>
            </a:r>
            <a:br>
              <a:rPr lang="en-US" sz="2000" dirty="0"/>
            </a:br>
            <a:r>
              <a:rPr lang="en-US" sz="2000" dirty="0"/>
              <a:t>Task: Create a visualization (boxplot or violin plot) comparing fasting glucose distributions across locations and highlights any significant insights or differences. Expected output: visualization, R code, and a short interpretation of distributions across sites.</a:t>
            </a:r>
          </a:p>
        </p:txBody>
      </p:sp>
    </p:spTree>
    <p:extLst>
      <p:ext uri="{BB962C8B-B14F-4D97-AF65-F5344CB8AC3E}">
        <p14:creationId xmlns:p14="http://schemas.microsoft.com/office/powerpoint/2010/main" val="285180714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56455-B97C-DCDF-0FA7-4BA33514FECB}"/>
              </a:ext>
            </a:extLst>
          </p:cNvPr>
          <p:cNvSpPr>
            <a:spLocks noGrp="1"/>
          </p:cNvSpPr>
          <p:nvPr>
            <p:ph type="title"/>
          </p:nvPr>
        </p:nvSpPr>
        <p:spPr/>
        <p:txBody>
          <a:bodyPr/>
          <a:lstStyle/>
          <a:p>
            <a:r>
              <a:rPr lang="en-US"/>
              <a:t>Future: Make it the best around</a:t>
            </a:r>
          </a:p>
        </p:txBody>
      </p:sp>
      <p:sp>
        <p:nvSpPr>
          <p:cNvPr id="3" name="Content Placeholder 2">
            <a:extLst>
              <a:ext uri="{FF2B5EF4-FFF2-40B4-BE49-F238E27FC236}">
                <a16:creationId xmlns:a16="http://schemas.microsoft.com/office/drawing/2014/main" id="{3F48E2B4-9123-4B3E-BF25-E61A4AED4DD4}"/>
              </a:ext>
            </a:extLst>
          </p:cNvPr>
          <p:cNvSpPr>
            <a:spLocks noGrp="1"/>
          </p:cNvSpPr>
          <p:nvPr>
            <p:ph idx="1"/>
          </p:nvPr>
        </p:nvSpPr>
        <p:spPr>
          <a:xfrm>
            <a:off x="838200" y="2084831"/>
            <a:ext cx="10515600" cy="4334629"/>
          </a:xfrm>
        </p:spPr>
        <p:txBody>
          <a:bodyPr vert="horz" lIns="91440" tIns="45720" rIns="91440" bIns="45720" rtlCol="0" anchor="t">
            <a:normAutofit fontScale="92500" lnSpcReduction="20000"/>
          </a:bodyPr>
          <a:lstStyle/>
          <a:p>
            <a:pPr marL="228600" indent="-228600"/>
            <a:r>
              <a:rPr lang="en-US" b="1" dirty="0"/>
              <a:t>Appropriate model selection</a:t>
            </a:r>
          </a:p>
          <a:p>
            <a:pPr marL="579438" lvl="2" indent="-268288"/>
            <a:r>
              <a:rPr lang="en-US" sz="2800" dirty="0"/>
              <a:t>Not all models are great at all tasks, tradeoffs and practical reasons</a:t>
            </a:r>
          </a:p>
          <a:p>
            <a:pPr marL="579438" lvl="2" indent="-268288"/>
            <a:r>
              <a:rPr lang="en-US" dirty="0"/>
              <a:t>General purpose or reasoning; what vendor (Google, OpenAI, Microsoft, Meta, Anthropic)</a:t>
            </a:r>
          </a:p>
          <a:p>
            <a:pPr marL="228600" indent="-228600"/>
            <a:r>
              <a:rPr lang="en-US" b="1" dirty="0"/>
              <a:t>Get more from general LLMs</a:t>
            </a:r>
            <a:endParaRPr lang="en-US" dirty="0"/>
          </a:p>
          <a:p>
            <a:pPr marL="579438" lvl="2" indent="-268288"/>
            <a:r>
              <a:rPr lang="en-US" sz="2800" dirty="0"/>
              <a:t>Customization</a:t>
            </a:r>
          </a:p>
          <a:p>
            <a:pPr marL="579438" lvl="2" indent="-268288"/>
            <a:r>
              <a:rPr lang="en-US" sz="2800" dirty="0"/>
              <a:t>Prompt engineering</a:t>
            </a:r>
          </a:p>
          <a:p>
            <a:pPr marL="579438" lvl="2" indent="-268288"/>
            <a:r>
              <a:rPr lang="en-US" sz="2800" dirty="0"/>
              <a:t>RAG and fine-tuning approaches</a:t>
            </a:r>
            <a:endParaRPr lang="en-US" b="1" dirty="0"/>
          </a:p>
          <a:p>
            <a:pPr marL="228600" indent="-228600"/>
            <a:r>
              <a:rPr lang="en-US" b="1" dirty="0"/>
              <a:t>Data quality</a:t>
            </a:r>
            <a:endParaRPr lang="en-US" dirty="0"/>
          </a:p>
          <a:p>
            <a:pPr marL="579438" lvl="2" indent="-268288"/>
            <a:r>
              <a:rPr lang="en-US" sz="2800" dirty="0"/>
              <a:t>Ensuring high-quality input data is crucial for accurate visualizations</a:t>
            </a:r>
          </a:p>
          <a:p>
            <a:pPr marL="579438" lvl="2" indent="-268288"/>
            <a:r>
              <a:rPr lang="en-US" sz="2800" dirty="0"/>
              <a:t>Preprocessing and cleaning data can help mitigate this issue</a:t>
            </a:r>
          </a:p>
        </p:txBody>
      </p:sp>
    </p:spTree>
    <p:extLst>
      <p:ext uri="{BB962C8B-B14F-4D97-AF65-F5344CB8AC3E}">
        <p14:creationId xmlns:p14="http://schemas.microsoft.com/office/powerpoint/2010/main" val="419755898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D306D-332E-23EB-91B6-ADB65DCCC3B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4142C70-CF1E-EF72-8CEB-C42DA88CE17C}"/>
              </a:ext>
            </a:extLst>
          </p:cNvPr>
          <p:cNvSpPr txBox="1"/>
          <p:nvPr/>
        </p:nvSpPr>
        <p:spPr>
          <a:xfrm>
            <a:off x="626225" y="201578"/>
            <a:ext cx="10939550" cy="6178999"/>
          </a:xfrm>
          <a:prstGeom prst="rect">
            <a:avLst/>
          </a:prstGeom>
          <a:noFill/>
        </p:spPr>
        <p:txBody>
          <a:bodyPr wrap="square" rtlCol="0">
            <a:spAutoFit/>
          </a:bodyPr>
          <a:lstStyle/>
          <a:p>
            <a:r>
              <a:rPr lang="en-US" sz="4000" dirty="0"/>
              <a:t>Lesson Goals</a:t>
            </a:r>
          </a:p>
          <a:p>
            <a:pPr marL="514350" marR="0" lvl="0" indent="-514350" rtl="0">
              <a:lnSpc>
                <a:spcPct val="107000"/>
              </a:lnSpc>
              <a:spcBef>
                <a:spcPts val="0"/>
              </a:spcBef>
              <a:spcAft>
                <a:spcPts val="0"/>
              </a:spcAft>
              <a:buFont typeface="+mj-lt"/>
              <a:buAutoNum type="arabicPeriod"/>
            </a:pPr>
            <a:r>
              <a:rPr lang="en-US" sz="3000" kern="100" dirty="0">
                <a:ea typeface="Calibri" panose="020F0502020204030204" pitchFamily="34" charset="0"/>
                <a:cs typeface="Arial" panose="020B0604020202020204" pitchFamily="34" charset="0"/>
              </a:rPr>
              <a:t>Develop computational thinking skills to more effectively utilize emerging digital technologies</a:t>
            </a:r>
          </a:p>
          <a:p>
            <a:pPr marR="0" lvl="0" rtl="0">
              <a:lnSpc>
                <a:spcPct val="107000"/>
              </a:lnSpc>
              <a:spcBef>
                <a:spcPts val="0"/>
              </a:spcBef>
              <a:spcAft>
                <a:spcPts val="0"/>
              </a:spcAft>
            </a:pPr>
            <a:endParaRPr lang="en-US" sz="3200" kern="100" dirty="0">
              <a:cs typeface="Arial" panose="020B0604020202020204" pitchFamily="34" charset="0"/>
            </a:endParaRPr>
          </a:p>
          <a:p>
            <a:pPr marR="0" lvl="0" rtl="0">
              <a:lnSpc>
                <a:spcPct val="107000"/>
              </a:lnSpc>
              <a:spcBef>
                <a:spcPts val="0"/>
              </a:spcBef>
              <a:spcAft>
                <a:spcPts val="0"/>
              </a:spcAft>
            </a:pPr>
            <a:r>
              <a:rPr lang="en-US" sz="4000" dirty="0"/>
              <a:t>Lesson Objectives</a:t>
            </a:r>
          </a:p>
          <a:p>
            <a:pPr marL="514350" indent="-514350">
              <a:buFontTx/>
              <a:buAutoNum type="arabicPeriod"/>
            </a:pPr>
            <a:r>
              <a:rPr lang="en-US" sz="3000" dirty="0"/>
              <a:t>Identify the key components of a complex problem and break it down into smaller, more manageable parts.</a:t>
            </a:r>
          </a:p>
          <a:p>
            <a:pPr marL="514350" indent="-514350">
              <a:buFontTx/>
              <a:buAutoNum type="arabicPeriod"/>
            </a:pPr>
            <a:r>
              <a:rPr lang="en-US" sz="3000" dirty="0"/>
              <a:t>Use patterns to predict future outcomes or generalize solutions.</a:t>
            </a:r>
          </a:p>
          <a:p>
            <a:pPr marL="514350" indent="-514350">
              <a:buFontTx/>
              <a:buAutoNum type="arabicPeriod"/>
            </a:pPr>
            <a:r>
              <a:rPr lang="en-US" sz="3000" dirty="0"/>
              <a:t>Create simplified models to represent complex systems.</a:t>
            </a:r>
          </a:p>
          <a:p>
            <a:pPr marL="514350" indent="-514350">
              <a:buFontTx/>
              <a:buAutoNum type="arabicPeriod"/>
            </a:pPr>
            <a:r>
              <a:rPr lang="en-US" sz="3000" dirty="0"/>
              <a:t>Design step-by-step instructions or algorithms to solve a problem.</a:t>
            </a:r>
          </a:p>
          <a:p>
            <a:pPr marL="514350" indent="-514350">
              <a:buFontTx/>
              <a:buAutoNum type="arabicPeriod"/>
            </a:pPr>
            <a:r>
              <a:rPr lang="en-US" sz="3000" dirty="0"/>
              <a:t>Describe basic coding concepts to better apply computational solutions.</a:t>
            </a:r>
          </a:p>
        </p:txBody>
      </p:sp>
    </p:spTree>
    <p:extLst>
      <p:ext uri="{BB962C8B-B14F-4D97-AF65-F5344CB8AC3E}">
        <p14:creationId xmlns:p14="http://schemas.microsoft.com/office/powerpoint/2010/main" val="65395804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6b6dd5b-f02f-441a-99a0-162ac5060bd2}" enabled="0" method="" siteId="{f6b6dd5b-f02f-441a-99a0-162ac5060bd2}" removed="1"/>
</clbl:labelList>
</file>

<file path=docProps/app.xml><?xml version="1.0" encoding="utf-8"?>
<Properties xmlns="http://schemas.openxmlformats.org/officeDocument/2006/extended-properties" xmlns:vt="http://schemas.openxmlformats.org/officeDocument/2006/docPropsVTypes">
  <Template>{476843CF-5C3C-BA40-A99B-7BEDA83590AC}tf10001061</Template>
  <TotalTime>35912</TotalTime>
  <Words>4098</Words>
  <Application>Microsoft Macintosh PowerPoint</Application>
  <PresentationFormat>Widescreen</PresentationFormat>
  <Paragraphs>438</Paragraphs>
  <Slides>58</Slides>
  <Notes>26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58</vt:i4>
      </vt:variant>
    </vt:vector>
  </HeadingPairs>
  <TitlesOfParts>
    <vt:vector size="64" baseType="lpstr">
      <vt:lpstr>Arial</vt:lpstr>
      <vt:lpstr>Calibri</vt:lpstr>
      <vt:lpstr>Tw Cen MT</vt:lpstr>
      <vt:lpstr>Tw Cen MT Condensed</vt:lpstr>
      <vt:lpstr>Wingdings 3</vt:lpstr>
      <vt:lpstr>Integral</vt:lpstr>
      <vt:lpstr>Computational Thinking</vt:lpstr>
      <vt:lpstr>PowerPoint Presentation</vt:lpstr>
      <vt:lpstr>What is computational thinking?</vt:lpstr>
      <vt:lpstr>computational thinking skills</vt:lpstr>
      <vt:lpstr>decomposition</vt:lpstr>
      <vt:lpstr>Decomposing the act of Baking cupcakes</vt:lpstr>
      <vt:lpstr>Cupcakes: planning &amp; preparation</vt:lpstr>
      <vt:lpstr>Cupcakes: Mixing</vt:lpstr>
      <vt:lpstr>Cupcakes: Baking</vt:lpstr>
      <vt:lpstr>Cupcakes: finishing</vt:lpstr>
      <vt:lpstr>Let’s try it</vt:lpstr>
      <vt:lpstr>Today’s lab-related case</vt:lpstr>
      <vt:lpstr>decomposition</vt:lpstr>
      <vt:lpstr>Examples of sub-tasks</vt:lpstr>
      <vt:lpstr>How does this help us?</vt:lpstr>
      <vt:lpstr>Pattern recognition</vt:lpstr>
      <vt:lpstr>Recognizing patterns in sub-tasks</vt:lpstr>
      <vt:lpstr>Recognizing patterns across problems</vt:lpstr>
      <vt:lpstr>Let’s try it</vt:lpstr>
      <vt:lpstr>Pattern recognition</vt:lpstr>
      <vt:lpstr>Examples of pattern recognition</vt:lpstr>
      <vt:lpstr>How does this help us?</vt:lpstr>
      <vt:lpstr>abstraction</vt:lpstr>
      <vt:lpstr>Abstracting the science of baking</vt:lpstr>
      <vt:lpstr>Basic Recipe: a model for baking</vt:lpstr>
      <vt:lpstr>Let’s try it</vt:lpstr>
      <vt:lpstr>abstraction</vt:lpstr>
      <vt:lpstr>Examples of abstraction</vt:lpstr>
      <vt:lpstr>How does this help us?</vt:lpstr>
      <vt:lpstr>Algorithm Design</vt:lpstr>
      <vt:lpstr>Detailed recipe: algorithm for baking</vt:lpstr>
      <vt:lpstr>Let’s try it</vt:lpstr>
      <vt:lpstr>Algorithm design</vt:lpstr>
      <vt:lpstr>Examples of algorithm design</vt:lpstr>
      <vt:lpstr>Algorithm design for graphing in R</vt:lpstr>
      <vt:lpstr>How does this help us?</vt:lpstr>
      <vt:lpstr>PowerPoint Presentation</vt:lpstr>
      <vt:lpstr>How does this help us?</vt:lpstr>
      <vt:lpstr>Building a foundation for ds101</vt:lpstr>
      <vt:lpstr>Basic computational concepts</vt:lpstr>
      <vt:lpstr>What is a function?</vt:lpstr>
      <vt:lpstr>Ggplot R function creates a new graph object</vt:lpstr>
      <vt:lpstr>What is a condition?</vt:lpstr>
      <vt:lpstr>Combining functions with conditionals</vt:lpstr>
      <vt:lpstr>What is a loop?</vt:lpstr>
      <vt:lpstr>Calculate the median for each column: Copy and paste method</vt:lpstr>
      <vt:lpstr>Calculate the median for each column: for loop method</vt:lpstr>
      <vt:lpstr>Calculate the median for each column: for loop method</vt:lpstr>
      <vt:lpstr>What is computational thinking?</vt:lpstr>
      <vt:lpstr>PowerPoint Presentation</vt:lpstr>
      <vt:lpstr>Prompting methods</vt:lpstr>
      <vt:lpstr>ONE SHOT Prompting example</vt:lpstr>
      <vt:lpstr>Chatgpt5 output</vt:lpstr>
      <vt:lpstr>Let me check your work, You need to try again</vt:lpstr>
      <vt:lpstr>Few shot prompting example</vt:lpstr>
      <vt:lpstr>Few shot prompting example</vt:lpstr>
      <vt:lpstr>Future: Make it the best around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Basics</dc:title>
  <dc:creator>Patrick C Mathias</dc:creator>
  <cp:lastModifiedBy>Haymond, Shannon</cp:lastModifiedBy>
  <cp:revision>26</cp:revision>
  <dcterms:created xsi:type="dcterms:W3CDTF">2022-06-28T07:45:18Z</dcterms:created>
  <dcterms:modified xsi:type="dcterms:W3CDTF">2025-09-23T14:31:22Z</dcterms:modified>
</cp:coreProperties>
</file>