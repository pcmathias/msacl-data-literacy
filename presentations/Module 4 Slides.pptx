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6"/>
  </p:notesMasterIdLst>
  <p:sldIdLst>
    <p:sldId id="256" r:id="rId2"/>
    <p:sldId id="640" r:id="rId3"/>
    <p:sldId id="648" r:id="rId4"/>
    <p:sldId id="642" r:id="rId5"/>
    <p:sldId id="659" r:id="rId6"/>
    <p:sldId id="714" r:id="rId7"/>
    <p:sldId id="715" r:id="rId8"/>
    <p:sldId id="721" r:id="rId9"/>
    <p:sldId id="643" r:id="rId10"/>
    <p:sldId id="666" r:id="rId11"/>
    <p:sldId id="667" r:id="rId12"/>
    <p:sldId id="668" r:id="rId13"/>
    <p:sldId id="669" r:id="rId14"/>
    <p:sldId id="670" r:id="rId15"/>
    <p:sldId id="699" r:id="rId16"/>
    <p:sldId id="663" r:id="rId17"/>
    <p:sldId id="665" r:id="rId18"/>
    <p:sldId id="664" r:id="rId19"/>
    <p:sldId id="266" r:id="rId20"/>
    <p:sldId id="279" r:id="rId21"/>
    <p:sldId id="722" r:id="rId22"/>
    <p:sldId id="644" r:id="rId23"/>
    <p:sldId id="675" r:id="rId24"/>
    <p:sldId id="674" r:id="rId25"/>
    <p:sldId id="689" r:id="rId26"/>
    <p:sldId id="709" r:id="rId27"/>
    <p:sldId id="710" r:id="rId28"/>
    <p:sldId id="711" r:id="rId29"/>
    <p:sldId id="716" r:id="rId30"/>
    <p:sldId id="700" r:id="rId31"/>
    <p:sldId id="676" r:id="rId32"/>
    <p:sldId id="677" r:id="rId33"/>
    <p:sldId id="672" r:id="rId34"/>
    <p:sldId id="723" r:id="rId35"/>
    <p:sldId id="645" r:id="rId36"/>
    <p:sldId id="696" r:id="rId37"/>
    <p:sldId id="695" r:id="rId38"/>
    <p:sldId id="720" r:id="rId39"/>
    <p:sldId id="688" r:id="rId40"/>
    <p:sldId id="704" r:id="rId41"/>
    <p:sldId id="701" r:id="rId42"/>
    <p:sldId id="678" r:id="rId43"/>
    <p:sldId id="679" r:id="rId44"/>
    <p:sldId id="680" r:id="rId45"/>
    <p:sldId id="727" r:id="rId46"/>
    <p:sldId id="726" r:id="rId47"/>
    <p:sldId id="724" r:id="rId48"/>
    <p:sldId id="646" r:id="rId49"/>
    <p:sldId id="697" r:id="rId50"/>
    <p:sldId id="690" r:id="rId51"/>
    <p:sldId id="705" r:id="rId52"/>
    <p:sldId id="702" r:id="rId53"/>
    <p:sldId id="681" r:id="rId54"/>
    <p:sldId id="728" r:id="rId55"/>
    <p:sldId id="682" r:id="rId56"/>
    <p:sldId id="683" r:id="rId57"/>
    <p:sldId id="725" r:id="rId58"/>
    <p:sldId id="671" r:id="rId59"/>
    <p:sldId id="717" r:id="rId60"/>
    <p:sldId id="718" r:id="rId61"/>
    <p:sldId id="686" r:id="rId62"/>
    <p:sldId id="729" r:id="rId63"/>
    <p:sldId id="719" r:id="rId64"/>
    <p:sldId id="641"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6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2A332-41E1-924B-A0D3-474C8C57621A}" v="197" dt="2026-10-02T19:34:27.502"/>
    <p1510:client id="{D73A3069-C99D-E34A-B0B9-2834DFD00B8D}" v="20" dt="2026-10-03T02:51:31.610"/>
    <p1510:client id="{D9B8F435-4869-7F44-9F53-81FCB885FD5A}" v="56" dt="2026-10-03T00:25:21.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12"/>
    <p:restoredTop sz="88451"/>
  </p:normalViewPr>
  <p:slideViewPr>
    <p:cSldViewPr snapToGrid="0" snapToObjects="1">
      <p:cViewPr varScale="1">
        <p:scale>
          <a:sx n="106" d="100"/>
          <a:sy n="106" d="100"/>
        </p:scale>
        <p:origin x="208" y="272"/>
      </p:cViewPr>
      <p:guideLst>
        <p:guide orient="horz" pos="2112"/>
        <p:guide pos="69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R code to answer these two questions. Do it correctly and double-check your work. Q1. Does turnaround time differ by patient type? Q2. Are we meeting a 3-hour collect-to-verify goal? My data is in a file called </a:t>
            </a:r>
            <a:r>
              <a:rPr lang="en-US" dirty="0" err="1"/>
              <a:t>chem_subset.csv</a:t>
            </a:r>
            <a:r>
              <a:rPr lang="en-US" dirty="0"/>
              <a:t>. The columns are: </a:t>
            </a:r>
            <a:r>
              <a:rPr lang="en-US" dirty="0" err="1"/>
              <a:t>mrn</a:t>
            </a:r>
            <a:r>
              <a:rPr lang="en-US" dirty="0"/>
              <a:t>, gender, age, </a:t>
            </a:r>
            <a:r>
              <a:rPr lang="en-US" dirty="0" err="1"/>
              <a:t>pregnancy_status_at_exam</a:t>
            </a:r>
            <a:r>
              <a:rPr lang="en-US" dirty="0"/>
              <a:t>, </a:t>
            </a:r>
            <a:r>
              <a:rPr lang="en-US" dirty="0" err="1"/>
              <a:t>collect_dt</a:t>
            </a:r>
            <a:r>
              <a:rPr lang="en-US" dirty="0"/>
              <a:t>, </a:t>
            </a:r>
            <a:r>
              <a:rPr lang="en-US" dirty="0" err="1"/>
              <a:t>receive_dt</a:t>
            </a:r>
            <a:r>
              <a:rPr lang="en-US" dirty="0"/>
              <a:t>, </a:t>
            </a:r>
            <a:r>
              <a:rPr lang="en-US" dirty="0" err="1"/>
              <a:t>verify_dt</a:t>
            </a:r>
            <a:r>
              <a:rPr lang="en-US" dirty="0"/>
              <a:t>, </a:t>
            </a:r>
            <a:r>
              <a:rPr lang="en-US" dirty="0" err="1"/>
              <a:t>pat_type</a:t>
            </a:r>
            <a:r>
              <a:rPr lang="en-US" dirty="0"/>
              <a:t>, </a:t>
            </a:r>
            <a:r>
              <a:rPr lang="en-US" dirty="0" err="1"/>
              <a:t>payor_groups</a:t>
            </a:r>
            <a:r>
              <a:rPr lang="en-US" dirty="0"/>
              <a:t>, </a:t>
            </a:r>
            <a:r>
              <a:rPr lang="en-US" dirty="0" err="1"/>
              <a:t>last_name</a:t>
            </a:r>
            <a:r>
              <a:rPr lang="en-US" dirty="0"/>
              <a:t>, </a:t>
            </a:r>
            <a:r>
              <a:rPr lang="en-US" dirty="0" err="1"/>
              <a:t>col_rec_tat</a:t>
            </a:r>
            <a:r>
              <a:rPr lang="en-US" dirty="0"/>
              <a:t>, </a:t>
            </a:r>
            <a:r>
              <a:rPr lang="en-US" dirty="0" err="1"/>
              <a:t>rec_ver_tat</a:t>
            </a:r>
            <a:r>
              <a:rPr lang="en-US" dirty="0"/>
              <a:t>, test, value.</a:t>
            </a:r>
          </a:p>
          <a:p>
            <a:r>
              <a:rPr lang="en-US" dirty="0"/>
              <a:t>Facilitator: do not fix anything. Prompts with no column names usually get code built on invented column names and a made-up dataset. Watch for learners who run that code and take its output as the answer.</a:t>
            </a:r>
          </a:p>
          <a:p>
            <a:r>
              <a:rPr lang="en-US" dirty="0"/>
              <a:t>Prompts that include the column names usually get long working code and a list of assumptions. Ask learners to keep that list. It is used in the algorithm exercise and the debrief.</a:t>
            </a:r>
          </a:p>
          <a:p>
            <a:r>
              <a:rPr lang="en-US" dirty="0"/>
              <a:t>In test runs (free Claude, October 2026) Claude asked no questions unless told to ask first.</a:t>
            </a:r>
          </a:p>
        </p:txBody>
      </p:sp>
      <p:sp>
        <p:nvSpPr>
          <p:cNvPr id="4" name="Slide Number Placeholder 3"/>
          <p:cNvSpPr>
            <a:spLocks noGrp="1"/>
          </p:cNvSpPr>
          <p:nvPr>
            <p:ph type="sldNum" sz="quarter" idx="5"/>
          </p:nvPr>
        </p:nvSpPr>
        <p:spPr/>
        <p:txBody>
          <a:bodyPr/>
          <a:lstStyle/>
          <a:p>
            <a:fld id="{15564E20-9EA2-8947-B25E-DCABC392F652}" type="slidenum">
              <a:rPr lang="en-US" smtClean="0"/>
              <a:t>7</a:t>
            </a:fld>
            <a:endParaRPr lang="en-US"/>
          </a:p>
        </p:txBody>
      </p:sp>
    </p:spTree>
    <p:extLst>
      <p:ext uri="{BB962C8B-B14F-4D97-AF65-F5344CB8AC3E}">
        <p14:creationId xmlns:p14="http://schemas.microsoft.com/office/powerpoint/2010/main" val="821928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F30F-B8B2-30A6-6462-7FFC3CF7E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DA3DE-3536-3ACE-5087-5D26BE292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994EF-8FC4-E693-7687-B27CA9484008}"/>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434AE5E9-9E94-5876-507F-42B749404CE1}"/>
              </a:ext>
            </a:extLst>
          </p:cNvPr>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92413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9</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12</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learners' lists and Claude's list. Look for where lab knowledge adds something Claude's generic list misses: how TAT is defined, what counts as one patient, what to do with missing patient type.</a:t>
            </a:r>
          </a:p>
          <a:p>
            <a:r>
              <a:rPr lang="en-US" dirty="0"/>
              <a:t>This exercise is also the first step of the step-by-step recipe on the next slides: asking for a plan before any work.</a:t>
            </a:r>
          </a:p>
        </p:txBody>
      </p:sp>
      <p:sp>
        <p:nvSpPr>
          <p:cNvPr id="4" name="Slide Number Placeholder 3"/>
          <p:cNvSpPr>
            <a:spLocks noGrp="1"/>
          </p:cNvSpPr>
          <p:nvPr>
            <p:ph type="sldNum" sz="quarter" idx="5"/>
          </p:nvPr>
        </p:nvSpPr>
        <p:spPr/>
        <p:txBody>
          <a:bodyPr/>
          <a:lstStyle/>
          <a:p>
            <a:fld id="{15564E20-9EA2-8947-B25E-DCABC392F652}" type="slidenum">
              <a:rPr lang="en-US" smtClean="0"/>
              <a:t>17</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going step by step is to verify the approach and to identify errors in assumptions. It is not to watch the model think or to follow every line of code.</a:t>
            </a:r>
          </a:p>
          <a:p>
            <a:r>
              <a:rPr lang="en-US" dirty="0"/>
              <a:t>A single large prompt can work. Its weakness is that a polished final answer can hide where an error entered.</a:t>
            </a:r>
          </a:p>
          <a:p>
            <a:r>
              <a:rPr lang="en-US" dirty="0"/>
              <a:t>Optional spoken example: 20 incident reports and a request for recommendations. One prompt extracts, analyzes and writes in one pass. If the summary is wrong, you cannot tell whether extraction, interpretation or writing failed.</a:t>
            </a:r>
          </a:p>
        </p:txBody>
      </p:sp>
      <p:sp>
        <p:nvSpPr>
          <p:cNvPr id="4" name="Slide Number Placeholder 3"/>
          <p:cNvSpPr>
            <a:spLocks noGrp="1"/>
          </p:cNvSpPr>
          <p:nvPr>
            <p:ph type="sldNum" sz="quarter" idx="5"/>
          </p:nvPr>
        </p:nvSpPr>
        <p:spPr/>
        <p:txBody>
          <a:bodyPr/>
          <a:lstStyle/>
          <a:p>
            <a:fld id="{819FECF1-7908-4849-A111-9F5A9A7ECE83}" type="slidenum">
              <a:rPr lang="en-US" smtClean="0"/>
              <a:t>19</a:t>
            </a:fld>
            <a:endParaRPr lang="en-US"/>
          </a:p>
        </p:txBody>
      </p:sp>
    </p:spTree>
    <p:extLst>
      <p:ext uri="{BB962C8B-B14F-4D97-AF65-F5344CB8AC3E}">
        <p14:creationId xmlns:p14="http://schemas.microsoft.com/office/powerpoint/2010/main" val="3874167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the check. The learner's lab knowledge is what verifies the plan and the assumptions. No one needs to read R to do this.</a:t>
            </a:r>
          </a:p>
          <a:p>
            <a:r>
              <a:rPr lang="en-US" dirty="0"/>
              <a:t>Example from our test runs: the same question was sent twice. Without the last sentence, Claude invented column names and a dataset and wrote code at once. With it, Claude asked about the data structure, the patient type values, the scope, what meeting the goal means, and data quality rules. Then it showed a plan and waited.</a:t>
            </a:r>
          </a:p>
          <a:p>
            <a:r>
              <a:rPr lang="en-US" dirty="0"/>
              <a:t>The sentence is the 'Ask first' line in the prompting framework shown later.</a:t>
            </a:r>
          </a:p>
        </p:txBody>
      </p:sp>
      <p:sp>
        <p:nvSpPr>
          <p:cNvPr id="4" name="Slide Number Placeholder 3"/>
          <p:cNvSpPr>
            <a:spLocks noGrp="1"/>
          </p:cNvSpPr>
          <p:nvPr>
            <p:ph type="sldNum" sz="quarter" idx="5"/>
          </p:nvPr>
        </p:nvSpPr>
        <p:spPr/>
        <p:txBody>
          <a:bodyPr/>
          <a:lstStyle/>
          <a:p>
            <a:fld id="{819FECF1-7908-4849-A111-9F5A9A7ECE83}" type="slidenum">
              <a:rPr lang="en-US" smtClean="0"/>
              <a:t>20</a:t>
            </a:fld>
            <a:endParaRPr lang="en-US"/>
          </a:p>
        </p:txBody>
      </p:sp>
    </p:spTree>
    <p:extLst>
      <p:ext uri="{BB962C8B-B14F-4D97-AF65-F5344CB8AC3E}">
        <p14:creationId xmlns:p14="http://schemas.microsoft.com/office/powerpoint/2010/main" val="382530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4E60-C41E-382D-948D-BBCD06D81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A1276-58D1-BA5A-A2A8-358751633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BB2F0-5B3A-6821-20AA-4A73E689D7A6}"/>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9EE99A4E-D78E-C4B3-C370-C07A43C85907}"/>
              </a:ext>
            </a:extLst>
          </p:cNvPr>
          <p:cNvSpPr>
            <a:spLocks noGrp="1"/>
          </p:cNvSpPr>
          <p:nvPr>
            <p:ph type="sldNum" sz="quarter" idx="5"/>
          </p:nvPr>
        </p:nvSpPr>
        <p:spPr/>
        <p:txBody>
          <a:bodyPr/>
          <a:lstStyle/>
          <a:p>
            <a:fld id="{15564E20-9EA2-8947-B25E-DCABC392F652}" type="slidenum">
              <a:rPr lang="en-US" smtClean="0"/>
              <a:t>21</a:t>
            </a:fld>
            <a:endParaRPr lang="en-US"/>
          </a:p>
        </p:txBody>
      </p:sp>
    </p:spTree>
    <p:extLst>
      <p:ext uri="{BB962C8B-B14F-4D97-AF65-F5344CB8AC3E}">
        <p14:creationId xmlns:p14="http://schemas.microsoft.com/office/powerpoint/2010/main" val="3543512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24</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you do this in Excel – copy and paste formula</a:t>
            </a:r>
          </a:p>
        </p:txBody>
      </p:sp>
      <p:sp>
        <p:nvSpPr>
          <p:cNvPr id="4" name="Slide Number Placeholder 3"/>
          <p:cNvSpPr>
            <a:spLocks noGrp="1"/>
          </p:cNvSpPr>
          <p:nvPr>
            <p:ph type="sldNum" sz="quarter" idx="5"/>
          </p:nvPr>
        </p:nvSpPr>
        <p:spPr/>
        <p:txBody>
          <a:bodyPr/>
          <a:lstStyle/>
          <a:p>
            <a:fld id="{15564E20-9EA2-8947-B25E-DCABC392F652}" type="slidenum">
              <a:rPr lang="en-US" smtClean="0"/>
              <a:t>26</a:t>
            </a:fld>
            <a:endParaRPr lang="en-US"/>
          </a:p>
        </p:txBody>
      </p:sp>
    </p:spTree>
    <p:extLst>
      <p:ext uri="{BB962C8B-B14F-4D97-AF65-F5344CB8AC3E}">
        <p14:creationId xmlns:p14="http://schemas.microsoft.com/office/powerpoint/2010/main" val="9604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back at your Claude output from the first exercise in this session – do you see any ‘for loops’ or the map function being used? In our TAT example, we want to do this type of repetitive calculation but over groups vs columns of data – so by test or by patient type.</a:t>
            </a:r>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221022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a:t>In our TAT example, we want to do this type of repetitive calculation but over groups vs columns of data – so by test or by patient type.</a:t>
            </a:r>
          </a:p>
          <a:p>
            <a:pPr lvl="0" rtl="0"/>
            <a:r>
              <a:rPr lang="en-US" dirty="0"/>
              <a:t>For simple summaries, summarize is faster. </a:t>
            </a:r>
            <a:r>
              <a:rPr lang="en-US" dirty="0" err="1"/>
              <a:t>dplyr</a:t>
            </a:r>
            <a:r>
              <a:rPr lang="en-US" dirty="0"/>
              <a:t> has optimized paths for common functions like mean and sum, while map calls your R function once per element.</a:t>
            </a:r>
          </a:p>
          <a:p>
            <a:pPr lvl="0" rtl="0"/>
            <a:r>
              <a:rPr lang="en-US" dirty="0"/>
              <a:t>Map also works on things that are not data frames, such as a vector of file paths you want to read in.</a:t>
            </a:r>
          </a:p>
          <a:p>
            <a:pPr lvl="0" rtl="0"/>
            <a:r>
              <a:rPr lang="en-US" dirty="0"/>
              <a:t>If you find yourself writing a long custom function inside summarize, that is usually the signal to switch to nest and map.</a:t>
            </a:r>
          </a:p>
          <a:p>
            <a:endParaRPr lang="en-US" b="1" dirty="0"/>
          </a:p>
          <a:p>
            <a:r>
              <a:rPr lang="en-US" b="1" dirty="0"/>
              <a:t>Use </a:t>
            </a:r>
            <a:r>
              <a:rPr lang="en-US" b="1" dirty="0" err="1"/>
              <a:t>group_by</a:t>
            </a:r>
            <a:r>
              <a:rPr lang="en-US" b="1" dirty="0"/>
              <a:t> and summarize when each group reduces to a few numbers.</a:t>
            </a:r>
            <a:r>
              <a:rPr lang="en-US" dirty="0"/>
              <a:t> Medians, counts, and percentiles per group fit this. The code reads as a sentence, and the output is a tidy table with one row per group.</a:t>
            </a:r>
            <a:endParaRPr lang="en-US" b="1" dirty="0"/>
          </a:p>
          <a:p>
            <a:r>
              <a:rPr lang="en-US" b="1" dirty="0"/>
              <a:t>Use map when the work per group is more than a summary number.</a:t>
            </a:r>
            <a:r>
              <a:rPr lang="en-US" dirty="0"/>
              <a:t> Map applies a function to each element of a list or vector and returns whatever the function returns. That matters when the result is a model, a plot, a data frame, or a file read. Summarize expects a single value per group, so it fights you on these. The usual pattern is nest, then map inside mutate</a:t>
            </a:r>
          </a:p>
          <a:p>
            <a:endParaRPr lang="en-US" dirty="0"/>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2872723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33</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BFF7-2C93-1026-85FC-E86087D62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42690-796D-10E6-C700-8F0A98435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F8E8D-422A-367C-75D2-45EFF02001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138-E41C-C32A-4D8D-9CE6F1D5EFE6}"/>
              </a:ext>
            </a:extLst>
          </p:cNvPr>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695408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35</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39</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differences are the test name and the cutoff. Circling them is pattern recognition. Deciding they are what the user chooses, and turning them into blanks, is abstraction.</a:t>
            </a:r>
          </a:p>
          <a:p>
            <a:r>
              <a:rPr lang="en-US" dirty="0"/>
              <a:t>The template is a model of the request: fixed text plus two blanks. The last lines are a three-column description of the data. Learners describe the data. They do not upload it.</a:t>
            </a:r>
          </a:p>
          <a:p>
            <a:r>
              <a:rPr lang="en-US" dirty="0"/>
              <a:t>Cutoffs are for illustration. They are not clinical decision limits.</a:t>
            </a:r>
          </a:p>
        </p:txBody>
      </p:sp>
      <p:sp>
        <p:nvSpPr>
          <p:cNvPr id="4" name="Slide Number Placeholder 3"/>
          <p:cNvSpPr>
            <a:spLocks noGrp="1"/>
          </p:cNvSpPr>
          <p:nvPr>
            <p:ph type="sldNum" sz="quarter" idx="5"/>
          </p:nvPr>
        </p:nvSpPr>
        <p:spPr/>
        <p:txBody>
          <a:bodyPr/>
          <a:lstStyle/>
          <a:p>
            <a:fld id="{15564E20-9EA2-8947-B25E-DCABC392F652}" type="slidenum">
              <a:rPr lang="en-US" smtClean="0"/>
              <a:t>42</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44</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029F-46F7-A2D7-794C-9253B4341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6F90A-121F-022A-645C-78BC1544D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A9DF2-88B6-5959-F7EF-CA23D3464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19EF3-02E5-FF2D-BD84-7D703E0505BB}"/>
              </a:ext>
            </a:extLst>
          </p:cNvPr>
          <p:cNvSpPr>
            <a:spLocks noGrp="1"/>
          </p:cNvSpPr>
          <p:nvPr>
            <p:ph type="sldNum" sz="quarter" idx="5"/>
          </p:nvPr>
        </p:nvSpPr>
        <p:spPr/>
        <p:txBody>
          <a:bodyPr/>
          <a:lstStyle/>
          <a:p>
            <a:fld id="{15564E20-9EA2-8947-B25E-DCABC392F652}" type="slidenum">
              <a:rPr lang="en-US" smtClean="0"/>
              <a:t>47</a:t>
            </a:fld>
            <a:endParaRPr lang="en-US"/>
          </a:p>
        </p:txBody>
      </p:sp>
    </p:spTree>
    <p:extLst>
      <p:ext uri="{BB962C8B-B14F-4D97-AF65-F5344CB8AC3E}">
        <p14:creationId xmlns:p14="http://schemas.microsoft.com/office/powerpoint/2010/main" val="325409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48</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gave us the model: what the user chooses and what stays fixed. But remember what we saw inside </a:t>
            </a:r>
            <a:r>
              <a:rPr lang="en-US" sz="1200" kern="1200" dirty="0">
                <a:solidFill>
                  <a:schemeClr val="tx1"/>
                </a:solidFill>
                <a:latin typeface="+mn-lt"/>
                <a:ea typeface="+mn-ea"/>
                <a:cs typeface="+mn-cs"/>
              </a:rPr>
              <a:t>bake()</a:t>
            </a:r>
            <a:r>
              <a:rPr lang="en-US" dirty="0"/>
              <a:t>. The steps were just a list of comments. Nothing says exactly what to do, in what order, or what to do when something varies. That's algorithm design: turning the model into instructions precise enough for someone else, or something else, to carry out."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49</a:t>
            </a:fld>
            <a:endParaRPr lang="en-US"/>
          </a:p>
        </p:txBody>
      </p:sp>
    </p:spTree>
    <p:extLst>
      <p:ext uri="{BB962C8B-B14F-4D97-AF65-F5344CB8AC3E}">
        <p14:creationId xmlns:p14="http://schemas.microsoft.com/office/powerpoint/2010/main" val="130349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do not depend on which tests are in the subset.</a:t>
            </a:r>
          </a:p>
          <a:p>
            <a:r>
              <a:rPr lang="en-US" dirty="0"/>
              <a:t>Check the total first. 6,481 is right. 5,393 means patients with no patient type were dropped. An ICU count of 3,309 means rows were counted as patients.</a:t>
            </a:r>
          </a:p>
          <a:p>
            <a:r>
              <a:rPr lang="en-US" dirty="0"/>
              <a:t>The director's question never said what share of results must meet the 3-hour goal. Our lab's target is 90%. Learners supply it when Claude asks what meeting the goal means.</a:t>
            </a:r>
          </a:p>
          <a:p>
            <a:r>
              <a:rPr lang="en-US" dirty="0"/>
              <a:t>Claude's code will differ between learners. Judge it by its output.</a:t>
            </a:r>
          </a:p>
        </p:txBody>
      </p:sp>
      <p:sp>
        <p:nvSpPr>
          <p:cNvPr id="4" name="Slide Number Placeholder 3"/>
          <p:cNvSpPr>
            <a:spLocks noGrp="1"/>
          </p:cNvSpPr>
          <p:nvPr>
            <p:ph type="sldNum" sz="quarter" idx="5"/>
          </p:nvPr>
        </p:nvSpPr>
        <p:spPr/>
        <p:txBody>
          <a:bodyPr/>
          <a:lstStyle/>
          <a:p>
            <a:fld id="{15564E20-9EA2-8947-B25E-DCABC392F652}" type="slidenum">
              <a:rPr lang="en-US" smtClean="0"/>
              <a:t>55</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56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6306-11B4-BD99-9213-058ABC478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EC481-4015-121B-D9AA-387CEEBA5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782A7-CE09-C9DA-B4CB-761059F978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889E1A-017E-3BFF-A611-B1E6B6184F77}"/>
              </a:ext>
            </a:extLst>
          </p:cNvPr>
          <p:cNvSpPr>
            <a:spLocks noGrp="1"/>
          </p:cNvSpPr>
          <p:nvPr>
            <p:ph type="sldNum" sz="quarter" idx="5"/>
          </p:nvPr>
        </p:nvSpPr>
        <p:spPr/>
        <p:txBody>
          <a:bodyPr/>
          <a:lstStyle/>
          <a:p>
            <a:fld id="{15564E20-9EA2-8947-B25E-DCABC392F652}" type="slidenum">
              <a:rPr lang="en-US" smtClean="0"/>
              <a:t>57</a:t>
            </a:fld>
            <a:endParaRPr lang="en-US"/>
          </a:p>
        </p:txBody>
      </p:sp>
    </p:spTree>
    <p:extLst>
      <p:ext uri="{BB962C8B-B14F-4D97-AF65-F5344CB8AC3E}">
        <p14:creationId xmlns:p14="http://schemas.microsoft.com/office/powerpoint/2010/main" val="3952590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58</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61</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64</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7.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Today's lab case</a:t>
            </a:r>
          </a:p>
        </p:txBody>
      </p:sp>
      <p:sp>
        <p:nvSpPr>
          <p:cNvPr id="12" name="TextBox 12"/>
          <p:cNvSpPr txBox="1"/>
          <p:nvPr/>
        </p:nvSpPr>
        <p:spPr>
          <a:xfrm>
            <a:off x="1024128" y="2103120"/>
            <a:ext cx="5852160" cy="3566160"/>
          </a:xfrm>
          <a:prstGeom prst="rect">
            <a:avLst/>
          </a:prstGeom>
          <a:noFill/>
        </p:spPr>
        <p:txBody>
          <a:bodyPr wrap="square" lIns="91440" tIns="91440" rIns="91440" bIns="91440" rtlCol="0" anchor="t">
            <a:normAutofit/>
          </a:bodyPr>
          <a:lstStyle/>
          <a:p>
            <a:pPr marL="0" indent="0">
              <a:spcAft>
                <a:spcPts val="1200"/>
              </a:spcAft>
              <a:buNone/>
            </a:pPr>
            <a:r>
              <a:rPr lang="en-US" sz="2000" dirty="0"/>
              <a:t>ICU clinicians say their chemistry results come back slower than results for other units.</a:t>
            </a:r>
          </a:p>
          <a:p>
            <a:pPr marL="0" indent="0">
              <a:spcAft>
                <a:spcPts val="600"/>
              </a:spcAft>
              <a:buNone/>
            </a:pPr>
            <a:r>
              <a:rPr lang="en-US" sz="2000" b="1" dirty="0"/>
              <a:t>The lab director asks:</a:t>
            </a:r>
          </a:p>
          <a:p>
            <a:pPr marL="0" indent="0">
              <a:spcAft>
                <a:spcPts val="400"/>
              </a:spcAft>
              <a:buNone/>
            </a:pPr>
            <a:r>
              <a:rPr lang="en-US" sz="2000" b="1" dirty="0"/>
              <a:t>Q1. </a:t>
            </a:r>
            <a:r>
              <a:rPr lang="en-US" sz="2000" dirty="0"/>
              <a:t>Does turnaround time (TAT) differ by patient type?</a:t>
            </a:r>
          </a:p>
          <a:p>
            <a:pPr marL="0" indent="0">
              <a:spcAft>
                <a:spcPts val="0"/>
              </a:spcAft>
              <a:buNone/>
            </a:pPr>
            <a:r>
              <a:rPr lang="en-US" sz="2000" b="1" dirty="0"/>
              <a:t>Q2. </a:t>
            </a:r>
            <a:r>
              <a:rPr lang="en-US" sz="2000" dirty="0"/>
              <a:t>Are we meeting a 3-hour collect-to-verify goal?</a:t>
            </a:r>
          </a:p>
        </p:txBody>
      </p:sp>
      <p:sp>
        <p:nvSpPr>
          <p:cNvPr id="13" name="TextBox 13"/>
          <p:cNvSpPr txBox="1"/>
          <p:nvPr/>
        </p:nvSpPr>
        <p:spPr>
          <a:xfrm>
            <a:off x="7223760" y="2240280"/>
            <a:ext cx="3749039" cy="3200400"/>
          </a:xfrm>
          <a:prstGeom prst="rect">
            <a:avLst/>
          </a:prstGeom>
          <a:solidFill>
            <a:srgbClr val="EEF3F6"/>
          </a:solidFill>
        </p:spPr>
        <p:txBody>
          <a:bodyPr wrap="square" lIns="137160" tIns="137160" rIns="137160" bIns="137160" rtlCol="0" anchor="t">
            <a:normAutofit/>
          </a:bodyPr>
          <a:lstStyle/>
          <a:p>
            <a:pPr marL="0" indent="0">
              <a:buNone/>
            </a:pPr>
            <a:r>
              <a:rPr lang="en-US" sz="1600" dirty="0" err="1">
                <a:solidFill>
                  <a:srgbClr val="1F2A30"/>
                </a:solidFill>
                <a:latin typeface="Courier New"/>
                <a:cs typeface="Courier New"/>
              </a:rPr>
              <a:t>chem_data.csv</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a:t>
            </a:r>
          </a:p>
          <a:p>
            <a:pPr marL="0" indent="0">
              <a:buNone/>
            </a:pPr>
            <a:r>
              <a:rPr lang="en-US" sz="1600" dirty="0">
                <a:solidFill>
                  <a:srgbClr val="1F2A30"/>
                </a:solidFill>
                <a:latin typeface="Courier New"/>
                <a:cs typeface="Courier New"/>
              </a:rPr>
              <a:t>Synthetic chemistry results</a:t>
            </a:r>
          </a:p>
          <a:p>
            <a:pPr marL="0" indent="0">
              <a:buNone/>
            </a:pPr>
            <a:r>
              <a:rPr lang="en-US" sz="1600" dirty="0">
                <a:solidFill>
                  <a:srgbClr val="1F2A30"/>
                </a:solidFill>
                <a:latin typeface="Courier New"/>
                <a:cs typeface="Courier New"/>
              </a:rPr>
              <a:t>6,481 patients</a:t>
            </a:r>
          </a:p>
          <a:p>
            <a:pPr marL="0" indent="0">
              <a:buNone/>
            </a:pPr>
            <a:r>
              <a:rPr lang="en-US" sz="1600" dirty="0">
                <a:solidFill>
                  <a:srgbClr val="1F2A30"/>
                </a:solidFill>
                <a:latin typeface="Courier New"/>
                <a:cs typeface="Courier New"/>
              </a:rPr>
              <a:t>24 tests per patient</a:t>
            </a:r>
          </a:p>
          <a:p>
            <a:pPr marL="0" indent="0">
              <a:buNone/>
            </a:pP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Tools today:</a:t>
            </a:r>
          </a:p>
          <a:p>
            <a:pPr marL="0" indent="0">
              <a:buNone/>
            </a:pPr>
            <a:r>
              <a:rPr lang="en-US" sz="1600" dirty="0">
                <a:solidFill>
                  <a:srgbClr val="1F2A30"/>
                </a:solidFill>
                <a:latin typeface="Courier New"/>
                <a:cs typeface="Courier New"/>
              </a:rPr>
              <a:t>  R &amp; </a:t>
            </a:r>
            <a:r>
              <a:rPr lang="en-US" sz="1600" dirty="0" err="1">
                <a:solidFill>
                  <a:srgbClr val="1F2A30"/>
                </a:solidFill>
                <a:latin typeface="Courier New"/>
                <a:cs typeface="Courier New"/>
              </a:rPr>
              <a:t>Rstudio</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Claude (free account)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Warm-up: build your subset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objects, vectors, functions, the pipe</a:t>
            </a:r>
          </a:p>
        </p:txBody>
      </p:sp>
      <p:sp>
        <p:nvSpPr>
          <p:cNvPr id="14" name="TextBox 14"/>
          <p:cNvSpPr txBox="1"/>
          <p:nvPr/>
        </p:nvSpPr>
        <p:spPr>
          <a:xfrm>
            <a:off x="1024128" y="2514600"/>
            <a:ext cx="5394960" cy="329184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1800" dirty="0"/>
              <a:t>Open </a:t>
            </a:r>
            <a:r>
              <a:rPr lang="en-US" sz="1800" dirty="0">
                <a:solidFill>
                  <a:srgbClr val="0070C0"/>
                </a:solidFill>
              </a:rPr>
              <a:t>Module 4 </a:t>
            </a:r>
            <a:r>
              <a:rPr lang="en-US" sz="1800" dirty="0" err="1">
                <a:solidFill>
                  <a:srgbClr val="0070C0"/>
                </a:solidFill>
              </a:rPr>
              <a:t>Exercises.qmd</a:t>
            </a:r>
            <a:r>
              <a:rPr lang="en-US" sz="1800" dirty="0"/>
              <a:t> in RStudio.</a:t>
            </a:r>
          </a:p>
          <a:p>
            <a:pPr marL="457200" lvl="0" indent="-457200">
              <a:spcAft>
                <a:spcPts val="600"/>
              </a:spcAft>
              <a:buFont typeface="+mj-lt"/>
              <a:buAutoNum type="arabicPeriod"/>
            </a:pPr>
            <a:r>
              <a:rPr lang="en-US" sz="1800" b="1" dirty="0"/>
              <a:t>Session &gt; Set Working Directory &gt; To Source File Location</a:t>
            </a:r>
          </a:p>
          <a:p>
            <a:pPr marL="457200" lvl="0" indent="-457200">
              <a:spcAft>
                <a:spcPts val="600"/>
              </a:spcAft>
              <a:buFont typeface="+mj-lt"/>
              <a:buAutoNum type="arabicPeriod"/>
            </a:pPr>
            <a:r>
              <a:rPr lang="en-US" sz="1800" dirty="0"/>
              <a:t>In Part 0, fill in the two blanks: "potassium" and "creatinine".</a:t>
            </a:r>
          </a:p>
          <a:p>
            <a:pPr marL="457200" lvl="0" indent="-457200">
              <a:spcAft>
                <a:spcPts val="600"/>
              </a:spcAft>
              <a:buFont typeface="+mj-lt"/>
              <a:buAutoNum type="arabicPeriod"/>
            </a:pPr>
            <a:r>
              <a:rPr lang="en-US" sz="1800" dirty="0"/>
              <a:t>Run Part 0 one section at a time (Ctrl/Cmd + Enter).</a:t>
            </a:r>
          </a:p>
          <a:p>
            <a:pPr marL="457200" lvl="0" indent="-457200">
              <a:spcAft>
                <a:spcPts val="600"/>
              </a:spcAft>
              <a:buFont typeface="+mj-lt"/>
              <a:buAutoNum type="arabicPeriod"/>
            </a:pPr>
            <a:r>
              <a:rPr lang="en-US" sz="1800" dirty="0"/>
              <a:t>Check: you should have 19,443 rows (6,481 patients x 3 tests).</a:t>
            </a:r>
          </a:p>
        </p:txBody>
      </p:sp>
      <p:sp>
        <p:nvSpPr>
          <p:cNvPr id="15" name="TextBox 15"/>
          <p:cNvSpPr txBox="1"/>
          <p:nvPr/>
        </p:nvSpPr>
        <p:spPr>
          <a:xfrm>
            <a:off x="6629400" y="2606040"/>
            <a:ext cx="4526280" cy="237744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tests_keep &lt;- c("glucose",</a:t>
            </a:r>
          </a:p>
          <a:p>
            <a:pPr marL="0" indent="0">
              <a:buNone/>
            </a:pPr>
            <a:r>
              <a:rPr lang="en-US" sz="1400" dirty="0">
                <a:solidFill>
                  <a:srgbClr val="1F2A30"/>
                </a:solidFill>
                <a:latin typeface="Courier New"/>
                <a:cs typeface="Courier New"/>
              </a:rPr>
              <a:t>                ___, ___)</a:t>
            </a:r>
          </a:p>
          <a:p>
            <a:pPr marL="0" indent="0">
              <a:buNone/>
            </a:pPr>
            <a:r>
              <a:rPr lang="en-US" sz="1400" dirty="0">
                <a:solidFill>
                  <a:srgbClr val="1F2A30"/>
                </a:solidFill>
                <a:latin typeface="Courier New"/>
                <a:cs typeface="Courier New"/>
              </a:rPr>
              <a:t> </a:t>
            </a:r>
          </a:p>
          <a:p>
            <a:pPr marL="0" indent="0">
              <a:buNone/>
            </a:pPr>
            <a:r>
              <a:rPr lang="en-US" sz="1400" dirty="0">
                <a:solidFill>
                  <a:srgbClr val="1F2A30"/>
                </a:solidFill>
                <a:latin typeface="Courier New"/>
                <a:cs typeface="Courier New"/>
              </a:rPr>
              <a:t>read_csv("chem_data.csv") |&gt;</a:t>
            </a:r>
          </a:p>
          <a:p>
            <a:pPr marL="0" indent="0">
              <a:buNone/>
            </a:pPr>
            <a:r>
              <a:rPr lang="en-US" sz="1400" dirty="0">
                <a:solidFill>
                  <a:srgbClr val="1F2A30"/>
                </a:solidFill>
                <a:latin typeface="Courier New"/>
                <a:cs typeface="Courier New"/>
              </a:rPr>
              <a:t>  filter(test %in% tests_keep) |&gt;</a:t>
            </a:r>
          </a:p>
          <a:p>
            <a:pPr marL="0" indent="0">
              <a:buNone/>
            </a:pPr>
            <a:r>
              <a:rPr lang="en-US" sz="1400" dirty="0">
                <a:solidFill>
                  <a:srgbClr val="1F2A30"/>
                </a:solidFill>
                <a:latin typeface="Courier New"/>
                <a:cs typeface="Courier New"/>
              </a:rPr>
              <a:t>  write_csv("chem_subset.csv")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Cold prompt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1800" b="1" dirty="0">
                <a:solidFill>
                  <a:srgbClr val="1B7FA6"/>
                </a:solidFill>
              </a:rPr>
              <a:t>Why computational thinking matters</a:t>
            </a:r>
          </a:p>
        </p:txBody>
      </p:sp>
      <p:sp>
        <p:nvSpPr>
          <p:cNvPr id="14" name="TextBox 14"/>
          <p:cNvSpPr txBox="1"/>
          <p:nvPr/>
        </p:nvSpPr>
        <p:spPr>
          <a:xfrm>
            <a:off x="1024128" y="2423160"/>
            <a:ext cx="5669280" cy="338328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sz="1800" dirty="0"/>
              <a:t>Open claude.ai and start a new chat.</a:t>
            </a:r>
          </a:p>
          <a:p>
            <a:pPr marL="457200" lvl="0" indent="-457200">
              <a:spcAft>
                <a:spcPts val="600"/>
              </a:spcAft>
              <a:buFont typeface="+mj-lt"/>
              <a:buAutoNum type="arabicPeriod"/>
            </a:pPr>
            <a:r>
              <a:rPr lang="en-US" sz="1800" dirty="0"/>
              <a:t>Type </a:t>
            </a:r>
            <a:r>
              <a:rPr lang="en-US" dirty="0"/>
              <a:t>a prompt to generate R code to help you answer the lab director’s questions. Do not upload data.</a:t>
            </a:r>
            <a:endParaRPr lang="en-US" sz="1800" dirty="0"/>
          </a:p>
          <a:p>
            <a:pPr marL="457200" lvl="0" indent="-457200">
              <a:spcAft>
                <a:spcPts val="600"/>
              </a:spcAft>
              <a:buFont typeface="+mj-lt"/>
              <a:buAutoNum type="arabicPeriod"/>
            </a:pPr>
            <a:r>
              <a:rPr lang="en-US" sz="1800" dirty="0"/>
              <a:t>Paste Claude's code under COLD PROMPT in your workbook. Run it.</a:t>
            </a:r>
          </a:p>
          <a:p>
            <a:pPr marL="457200" lvl="0" indent="-457200">
              <a:spcAft>
                <a:spcPts val="600"/>
              </a:spcAft>
              <a:buFont typeface="+mj-lt"/>
              <a:buAutoNum type="arabicPeriod"/>
            </a:pPr>
            <a:r>
              <a:rPr lang="en-US" sz="1800" dirty="0"/>
              <a:t>What happened? Did Claude know your column names? Your data? Your question? Does the code work? Is it what you intended?</a:t>
            </a:r>
          </a:p>
          <a:p>
            <a:pPr marL="457200" lvl="0" indent="-457200">
              <a:spcAft>
                <a:spcPts val="600"/>
              </a:spcAft>
              <a:buFont typeface="+mj-lt"/>
              <a:buAutoNum type="arabicPeriod"/>
            </a:pPr>
            <a:r>
              <a:rPr lang="en-US" sz="1800" dirty="0"/>
              <a:t>Save your prompt and Claude's full reply. Rate your confidence that the answer is right, from 1 to 5.</a:t>
            </a:r>
          </a:p>
        </p:txBody>
      </p:sp>
      <p:sp>
        <p:nvSpPr>
          <p:cNvPr id="15" name="TextBox 15"/>
          <p:cNvSpPr txBox="1"/>
          <p:nvPr/>
        </p:nvSpPr>
        <p:spPr>
          <a:xfrm>
            <a:off x="6903720" y="2084832"/>
            <a:ext cx="4251960" cy="3383280"/>
          </a:xfrm>
          <a:prstGeom prst="rect">
            <a:avLst/>
          </a:prstGeom>
          <a:solidFill>
            <a:srgbClr val="EEF3F6"/>
          </a:solidFill>
        </p:spPr>
        <p:txBody>
          <a:bodyPr wrap="square" lIns="137160" tIns="137160" rIns="137160" bIns="137160" rtlCol="0" anchor="t">
            <a:normAutofit/>
          </a:bodyPr>
          <a:lstStyle/>
          <a:p>
            <a:pPr marL="0" indent="0">
              <a:buNone/>
            </a:pPr>
            <a:r>
              <a:rPr lang="en-US" sz="1800" dirty="0">
                <a:solidFill>
                  <a:srgbClr val="1F2A30"/>
                </a:solidFill>
                <a:latin typeface="Courier New"/>
                <a:cs typeface="Courier New"/>
              </a:rPr>
              <a:t>ICU clinicians say their chemistry results come back slower than results for other units.</a:t>
            </a:r>
          </a:p>
          <a:p>
            <a:pPr marL="0" indent="0">
              <a:buNone/>
            </a:pPr>
            <a:endParaRPr lang="en-US" sz="1800" dirty="0">
              <a:solidFill>
                <a:srgbClr val="1F2A30"/>
              </a:solidFill>
              <a:latin typeface="Courier New"/>
              <a:cs typeface="Courier New"/>
            </a:endParaRPr>
          </a:p>
          <a:p>
            <a:pPr marL="0" indent="0">
              <a:buNone/>
            </a:pPr>
            <a:r>
              <a:rPr lang="en-US" sz="1800" b="1" dirty="0">
                <a:solidFill>
                  <a:srgbClr val="1F2A30"/>
                </a:solidFill>
                <a:latin typeface="Courier New"/>
                <a:cs typeface="Courier New"/>
              </a:rPr>
              <a:t>The lab director asks:</a:t>
            </a:r>
          </a:p>
          <a:p>
            <a:pPr marL="0" indent="0">
              <a:buNone/>
            </a:pPr>
            <a:r>
              <a:rPr lang="en-US" sz="1800" dirty="0">
                <a:solidFill>
                  <a:srgbClr val="1F2A30"/>
                </a:solidFill>
                <a:latin typeface="Courier New"/>
                <a:cs typeface="Courier New"/>
              </a:rPr>
              <a:t>Q1. Does turnaround time (TAT) differ by patient type?</a:t>
            </a:r>
          </a:p>
          <a:p>
            <a:pPr marL="0" indent="0">
              <a:buNone/>
            </a:pPr>
            <a:endParaRPr lang="en-US" sz="1800" dirty="0">
              <a:solidFill>
                <a:srgbClr val="1F2A30"/>
              </a:solidFill>
              <a:latin typeface="Courier New"/>
              <a:cs typeface="Courier New"/>
            </a:endParaRPr>
          </a:p>
          <a:p>
            <a:pPr marL="0" indent="0">
              <a:buNone/>
            </a:pPr>
            <a:r>
              <a:rPr lang="en-US" sz="1800" dirty="0">
                <a:solidFill>
                  <a:srgbClr val="1F2A30"/>
                </a:solidFill>
                <a:latin typeface="Courier New"/>
                <a:cs typeface="Courier New"/>
              </a:rPr>
              <a:t>Q2. Are we meeting a 3-hour collect-to-verify goal?</a:t>
            </a:r>
          </a:p>
          <a:p>
            <a:pPr marL="0" indent="0">
              <a:buNone/>
            </a:pPr>
            <a:endParaRPr lang="en-US" sz="1800" dirty="0">
              <a:solidFill>
                <a:srgbClr val="1F2A30"/>
              </a:solidFill>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ADCB0-254A-F6AA-E142-25DE80A80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8B3BC-0899-B3F2-E584-A070E632764B}"/>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AC2D735-518D-1171-108F-E340B62A1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D0C6B8C6-F174-5906-C854-1FBA1F77BEB0}"/>
              </a:ext>
            </a:extLst>
          </p:cNvPr>
          <p:cNvSpPr/>
          <p:nvPr/>
        </p:nvSpPr>
        <p:spPr>
          <a:xfrm>
            <a:off x="2718148" y="2792186"/>
            <a:ext cx="6538586" cy="3464269"/>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265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 and flavor</a:t>
            </a:r>
          </a:p>
          <a:p>
            <a:pPr marL="241300" indent="-241300"/>
            <a:r>
              <a:rPr lang="en-US" dirty="0"/>
              <a:t>Gather ingredients</a:t>
            </a:r>
          </a:p>
          <a:p>
            <a:pPr marL="241300" indent="-241300"/>
            <a:r>
              <a:rPr lang="en-US" dirty="0"/>
              <a:t>Collect kitchen supplies, tools, and equipment</a:t>
            </a:r>
          </a:p>
          <a:p>
            <a:pPr marL="241300" indent="-241300"/>
            <a:r>
              <a:rPr lang="en-US" dirty="0"/>
              <a:t>Preheat the oven to required temp</a:t>
            </a:r>
          </a:p>
        </p:txBody>
      </p:sp>
    </p:spTree>
    <p:extLst>
      <p:ext uri="{BB962C8B-B14F-4D97-AF65-F5344CB8AC3E}">
        <p14:creationId xmlns:p14="http://schemas.microsoft.com/office/powerpoint/2010/main" val="419320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 </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Decomposition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1: Break a complex problem into smaller, manageable parts</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b="1" dirty="0"/>
              <a:t>On your own first (5 min): </a:t>
            </a:r>
            <a:r>
              <a:rPr lang="en-US" dirty="0"/>
              <a:t>list the sub-tasks needed to answer Q1 and Q2. </a:t>
            </a:r>
          </a:p>
          <a:p>
            <a:pPr marL="457200" lvl="0" indent="-457200">
              <a:spcAft>
                <a:spcPts val="600"/>
              </a:spcAft>
              <a:buFont typeface="+mj-lt"/>
              <a:buAutoNum type="arabicPeriod"/>
            </a:pPr>
            <a:r>
              <a:rPr lang="en-US" dirty="0"/>
              <a:t>For each sub-task, note its input and its output.</a:t>
            </a:r>
          </a:p>
          <a:p>
            <a:pPr marL="457200" lvl="0" indent="-457200">
              <a:spcAft>
                <a:spcPts val="600"/>
              </a:spcAft>
              <a:buFont typeface="+mj-lt"/>
              <a:buAutoNum type="arabicPeriod"/>
            </a:pPr>
            <a:r>
              <a:rPr lang="en-US" dirty="0"/>
              <a:t>Then ask Claude (prompt at right).</a:t>
            </a:r>
          </a:p>
          <a:p>
            <a:pPr marL="457200" lvl="0" indent="-457200">
              <a:spcAft>
                <a:spcPts val="600"/>
              </a:spcAft>
              <a:buFont typeface="+mj-lt"/>
              <a:buAutoNum type="arabicPeriod"/>
            </a:pPr>
            <a:r>
              <a:rPr lang="en-US" dirty="0"/>
              <a:t>Compare the lists. What did Claude miss? What did you miss?</a:t>
            </a:r>
          </a:p>
          <a:p>
            <a:pPr marL="457200" lvl="0" indent="-457200">
              <a:spcAft>
                <a:spcPts val="600"/>
              </a:spcAft>
              <a:buFont typeface="+mj-lt"/>
              <a:buAutoNum type="arabicPeriod"/>
            </a:pPr>
            <a:r>
              <a:rPr lang="en-US" dirty="0"/>
              <a:t>Share one difference with the group.</a:t>
            </a:r>
          </a:p>
        </p:txBody>
      </p:sp>
      <p:sp>
        <p:nvSpPr>
          <p:cNvPr id="15" name="TextBox 15"/>
          <p:cNvSpPr txBox="1"/>
          <p:nvPr/>
        </p:nvSpPr>
        <p:spPr>
          <a:xfrm>
            <a:off x="6629400" y="2468879"/>
            <a:ext cx="4526280" cy="324612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I work in a clinical lab.</a:t>
            </a:r>
          </a:p>
          <a:p>
            <a:pPr marL="0" indent="0">
              <a:buNone/>
            </a:pPr>
            <a:r>
              <a:rPr lang="en-US" sz="1500" dirty="0">
                <a:solidFill>
                  <a:srgbClr val="1F2A30"/>
                </a:solidFill>
                <a:latin typeface="Courier New"/>
                <a:cs typeface="Courier New"/>
              </a:rPr>
              <a:t>I need to find out whether</a:t>
            </a:r>
          </a:p>
          <a:p>
            <a:pPr marL="0" indent="0">
              <a:buNone/>
            </a:pPr>
            <a:r>
              <a:rPr lang="en-US" sz="1500" dirty="0">
                <a:solidFill>
                  <a:srgbClr val="1F2A30"/>
                </a:solidFill>
                <a:latin typeface="Courier New"/>
                <a:cs typeface="Courier New"/>
              </a:rPr>
              <a:t>turnaround time differs by</a:t>
            </a:r>
          </a:p>
          <a:p>
            <a:pPr marL="0" indent="0">
              <a:buNone/>
            </a:pPr>
            <a:r>
              <a:rPr lang="en-US" sz="1500" dirty="0">
                <a:solidFill>
                  <a:srgbClr val="1F2A30"/>
                </a:solidFill>
                <a:latin typeface="Courier New"/>
                <a:cs typeface="Courier New"/>
              </a:rPr>
              <a:t>patient type, and whether we</a:t>
            </a:r>
          </a:p>
          <a:p>
            <a:pPr marL="0" indent="0">
              <a:buNone/>
            </a:pPr>
            <a:r>
              <a:rPr lang="en-US" sz="1500" dirty="0">
                <a:solidFill>
                  <a:srgbClr val="1F2A30"/>
                </a:solidFill>
                <a:latin typeface="Courier New"/>
                <a:cs typeface="Courier New"/>
              </a:rPr>
              <a:t>meet a 3-hour collect-to-verify</a:t>
            </a:r>
          </a:p>
          <a:p>
            <a:pPr marL="0" indent="0">
              <a:buNone/>
            </a:pPr>
            <a:r>
              <a:rPr lang="en-US" sz="1500" dirty="0">
                <a:solidFill>
                  <a:srgbClr val="1F2A30"/>
                </a:solidFill>
                <a:latin typeface="Courier New"/>
                <a:cs typeface="Courier New"/>
              </a:rPr>
              <a:t>goal. Break this problem into</a:t>
            </a:r>
          </a:p>
          <a:p>
            <a:pPr marL="0" indent="0">
              <a:buNone/>
            </a:pPr>
            <a:r>
              <a:rPr lang="en-US" sz="1500" dirty="0">
                <a:solidFill>
                  <a:srgbClr val="1F2A30"/>
                </a:solidFill>
                <a:latin typeface="Courier New"/>
                <a:cs typeface="Courier New"/>
              </a:rPr>
              <a:t>smaller sub-tasks. List the</a:t>
            </a:r>
          </a:p>
          <a:p>
            <a:pPr marL="0" indent="0">
              <a:buNone/>
            </a:pPr>
            <a:r>
              <a:rPr lang="en-US" sz="1500" dirty="0">
                <a:solidFill>
                  <a:srgbClr val="1F2A30"/>
                </a:solidFill>
                <a:latin typeface="Courier New"/>
                <a:cs typeface="Courier New"/>
              </a:rPr>
              <a:t>input and output of each.</a:t>
            </a:r>
          </a:p>
          <a:p>
            <a:pPr marL="0" indent="0">
              <a:buNone/>
            </a:pPr>
            <a:r>
              <a:rPr lang="en-US" sz="1500" dirty="0">
                <a:solidFill>
                  <a:srgbClr val="1F2A30"/>
                </a:solidFill>
                <a:latin typeface="Courier New"/>
                <a:cs typeface="Courier New"/>
              </a:rPr>
              <a:t>Do not write code.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Model sub-tasks</a:t>
            </a:r>
          </a:p>
        </p:txBody>
      </p:sp>
      <p:sp>
        <p:nvSpPr>
          <p:cNvPr id="12" name="TextBox 12"/>
          <p:cNvSpPr txBox="1"/>
          <p:nvPr/>
        </p:nvSpPr>
        <p:spPr>
          <a:xfrm>
            <a:off x="1024127" y="2103120"/>
            <a:ext cx="9720071" cy="3749039"/>
          </a:xfrm>
          <a:prstGeom prst="rect">
            <a:avLst/>
          </a:prstGeom>
          <a:noFill/>
        </p:spPr>
        <p:txBody>
          <a:bodyPr wrap="square" lIns="91440" tIns="91440" rIns="91440" bIns="91440" rtlCol="0" anchor="t">
            <a:normAutofit/>
          </a:bodyPr>
          <a:lstStyle/>
          <a:p>
            <a:pPr marL="457200" lvl="0" indent="-457200">
              <a:spcAft>
                <a:spcPts val="300"/>
              </a:spcAft>
              <a:buFont typeface="+mj-lt"/>
              <a:buAutoNum type="arabicPeriod"/>
            </a:pPr>
            <a:r>
              <a:rPr lang="en-US" sz="2400" dirty="0"/>
              <a:t>Define question and metrics: what is TAT, goal, inclusion/exclusion</a:t>
            </a:r>
          </a:p>
          <a:p>
            <a:pPr marL="457200" lvl="0" indent="-457200">
              <a:spcAft>
                <a:spcPts val="300"/>
              </a:spcAft>
              <a:buFont typeface="+mj-lt"/>
              <a:buAutoNum type="arabicPeriod"/>
            </a:pPr>
            <a:r>
              <a:rPr lang="en-US" sz="2400" dirty="0"/>
              <a:t>Identify and obtain data</a:t>
            </a:r>
          </a:p>
          <a:p>
            <a:pPr marL="457200" lvl="0" indent="-457200">
              <a:spcAft>
                <a:spcPts val="300"/>
              </a:spcAft>
              <a:buFont typeface="+mj-lt"/>
              <a:buAutoNum type="arabicPeriod"/>
            </a:pPr>
            <a:r>
              <a:rPr lang="en-US" sz="2400" dirty="0"/>
              <a:t>Assess data structure and quality: missing, absurd, duplicate, quirks, overall</a:t>
            </a:r>
          </a:p>
          <a:p>
            <a:pPr marL="457200" lvl="0" indent="-457200">
              <a:spcAft>
                <a:spcPts val="300"/>
              </a:spcAft>
              <a:buFont typeface="+mj-lt"/>
              <a:buAutoNum type="arabicPeriod"/>
            </a:pPr>
            <a:r>
              <a:rPr lang="en-US" sz="2400" dirty="0"/>
              <a:t>Clean and prepare the data: new fields, standardized, transformed</a:t>
            </a:r>
          </a:p>
          <a:p>
            <a:pPr marL="457200" lvl="0" indent="-457200">
              <a:spcAft>
                <a:spcPts val="300"/>
              </a:spcAft>
              <a:buFont typeface="+mj-lt"/>
              <a:buAutoNum type="arabicPeriod"/>
            </a:pPr>
            <a:r>
              <a:rPr lang="en-US" sz="2400" dirty="0"/>
              <a:t>Analyze data: stat summaries, stat differ tests, comparisons, plots</a:t>
            </a:r>
          </a:p>
          <a:p>
            <a:pPr marL="800100" lvl="1" indent="-342900">
              <a:spcAft>
                <a:spcPts val="300"/>
              </a:spcAft>
              <a:buAutoNum type="alphaLcPeriod"/>
            </a:pPr>
            <a:r>
              <a:rPr lang="en-US" sz="2400" dirty="0"/>
              <a:t>TAT: overall and by group and tests</a:t>
            </a:r>
          </a:p>
          <a:p>
            <a:pPr marL="800100" lvl="1" indent="-342900">
              <a:spcAft>
                <a:spcPts val="300"/>
              </a:spcAft>
              <a:buAutoNum type="alphaLcPeriod"/>
            </a:pPr>
            <a:r>
              <a:rPr lang="en-US" sz="2400" dirty="0"/>
              <a:t>3-h goal compliance</a:t>
            </a:r>
          </a:p>
          <a:p>
            <a:pPr marL="457200" lvl="0" indent="-457200">
              <a:spcAft>
                <a:spcPts val="300"/>
              </a:spcAft>
              <a:buFont typeface="+mj-lt"/>
              <a:buAutoNum type="arabicPeriod"/>
            </a:pPr>
            <a:r>
              <a:rPr lang="en-US" sz="2400" dirty="0"/>
              <a:t>Check that the results make sense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 prompt chaining</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All at once vs step by step</a:t>
            </a:r>
          </a:p>
        </p:txBody>
      </p:sp>
      <p:sp>
        <p:nvSpPr>
          <p:cNvPr id="12" name="TextBox 12"/>
          <p:cNvSpPr txBox="1"/>
          <p:nvPr/>
        </p:nvSpPr>
        <p:spPr>
          <a:xfrm>
            <a:off x="1024128" y="2103120"/>
            <a:ext cx="4572000" cy="2743200"/>
          </a:xfrm>
          <a:prstGeom prst="rect">
            <a:avLst/>
          </a:prstGeom>
          <a:noFill/>
        </p:spPr>
        <p:txBody>
          <a:bodyPr wrap="square" lIns="182880" tIns="182880" rIns="182880" bIns="182880" rtlCol="0" anchor="t"/>
          <a:lstStyle/>
          <a:p>
            <a:pPr marL="0" indent="0">
              <a:spcAft>
                <a:spcPts val="900"/>
              </a:spcAft>
              <a:buNone/>
            </a:pPr>
            <a:r>
              <a:rPr lang="en-US" sz="2400" b="1" dirty="0"/>
              <a:t>All at once</a:t>
            </a:r>
          </a:p>
          <a:p>
            <a:pPr marL="285750" lvl="0" indent="-285750">
              <a:spcAft>
                <a:spcPts val="500"/>
              </a:spcAft>
              <a:buFont typeface="Arial"/>
              <a:buChar char="•"/>
            </a:pPr>
            <a:r>
              <a:rPr lang="en-US" sz="1800" dirty="0"/>
              <a:t>One prompt, one answer</a:t>
            </a:r>
          </a:p>
          <a:p>
            <a:pPr marL="285750" lvl="0" indent="-285750">
              <a:spcAft>
                <a:spcPts val="500"/>
              </a:spcAft>
              <a:buFont typeface="Arial"/>
              <a:buChar char="•"/>
            </a:pPr>
            <a:r>
              <a:rPr lang="en-US" sz="1800" b="1" dirty="0"/>
              <a:t>Good for: </a:t>
            </a:r>
            <a:r>
              <a:rPr lang="en-US" sz="1800" dirty="0"/>
              <a:t>small, familiar tasks</a:t>
            </a:r>
          </a:p>
          <a:p>
            <a:pPr marL="285750" lvl="0" indent="-285750">
              <a:spcAft>
                <a:spcPts val="0"/>
              </a:spcAft>
              <a:buFont typeface="Arial"/>
              <a:buChar char="•"/>
            </a:pPr>
            <a:r>
              <a:rPr lang="en-US" sz="1800" b="1" dirty="0"/>
              <a:t>Risk: </a:t>
            </a:r>
            <a:r>
              <a:rPr lang="en-US" sz="1800" dirty="0"/>
              <a:t>Claude fills every gap with its own assumptions</a:t>
            </a:r>
          </a:p>
        </p:txBody>
      </p:sp>
      <p:sp>
        <p:nvSpPr>
          <p:cNvPr id="13" name="TextBox 13"/>
          <p:cNvSpPr txBox="1"/>
          <p:nvPr/>
        </p:nvSpPr>
        <p:spPr>
          <a:xfrm>
            <a:off x="5943600" y="2103120"/>
            <a:ext cx="4937760" cy="2743200"/>
          </a:xfrm>
          <a:prstGeom prst="rect">
            <a:avLst/>
          </a:prstGeom>
          <a:solidFill>
            <a:srgbClr val="EEF3F6"/>
          </a:solidFill>
        </p:spPr>
        <p:txBody>
          <a:bodyPr wrap="square" lIns="182880" tIns="182880" rIns="182880" bIns="182880" rtlCol="0" anchor="t"/>
          <a:lstStyle/>
          <a:p>
            <a:pPr marL="0" indent="0">
              <a:spcAft>
                <a:spcPts val="900"/>
              </a:spcAft>
              <a:buNone/>
            </a:pPr>
            <a:r>
              <a:rPr lang="en-US" sz="2400" b="1" dirty="0"/>
              <a:t>Step by step</a:t>
            </a:r>
          </a:p>
          <a:p>
            <a:pPr marL="285750" lvl="0" indent="-285750">
              <a:spcAft>
                <a:spcPts val="500"/>
              </a:spcAft>
              <a:buFont typeface="Arial"/>
              <a:buChar char="•"/>
            </a:pPr>
            <a:r>
              <a:rPr lang="en-US" sz="1800" dirty="0"/>
              <a:t>Plan first, then one step at a time</a:t>
            </a:r>
          </a:p>
          <a:p>
            <a:pPr marL="285750" lvl="0" indent="-285750">
              <a:spcAft>
                <a:spcPts val="500"/>
              </a:spcAft>
              <a:buFont typeface="Arial"/>
              <a:buChar char="•"/>
            </a:pPr>
            <a:r>
              <a:rPr lang="en-US" sz="1800" b="1" dirty="0"/>
              <a:t>Good for: </a:t>
            </a:r>
            <a:r>
              <a:rPr lang="en-US" sz="1800" dirty="0"/>
              <a:t>several steps, or data the AI has not seen</a:t>
            </a:r>
          </a:p>
          <a:p>
            <a:pPr marL="285750" lvl="0" indent="-285750">
              <a:spcAft>
                <a:spcPts val="0"/>
              </a:spcAft>
              <a:buFont typeface="Arial"/>
              <a:buChar char="•"/>
            </a:pPr>
            <a:r>
              <a:rPr lang="en-US" sz="1800" b="1" dirty="0"/>
              <a:t>Cost: </a:t>
            </a:r>
            <a:r>
              <a:rPr lang="en-US" sz="1800" dirty="0"/>
              <a:t>more messages</a:t>
            </a:r>
          </a:p>
        </p:txBody>
      </p:sp>
      <p:sp>
        <p:nvSpPr>
          <p:cNvPr id="14" name="TextBox 14"/>
          <p:cNvSpPr txBox="1"/>
          <p:nvPr/>
        </p:nvSpPr>
        <p:spPr>
          <a:xfrm>
            <a:off x="1024128" y="5029200"/>
            <a:ext cx="9875520" cy="914400"/>
          </a:xfrm>
          <a:prstGeom prst="rect">
            <a:avLst/>
          </a:prstGeom>
          <a:noFill/>
        </p:spPr>
        <p:txBody>
          <a:bodyPr wrap="square" lIns="0" tIns="0" rIns="0" bIns="0" rtlCol="0" anchor="t"/>
          <a:lstStyle/>
          <a:p>
            <a:pPr marL="0" indent="0">
              <a:spcAft>
                <a:spcPts val="300"/>
              </a:spcAft>
              <a:buNone/>
            </a:pPr>
            <a:r>
              <a:rPr lang="en-US" sz="2000" b="1" dirty="0"/>
              <a:t>Go step by step to verify the approach and catch wrong assumptions.</a:t>
            </a:r>
          </a:p>
          <a:p>
            <a:pPr marL="0" indent="0">
              <a:spcAft>
                <a:spcPts val="0"/>
              </a:spcAft>
              <a:buNone/>
            </a:pPr>
            <a:r>
              <a:rPr lang="en-US" sz="1600" i="1" dirty="0"/>
              <a:t>This is decomposition applied to prompting. It is also called prompt chaining.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Better prompting: </a:t>
            </a:r>
            <a:br>
              <a:rPr lang="en-US" dirty="0"/>
            </a:br>
            <a:r>
              <a:rPr lang="en-US" dirty="0"/>
              <a:t>plan first, then step by step</a:t>
            </a:r>
          </a:p>
        </p:txBody>
      </p:sp>
      <p:sp>
        <p:nvSpPr>
          <p:cNvPr id="12" name="TextBox 12"/>
          <p:cNvSpPr txBox="1"/>
          <p:nvPr/>
        </p:nvSpPr>
        <p:spPr>
          <a:xfrm>
            <a:off x="1024128" y="2103120"/>
            <a:ext cx="5760720" cy="365760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b="1" dirty="0"/>
              <a:t>Provide the prompt. Ask for the plan and the assumptions </a:t>
            </a:r>
            <a:r>
              <a:rPr lang="en-US" sz="1900" dirty="0"/>
              <a:t>before it answers. </a:t>
            </a:r>
          </a:p>
          <a:p>
            <a:pPr marL="457200" lvl="0" indent="-457200">
              <a:spcAft>
                <a:spcPts val="900"/>
              </a:spcAft>
              <a:buFont typeface="+mj-lt"/>
              <a:buAutoNum type="arabicPeriod"/>
            </a:pPr>
            <a:r>
              <a:rPr lang="en-US" sz="1900" b="1" dirty="0"/>
              <a:t>Check the output. </a:t>
            </a:r>
            <a:r>
              <a:rPr lang="en-US" sz="1900" dirty="0"/>
              <a:t>Is the approach right? Is anything assumed that isn't true? </a:t>
            </a:r>
          </a:p>
          <a:p>
            <a:pPr marL="457200" lvl="0" indent="-457200">
              <a:spcAft>
                <a:spcPts val="900"/>
              </a:spcAft>
              <a:buFont typeface="+mj-lt"/>
              <a:buAutoNum type="arabicPeriod"/>
            </a:pPr>
            <a:r>
              <a:rPr lang="en-US" sz="1900" b="1" dirty="0"/>
              <a:t>Correct </a:t>
            </a:r>
            <a:r>
              <a:rPr lang="en-US" sz="1900" dirty="0"/>
              <a:t>what's wrong.</a:t>
            </a:r>
          </a:p>
          <a:p>
            <a:pPr marL="457200" lvl="0" indent="-457200">
              <a:spcAft>
                <a:spcPts val="0"/>
              </a:spcAft>
              <a:buFont typeface="+mj-lt"/>
              <a:buAutoNum type="arabicPeriod"/>
            </a:pPr>
            <a:r>
              <a:rPr lang="en-US" sz="1900" b="1" dirty="0"/>
              <a:t>Proceed with the next step, one at a time. </a:t>
            </a:r>
            <a:r>
              <a:rPr lang="en-US" sz="1900" dirty="0"/>
              <a:t>Check each result against what you know before </a:t>
            </a:r>
            <a:r>
              <a:rPr lang="en-US" sz="1900" dirty="0" err="1"/>
              <a:t>proceeeding</a:t>
            </a:r>
            <a:r>
              <a:rPr lang="en-US" sz="1900" dirty="0"/>
              <a:t>.</a:t>
            </a:r>
          </a:p>
        </p:txBody>
      </p:sp>
      <p:sp>
        <p:nvSpPr>
          <p:cNvPr id="13" name="TextBox 13"/>
          <p:cNvSpPr txBox="1"/>
          <p:nvPr/>
        </p:nvSpPr>
        <p:spPr>
          <a:xfrm>
            <a:off x="7223760" y="2194560"/>
            <a:ext cx="3931920" cy="3108960"/>
          </a:xfrm>
          <a:prstGeom prst="rect">
            <a:avLst/>
          </a:prstGeom>
          <a:solidFill>
            <a:srgbClr val="EEF3F6"/>
          </a:solidFill>
        </p:spPr>
        <p:txBody>
          <a:bodyPr wrap="square" lIns="182880" tIns="182880" rIns="182880" bIns="182880" rtlCol="0" anchor="t"/>
          <a:lstStyle/>
          <a:p>
            <a:pPr marL="0" indent="0">
              <a:spcAft>
                <a:spcPts val="600"/>
              </a:spcAft>
              <a:buNone/>
            </a:pPr>
            <a:r>
              <a:rPr lang="en-US" sz="1700" b="1" dirty="0"/>
              <a:t>One sentence starts the process:</a:t>
            </a:r>
          </a:p>
          <a:p>
            <a:pPr marL="0" indent="0">
              <a:spcAft>
                <a:spcPts val="900"/>
              </a:spcAft>
              <a:buNone/>
            </a:pPr>
            <a:r>
              <a:rPr lang="en-US" sz="1800" i="1" dirty="0"/>
              <a:t>If anything essential is missing, ask me before answering.</a:t>
            </a:r>
          </a:p>
          <a:p>
            <a:pPr marL="0" indent="0">
              <a:spcAft>
                <a:spcPts val="0"/>
              </a:spcAft>
              <a:buNone/>
            </a:pPr>
            <a:r>
              <a:rPr lang="en-US" sz="1600" dirty="0"/>
              <a:t>You did step 1 in the decomposition exercise. You will use the whole process in the algorithm exercise.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DD99E-A39C-4777-8605-B96D1B6E4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FCD4C-5A9A-92C4-C986-4E8DEC98FE13}"/>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F44DB6B2-B82F-12D9-EBDE-4AEBDBA21F72}"/>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1A71869A-0317-F12E-A7ED-43E183BE565F}"/>
              </a:ext>
            </a:extLst>
          </p:cNvPr>
          <p:cNvSpPr/>
          <p:nvPr/>
        </p:nvSpPr>
        <p:spPr>
          <a:xfrm>
            <a:off x="2718148" y="1853852"/>
            <a:ext cx="6538586" cy="10036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EC92E36-F97B-DF73-BB86-F2DA0DF76431}"/>
              </a:ext>
            </a:extLst>
          </p:cNvPr>
          <p:cNvSpPr/>
          <p:nvPr/>
        </p:nvSpPr>
        <p:spPr>
          <a:xfrm>
            <a:off x="2718148" y="3641272"/>
            <a:ext cx="6538586" cy="26151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7106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pic>
        <p:nvPicPr>
          <p:cNvPr id="2" name="Picture 1">
            <a:extLst>
              <a:ext uri="{FF2B5EF4-FFF2-40B4-BE49-F238E27FC236}">
                <a16:creationId xmlns:a16="http://schemas.microsoft.com/office/drawing/2014/main" id="{13C8DA74-B1E0-032F-A7FB-2983E8CAC537}"/>
              </a:ext>
            </a:extLst>
          </p:cNvPr>
          <p:cNvPicPr>
            <a:picLocks noChangeAspect="1"/>
          </p:cNvPicPr>
          <p:nvPr/>
        </p:nvPicPr>
        <p:blipFill>
          <a:blip r:embed="rId2"/>
          <a:stretch>
            <a:fillRect/>
          </a:stretch>
        </p:blipFill>
        <p:spPr>
          <a:xfrm>
            <a:off x="10363200" y="0"/>
            <a:ext cx="1828800" cy="1849256"/>
          </a:xfrm>
          <a:prstGeom prst="rect">
            <a:avLst/>
          </a:prstGeom>
        </p:spPr>
      </p:pic>
    </p:spTree>
    <p:extLst>
      <p:ext uri="{BB962C8B-B14F-4D97-AF65-F5344CB8AC3E}">
        <p14:creationId xmlns:p14="http://schemas.microsoft.com/office/powerpoint/2010/main" val="365976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670021680"/>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rgbClr val="FF0000"/>
                          </a:solidFill>
                        </a:rPr>
                        <a:t>Select the recipe and flavor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Select and 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Pour the batter</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 to required temp</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 without knowing index</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816E61-AA2B-786B-C3CB-1537791626F3}"/>
              </a:ext>
            </a:extLst>
          </p:cNvPr>
          <p:cNvSpPr>
            <a:spLocks noGrp="1"/>
          </p:cNvSpPr>
          <p:nvPr>
            <p:ph type="title"/>
          </p:nvPr>
        </p:nvSpPr>
        <p:spPr/>
        <p:txBody>
          <a:bodyPr/>
          <a:lstStyle/>
          <a:p>
            <a:r>
              <a:rPr lang="en-US" dirty="0"/>
              <a:t>Calculate the median for each column:</a:t>
            </a:r>
            <a:br>
              <a:rPr lang="en-US" dirty="0"/>
            </a:br>
            <a:r>
              <a:rPr lang="en-US" dirty="0"/>
              <a:t>Copy and paste method</a:t>
            </a:r>
          </a:p>
        </p:txBody>
      </p:sp>
      <p:pic>
        <p:nvPicPr>
          <p:cNvPr id="6" name="Picture 5" descr="A screenshot of a computer&#10;&#10;AI-generated content may be incorrect.">
            <a:extLst>
              <a:ext uri="{FF2B5EF4-FFF2-40B4-BE49-F238E27FC236}">
                <a16:creationId xmlns:a16="http://schemas.microsoft.com/office/drawing/2014/main" id="{591B7847-0B99-C095-4870-42D29A91FB6D}"/>
              </a:ext>
            </a:extLst>
          </p:cNvPr>
          <p:cNvPicPr>
            <a:picLocks noChangeAspect="1"/>
          </p:cNvPicPr>
          <p:nvPr/>
        </p:nvPicPr>
        <p:blipFill>
          <a:blip r:embed="rId3"/>
          <a:stretch>
            <a:fillRect/>
          </a:stretch>
        </p:blipFill>
        <p:spPr>
          <a:xfrm>
            <a:off x="5437538" y="2399284"/>
            <a:ext cx="6121400" cy="3873500"/>
          </a:xfrm>
          <a:prstGeom prst="rect">
            <a:avLst/>
          </a:prstGeom>
        </p:spPr>
      </p:pic>
      <p:pic>
        <p:nvPicPr>
          <p:cNvPr id="12" name="Picture 11" descr="A table of numbers with black and white text&#10;&#10;AI-generated content may be incorrect.">
            <a:extLst>
              <a:ext uri="{FF2B5EF4-FFF2-40B4-BE49-F238E27FC236}">
                <a16:creationId xmlns:a16="http://schemas.microsoft.com/office/drawing/2014/main" id="{230CB963-2BED-E82F-FB37-E3F3ED8E38FE}"/>
              </a:ext>
            </a:extLst>
          </p:cNvPr>
          <p:cNvPicPr>
            <a:picLocks noChangeAspect="1"/>
          </p:cNvPicPr>
          <p:nvPr/>
        </p:nvPicPr>
        <p:blipFill>
          <a:blip r:embed="rId4"/>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709510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7D6D-8B15-BA15-B598-ED632EB0A6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A44B8D-7A9B-69A5-3D57-D9B5C01BC0AB}"/>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8" name="Picture 7" descr="A screenshot of a computer code&#10;&#10;AI-generated content may be incorrect.">
            <a:extLst>
              <a:ext uri="{FF2B5EF4-FFF2-40B4-BE49-F238E27FC236}">
                <a16:creationId xmlns:a16="http://schemas.microsoft.com/office/drawing/2014/main" id="{D51BFABB-072F-E4B5-4236-C3C2F860E827}"/>
              </a:ext>
            </a:extLst>
          </p:cNvPr>
          <p:cNvPicPr>
            <a:picLocks noChangeAspect="1"/>
          </p:cNvPicPr>
          <p:nvPr/>
        </p:nvPicPr>
        <p:blipFill>
          <a:blip r:embed="rId2"/>
          <a:stretch>
            <a:fillRect/>
          </a:stretch>
        </p:blipFill>
        <p:spPr>
          <a:xfrm>
            <a:off x="5417230" y="2750683"/>
            <a:ext cx="6318418" cy="316967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85C337E4-0F72-EAF4-5360-849F412518BA}"/>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860285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5F2A-16CD-0A05-8D1E-9E5F8803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B20E02-0740-2766-BA15-7FD57ABBF31C}"/>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10" name="Picture 9" descr="A screenshot of a computer&#10;&#10;AI-generated content may be incorrect.">
            <a:extLst>
              <a:ext uri="{FF2B5EF4-FFF2-40B4-BE49-F238E27FC236}">
                <a16:creationId xmlns:a16="http://schemas.microsoft.com/office/drawing/2014/main" id="{0047A3F7-F91F-5923-717E-E65BE431D928}"/>
              </a:ext>
            </a:extLst>
          </p:cNvPr>
          <p:cNvPicPr>
            <a:picLocks noChangeAspect="1"/>
          </p:cNvPicPr>
          <p:nvPr/>
        </p:nvPicPr>
        <p:blipFill>
          <a:blip r:embed="rId3"/>
          <a:stretch>
            <a:fillRect/>
          </a:stretch>
        </p:blipFill>
        <p:spPr>
          <a:xfrm>
            <a:off x="5884164" y="3170064"/>
            <a:ext cx="5473700" cy="180340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9CE8544C-F2E4-6818-C540-5165BF1579B2}"/>
              </a:ext>
            </a:extLst>
          </p:cNvPr>
          <p:cNvPicPr>
            <a:picLocks noChangeAspect="1"/>
          </p:cNvPicPr>
          <p:nvPr/>
        </p:nvPicPr>
        <p:blipFill>
          <a:blip r:embed="rId4"/>
          <a:stretch>
            <a:fillRect/>
          </a:stretch>
        </p:blipFill>
        <p:spPr>
          <a:xfrm>
            <a:off x="456352" y="2634427"/>
            <a:ext cx="4754844" cy="3403213"/>
          </a:xfrm>
          <a:prstGeom prst="rect">
            <a:avLst/>
          </a:prstGeom>
        </p:spPr>
      </p:pic>
      <p:sp>
        <p:nvSpPr>
          <p:cNvPr id="3" name="TextBox 2">
            <a:extLst>
              <a:ext uri="{FF2B5EF4-FFF2-40B4-BE49-F238E27FC236}">
                <a16:creationId xmlns:a16="http://schemas.microsoft.com/office/drawing/2014/main" id="{30DEE4C2-8210-1F30-BA03-78CF9D67C791}"/>
              </a:ext>
            </a:extLst>
          </p:cNvPr>
          <p:cNvSpPr txBox="1"/>
          <p:nvPr/>
        </p:nvSpPr>
        <p:spPr>
          <a:xfrm>
            <a:off x="5884164" y="5441787"/>
            <a:ext cx="5749036" cy="830997"/>
          </a:xfrm>
          <a:prstGeom prst="rect">
            <a:avLst/>
          </a:prstGeom>
          <a:noFill/>
        </p:spPr>
        <p:txBody>
          <a:bodyPr wrap="square" rtlCol="0">
            <a:spAutoFit/>
          </a:bodyPr>
          <a:lstStyle/>
          <a:p>
            <a:r>
              <a:rPr lang="en-US" sz="2400" dirty="0"/>
              <a:t>Do you see this in your Claude code output? </a:t>
            </a:r>
          </a:p>
          <a:p>
            <a:r>
              <a:rPr lang="en-US" sz="2400" dirty="0"/>
              <a:t>Where would it apply in our TAT example?</a:t>
            </a:r>
          </a:p>
        </p:txBody>
      </p:sp>
    </p:spTree>
    <p:extLst>
      <p:ext uri="{BB962C8B-B14F-4D97-AF65-F5344CB8AC3E}">
        <p14:creationId xmlns:p14="http://schemas.microsoft.com/office/powerpoint/2010/main" val="3154917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From loops to group_by()</a:t>
            </a:r>
          </a:p>
        </p:txBody>
      </p:sp>
      <p:sp>
        <p:nvSpPr>
          <p:cNvPr id="12" name="TextBox 12"/>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loops, grouping, summarizing</a:t>
            </a:r>
          </a:p>
        </p:txBody>
      </p:sp>
      <p:sp>
        <p:nvSpPr>
          <p:cNvPr id="13" name="TextBox 13"/>
          <p:cNvSpPr txBox="1"/>
          <p:nvPr/>
        </p:nvSpPr>
        <p:spPr>
          <a:xfrm>
            <a:off x="1024128" y="2423160"/>
            <a:ext cx="5394960" cy="338328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sz="1800" b="1" dirty="0"/>
              <a:t>Cupcakes: </a:t>
            </a:r>
            <a:r>
              <a:rPr lang="en-US" sz="1800" dirty="0"/>
              <a:t>sort the cupcakes onto trays by flavor. Then count and taste each tray.</a:t>
            </a:r>
          </a:p>
          <a:p>
            <a:pPr marL="285750" lvl="0" indent="-285750">
              <a:spcAft>
                <a:spcPts val="600"/>
              </a:spcAft>
              <a:buFont typeface="Arial"/>
              <a:buChar char="•"/>
            </a:pPr>
            <a:r>
              <a:rPr lang="en-US" sz="1800" b="1" dirty="0"/>
              <a:t>R: </a:t>
            </a:r>
            <a:r>
              <a:rPr lang="en-US" sz="1800" dirty="0">
                <a:latin typeface="Courier New"/>
                <a:cs typeface="Courier New"/>
              </a:rPr>
              <a:t>group_by()</a:t>
            </a:r>
            <a:r>
              <a:rPr lang="en-US" sz="1800" dirty="0"/>
              <a:t> sorts rows onto trays. </a:t>
            </a:r>
            <a:r>
              <a:rPr lang="en-US" sz="1800" dirty="0">
                <a:latin typeface="Courier New"/>
                <a:cs typeface="Courier New"/>
              </a:rPr>
              <a:t>summarize()</a:t>
            </a:r>
            <a:r>
              <a:rPr lang="en-US" sz="1800" dirty="0"/>
              <a:t> does the math once per tray.</a:t>
            </a:r>
          </a:p>
          <a:p>
            <a:pPr marL="285750" lvl="0" indent="-285750">
              <a:spcAft>
                <a:spcPts val="600"/>
              </a:spcAft>
              <a:buFont typeface="Arial"/>
              <a:buChar char="•"/>
            </a:pPr>
            <a:r>
              <a:rPr lang="en-US" sz="1800" dirty="0"/>
              <a:t>You write the step once. R repeats it for every group. No loop to write.</a:t>
            </a:r>
          </a:p>
          <a:p>
            <a:pPr marL="285750" lvl="0" indent="-285750">
              <a:spcAft>
                <a:spcPts val="600"/>
              </a:spcAft>
              <a:buFont typeface="Arial"/>
              <a:buChar char="•"/>
            </a:pPr>
            <a:r>
              <a:rPr lang="en-US" sz="1800" dirty="0"/>
              <a:t>This is well-recognized pattern so developers coded it to be a widely used tool.</a:t>
            </a:r>
          </a:p>
        </p:txBody>
      </p:sp>
      <p:sp>
        <p:nvSpPr>
          <p:cNvPr id="14" name="TextBox 14"/>
          <p:cNvSpPr txBox="1"/>
          <p:nvPr/>
        </p:nvSpPr>
        <p:spPr>
          <a:xfrm>
            <a:off x="6629400" y="2514600"/>
            <a:ext cx="4526280" cy="182880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chem |&gt;</a:t>
            </a:r>
          </a:p>
          <a:p>
            <a:pPr marL="0" indent="0">
              <a:buNone/>
            </a:pPr>
            <a:r>
              <a:rPr lang="en-US" sz="1500" dirty="0">
                <a:solidFill>
                  <a:srgbClr val="1F2A30"/>
                </a:solidFill>
                <a:latin typeface="Courier New"/>
                <a:cs typeface="Courier New"/>
              </a:rPr>
              <a:t>  group_by(pat_type) |&gt;</a:t>
            </a:r>
          </a:p>
          <a:p>
            <a:pPr marL="0" indent="0">
              <a:buNone/>
            </a:pPr>
            <a:r>
              <a:rPr lang="en-US" sz="1500" dirty="0">
                <a:solidFill>
                  <a:srgbClr val="1F2A30"/>
                </a:solidFill>
                <a:latin typeface="Courier New"/>
                <a:cs typeface="Courier New"/>
              </a:rPr>
              <a:t>  summarize(</a:t>
            </a:r>
          </a:p>
          <a:p>
            <a:pPr marL="0" indent="0">
              <a:buNone/>
            </a:pPr>
            <a:r>
              <a:rPr lang="en-US" sz="1500" dirty="0">
                <a:solidFill>
                  <a:srgbClr val="1F2A30"/>
                </a:solidFill>
                <a:latin typeface="Courier New"/>
                <a:cs typeface="Courier New"/>
              </a:rPr>
              <a:t>    median_value = median(value)</a:t>
            </a:r>
          </a:p>
          <a:p>
            <a:pPr marL="0" indent="0">
              <a:buNone/>
            </a:pPr>
            <a:r>
              <a:rPr lang="en-US" sz="1500" dirty="0">
                <a:solidFill>
                  <a:srgbClr val="1F2A30"/>
                </a:solidFill>
                <a:latin typeface="Courier New"/>
                <a:cs typeface="Courier New"/>
              </a:rPr>
              <a:t>  )</a:t>
            </a:r>
          </a:p>
        </p:txBody>
      </p:sp>
      <p:sp>
        <p:nvSpPr>
          <p:cNvPr id="2" name="TextBox 1">
            <a:extLst>
              <a:ext uri="{FF2B5EF4-FFF2-40B4-BE49-F238E27FC236}">
                <a16:creationId xmlns:a16="http://schemas.microsoft.com/office/drawing/2014/main" id="{092872A5-2446-CCDD-0C75-FAC013906DCE}"/>
              </a:ext>
            </a:extLst>
          </p:cNvPr>
          <p:cNvSpPr txBox="1"/>
          <p:nvPr/>
        </p:nvSpPr>
        <p:spPr>
          <a:xfrm>
            <a:off x="1024128" y="5648759"/>
            <a:ext cx="9822180" cy="461665"/>
          </a:xfrm>
          <a:prstGeom prst="rect">
            <a:avLst/>
          </a:prstGeom>
          <a:noFill/>
        </p:spPr>
        <p:txBody>
          <a:bodyPr wrap="square" rtlCol="0">
            <a:spAutoFit/>
          </a:bodyPr>
          <a:lstStyle/>
          <a:p>
            <a:r>
              <a:rPr lang="en-US" sz="2400" dirty="0"/>
              <a:t>This approach is very powerful for generating numeric summaries for subgroups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Pattern recognition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2: Use patterns to generalize a solution</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a:t>Run the starter code in Exercise 2. It works for glucose in ICU patients only. But you want this for all patient types and selected tests.</a:t>
            </a:r>
          </a:p>
          <a:p>
            <a:pPr marL="457200" lvl="0" indent="-457200">
              <a:spcAft>
                <a:spcPts val="200"/>
              </a:spcAft>
              <a:buFont typeface="+mj-lt"/>
              <a:buAutoNum type="arabicPeriod"/>
            </a:pPr>
            <a:r>
              <a:rPr lang="en-US" dirty="0"/>
              <a:t>Paste the starter code into Claude. Ask it to generalize:</a:t>
            </a:r>
          </a:p>
          <a:p>
            <a:pPr marL="800100" lvl="2">
              <a:spcAft>
                <a:spcPts val="200"/>
              </a:spcAft>
            </a:pPr>
            <a:r>
              <a:rPr lang="en-US" dirty="0"/>
              <a:t>A) every patient type, glucose only</a:t>
            </a:r>
          </a:p>
          <a:p>
            <a:pPr marL="800100" lvl="2">
              <a:spcAft>
                <a:spcPts val="600"/>
              </a:spcAft>
            </a:pPr>
            <a:r>
              <a:rPr lang="en-US" dirty="0"/>
              <a:t>B) every test you kept, every patient type</a:t>
            </a:r>
          </a:p>
          <a:p>
            <a:pPr marL="457200" lvl="0" indent="-457200">
              <a:spcAft>
                <a:spcPts val="600"/>
              </a:spcAft>
              <a:buFont typeface="+mj-lt"/>
              <a:buAutoNum type="arabicPeriod"/>
            </a:pPr>
            <a:r>
              <a:rPr lang="en-US" dirty="0"/>
              <a:t>Run each version. How many rows? Compare the medians.</a:t>
            </a:r>
          </a:p>
          <a:p>
            <a:pPr marL="457200" lvl="0" indent="-457200">
              <a:spcAft>
                <a:spcPts val="600"/>
              </a:spcAft>
              <a:buFont typeface="+mj-lt"/>
              <a:buAutoNum type="arabicPeriod"/>
            </a:pPr>
            <a:r>
              <a:rPr lang="en-US" dirty="0"/>
              <a:t>Which words in the code did the generalizing?</a:t>
            </a:r>
          </a:p>
        </p:txBody>
      </p:sp>
      <p:sp>
        <p:nvSpPr>
          <p:cNvPr id="15" name="TextBox 15"/>
          <p:cNvSpPr txBox="1"/>
          <p:nvPr/>
        </p:nvSpPr>
        <p:spPr>
          <a:xfrm>
            <a:off x="7205472" y="2423160"/>
            <a:ext cx="3962400" cy="1925321"/>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 starter code is the pattern</a:t>
            </a:r>
          </a:p>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median(value))</a:t>
            </a:r>
          </a:p>
        </p:txBody>
      </p:sp>
      <p:sp>
        <p:nvSpPr>
          <p:cNvPr id="2" name="Bent Arrow 1">
            <a:extLst>
              <a:ext uri="{FF2B5EF4-FFF2-40B4-BE49-F238E27FC236}">
                <a16:creationId xmlns:a16="http://schemas.microsoft.com/office/drawing/2014/main" id="{1303F4AA-47A7-2B79-3EBE-5579CEDC233D}"/>
              </a:ext>
            </a:extLst>
          </p:cNvPr>
          <p:cNvSpPr/>
          <p:nvPr/>
        </p:nvSpPr>
        <p:spPr>
          <a:xfrm rot="10800000">
            <a:off x="9697513" y="4231294"/>
            <a:ext cx="1019255" cy="851665"/>
          </a:xfrm>
          <a:prstGeom prst="bentArrow">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FA0280D6-598D-25CC-C9F8-06EA075F0C0F}"/>
              </a:ext>
            </a:extLst>
          </p:cNvPr>
          <p:cNvSpPr txBox="1"/>
          <p:nvPr/>
        </p:nvSpPr>
        <p:spPr>
          <a:xfrm>
            <a:off x="7205472" y="4483870"/>
            <a:ext cx="2816860" cy="1323439"/>
          </a:xfrm>
          <a:prstGeom prst="rect">
            <a:avLst/>
          </a:prstGeom>
          <a:noFill/>
        </p:spPr>
        <p:txBody>
          <a:bodyPr wrap="square" rtlCol="0">
            <a:spAutoFit/>
          </a:bodyPr>
          <a:lstStyle/>
          <a:p>
            <a:r>
              <a:rPr lang="en-US" sz="2000" dirty="0"/>
              <a:t>Apply this pattern to generate the same summary for every test kept and all patient types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4305427" y="2400680"/>
            <a:ext cx="3530092" cy="1791211"/>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 |&gt;</a:t>
            </a:r>
          </a:p>
          <a:p>
            <a:pPr marL="0" indent="0">
              <a:buNone/>
            </a:pPr>
            <a:r>
              <a:rPr lang="en-US" sz="1400" dirty="0">
                <a:solidFill>
                  <a:srgbClr val="1F2A30"/>
                </a:solidFill>
                <a:latin typeface="Courier New"/>
                <a:cs typeface="Courier New"/>
              </a:rPr>
              <a:t>  group_by(pat_type) |&gt;</a:t>
            </a:r>
          </a:p>
          <a:p>
            <a:pPr marL="0" indent="0">
              <a:buNone/>
            </a:pPr>
            <a:r>
              <a:rPr lang="en-US" sz="1400" dirty="0">
                <a:solidFill>
                  <a:srgbClr val="1F2A30"/>
                </a:solidFill>
                <a:latin typeface="Courier New"/>
                <a:cs typeface="Courier New"/>
              </a:rPr>
              <a:t>  summarize(</a:t>
            </a:r>
            <a:r>
              <a:rPr lang="en-US" sz="1400" dirty="0" err="1">
                <a:solidFill>
                  <a:srgbClr val="1F2A30"/>
                </a:solidFill>
                <a:latin typeface="Courier New"/>
                <a:cs typeface="Courier New"/>
              </a:rPr>
              <a:t>n_results</a:t>
            </a:r>
            <a:r>
              <a:rPr lang="en-US" sz="1400" dirty="0">
                <a:solidFill>
                  <a:srgbClr val="1F2A30"/>
                </a:solidFill>
                <a:latin typeface="Courier New"/>
                <a:cs typeface="Courier New"/>
              </a:rPr>
              <a:t>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13" name="TextBox 13"/>
          <p:cNvSpPr txBox="1"/>
          <p:nvPr/>
        </p:nvSpPr>
        <p:spPr>
          <a:xfrm>
            <a:off x="4305427"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One </a:t>
            </a:r>
            <a:r>
              <a:rPr lang="en-US" sz="1700" dirty="0">
                <a:latin typeface="Courier New"/>
                <a:cs typeface="Courier New"/>
              </a:rPr>
              <a:t>filter()</a:t>
            </a:r>
            <a:r>
              <a:rPr lang="en-US" sz="1700" dirty="0"/>
              <a:t> condition became one </a:t>
            </a:r>
            <a:r>
              <a:rPr lang="en-US" sz="1700" dirty="0">
                <a:latin typeface="Courier New"/>
                <a:cs typeface="Courier New"/>
              </a:rPr>
              <a:t>group_by()</a:t>
            </a:r>
            <a:r>
              <a:rPr lang="en-US" sz="1700" dirty="0"/>
              <a:t>. Generalizes to every </a:t>
            </a:r>
            <a:r>
              <a:rPr lang="en-US" sz="1700" dirty="0" err="1"/>
              <a:t>pat_type</a:t>
            </a:r>
            <a:r>
              <a:rPr lang="en-US" sz="1700" dirty="0"/>
              <a:t> for glucose.</a:t>
            </a:r>
          </a:p>
        </p:txBody>
      </p:sp>
      <p:sp>
        <p:nvSpPr>
          <p:cNvPr id="3" name="TextBox 15">
            <a:extLst>
              <a:ext uri="{FF2B5EF4-FFF2-40B4-BE49-F238E27FC236}">
                <a16:creationId xmlns:a16="http://schemas.microsoft.com/office/drawing/2014/main" id="{35B964B6-FE0B-A2FC-D70C-2E936B22E415}"/>
              </a:ext>
            </a:extLst>
          </p:cNvPr>
          <p:cNvSpPr txBox="1"/>
          <p:nvPr/>
        </p:nvSpPr>
        <p:spPr>
          <a:xfrm>
            <a:off x="492760" y="2392557"/>
            <a:ext cx="3530092" cy="1799335"/>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4" name="TextBox 12">
            <a:extLst>
              <a:ext uri="{FF2B5EF4-FFF2-40B4-BE49-F238E27FC236}">
                <a16:creationId xmlns:a16="http://schemas.microsoft.com/office/drawing/2014/main" id="{C0A2CC82-334E-773D-B52E-DE77D10ED94F}"/>
              </a:ext>
            </a:extLst>
          </p:cNvPr>
          <p:cNvSpPr txBox="1"/>
          <p:nvPr/>
        </p:nvSpPr>
        <p:spPr>
          <a:xfrm>
            <a:off x="8143240" y="2400682"/>
            <a:ext cx="3530092" cy="1791210"/>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a:t>
            </a:r>
            <a:r>
              <a:rPr lang="en-US" sz="1400" dirty="0" err="1">
                <a:solidFill>
                  <a:srgbClr val="1F2A30"/>
                </a:solidFill>
                <a:latin typeface="Courier New"/>
                <a:cs typeface="Courier New"/>
              </a:rPr>
              <a:t>group_by</a:t>
            </a:r>
            <a:r>
              <a:rPr lang="en-US" sz="1400" dirty="0">
                <a:solidFill>
                  <a:srgbClr val="1F2A30"/>
                </a:solidFill>
                <a:latin typeface="Courier New"/>
                <a:cs typeface="Courier New"/>
              </a:rPr>
              <a:t>(test, </a:t>
            </a:r>
            <a:r>
              <a:rPr lang="en-US" sz="1400" dirty="0" err="1">
                <a:solidFill>
                  <a:srgbClr val="1F2A30"/>
                </a:solidFill>
                <a:latin typeface="Courier New"/>
                <a:cs typeface="Courier New"/>
              </a:rPr>
              <a:t>pat_type</a:t>
            </a:r>
            <a:r>
              <a:rPr lang="en-US" sz="1400" dirty="0">
                <a:solidFill>
                  <a:srgbClr val="1F2A30"/>
                </a:solidFill>
                <a:latin typeface="Courier New"/>
                <a:cs typeface="Courier New"/>
              </a:rPr>
              <a:t>) |&gt;</a:t>
            </a:r>
          </a:p>
          <a:p>
            <a:pPr marL="0" indent="0">
              <a:buNone/>
            </a:pPr>
            <a:r>
              <a:rPr lang="en-US" sz="1400" dirty="0">
                <a:solidFill>
                  <a:srgbClr val="1F2A30"/>
                </a:solidFill>
                <a:latin typeface="Courier New"/>
                <a:cs typeface="Courier New"/>
              </a:rPr>
              <a:t>  summarize(n_results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5" name="TextBox 12">
            <a:extLst>
              <a:ext uri="{FF2B5EF4-FFF2-40B4-BE49-F238E27FC236}">
                <a16:creationId xmlns:a16="http://schemas.microsoft.com/office/drawing/2014/main" id="{C270D2FD-CC8C-1DD1-F40A-7CB28AE49EEA}"/>
              </a:ext>
            </a:extLst>
          </p:cNvPr>
          <p:cNvSpPr txBox="1"/>
          <p:nvPr/>
        </p:nvSpPr>
        <p:spPr>
          <a:xfrm>
            <a:off x="4305427" y="4527048"/>
            <a:ext cx="3581146" cy="1659638"/>
          </a:xfrm>
          <a:prstGeom prst="rect">
            <a:avLst/>
          </a:prstGeom>
          <a:noFill/>
        </p:spPr>
        <p:txBody>
          <a:bodyPr wrap="square" lIns="137160" tIns="137160" rIns="137160" bIns="137160" rtlCol="0" anchor="t">
            <a:normAutofit fontScale="92500"/>
          </a:bodyPr>
          <a:lstStyle/>
          <a:p>
            <a:pPr marL="0" indent="0">
              <a:buNone/>
            </a:pPr>
            <a:r>
              <a:rPr lang="en-US" sz="1200" dirty="0">
                <a:solidFill>
                  <a:srgbClr val="1F2A30"/>
                </a:solidFill>
                <a:latin typeface="Courier New"/>
                <a:cs typeface="Courier New"/>
              </a:rPr>
              <a: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n_results median_value</a:t>
            </a:r>
          </a:p>
          <a:p>
            <a:pPr marL="0" indent="0">
              <a:buNone/>
            </a:pPr>
            <a:r>
              <a:rPr lang="en-US" sz="1200" dirty="0">
                <a:solidFill>
                  <a:srgbClr val="1F2A30"/>
                </a:solidFill>
                <a:latin typeface="Courier New"/>
                <a:cs typeface="Courier New"/>
              </a:rPr>
              <a:t>1 cancer center      1059           92</a:t>
            </a:r>
          </a:p>
          <a:p>
            <a:pPr marL="0" indent="0">
              <a:buNone/>
            </a:pPr>
            <a:r>
              <a:rPr lang="en-US" sz="1200" dirty="0">
                <a:solidFill>
                  <a:srgbClr val="1F2A30"/>
                </a:solidFill>
                <a:latin typeface="Courier New"/>
                <a:cs typeface="Courier New"/>
              </a:rPr>
              <a:t>2 client             1092           92</a:t>
            </a:r>
          </a:p>
          <a:p>
            <a:pPr marL="0" indent="0">
              <a:buNone/>
            </a:pPr>
            <a:r>
              <a:rPr lang="en-US" sz="1200" dirty="0">
                <a:solidFill>
                  <a:srgbClr val="1F2A30"/>
                </a:solidFill>
                <a:latin typeface="Courier New"/>
                <a:cs typeface="Courier New"/>
              </a:rPr>
              <a:t>3 </a:t>
            </a:r>
            <a:r>
              <a:rPr lang="en-US" sz="1200" dirty="0">
                <a:solidFill>
                  <a:srgbClr val="1F2A30"/>
                </a:solidFill>
                <a:highlight>
                  <a:srgbClr val="FFFF00"/>
                </a:highlight>
                <a:latin typeface="Courier New"/>
                <a:cs typeface="Courier New"/>
              </a:rPr>
              <a:t>icu                1103           92</a:t>
            </a:r>
          </a:p>
          <a:p>
            <a:pPr marL="0" indent="0">
              <a:buNone/>
            </a:pPr>
            <a:r>
              <a:rPr lang="en-US" sz="1200" dirty="0">
                <a:solidFill>
                  <a:srgbClr val="1F2A30"/>
                </a:solidFill>
                <a:latin typeface="Courier New"/>
                <a:cs typeface="Courier New"/>
              </a:rPr>
              <a:t>4 inpatient          1067           92</a:t>
            </a:r>
          </a:p>
          <a:p>
            <a:pPr marL="0" indent="0">
              <a:buNone/>
            </a:pPr>
            <a:r>
              <a:rPr lang="en-US" sz="1200" dirty="0">
                <a:solidFill>
                  <a:srgbClr val="1F2A30"/>
                </a:solidFill>
                <a:latin typeface="Courier New"/>
                <a:cs typeface="Courier New"/>
              </a:rPr>
              <a:t>5 outpatient         1072           92</a:t>
            </a:r>
          </a:p>
          <a:p>
            <a:pPr marL="0" indent="0">
              <a:buNone/>
            </a:pPr>
            <a:r>
              <a:rPr lang="en-US" sz="1200" dirty="0">
                <a:solidFill>
                  <a:srgbClr val="1F2A30"/>
                </a:solidFill>
                <a:latin typeface="Courier New"/>
                <a:cs typeface="Courier New"/>
              </a:rPr>
              <a:t>6 NA                 1088           92</a:t>
            </a:r>
          </a:p>
        </p:txBody>
      </p:sp>
      <p:sp>
        <p:nvSpPr>
          <p:cNvPr id="6" name="TextBox 12">
            <a:extLst>
              <a:ext uri="{FF2B5EF4-FFF2-40B4-BE49-F238E27FC236}">
                <a16:creationId xmlns:a16="http://schemas.microsoft.com/office/drawing/2014/main" id="{CEC27711-F554-3739-E3C0-FC6E48D3450D}"/>
              </a:ext>
            </a:extLst>
          </p:cNvPr>
          <p:cNvSpPr txBox="1"/>
          <p:nvPr/>
        </p:nvSpPr>
        <p:spPr>
          <a:xfrm>
            <a:off x="8139176" y="4527049"/>
            <a:ext cx="3581146" cy="2231138"/>
          </a:xfrm>
          <a:prstGeom prst="rect">
            <a:avLst/>
          </a:prstGeom>
          <a:noFill/>
        </p:spPr>
        <p:txBody>
          <a:bodyPr wrap="square" lIns="137160" tIns="137160" rIns="137160" bIns="137160" rtlCol="0" anchor="t">
            <a:normAutofit fontScale="70000" lnSpcReduction="20000"/>
          </a:bodyPr>
          <a:lstStyle/>
          <a:p>
            <a:pPr marL="0" indent="0">
              <a:buNone/>
            </a:pPr>
            <a:r>
              <a:rPr lang="en-US" sz="1200" dirty="0">
                <a:solidFill>
                  <a:srgbClr val="1F2A30"/>
                </a:solidFill>
                <a:latin typeface="Courier New"/>
                <a:cs typeface="Courier New"/>
              </a:rPr>
              <a:t>   test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a:t>
            </a:r>
            <a:r>
              <a:rPr lang="en-US" sz="1200" dirty="0" err="1">
                <a:solidFill>
                  <a:srgbClr val="1F2A30"/>
                </a:solidFill>
                <a:latin typeface="Courier New"/>
                <a:cs typeface="Courier New"/>
              </a:rPr>
              <a:t>n_results</a:t>
            </a:r>
            <a:r>
              <a:rPr lang="en-US" sz="1200" dirty="0">
                <a:solidFill>
                  <a:srgbClr val="1F2A30"/>
                </a:solidFill>
                <a:latin typeface="Courier New"/>
                <a:cs typeface="Courier New"/>
              </a:rPr>
              <a:t> </a:t>
            </a:r>
            <a:r>
              <a:rPr lang="en-US" sz="1200" dirty="0" err="1">
                <a:solidFill>
                  <a:srgbClr val="1F2A30"/>
                </a:solidFill>
                <a:latin typeface="Courier New"/>
                <a:cs typeface="Courier New"/>
              </a:rPr>
              <a:t>median_value</a:t>
            </a:r>
            <a:endParaRPr lang="en-US" sz="1200" dirty="0">
              <a:solidFill>
                <a:srgbClr val="1F2A30"/>
              </a:solidFill>
              <a:latin typeface="Courier New"/>
              <a:cs typeface="Courier New"/>
            </a:endParaRPr>
          </a:p>
          <a:p>
            <a:pPr marL="0" indent="0">
              <a:buNone/>
            </a:pPr>
            <a:r>
              <a:rPr lang="en-US" sz="1200" dirty="0">
                <a:solidFill>
                  <a:srgbClr val="1F2A30"/>
                </a:solidFill>
                <a:latin typeface="Courier New"/>
                <a:cs typeface="Courier New"/>
              </a:rPr>
              <a:t> 1 creatinine cancer center      1059         0.82</a:t>
            </a:r>
          </a:p>
          <a:p>
            <a:pPr marL="0" indent="0">
              <a:buNone/>
            </a:pPr>
            <a:r>
              <a:rPr lang="en-US" sz="1200" dirty="0">
                <a:solidFill>
                  <a:srgbClr val="1F2A30"/>
                </a:solidFill>
                <a:latin typeface="Courier New"/>
                <a:cs typeface="Courier New"/>
              </a:rPr>
              <a:t> 2 creatinine client             1092         0.82</a:t>
            </a:r>
          </a:p>
          <a:p>
            <a:pPr marL="0" indent="0">
              <a:buNone/>
            </a:pPr>
            <a:r>
              <a:rPr lang="en-US" sz="1200" dirty="0">
                <a:solidFill>
                  <a:srgbClr val="1F2A30"/>
                </a:solidFill>
                <a:latin typeface="Courier New"/>
                <a:cs typeface="Courier New"/>
              </a:rPr>
              <a:t> 3 creatinine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1103         0.81</a:t>
            </a:r>
          </a:p>
          <a:p>
            <a:pPr marL="0" indent="0">
              <a:buNone/>
            </a:pPr>
            <a:r>
              <a:rPr lang="en-US" sz="1200" dirty="0">
                <a:solidFill>
                  <a:srgbClr val="1F2A30"/>
                </a:solidFill>
                <a:latin typeface="Courier New"/>
                <a:cs typeface="Courier New"/>
              </a:rPr>
              <a:t> 4 creatinine inpatient          1067         0.81</a:t>
            </a:r>
          </a:p>
          <a:p>
            <a:pPr marL="0" indent="0">
              <a:buNone/>
            </a:pPr>
            <a:r>
              <a:rPr lang="en-US" sz="1200" dirty="0">
                <a:solidFill>
                  <a:srgbClr val="1F2A30"/>
                </a:solidFill>
                <a:latin typeface="Courier New"/>
                <a:cs typeface="Courier New"/>
              </a:rPr>
              <a:t> 5 creatinine outpatient         1072         0.83</a:t>
            </a:r>
          </a:p>
          <a:p>
            <a:pPr marL="0" indent="0">
              <a:buNone/>
            </a:pPr>
            <a:r>
              <a:rPr lang="en-US" sz="1200" dirty="0">
                <a:solidFill>
                  <a:srgbClr val="1F2A30"/>
                </a:solidFill>
                <a:latin typeface="Courier New"/>
                <a:cs typeface="Courier New"/>
              </a:rPr>
              <a:t> 6 creatinine NA                 1088         0.81</a:t>
            </a:r>
          </a:p>
          <a:p>
            <a:pPr marL="0" indent="0">
              <a:buNone/>
            </a:pPr>
            <a:r>
              <a:rPr lang="en-US" sz="1200" dirty="0">
                <a:solidFill>
                  <a:srgbClr val="1F2A30"/>
                </a:solidFill>
                <a:latin typeface="Courier New"/>
                <a:cs typeface="Courier New"/>
              </a:rPr>
              <a:t> 7 glucose    cancer center      1059        	 92   </a:t>
            </a:r>
          </a:p>
          <a:p>
            <a:pPr marL="0" indent="0">
              <a:buNone/>
            </a:pPr>
            <a:r>
              <a:rPr lang="en-US" sz="1200" dirty="0">
                <a:solidFill>
                  <a:srgbClr val="1F2A30"/>
                </a:solidFill>
                <a:latin typeface="Courier New"/>
                <a:cs typeface="Courier New"/>
              </a:rPr>
              <a:t> 8 glucose    client             1092        	 92   </a:t>
            </a:r>
          </a:p>
          <a:p>
            <a:pPr marL="0" indent="0">
              <a:buNone/>
            </a:pPr>
            <a:r>
              <a:rPr lang="en-US" sz="1200" dirty="0">
                <a:solidFill>
                  <a:srgbClr val="1F2A30"/>
                </a:solidFill>
                <a:latin typeface="Courier New"/>
                <a:cs typeface="Courier New"/>
              </a:rPr>
              <a:t> 9 </a:t>
            </a:r>
            <a:r>
              <a:rPr lang="en-US" sz="1200" dirty="0">
                <a:solidFill>
                  <a:srgbClr val="1F2A30"/>
                </a:solidFill>
                <a:highlight>
                  <a:srgbClr val="FFFF00"/>
                </a:highlight>
                <a:latin typeface="Courier New"/>
                <a:cs typeface="Courier New"/>
              </a:rPr>
              <a:t>glucose    </a:t>
            </a:r>
            <a:r>
              <a:rPr lang="en-US" sz="1200" dirty="0" err="1">
                <a:solidFill>
                  <a:srgbClr val="1F2A30"/>
                </a:solidFill>
                <a:highlight>
                  <a:srgbClr val="FFFF00"/>
                </a:highlight>
                <a:latin typeface="Courier New"/>
                <a:cs typeface="Courier New"/>
              </a:rPr>
              <a:t>icu</a:t>
            </a:r>
            <a:r>
              <a:rPr lang="en-US" sz="1200" dirty="0">
                <a:solidFill>
                  <a:srgbClr val="1F2A30"/>
                </a:solidFill>
                <a:highlight>
                  <a:srgbClr val="FFFF00"/>
                </a:highlight>
                <a:latin typeface="Courier New"/>
                <a:cs typeface="Courier New"/>
              </a:rPr>
              <a:t>                1103       	 92   </a:t>
            </a:r>
          </a:p>
          <a:p>
            <a:pPr marL="0" indent="0">
              <a:buNone/>
            </a:pPr>
            <a:r>
              <a:rPr lang="en-US" sz="1200" dirty="0">
                <a:solidFill>
                  <a:srgbClr val="1F2A30"/>
                </a:solidFill>
                <a:latin typeface="Courier New"/>
                <a:cs typeface="Courier New"/>
              </a:rPr>
              <a:t>10 glucose    inpatient          1067        	 92   </a:t>
            </a:r>
          </a:p>
          <a:p>
            <a:pPr marL="0" indent="0">
              <a:buNone/>
            </a:pPr>
            <a:r>
              <a:rPr lang="en-US" sz="1200" dirty="0">
                <a:solidFill>
                  <a:srgbClr val="1F2A30"/>
                </a:solidFill>
                <a:latin typeface="Courier New"/>
                <a:cs typeface="Courier New"/>
              </a:rPr>
              <a:t>11 glucose    outpatient         1072        	 92   </a:t>
            </a:r>
          </a:p>
          <a:p>
            <a:pPr marL="0" indent="0">
              <a:buNone/>
            </a:pPr>
            <a:r>
              <a:rPr lang="en-US" sz="1200" dirty="0">
                <a:solidFill>
                  <a:srgbClr val="1F2A30"/>
                </a:solidFill>
                <a:latin typeface="Courier New"/>
                <a:cs typeface="Courier New"/>
              </a:rPr>
              <a:t>12 glucose    NA                 1088        	 92   </a:t>
            </a:r>
          </a:p>
          <a:p>
            <a:pPr marL="0" indent="0">
              <a:buNone/>
            </a:pPr>
            <a:r>
              <a:rPr lang="en-US" sz="1200" dirty="0">
                <a:solidFill>
                  <a:srgbClr val="1F2A30"/>
                </a:solidFill>
                <a:latin typeface="Courier New"/>
                <a:cs typeface="Courier New"/>
              </a:rPr>
              <a:t>13 potassium  cancer center      1059         4.1 </a:t>
            </a:r>
          </a:p>
          <a:p>
            <a:pPr marL="0" indent="0">
              <a:buNone/>
            </a:pPr>
            <a:r>
              <a:rPr lang="en-US" sz="1200" dirty="0">
                <a:solidFill>
                  <a:srgbClr val="1F2A30"/>
                </a:solidFill>
                <a:latin typeface="Courier New"/>
                <a:cs typeface="Courier New"/>
              </a:rPr>
              <a:t>14 potassium  client             1092         4.1 </a:t>
            </a:r>
          </a:p>
          <a:p>
            <a:pPr marL="0" indent="0">
              <a:buNone/>
            </a:pPr>
            <a:r>
              <a:rPr lang="en-US" sz="1200" dirty="0">
                <a:solidFill>
                  <a:srgbClr val="1F2A30"/>
                </a:solidFill>
                <a:latin typeface="Courier New"/>
                <a:cs typeface="Courier New"/>
              </a:rPr>
              <a:t>15 potassium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1103         4.1 </a:t>
            </a:r>
          </a:p>
          <a:p>
            <a:pPr marL="0" indent="0">
              <a:buNone/>
            </a:pPr>
            <a:r>
              <a:rPr lang="en-US" sz="1200" dirty="0">
                <a:solidFill>
                  <a:srgbClr val="1F2A30"/>
                </a:solidFill>
                <a:latin typeface="Courier New"/>
                <a:cs typeface="Courier New"/>
              </a:rPr>
              <a:t>16 potassium  inpatient          1067         4.1 </a:t>
            </a:r>
          </a:p>
          <a:p>
            <a:pPr marL="0" indent="0">
              <a:buNone/>
            </a:pPr>
            <a:r>
              <a:rPr lang="en-US" sz="1200" dirty="0">
                <a:solidFill>
                  <a:srgbClr val="1F2A30"/>
                </a:solidFill>
                <a:latin typeface="Courier New"/>
                <a:cs typeface="Courier New"/>
              </a:rPr>
              <a:t>17 potassium  outpatient         1072         4.1 </a:t>
            </a:r>
          </a:p>
          <a:p>
            <a:pPr marL="0" indent="0">
              <a:buNone/>
            </a:pPr>
            <a:r>
              <a:rPr lang="en-US" sz="1200" dirty="0">
                <a:solidFill>
                  <a:srgbClr val="1F2A30"/>
                </a:solidFill>
                <a:latin typeface="Courier New"/>
                <a:cs typeface="Courier New"/>
              </a:rPr>
              <a:t>18 potassium  NA                 1088         4.1 </a:t>
            </a:r>
          </a:p>
        </p:txBody>
      </p:sp>
      <p:sp>
        <p:nvSpPr>
          <p:cNvPr id="7" name="TextBox 13">
            <a:extLst>
              <a:ext uri="{FF2B5EF4-FFF2-40B4-BE49-F238E27FC236}">
                <a16:creationId xmlns:a16="http://schemas.microsoft.com/office/drawing/2014/main" id="{D4DFF50B-D2C1-F98A-B468-CDBBD1DD79F3}"/>
              </a:ext>
            </a:extLst>
          </p:cNvPr>
          <p:cNvSpPr txBox="1"/>
          <p:nvPr/>
        </p:nvSpPr>
        <p:spPr>
          <a:xfrm>
            <a:off x="8118347" y="1300862"/>
            <a:ext cx="3530093" cy="1099819"/>
          </a:xfrm>
          <a:prstGeom prst="rect">
            <a:avLst/>
          </a:prstGeom>
          <a:noFill/>
        </p:spPr>
        <p:txBody>
          <a:bodyPr wrap="square" lIns="91440" tIns="91440" rIns="91440" bIns="91440" rtlCol="0" anchor="t">
            <a:normAutofit/>
          </a:bodyPr>
          <a:lstStyle/>
          <a:p>
            <a:pPr lvl="0">
              <a:spcAft>
                <a:spcPts val="600"/>
              </a:spcAft>
            </a:pPr>
            <a:r>
              <a:rPr lang="en-US" sz="1700" dirty="0"/>
              <a:t>Drop both </a:t>
            </a:r>
            <a:r>
              <a:rPr lang="en-US" sz="1700" dirty="0">
                <a:latin typeface="Courier New"/>
                <a:cs typeface="Courier New"/>
              </a:rPr>
              <a:t>filter()</a:t>
            </a:r>
            <a:r>
              <a:rPr lang="en-US" sz="1700" dirty="0"/>
              <a:t> conditions and </a:t>
            </a:r>
            <a:r>
              <a:rPr lang="en-US" sz="1700" dirty="0" err="1">
                <a:latin typeface="Courier New"/>
                <a:cs typeface="Courier New"/>
              </a:rPr>
              <a:t>group_by</a:t>
            </a:r>
            <a:r>
              <a:rPr lang="en-US" sz="1700" dirty="0">
                <a:latin typeface="Courier New"/>
                <a:cs typeface="Courier New"/>
              </a:rPr>
              <a:t>()</a:t>
            </a:r>
            <a:r>
              <a:rPr lang="en-US" sz="1700" dirty="0">
                <a:cs typeface="Courier New"/>
              </a:rPr>
              <a:t>both columns to analyze all test and </a:t>
            </a:r>
            <a:r>
              <a:rPr lang="en-US" sz="1700" dirty="0" err="1">
                <a:cs typeface="Courier New"/>
              </a:rPr>
              <a:t>pat_type</a:t>
            </a:r>
            <a:r>
              <a:rPr lang="en-US" sz="1700" dirty="0">
                <a:cs typeface="Courier New"/>
              </a:rPr>
              <a:t> combos.</a:t>
            </a:r>
            <a:endParaRPr lang="en-US" sz="1700" dirty="0"/>
          </a:p>
        </p:txBody>
      </p:sp>
      <p:sp>
        <p:nvSpPr>
          <p:cNvPr id="8" name="TextBox 7">
            <a:extLst>
              <a:ext uri="{FF2B5EF4-FFF2-40B4-BE49-F238E27FC236}">
                <a16:creationId xmlns:a16="http://schemas.microsoft.com/office/drawing/2014/main" id="{EC03ADFF-E80A-9147-0A41-15D67F08AE59}"/>
              </a:ext>
            </a:extLst>
          </p:cNvPr>
          <p:cNvSpPr txBox="1"/>
          <p:nvPr/>
        </p:nvSpPr>
        <p:spPr>
          <a:xfrm>
            <a:off x="596900" y="4635683"/>
            <a:ext cx="2637260" cy="430887"/>
          </a:xfrm>
          <a:prstGeom prst="rect">
            <a:avLst/>
          </a:prstGeom>
          <a:noFill/>
        </p:spPr>
        <p:txBody>
          <a:bodyPr wrap="none" rtlCol="0">
            <a:spAutoFit/>
          </a:bodyPr>
          <a:lstStyle/>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n_results</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median_value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1      	 </a:t>
            </a:r>
            <a:r>
              <a:rPr lang="en-US" sz="1100" dirty="0">
                <a:highlight>
                  <a:srgbClr val="FFFF00"/>
                </a:highlight>
                <a:latin typeface="Courier New" panose="02070309020205020404" pitchFamily="49" charset="0"/>
                <a:cs typeface="Courier New" panose="02070309020205020404" pitchFamily="49" charset="0"/>
              </a:rPr>
              <a:t>1103           92</a:t>
            </a:r>
          </a:p>
        </p:txBody>
      </p:sp>
      <p:sp>
        <p:nvSpPr>
          <p:cNvPr id="9" name="TextBox 13">
            <a:extLst>
              <a:ext uri="{FF2B5EF4-FFF2-40B4-BE49-F238E27FC236}">
                <a16:creationId xmlns:a16="http://schemas.microsoft.com/office/drawing/2014/main" id="{15438F7B-E272-3B51-84F0-80099F62301E}"/>
              </a:ext>
            </a:extLst>
          </p:cNvPr>
          <p:cNvSpPr txBox="1"/>
          <p:nvPr/>
        </p:nvSpPr>
        <p:spPr>
          <a:xfrm>
            <a:off x="492759"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Use two </a:t>
            </a:r>
            <a:r>
              <a:rPr lang="en-US" sz="1700" dirty="0">
                <a:latin typeface="Courier New"/>
                <a:cs typeface="Courier New"/>
              </a:rPr>
              <a:t>filter()</a:t>
            </a:r>
            <a:r>
              <a:rPr lang="en-US" sz="1700" dirty="0"/>
              <a:t> conditions to select single test and single patient type. </a:t>
            </a:r>
          </a:p>
        </p:txBody>
      </p:sp>
      <p:sp>
        <p:nvSpPr>
          <p:cNvPr id="10" name="Title">
            <a:extLst>
              <a:ext uri="{FF2B5EF4-FFF2-40B4-BE49-F238E27FC236}">
                <a16:creationId xmlns:a16="http://schemas.microsoft.com/office/drawing/2014/main" id="{03BB8CDB-6415-A7E3-02D6-1A206E336C66}"/>
              </a:ext>
            </a:extLst>
          </p:cNvPr>
          <p:cNvSpPr txBox="1">
            <a:spLocks/>
          </p:cNvSpPr>
          <p:nvPr/>
        </p:nvSpPr>
        <p:spPr>
          <a:xfrm>
            <a:off x="492759" y="351156"/>
            <a:ext cx="9720072" cy="1499616"/>
          </a:xfrm>
          <a:prstGeom prst="rect">
            <a:avLst/>
          </a:prstGeom>
        </p:spPr>
        <p:txBody>
          <a:bodyP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dirty="0"/>
              <a:t>Applying a pattern to generalize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4" grpId="0" animBg="1"/>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applying loops to iterate over items, structuring prompts</a:t>
            </a:r>
          </a:p>
        </p:txBody>
      </p:sp>
    </p:spTree>
    <p:extLst>
      <p:ext uri="{BB962C8B-B14F-4D97-AF65-F5344CB8AC3E}">
        <p14:creationId xmlns:p14="http://schemas.microsoft.com/office/powerpoint/2010/main" val="2217996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11A0-8B11-7806-D9D6-9D7E2BE7C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9C44C-0831-E9B5-8983-B4DF29ADDCE1}"/>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B75450CC-C2EC-32CF-BAAE-84F844EC0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74A252BD-6C0C-EDF7-64BD-99D951498D4B}"/>
              </a:ext>
            </a:extLst>
          </p:cNvPr>
          <p:cNvSpPr/>
          <p:nvPr/>
        </p:nvSpPr>
        <p:spPr>
          <a:xfrm>
            <a:off x="2718148" y="1853852"/>
            <a:ext cx="6538586" cy="18037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25C9213-D5F0-8BE9-8D15-F39A3CE5DE97}"/>
              </a:ext>
            </a:extLst>
          </p:cNvPr>
          <p:cNvSpPr/>
          <p:nvPr/>
        </p:nvSpPr>
        <p:spPr>
          <a:xfrm>
            <a:off x="2718148" y="4572000"/>
            <a:ext cx="6538586" cy="1684455"/>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191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Utilizes recognized patterns.</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the steps of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Basic recipe: a model for baking</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
        <p:nvSpPr>
          <p:cNvPr id="12" name="TextBox 12"/>
          <p:cNvSpPr txBox="1"/>
          <p:nvPr/>
        </p:nvSpPr>
        <p:spPr>
          <a:xfrm>
            <a:off x="1024128" y="2688336"/>
            <a:ext cx="4572000" cy="2926080"/>
          </a:xfrm>
          <a:prstGeom prst="rect">
            <a:avLst/>
          </a:prstGeom>
          <a:noFill/>
        </p:spPr>
        <p:txBody>
          <a:bodyPr wrap="square" lIns="182880" tIns="182880" rIns="182880" bIns="182880" rtlCol="0" anchor="t">
            <a:normAutofit lnSpcReduction="10000"/>
          </a:bodyPr>
          <a:lstStyle/>
          <a:p>
            <a:pPr marL="0" indent="0">
              <a:spcAft>
                <a:spcPts val="600"/>
              </a:spcAft>
              <a:buNone/>
            </a:pPr>
            <a:r>
              <a:rPr lang="en-US" sz="2400" b="1" dirty="0"/>
              <a:t>Keep fixed: the model</a:t>
            </a:r>
          </a:p>
          <a:p>
            <a:pPr marL="285750" lvl="0" indent="-285750">
              <a:spcAft>
                <a:spcPts val="300"/>
              </a:spcAft>
              <a:buFont typeface="Arial"/>
              <a:buChar char="•"/>
            </a:pPr>
            <a:r>
              <a:rPr lang="en-US" sz="2000" dirty="0"/>
              <a:t>Gather ingredients*</a:t>
            </a:r>
          </a:p>
          <a:p>
            <a:pPr marL="285750" lvl="0" indent="-285750">
              <a:spcAft>
                <a:spcPts val="300"/>
              </a:spcAft>
              <a:buFont typeface="Arial"/>
              <a:buChar char="•"/>
            </a:pPr>
            <a:r>
              <a:rPr lang="en-US" sz="2000" dirty="0"/>
              <a:t>Select the pan*</a:t>
            </a:r>
          </a:p>
          <a:p>
            <a:pPr marL="285750" lvl="0" indent="-285750">
              <a:spcAft>
                <a:spcPts val="300"/>
              </a:spcAft>
              <a:buFont typeface="Arial"/>
              <a:buChar char="•"/>
            </a:pPr>
            <a:r>
              <a:rPr lang="en-US" sz="2000" dirty="0"/>
              <a:t>Set the oven temperature*</a:t>
            </a:r>
          </a:p>
          <a:p>
            <a:pPr marL="285750" lvl="0" indent="-285750">
              <a:spcAft>
                <a:spcPts val="300"/>
              </a:spcAft>
              <a:buFont typeface="Arial"/>
              <a:buChar char="•"/>
            </a:pPr>
            <a:r>
              <a:rPr lang="en-US" sz="2000" dirty="0"/>
              <a:t>Prepare and combine</a:t>
            </a:r>
          </a:p>
          <a:p>
            <a:pPr marL="285750" lvl="0" indent="-285750">
              <a:spcAft>
                <a:spcPts val="300"/>
              </a:spcAft>
              <a:buFont typeface="Arial"/>
              <a:buChar char="•"/>
            </a:pPr>
            <a:r>
              <a:rPr lang="en-US" sz="2000" dirty="0"/>
              <a:t>Bake for required time*</a:t>
            </a:r>
          </a:p>
          <a:p>
            <a:pPr marL="285750" lvl="0" indent="-285750">
              <a:spcAft>
                <a:spcPts val="300"/>
              </a:spcAft>
              <a:buFont typeface="Arial"/>
              <a:buChar char="•"/>
            </a:pPr>
            <a:r>
              <a:rPr lang="en-US" sz="2000" dirty="0"/>
              <a:t>Check for doneness</a:t>
            </a:r>
          </a:p>
          <a:p>
            <a:pPr marL="285750" lvl="0" indent="-285750">
              <a:spcAft>
                <a:spcPts val="0"/>
              </a:spcAft>
              <a:buFont typeface="Arial"/>
              <a:buChar char="•"/>
            </a:pPr>
            <a:r>
              <a:rPr lang="en-US" sz="2000" dirty="0"/>
              <a:t>Prepare for serving*</a:t>
            </a:r>
          </a:p>
        </p:txBody>
      </p:sp>
      <p:sp>
        <p:nvSpPr>
          <p:cNvPr id="13" name="TextBox 13"/>
          <p:cNvSpPr txBox="1"/>
          <p:nvPr/>
        </p:nvSpPr>
        <p:spPr>
          <a:xfrm>
            <a:off x="5943600" y="2688336"/>
            <a:ext cx="5130800" cy="2926080"/>
          </a:xfrm>
          <a:prstGeom prst="rect">
            <a:avLst/>
          </a:prstGeom>
          <a:noFill/>
        </p:spPr>
        <p:txBody>
          <a:bodyPr wrap="square" lIns="182880" tIns="182880" rIns="182880" bIns="182880" rtlCol="0" anchor="t">
            <a:normAutofit/>
          </a:bodyPr>
          <a:lstStyle/>
          <a:p>
            <a:pPr marL="0" indent="0">
              <a:spcAft>
                <a:spcPts val="600"/>
              </a:spcAft>
              <a:buNone/>
            </a:pPr>
            <a:r>
              <a:rPr lang="en-US" sz="2400" b="1" dirty="0"/>
              <a:t>Pull out: what the user chooses</a:t>
            </a:r>
          </a:p>
          <a:p>
            <a:pPr marL="285750" lvl="0" indent="-285750">
              <a:spcAft>
                <a:spcPts val="300"/>
              </a:spcAft>
              <a:buFont typeface="Arial"/>
              <a:buChar char="•"/>
            </a:pPr>
            <a:r>
              <a:rPr lang="en-US" sz="2000" dirty="0"/>
              <a:t>Type of baked good: </a:t>
            </a:r>
          </a:p>
          <a:p>
            <a:pPr lvl="1">
              <a:spcAft>
                <a:spcPts val="300"/>
              </a:spcAft>
            </a:pPr>
            <a:r>
              <a:rPr lang="en-US" sz="2000" dirty="0"/>
              <a:t>cake, cupcake, muffin, …</a:t>
            </a:r>
          </a:p>
          <a:p>
            <a:pPr marL="285750" lvl="0" indent="-285750">
              <a:spcAft>
                <a:spcPts val="300"/>
              </a:spcAft>
              <a:buFont typeface="Arial"/>
              <a:buChar char="•"/>
            </a:pPr>
            <a:r>
              <a:rPr lang="en-US" sz="2000" dirty="0"/>
              <a:t>Flavor</a:t>
            </a:r>
          </a:p>
          <a:p>
            <a:pPr marL="285750" lvl="0" indent="-285750">
              <a:spcAft>
                <a:spcPts val="300"/>
              </a:spcAft>
              <a:buFont typeface="Arial"/>
              <a:buChar char="•"/>
            </a:pPr>
            <a:r>
              <a:rPr lang="en-US" sz="2000" dirty="0"/>
              <a:t>Frosting or decoration</a:t>
            </a:r>
          </a:p>
        </p:txBody>
      </p:sp>
      <p:sp>
        <p:nvSpPr>
          <p:cNvPr id="14" name="TextBox 14"/>
          <p:cNvSpPr txBox="1"/>
          <p:nvPr/>
        </p:nvSpPr>
        <p:spPr>
          <a:xfrm>
            <a:off x="1333500" y="5843016"/>
            <a:ext cx="9509760" cy="374904"/>
          </a:xfrm>
          <a:prstGeom prst="rect">
            <a:avLst/>
          </a:prstGeom>
          <a:noFill/>
        </p:spPr>
        <p:txBody>
          <a:bodyPr wrap="square" lIns="0" tIns="0" rIns="0" bIns="0" rtlCol="0" anchor="t">
            <a:normAutofit/>
          </a:bodyPr>
          <a:lstStyle/>
          <a:p>
            <a:r>
              <a:rPr lang="en-US" dirty="0"/>
              <a:t>* Worked out from the user's choices. The user doesn't decide these directly.</a:t>
            </a:r>
            <a:endParaRPr lang="en-US" sz="1800" i="1" dirty="0"/>
          </a:p>
        </p:txBody>
      </p:sp>
      <p:sp>
        <p:nvSpPr>
          <p:cNvPr id="3" name="TextBox 2">
            <a:extLst>
              <a:ext uri="{FF2B5EF4-FFF2-40B4-BE49-F238E27FC236}">
                <a16:creationId xmlns:a16="http://schemas.microsoft.com/office/drawing/2014/main" id="{BC3A3F50-39D6-B8DC-F537-486B184DF7B0}"/>
              </a:ext>
            </a:extLst>
          </p:cNvPr>
          <p:cNvSpPr txBox="1"/>
          <p:nvPr/>
        </p:nvSpPr>
        <p:spPr>
          <a:xfrm>
            <a:off x="1024128" y="1828800"/>
            <a:ext cx="6867778" cy="646331"/>
          </a:xfrm>
          <a:prstGeom prst="rect">
            <a:avLst/>
          </a:prstGeom>
          <a:noFill/>
        </p:spPr>
        <p:txBody>
          <a:bodyPr wrap="none" rtlCol="0">
            <a:spAutoFit/>
          </a:bodyPr>
          <a:lstStyle/>
          <a:p>
            <a:r>
              <a:rPr lang="en-US" dirty="0"/>
              <a:t>During pattern recognition we observed what was the same vs different. </a:t>
            </a:r>
          </a:p>
          <a:p>
            <a:r>
              <a:rPr lang="en-US" dirty="0"/>
              <a:t>Now we’ll design a model based on those observations.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50E127-232D-1846-639C-7854FB3B0055}"/>
              </a:ext>
            </a:extLst>
          </p:cNvPr>
          <p:cNvSpPr>
            <a:spLocks noGrp="1"/>
          </p:cNvSpPr>
          <p:nvPr>
            <p:ph type="title"/>
          </p:nvPr>
        </p:nvSpPr>
        <p:spPr/>
        <p:txBody>
          <a:bodyPr/>
          <a:lstStyle/>
          <a:p>
            <a:r>
              <a:rPr lang="en-US" dirty="0"/>
              <a:t>Baking as a computational model</a:t>
            </a:r>
          </a:p>
        </p:txBody>
      </p:sp>
      <p:sp>
        <p:nvSpPr>
          <p:cNvPr id="10" name="TextBox 9">
            <a:extLst>
              <a:ext uri="{FF2B5EF4-FFF2-40B4-BE49-F238E27FC236}">
                <a16:creationId xmlns:a16="http://schemas.microsoft.com/office/drawing/2014/main" id="{240AAF78-8167-EFBB-FE1E-FF94A0C8120B}"/>
              </a:ext>
            </a:extLst>
          </p:cNvPr>
          <p:cNvSpPr txBox="1"/>
          <p:nvPr/>
        </p:nvSpPr>
        <p:spPr>
          <a:xfrm>
            <a:off x="1236472" y="2590800"/>
            <a:ext cx="9931400" cy="3970318"/>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bake &lt;- </a:t>
            </a:r>
            <a:r>
              <a:rPr lang="en-US" dirty="0">
                <a:solidFill>
                  <a:srgbClr val="7030A0"/>
                </a:solidFill>
                <a:latin typeface="Courier New" panose="02070309020205020404" pitchFamily="49" charset="0"/>
                <a:cs typeface="Courier New" panose="02070309020205020404" pitchFamily="49" charset="0"/>
              </a:rPr>
              <a:t>function</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item</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flavor</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frosted</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ingredients &lt;- </a:t>
            </a:r>
            <a:r>
              <a:rPr lang="en-US" dirty="0" err="1">
                <a:solidFill>
                  <a:srgbClr val="0070C0"/>
                </a:solidFill>
                <a:latin typeface="Courier New" panose="02070309020205020404" pitchFamily="49" charset="0"/>
                <a:cs typeface="Courier New" panose="02070309020205020404" pitchFamily="49" charset="0"/>
              </a:rPr>
              <a:t>gather_ingredients</a:t>
            </a:r>
            <a:r>
              <a:rPr lang="en-US" dirty="0">
                <a:latin typeface="Courier New" panose="02070309020205020404" pitchFamily="49" charset="0"/>
                <a:cs typeface="Courier New" panose="02070309020205020404" pitchFamily="49" charset="0"/>
              </a:rPr>
              <a:t>(item, flavor)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pan         &lt;- </a:t>
            </a:r>
            <a:r>
              <a:rPr lang="en-US" dirty="0" err="1">
                <a:solidFill>
                  <a:srgbClr val="0070C0"/>
                </a:solidFill>
                <a:latin typeface="Courier New" panose="02070309020205020404" pitchFamily="49" charset="0"/>
                <a:cs typeface="Courier New" panose="02070309020205020404" pitchFamily="49" charset="0"/>
              </a:rPr>
              <a:t>select_pan</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oven        &lt;- </a:t>
            </a:r>
            <a:r>
              <a:rPr lang="en-US" dirty="0" err="1">
                <a:solidFill>
                  <a:srgbClr val="0070C0"/>
                </a:solidFill>
                <a:latin typeface="Courier New" panose="02070309020205020404" pitchFamily="49" charset="0"/>
                <a:cs typeface="Courier New" panose="02070309020205020404" pitchFamily="49" charset="0"/>
              </a:rPr>
              <a:t>set_temp_time</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decorate	</a:t>
            </a:r>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&lt;- </a:t>
            </a:r>
            <a:r>
              <a:rPr lang="en-US" dirty="0">
                <a:solidFill>
                  <a:srgbClr val="0070C0"/>
                </a:solidFill>
                <a:latin typeface="Courier New" panose="02070309020205020404" pitchFamily="49" charset="0"/>
                <a:cs typeface="Courier New" panose="02070309020205020404" pitchFamily="49" charset="0"/>
              </a:rPr>
              <a:t>decorate</a:t>
            </a:r>
            <a:r>
              <a:rPr lang="en-US" dirty="0">
                <a:latin typeface="Courier New" panose="02070309020205020404" pitchFamily="49" charset="0"/>
                <a:cs typeface="Courier New" panose="02070309020205020404" pitchFamily="49" charset="0"/>
              </a:rPr>
              <a:t>(frosted)                  </a:t>
            </a:r>
            <a:r>
              <a:rPr lang="en-US" dirty="0">
                <a:solidFill>
                  <a:schemeClr val="bg1">
                    <a:lumMod val="50000"/>
                  </a:schemeClr>
                </a:solidFill>
                <a:latin typeface="Courier New" panose="02070309020205020404" pitchFamily="49" charset="0"/>
                <a:cs typeface="Courier New" panose="02070309020205020404" pitchFamily="49" charset="0"/>
              </a:rPr>
              <a:t># *                </a:t>
            </a:r>
          </a:p>
          <a:p>
            <a:r>
              <a:rPr lang="en-US" dirty="0">
                <a:latin typeface="Courier New" panose="02070309020205020404" pitchFamily="49" charset="0"/>
                <a:cs typeface="Courier New" panose="02070309020205020404" pitchFamily="49" charset="0"/>
              </a:rPr>
              <a:t>  </a:t>
            </a:r>
            <a:r>
              <a:rPr lang="en-US"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dirty="0">
                <a:solidFill>
                  <a:schemeClr val="bg1">
                    <a:lumMod val="50000"/>
                  </a:schemeClr>
                </a:solidFill>
                <a:latin typeface="Courier New" panose="02070309020205020404" pitchFamily="49" charset="0"/>
                <a:cs typeface="Courier New" panose="02070309020205020404" pitchFamily="49" charset="0"/>
              </a:rPr>
              <a:t>  # bake</a:t>
            </a:r>
          </a:p>
          <a:p>
            <a:r>
              <a:rPr lang="en-US"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"chocolate", TRUE</a:t>
            </a:r>
            <a:r>
              <a:rPr lang="en-US" dirty="0">
                <a:latin typeface="Courier New" panose="02070309020205020404" pitchFamily="49" charset="0"/>
                <a:cs typeface="Courier New" panose="02070309020205020404" pitchFamily="49" charset="0"/>
              </a:rPr>
              <a:t>)</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"vanilla", FALSE</a:t>
            </a:r>
            <a:r>
              <a:rPr lang="en-US" dirty="0">
                <a:latin typeface="Courier New" panose="02070309020205020404" pitchFamily="49" charset="0"/>
                <a:cs typeface="Courier New" panose="02070309020205020404" pitchFamily="49" charset="0"/>
              </a:rPr>
              <a:t>)     </a:t>
            </a:r>
            <a:r>
              <a:rPr lang="en-US" dirty="0">
                <a:solidFill>
                  <a:schemeClr val="bg1">
                    <a:lumMod val="65000"/>
                  </a:schemeClr>
                </a:solidFill>
                <a:latin typeface="Courier New" panose="02070309020205020404" pitchFamily="49" charset="0"/>
                <a:cs typeface="Courier New" panose="02070309020205020404" pitchFamily="49" charset="0"/>
              </a:rPr>
              <a:t># same item, different choices</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"muffin"</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"blueberry", FALSE</a:t>
            </a:r>
            <a:r>
              <a:rPr lang="en-US"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82D88A12-AD81-9288-5560-33556E9C870B}"/>
              </a:ext>
            </a:extLst>
          </p:cNvPr>
          <p:cNvSpPr txBox="1"/>
          <p:nvPr/>
        </p:nvSpPr>
        <p:spPr>
          <a:xfrm>
            <a:off x="561287" y="1991739"/>
            <a:ext cx="675185" cy="461665"/>
          </a:xfrm>
          <a:prstGeom prst="rect">
            <a:avLst/>
          </a:prstGeom>
          <a:noFill/>
        </p:spPr>
        <p:txBody>
          <a:bodyPr wrap="none" rtlCol="0">
            <a:spAutoFit/>
          </a:bodyPr>
          <a:lstStyle/>
          <a:p>
            <a:r>
              <a:rPr lang="en-US" sz="2400" dirty="0"/>
              <a:t>task</a:t>
            </a:r>
          </a:p>
        </p:txBody>
      </p:sp>
      <p:cxnSp>
        <p:nvCxnSpPr>
          <p:cNvPr id="12" name="Straight Arrow Connector 11">
            <a:extLst>
              <a:ext uri="{FF2B5EF4-FFF2-40B4-BE49-F238E27FC236}">
                <a16:creationId xmlns:a16="http://schemas.microsoft.com/office/drawing/2014/main" id="{FEA9DE0C-5E46-EDA8-2B56-670FF0E359BD}"/>
              </a:ext>
            </a:extLst>
          </p:cNvPr>
          <p:cNvCxnSpPr>
            <a:cxnSpLocks/>
          </p:cNvCxnSpPr>
          <p:nvPr/>
        </p:nvCxnSpPr>
        <p:spPr>
          <a:xfrm>
            <a:off x="1025904" y="2440295"/>
            <a:ext cx="212344" cy="2747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495D2B6-BDFD-798E-C568-7AD785DC8069}"/>
              </a:ext>
            </a:extLst>
          </p:cNvPr>
          <p:cNvSpPr txBox="1"/>
          <p:nvPr/>
        </p:nvSpPr>
        <p:spPr>
          <a:xfrm>
            <a:off x="4027366" y="1880438"/>
            <a:ext cx="2983702" cy="461665"/>
          </a:xfrm>
          <a:prstGeom prst="rect">
            <a:avLst/>
          </a:prstGeom>
          <a:noFill/>
        </p:spPr>
        <p:txBody>
          <a:bodyPr wrap="none" rtlCol="0">
            <a:spAutoFit/>
          </a:bodyPr>
          <a:lstStyle/>
          <a:p>
            <a:r>
              <a:rPr lang="en-US" sz="2400" dirty="0"/>
              <a:t>inputs – chosen by user</a:t>
            </a:r>
          </a:p>
        </p:txBody>
      </p:sp>
      <p:cxnSp>
        <p:nvCxnSpPr>
          <p:cNvPr id="14" name="Straight Arrow Connector 13">
            <a:extLst>
              <a:ext uri="{FF2B5EF4-FFF2-40B4-BE49-F238E27FC236}">
                <a16:creationId xmlns:a16="http://schemas.microsoft.com/office/drawing/2014/main" id="{D3037A02-DAF3-3B38-A881-5E98BDAF0197}"/>
              </a:ext>
            </a:extLst>
          </p:cNvPr>
          <p:cNvCxnSpPr>
            <a:cxnSpLocks/>
          </p:cNvCxnSpPr>
          <p:nvPr/>
        </p:nvCxnSpPr>
        <p:spPr>
          <a:xfrm flipH="1">
            <a:off x="4255724" y="2342103"/>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592F166-CE2F-8BBC-9D5A-B13CBD620E08}"/>
              </a:ext>
            </a:extLst>
          </p:cNvPr>
          <p:cNvSpPr txBox="1"/>
          <p:nvPr/>
        </p:nvSpPr>
        <p:spPr>
          <a:xfrm>
            <a:off x="69495" y="4090615"/>
            <a:ext cx="1388565" cy="461665"/>
          </a:xfrm>
          <a:prstGeom prst="rect">
            <a:avLst/>
          </a:prstGeom>
          <a:noFill/>
        </p:spPr>
        <p:txBody>
          <a:bodyPr wrap="square" rtlCol="0">
            <a:spAutoFit/>
          </a:bodyPr>
          <a:lstStyle/>
          <a:p>
            <a:r>
              <a:rPr lang="en-US" sz="2400" dirty="0"/>
              <a:t>the steps</a:t>
            </a:r>
          </a:p>
        </p:txBody>
      </p:sp>
      <p:cxnSp>
        <p:nvCxnSpPr>
          <p:cNvPr id="16" name="Straight Arrow Connector 15">
            <a:extLst>
              <a:ext uri="{FF2B5EF4-FFF2-40B4-BE49-F238E27FC236}">
                <a16:creationId xmlns:a16="http://schemas.microsoft.com/office/drawing/2014/main" id="{18D92AFA-A17C-CC41-C736-9D89015C36C7}"/>
              </a:ext>
            </a:extLst>
          </p:cNvPr>
          <p:cNvCxnSpPr>
            <a:cxnSpLocks/>
          </p:cNvCxnSpPr>
          <p:nvPr/>
        </p:nvCxnSpPr>
        <p:spPr>
          <a:xfrm flipV="1">
            <a:off x="948589" y="3592210"/>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40BBF619-393E-E58E-0D61-51C171FC2A3D}"/>
              </a:ext>
            </a:extLst>
          </p:cNvPr>
          <p:cNvPicPr>
            <a:picLocks noChangeAspect="1"/>
          </p:cNvPicPr>
          <p:nvPr/>
        </p:nvPicPr>
        <p:blipFill>
          <a:blip r:embed="rId2"/>
          <a:stretch>
            <a:fillRect/>
          </a:stretch>
        </p:blipFill>
        <p:spPr>
          <a:xfrm>
            <a:off x="9721850" y="3210197"/>
            <a:ext cx="2222500" cy="2222500"/>
          </a:xfrm>
          <a:prstGeom prst="rect">
            <a:avLst/>
          </a:prstGeom>
        </p:spPr>
      </p:pic>
    </p:spTree>
    <p:extLst>
      <p:ext uri="{BB962C8B-B14F-4D97-AF65-F5344CB8AC3E}">
        <p14:creationId xmlns:p14="http://schemas.microsoft.com/office/powerpoint/2010/main" val="347589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a:xfrm>
            <a:off x="1024128" y="2286000"/>
            <a:ext cx="10320631" cy="4023360"/>
          </a:xfrm>
        </p:spPr>
        <p:txBody>
          <a:bodyPr>
            <a:normAutofit fontScale="77500" lnSpcReduction="2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r>
              <a:rPr lang="en-US" dirty="0"/>
              <a:t>Packaged into packages (R) or libraries (python) in coding languages</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group_by</a:t>
            </a:r>
            <a:r>
              <a:rPr lang="en-US" dirty="0"/>
              <a:t>() and summarize(),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6066276" cy="461665"/>
          </a:xfrm>
          <a:prstGeom prst="rect">
            <a:avLst/>
          </a:prstGeom>
          <a:noFill/>
        </p:spPr>
        <p:txBody>
          <a:bodyPr wrap="none" rtlCol="0">
            <a:spAutoFit/>
          </a:bodyPr>
          <a:lstStyle/>
          <a:p>
            <a:r>
              <a:rPr lang="en-US" sz="2400" dirty="0"/>
              <a:t>function inputs (aka arguments) – chosen by user</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
        <p:nvSpPr>
          <p:cNvPr id="3" name="TextBox 2">
            <a:extLst>
              <a:ext uri="{FF2B5EF4-FFF2-40B4-BE49-F238E27FC236}">
                <a16:creationId xmlns:a16="http://schemas.microsoft.com/office/drawing/2014/main" id="{1BCD7FFC-30A6-5827-5EF6-77C9E430580D}"/>
              </a:ext>
            </a:extLst>
          </p:cNvPr>
          <p:cNvSpPr txBox="1"/>
          <p:nvPr/>
        </p:nvSpPr>
        <p:spPr>
          <a:xfrm>
            <a:off x="262434" y="3844085"/>
            <a:ext cx="3090911" cy="461665"/>
          </a:xfrm>
          <a:prstGeom prst="rect">
            <a:avLst/>
          </a:prstGeom>
          <a:noFill/>
        </p:spPr>
        <p:txBody>
          <a:bodyPr wrap="none" rtlCol="0">
            <a:spAutoFit/>
          </a:bodyPr>
          <a:lstStyle/>
          <a:p>
            <a:r>
              <a:rPr lang="en-US" sz="2400" dirty="0"/>
              <a:t>the steps or components</a:t>
            </a:r>
          </a:p>
        </p:txBody>
      </p:sp>
      <p:cxnSp>
        <p:nvCxnSpPr>
          <p:cNvPr id="4" name="Straight Arrow Connector 3">
            <a:extLst>
              <a:ext uri="{FF2B5EF4-FFF2-40B4-BE49-F238E27FC236}">
                <a16:creationId xmlns:a16="http://schemas.microsoft.com/office/drawing/2014/main" id="{C8EBDABD-2804-3C0F-5A0B-C747FE95493A}"/>
              </a:ext>
            </a:extLst>
          </p:cNvPr>
          <p:cNvCxnSpPr>
            <a:cxnSpLocks/>
          </p:cNvCxnSpPr>
          <p:nvPr/>
        </p:nvCxnSpPr>
        <p:spPr>
          <a:xfrm flipV="1">
            <a:off x="1244600" y="3357331"/>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401C055-75FE-FCA4-46D0-49257370F77B}"/>
              </a:ext>
            </a:extLst>
          </p:cNvPr>
          <p:cNvSpPr txBox="1"/>
          <p:nvPr/>
        </p:nvSpPr>
        <p:spPr>
          <a:xfrm>
            <a:off x="349063" y="4199811"/>
            <a:ext cx="2563715" cy="646331"/>
          </a:xfrm>
          <a:prstGeom prst="rect">
            <a:avLst/>
          </a:prstGeom>
          <a:noFill/>
        </p:spPr>
        <p:txBody>
          <a:bodyPr wrap="none" rtlCol="0">
            <a:spAutoFit/>
          </a:bodyPr>
          <a:lstStyle/>
          <a:p>
            <a:pPr marL="285750" indent="-285750">
              <a:buFontTx/>
              <a:buChar char="-"/>
            </a:pPr>
            <a:r>
              <a:rPr lang="en-US" dirty="0"/>
              <a:t>Plot style</a:t>
            </a:r>
          </a:p>
          <a:p>
            <a:pPr marL="285750" indent="-285750">
              <a:buFontTx/>
              <a:buChar char="-"/>
            </a:pPr>
            <a:r>
              <a:rPr lang="en-US" dirty="0"/>
              <a:t>Theme or axes formats</a:t>
            </a:r>
          </a:p>
        </p:txBody>
      </p:sp>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P spid="3"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3: Create a simplified model</a:t>
            </a:r>
          </a:p>
        </p:txBody>
      </p:sp>
      <p:sp>
        <p:nvSpPr>
          <p:cNvPr id="14" name="TextBox 14"/>
          <p:cNvSpPr txBox="1"/>
          <p:nvPr/>
        </p:nvSpPr>
        <p:spPr>
          <a:xfrm>
            <a:off x="1024128" y="2514600"/>
            <a:ext cx="5251412" cy="3383280"/>
          </a:xfrm>
          <a:prstGeom prst="rect">
            <a:avLst/>
          </a:prstGeom>
          <a:noFill/>
        </p:spPr>
        <p:txBody>
          <a:bodyPr wrap="square" lIns="91440" tIns="91440" rIns="91440" bIns="91440" rtlCol="0" anchor="t"/>
          <a:lstStyle/>
          <a:p>
            <a:pPr marL="0" indent="0">
              <a:spcAft>
                <a:spcPts val="900"/>
              </a:spcAft>
              <a:buNone/>
            </a:pPr>
            <a:r>
              <a:rPr lang="en-US" b="1" dirty="0">
                <a:solidFill>
                  <a:schemeClr val="accent1">
                    <a:lumMod val="75000"/>
                  </a:schemeClr>
                </a:solidFill>
              </a:rPr>
              <a:t>Think.  </a:t>
            </a:r>
            <a:r>
              <a:rPr lang="en-US" dirty="0"/>
              <a:t>Run the two code blocks in Exercise 3. Find the two things that differ in the code blocks. Those are what the user chooses.</a:t>
            </a:r>
          </a:p>
          <a:p>
            <a:pPr marL="0" indent="0">
              <a:spcAft>
                <a:spcPts val="900"/>
              </a:spcAft>
              <a:buNone/>
            </a:pPr>
            <a:r>
              <a:rPr lang="en-US" b="1" dirty="0">
                <a:solidFill>
                  <a:schemeClr val="accent1">
                    <a:lumMod val="75000"/>
                  </a:schemeClr>
                </a:solidFill>
              </a:rPr>
              <a:t>Prompt.  </a:t>
            </a:r>
            <a:r>
              <a:rPr lang="en-US" dirty="0"/>
              <a:t>Fill in the two blanks in the template at right: creatinine (the test) and 1.2 (the cutoff). Send it to Claude in a new chat.</a:t>
            </a:r>
          </a:p>
          <a:p>
            <a:pPr marL="0" indent="0">
              <a:spcAft>
                <a:spcPts val="900"/>
              </a:spcAft>
              <a:buNone/>
            </a:pPr>
            <a:r>
              <a:rPr lang="en-US" b="1" dirty="0">
                <a:solidFill>
                  <a:schemeClr val="accent1">
                    <a:lumMod val="75000"/>
                  </a:schemeClr>
                </a:solidFill>
              </a:rPr>
              <a:t>Check.  </a:t>
            </a:r>
            <a:r>
              <a:rPr lang="en-US" dirty="0"/>
              <a:t>Run Claude's code. For ICU patients, the percent of creatinine results above 1.2 should be 7.4%. Then fill in the template for glucose above 125, send it in the same chat, and run that code. ICU should be 9.1%, the same as the glucose block in your workbook.</a:t>
            </a:r>
          </a:p>
        </p:txBody>
      </p:sp>
      <p:sp>
        <p:nvSpPr>
          <p:cNvPr id="15" name="TextBox 15"/>
          <p:cNvSpPr txBox="1"/>
          <p:nvPr/>
        </p:nvSpPr>
        <p:spPr>
          <a:xfrm>
            <a:off x="6629400" y="2606040"/>
            <a:ext cx="4526280" cy="329184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Write R code that reports the</a:t>
            </a:r>
          </a:p>
          <a:p>
            <a:pPr marL="0" indent="0">
              <a:buNone/>
            </a:pPr>
            <a:r>
              <a:rPr lang="en-US" sz="1500" dirty="0">
                <a:solidFill>
                  <a:srgbClr val="1F2A30"/>
                </a:solidFill>
                <a:latin typeface="Courier New"/>
                <a:cs typeface="Courier New"/>
              </a:rPr>
              <a:t>percent of ______ results</a:t>
            </a:r>
          </a:p>
          <a:p>
            <a:pPr marL="0" indent="0">
              <a:buNone/>
            </a:pPr>
            <a:r>
              <a:rPr lang="en-US" sz="1500" dirty="0">
                <a:solidFill>
                  <a:srgbClr val="1F2A30"/>
                </a:solidFill>
                <a:latin typeface="Courier New"/>
                <a:cs typeface="Courier New"/>
              </a:rPr>
              <a:t>above ______, by patient type.</a:t>
            </a:r>
          </a:p>
          <a:p>
            <a:pPr marL="0" indent="0">
              <a:buNone/>
            </a:pPr>
            <a:r>
              <a:rPr lang="en-US" sz="1500" dirty="0">
                <a:solidFill>
                  <a:srgbClr val="1F2A30"/>
                </a:solidFill>
                <a:latin typeface="Courier New"/>
                <a:cs typeface="Courier New"/>
              </a:rPr>
              <a:t> </a:t>
            </a:r>
          </a:p>
          <a:p>
            <a:pPr marL="0" indent="0">
              <a:buNone/>
            </a:pPr>
            <a:r>
              <a:rPr lang="en-US" sz="1500" dirty="0">
                <a:solidFill>
                  <a:srgbClr val="1F2A30"/>
                </a:solidFill>
                <a:latin typeface="Courier New"/>
                <a:cs typeface="Courier New"/>
              </a:rPr>
              <a:t>My data frame is called chem.</a:t>
            </a:r>
          </a:p>
          <a:p>
            <a:pPr marL="0" indent="0">
              <a:buNone/>
            </a:pPr>
            <a:r>
              <a:rPr lang="en-US" sz="1500" dirty="0">
                <a:solidFill>
                  <a:srgbClr val="1F2A30"/>
                </a:solidFill>
                <a:latin typeface="Courier New"/>
                <a:cs typeface="Courier New"/>
              </a:rPr>
              <a:t>Columns: test (text),</a:t>
            </a:r>
          </a:p>
          <a:p>
            <a:pPr marL="0" indent="0">
              <a:buNone/>
            </a:pPr>
            <a:r>
              <a:rPr lang="en-US" sz="1500" dirty="0">
                <a:solidFill>
                  <a:srgbClr val="1F2A30"/>
                </a:solidFill>
                <a:latin typeface="Courier New"/>
                <a:cs typeface="Courier New"/>
              </a:rPr>
              <a:t>value (number), pat_type (text).</a:t>
            </a:r>
          </a:p>
          <a:p>
            <a:pPr marL="0" indent="0">
              <a:buNone/>
            </a:pPr>
            <a:r>
              <a:rPr lang="en-US" sz="1500" dirty="0">
                <a:solidFill>
                  <a:srgbClr val="1F2A30"/>
                </a:solidFill>
                <a:latin typeface="Courier New"/>
                <a:cs typeface="Courier New"/>
              </a:rPr>
              <a:t>Use dplyr.</a:t>
            </a:r>
          </a:p>
        </p:txBody>
      </p:sp>
      <p:sp>
        <p:nvSpPr>
          <p:cNvPr id="2" name="TextBox 1">
            <a:extLst>
              <a:ext uri="{FF2B5EF4-FFF2-40B4-BE49-F238E27FC236}">
                <a16:creationId xmlns:a16="http://schemas.microsoft.com/office/drawing/2014/main" id="{10F40175-DFD8-BD0E-DE56-69D778E13BEA}"/>
              </a:ext>
            </a:extLst>
          </p:cNvPr>
          <p:cNvSpPr txBox="1"/>
          <p:nvPr/>
        </p:nvSpPr>
        <p:spPr>
          <a:xfrm>
            <a:off x="6629400" y="2190988"/>
            <a:ext cx="2496389" cy="369332"/>
          </a:xfrm>
          <a:prstGeom prst="rect">
            <a:avLst/>
          </a:prstGeom>
          <a:noFill/>
        </p:spPr>
        <p:txBody>
          <a:bodyPr wrap="none" rtlCol="0">
            <a:spAutoFit/>
          </a:bodyPr>
          <a:lstStyle/>
          <a:p>
            <a:r>
              <a:rPr lang="en-US" dirty="0"/>
              <a:t>Claude prompt template: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 what you should see</a:t>
            </a:r>
          </a:p>
        </p:txBody>
      </p:sp>
      <p:sp>
        <p:nvSpPr>
          <p:cNvPr id="12" name="TextBox 12"/>
          <p:cNvSpPr txBox="1"/>
          <p:nvPr/>
        </p:nvSpPr>
        <p:spPr>
          <a:xfrm>
            <a:off x="1024128" y="2103120"/>
            <a:ext cx="5394960" cy="265176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 creatinine above 1.2</a:t>
            </a:r>
          </a:p>
          <a:p>
            <a:pPr marL="0" indent="0">
              <a:buNone/>
            </a:pPr>
            <a:r>
              <a:rPr lang="en-US" sz="1400" dirty="0">
                <a:solidFill>
                  <a:srgbClr val="1F2A30"/>
                </a:solidFill>
                <a:latin typeface="Courier New"/>
                <a:cs typeface="Courier New"/>
              </a:rPr>
              <a:t>  pat_type      n_results pct_above</a:t>
            </a:r>
          </a:p>
          <a:p>
            <a:pPr marL="0" indent="0">
              <a:buNone/>
            </a:pPr>
            <a:r>
              <a:rPr lang="en-US" sz="1400" dirty="0">
                <a:solidFill>
                  <a:srgbClr val="1F2A30"/>
                </a:solidFill>
                <a:latin typeface="Courier New"/>
                <a:cs typeface="Courier New"/>
              </a:rPr>
              <a:t>1 cancer center      1059       8.2</a:t>
            </a:r>
          </a:p>
          <a:p>
            <a:pPr marL="0" indent="0">
              <a:buNone/>
            </a:pPr>
            <a:r>
              <a:rPr lang="en-US" sz="1400" dirty="0">
                <a:solidFill>
                  <a:srgbClr val="1F2A30"/>
                </a:solidFill>
                <a:latin typeface="Courier New"/>
                <a:cs typeface="Courier New"/>
              </a:rPr>
              <a:t>2 client             1092       6.8</a:t>
            </a:r>
          </a:p>
          <a:p>
            <a:pPr marL="0" indent="0">
              <a:buNone/>
            </a:pPr>
            <a:r>
              <a:rPr lang="en-US" sz="1400" dirty="0">
                <a:solidFill>
                  <a:srgbClr val="1F2A30"/>
                </a:solidFill>
                <a:latin typeface="Courier New"/>
                <a:cs typeface="Courier New"/>
              </a:rPr>
              <a:t>3 icu                1103       7.4</a:t>
            </a:r>
          </a:p>
          <a:p>
            <a:pPr marL="0" indent="0">
              <a:buNone/>
            </a:pPr>
            <a:r>
              <a:rPr lang="en-US" sz="1400" dirty="0">
                <a:solidFill>
                  <a:srgbClr val="1F2A30"/>
                </a:solidFill>
                <a:latin typeface="Courier New"/>
                <a:cs typeface="Courier New"/>
              </a:rPr>
              <a:t>4 inpatient          1067       9.1</a:t>
            </a:r>
          </a:p>
          <a:p>
            <a:pPr marL="0" indent="0">
              <a:buNone/>
            </a:pPr>
            <a:r>
              <a:rPr lang="en-US" sz="1400" dirty="0">
                <a:solidFill>
                  <a:srgbClr val="1F2A30"/>
                </a:solidFill>
                <a:latin typeface="Courier New"/>
                <a:cs typeface="Courier New"/>
              </a:rPr>
              <a:t>5 outpatient         1072       7.6</a:t>
            </a:r>
          </a:p>
          <a:p>
            <a:pPr marL="0" indent="0">
              <a:buNone/>
            </a:pPr>
            <a:r>
              <a:rPr lang="en-US" sz="1400" dirty="0">
                <a:solidFill>
                  <a:srgbClr val="1F2A30"/>
                </a:solidFill>
                <a:latin typeface="Courier New"/>
                <a:cs typeface="Courier New"/>
              </a:rPr>
              <a:t>6 NA                 1088       9.4</a:t>
            </a:r>
          </a:p>
        </p:txBody>
      </p:sp>
      <p:sp>
        <p:nvSpPr>
          <p:cNvPr id="13" name="TextBox 13"/>
          <p:cNvSpPr txBox="1"/>
          <p:nvPr/>
        </p:nvSpPr>
        <p:spPr>
          <a:xfrm>
            <a:off x="6675120" y="2103120"/>
            <a:ext cx="4480560" cy="333317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dirty="0"/>
              <a:t>Your template has fixed text and two blanks. It is a function written in English.</a:t>
            </a:r>
          </a:p>
          <a:p>
            <a:pPr marL="285750" lvl="0" indent="-285750">
              <a:spcAft>
                <a:spcPts val="600"/>
              </a:spcAft>
              <a:buFont typeface="Arial"/>
              <a:buChar char="•"/>
            </a:pPr>
            <a:r>
              <a:rPr lang="en-US" sz="1800" dirty="0"/>
              <a:t>The blanks are the arguments: </a:t>
            </a:r>
            <a:r>
              <a:rPr lang="en-US" sz="1800" b="1" dirty="0"/>
              <a:t>test</a:t>
            </a:r>
            <a:r>
              <a:rPr lang="en-US" sz="1800" dirty="0"/>
              <a:t> and </a:t>
            </a:r>
            <a:r>
              <a:rPr lang="en-US" sz="1800" b="1" dirty="0"/>
              <a:t>cutoff</a:t>
            </a:r>
            <a:r>
              <a:rPr lang="en-US" sz="1800" dirty="0"/>
              <a:t>.</a:t>
            </a:r>
          </a:p>
          <a:p>
            <a:pPr marL="285750" lvl="0" indent="-285750">
              <a:spcAft>
                <a:spcPts val="600"/>
              </a:spcAft>
              <a:buFont typeface="Arial"/>
              <a:buChar char="•"/>
            </a:pPr>
            <a:r>
              <a:rPr lang="en-US" sz="1800" dirty="0"/>
              <a:t>A new question costs two words, not a new prompt.</a:t>
            </a:r>
          </a:p>
          <a:p>
            <a:pPr marL="285750" lvl="0" indent="-285750">
              <a:spcAft>
                <a:spcPts val="600"/>
              </a:spcAft>
              <a:buFont typeface="Arial"/>
              <a:buChar char="•"/>
            </a:pPr>
            <a:r>
              <a:rPr lang="en-US" dirty="0"/>
              <a:t>Previously we recognized a pattern and used an existing function, now we’ve identified the model and used a pattern to write our own function.</a:t>
            </a:r>
            <a:endParaRPr lang="en-US" sz="1800" dirty="0"/>
          </a:p>
        </p:txBody>
      </p:sp>
      <p:sp>
        <p:nvSpPr>
          <p:cNvPr id="14" name="TextBox 14"/>
          <p:cNvSpPr txBox="1"/>
          <p:nvPr/>
        </p:nvSpPr>
        <p:spPr>
          <a:xfrm>
            <a:off x="1024128" y="5614416"/>
            <a:ext cx="10149840" cy="86868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 Demo: the same template as an R function</a:t>
            </a:r>
          </a:p>
          <a:p>
            <a:pPr marL="0" indent="0">
              <a:buNone/>
            </a:pPr>
            <a:r>
              <a:rPr lang="en-US" sz="1500" dirty="0">
                <a:solidFill>
                  <a:srgbClr val="1F2A30"/>
                </a:solidFill>
                <a:latin typeface="Courier New"/>
                <a:cs typeface="Courier New"/>
              </a:rPr>
              <a:t>pct_above("creatinine", 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fontScale="92500"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 and generating simple statistical summaries of large data sets</a:t>
            </a:r>
          </a:p>
          <a:p>
            <a:pPr marL="241300" indent="-241300"/>
            <a:endParaRPr lang="en-US" dirty="0"/>
          </a:p>
          <a:p>
            <a:pPr marL="241300" indent="-241300"/>
            <a:r>
              <a:rPr lang="en-US" b="1" dirty="0"/>
              <a:t>Computational examples: </a:t>
            </a:r>
            <a:r>
              <a:rPr lang="en-US" dirty="0"/>
              <a:t>APIs, programming functions, LLM prompting,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91151F9-A3F5-98D0-7959-C20782A8E99B}"/>
              </a:ext>
            </a:extLst>
          </p:cNvPr>
          <p:cNvGraphicFramePr>
            <a:graphicFrameLocks noGrp="1"/>
          </p:cNvGraphicFramePr>
          <p:nvPr>
            <p:extLst>
              <p:ext uri="{D42A27DB-BD31-4B8C-83A1-F6EECF244321}">
                <p14:modId xmlns:p14="http://schemas.microsoft.com/office/powerpoint/2010/main" val="3079491650"/>
              </p:ext>
            </p:extLst>
          </p:nvPr>
        </p:nvGraphicFramePr>
        <p:xfrm>
          <a:off x="815867" y="2084832"/>
          <a:ext cx="10136594" cy="3803584"/>
        </p:xfrm>
        <a:graphic>
          <a:graphicData uri="http://schemas.openxmlformats.org/drawingml/2006/table">
            <a:tbl>
              <a:tblPr>
                <a:tableStyleId>{5C22544A-7EE6-4342-B048-85BDC9FD1C3A}</a:tableStyleId>
              </a:tblPr>
              <a:tblGrid>
                <a:gridCol w="1155432">
                  <a:extLst>
                    <a:ext uri="{9D8B030D-6E8A-4147-A177-3AD203B41FA5}">
                      <a16:colId xmlns:a16="http://schemas.microsoft.com/office/drawing/2014/main" val="2908230292"/>
                    </a:ext>
                  </a:extLst>
                </a:gridCol>
                <a:gridCol w="3673273">
                  <a:extLst>
                    <a:ext uri="{9D8B030D-6E8A-4147-A177-3AD203B41FA5}">
                      <a16:colId xmlns:a16="http://schemas.microsoft.com/office/drawing/2014/main" val="2342720302"/>
                    </a:ext>
                  </a:extLst>
                </a:gridCol>
                <a:gridCol w="5307889">
                  <a:extLst>
                    <a:ext uri="{9D8B030D-6E8A-4147-A177-3AD203B41FA5}">
                      <a16:colId xmlns:a16="http://schemas.microsoft.com/office/drawing/2014/main" val="2681456211"/>
                    </a:ext>
                  </a:extLst>
                </a:gridCol>
              </a:tblGrid>
              <a:tr h="240632">
                <a:tc>
                  <a:txBody>
                    <a:bodyPr/>
                    <a:lstStyle/>
                    <a:p>
                      <a:pPr marL="0" marR="0">
                        <a:buNone/>
                      </a:pPr>
                      <a:r>
                        <a:rPr lang="en-US" sz="1400" b="1" dirty="0">
                          <a:effectLst/>
                        </a:rPr>
                        <a:t>Component</a:t>
                      </a:r>
                      <a:endParaRPr lang="en-US" sz="1400" b="1" dirty="0">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What the user supplies</a:t>
                      </a:r>
                      <a:endParaRPr lang="en-US" sz="1400" b="1">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Plain version</a:t>
                      </a:r>
                      <a:endParaRPr lang="en-US" sz="1400" b="1">
                        <a:effectLst/>
                        <a:latin typeface="Calibri" panose="020F0502020204030204" pitchFamily="34" charset="0"/>
                        <a:ea typeface="Calibri" panose="020F0502020204030204" pitchFamily="34" charset="0"/>
                      </a:endParaRPr>
                    </a:p>
                  </a:txBody>
                  <a:tcPr marL="66174" marR="66174" marT="48126" marB="48126"/>
                </a:tc>
                <a:extLst>
                  <a:ext uri="{0D108BD9-81ED-4DB2-BD59-A6C34878D82A}">
                    <a16:rowId xmlns:a16="http://schemas.microsoft.com/office/drawing/2014/main" val="2959074332"/>
                  </a:ext>
                </a:extLst>
              </a:tr>
              <a:tr h="616017">
                <a:tc>
                  <a:txBody>
                    <a:bodyPr/>
                    <a:lstStyle/>
                    <a:p>
                      <a:pPr marL="0" marR="0">
                        <a:buNone/>
                      </a:pPr>
                      <a:r>
                        <a:rPr lang="en-US" sz="1400" dirty="0">
                          <a:effectLst/>
                        </a:rPr>
                        <a:t>Task</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job, in one sentence</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Review this proposal from four perspectives: lab director, bench technologist, finance, and clinician [specify].</a:t>
                      </a:r>
                      <a:endParaRPr lang="en-US" sz="140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420244222"/>
                  </a:ext>
                </a:extLst>
              </a:tr>
              <a:tr h="745958">
                <a:tc>
                  <a:txBody>
                    <a:bodyPr/>
                    <a:lstStyle/>
                    <a:p>
                      <a:pPr marL="0" marR="0">
                        <a:buNone/>
                      </a:pPr>
                      <a:r>
                        <a:rPr lang="en-US" sz="1400">
                          <a:effectLst/>
                        </a:rPr>
                        <a:t>Context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decision, deadline, key facts, and audience. Specifying role may be useful.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We are deciding whether to bring [test] in-house by [date]. Current send-out volume is [N] per year at $[X]. The audience is the department leadership team.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427035114"/>
                  </a:ext>
                </a:extLst>
              </a:tr>
              <a:tr h="385011">
                <a:tc>
                  <a:txBody>
                    <a:bodyPr/>
                    <a:lstStyle/>
                    <a:p>
                      <a:pPr marL="0" marR="0">
                        <a:buNone/>
                      </a:pPr>
                      <a:r>
                        <a:rPr lang="en-US" sz="1400">
                          <a:effectLst/>
                        </a:rPr>
                        <a:t>Material</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documents or data to work from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Here is the proposal: [paste proposal]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020466204"/>
                  </a:ext>
                </a:extLst>
              </a:tr>
              <a:tr h="616017">
                <a:tc>
                  <a:txBody>
                    <a:bodyPr/>
                    <a:lstStyle/>
                    <a:p>
                      <a:pPr marL="0" marR="0">
                        <a:buNone/>
                      </a:pPr>
                      <a:r>
                        <a:rPr lang="en-US" sz="1400">
                          <a:effectLst/>
                        </a:rPr>
                        <a:t>Constraints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Limits, allowed sources, and what to flag</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Use only the proposal above. Mark any point based on your own assumptions. Capital budget is capped at $[Y].</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793789806"/>
                  </a:ext>
                </a:extLst>
              </a:tr>
              <a:tr h="745958">
                <a:tc>
                  <a:txBody>
                    <a:bodyPr/>
                    <a:lstStyle/>
                    <a:p>
                      <a:pPr marL="0" marR="0">
                        <a:buNone/>
                      </a:pPr>
                      <a:r>
                        <a:rPr lang="en-US" sz="1400">
                          <a:effectLst/>
                        </a:rPr>
                        <a:t>Output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Format, length, and what a good answer contains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For each perspective, give the top concern in 2 sentences and one question they would ask. Then list where the perspectives conflict and what data would resolve each conflict.</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819683976"/>
                  </a:ext>
                </a:extLst>
              </a:tr>
              <a:tr h="385011">
                <a:tc>
                  <a:txBody>
                    <a:bodyPr/>
                    <a:lstStyle/>
                    <a:p>
                      <a:pPr marL="0" marR="0">
                        <a:buNone/>
                      </a:pPr>
                      <a:r>
                        <a:rPr lang="en-US" sz="1400">
                          <a:effectLst/>
                        </a:rPr>
                        <a:t>Ask first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Nothing; it is a fixed line</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If anything essential is missing, ask me before answering.</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1884084151"/>
                  </a:ext>
                </a:extLst>
              </a:tr>
            </a:tbl>
          </a:graphicData>
        </a:graphic>
      </p:graphicFrame>
      <p:sp>
        <p:nvSpPr>
          <p:cNvPr id="5" name="Title 4">
            <a:extLst>
              <a:ext uri="{FF2B5EF4-FFF2-40B4-BE49-F238E27FC236}">
                <a16:creationId xmlns:a16="http://schemas.microsoft.com/office/drawing/2014/main" id="{E2EC31E1-2C65-D7C6-756F-8BDC089DE6F4}"/>
              </a:ext>
            </a:extLst>
          </p:cNvPr>
          <p:cNvSpPr>
            <a:spLocks noGrp="1"/>
          </p:cNvSpPr>
          <p:nvPr>
            <p:ph type="title"/>
          </p:nvPr>
        </p:nvSpPr>
        <p:spPr/>
        <p:txBody>
          <a:bodyPr/>
          <a:lstStyle/>
          <a:p>
            <a:r>
              <a:rPr lang="en-US" dirty="0"/>
              <a:t>LLM prompting framework</a:t>
            </a:r>
          </a:p>
        </p:txBody>
      </p:sp>
    </p:spTree>
    <p:extLst>
      <p:ext uri="{BB962C8B-B14F-4D97-AF65-F5344CB8AC3E}">
        <p14:creationId xmlns:p14="http://schemas.microsoft.com/office/powerpoint/2010/main" val="894678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Templates, projects and saved instructions</a:t>
            </a:r>
          </a:p>
        </p:txBody>
      </p:sp>
      <p:graphicFrame>
        <p:nvGraphicFramePr>
          <p:cNvPr id="12" name="Table 12"/>
          <p:cNvGraphicFramePr>
            <a:graphicFrameLocks noGrp="1"/>
          </p:cNvGraphicFramePr>
          <p:nvPr/>
        </p:nvGraphicFramePr>
        <p:xfrm>
          <a:off x="1024128" y="2103120"/>
          <a:ext cx="9875520"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777240">
                <a:tc>
                  <a:txBody>
                    <a:bodyPr/>
                    <a:lstStyle/>
                    <a:p>
                      <a:pPr marL="0" indent="0">
                        <a:buNone/>
                      </a:pPr>
                      <a:endParaRP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Written once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Supplied each time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777240">
                <a:tc>
                  <a:txBody>
                    <a:bodyPr/>
                    <a:lstStyle/>
                    <a:p>
                      <a:pPr marL="0" indent="0">
                        <a:buNone/>
                      </a:pPr>
                      <a:r>
                        <a:rPr lang="en-US" sz="1600" b="1" dirty="0"/>
                        <a:t>Our prompt template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wording and the data description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test and the cutoff</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t>The prompting framework</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Six components: Task, Context, Material, Constraints, Output,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What goes under each</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777240">
                <a:tc>
                  <a:txBody>
                    <a:bodyPr/>
                    <a:lstStyle/>
                    <a:p>
                      <a:pPr marL="0" indent="0">
                        <a:buNone/>
                      </a:pPr>
                      <a:r>
                        <a:rPr lang="en-US" sz="1600" b="1" dirty="0"/>
                        <a:t>Projects and saved instructions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What rarely changes: often Context, Constraints, Output and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Today's Task and Material</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5440680"/>
            <a:ext cx="9875520" cy="457200"/>
          </a:xfrm>
          <a:prstGeom prst="rect">
            <a:avLst/>
          </a:prstGeom>
          <a:noFill/>
        </p:spPr>
        <p:txBody>
          <a:bodyPr wrap="square" lIns="0" tIns="0" rIns="0" bIns="0" rtlCol="0" anchor="t"/>
          <a:lstStyle/>
          <a:p>
            <a:pPr marL="0" indent="0">
              <a:spcAft>
                <a:spcPts val="0"/>
              </a:spcAft>
              <a:buNone/>
            </a:pPr>
            <a:r>
              <a:rPr lang="en-US" sz="2000" b="1" dirty="0"/>
              <a:t>Same move each time: decide what stays fixed and what changes.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4D7A-54E8-4B0F-11B7-8F7F6E6BC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DFF4-A998-8F92-31A3-E0070DE87A15}"/>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59BC3EF-EC19-7FF6-3C1C-21DF41797774}"/>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D6B53797-F06B-722A-995C-9DBC4FA04B78}"/>
              </a:ext>
            </a:extLst>
          </p:cNvPr>
          <p:cNvSpPr/>
          <p:nvPr/>
        </p:nvSpPr>
        <p:spPr>
          <a:xfrm>
            <a:off x="2718148" y="1853852"/>
            <a:ext cx="6538586" cy="2669162"/>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D4CDA87-39E8-CDD0-9C9A-A7AA267B3FEE}"/>
              </a:ext>
            </a:extLst>
          </p:cNvPr>
          <p:cNvSpPr/>
          <p:nvPr/>
        </p:nvSpPr>
        <p:spPr>
          <a:xfrm>
            <a:off x="2718148" y="5372100"/>
            <a:ext cx="6538586" cy="9006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2381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3"/>
          <a:srcRect l="7888" t="2932" r="10123" b="33975"/>
          <a:stretch>
            <a:fillRect/>
          </a:stretch>
        </p:blipFill>
        <p:spPr>
          <a:xfrm>
            <a:off x="6491551" y="2242414"/>
            <a:ext cx="5237403" cy="4030370"/>
          </a:xfrm>
          <a:prstGeom prst="rect">
            <a:avLst/>
          </a:prstGeom>
        </p:spPr>
      </p:pic>
      <p:sp>
        <p:nvSpPr>
          <p:cNvPr id="4" name="TextBox 3">
            <a:extLst>
              <a:ext uri="{FF2B5EF4-FFF2-40B4-BE49-F238E27FC236}">
                <a16:creationId xmlns:a16="http://schemas.microsoft.com/office/drawing/2014/main" id="{8462FCF1-E1C7-6996-0075-58B6A3C03E41}"/>
              </a:ext>
            </a:extLst>
          </p:cNvPr>
          <p:cNvSpPr txBox="1"/>
          <p:nvPr/>
        </p:nvSpPr>
        <p:spPr>
          <a:xfrm>
            <a:off x="463046" y="3141184"/>
            <a:ext cx="5421118" cy="2246769"/>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bake &lt;- </a:t>
            </a:r>
            <a:r>
              <a:rPr lang="en-US" sz="1400" dirty="0">
                <a:solidFill>
                  <a:srgbClr val="7030A0"/>
                </a:solidFill>
                <a:latin typeface="Courier New" panose="02070309020205020404" pitchFamily="49" charset="0"/>
                <a:cs typeface="Courier New" panose="02070309020205020404" pitchFamily="49" charset="0"/>
              </a:rPr>
              <a:t>function</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item</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flavor</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frosted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ingredients &lt;- </a:t>
            </a:r>
            <a:r>
              <a:rPr lang="en-US" sz="1400" dirty="0" err="1">
                <a:solidFill>
                  <a:srgbClr val="0070C0"/>
                </a:solidFill>
                <a:latin typeface="Courier New" panose="02070309020205020404" pitchFamily="49" charset="0"/>
                <a:cs typeface="Courier New" panose="02070309020205020404" pitchFamily="49" charset="0"/>
              </a:rPr>
              <a:t>gather_ingredients</a:t>
            </a:r>
            <a:r>
              <a:rPr lang="en-US" sz="1400" dirty="0">
                <a:latin typeface="Courier New" panose="02070309020205020404" pitchFamily="49" charset="0"/>
                <a:cs typeface="Courier New" panose="02070309020205020404" pitchFamily="49" charset="0"/>
              </a:rPr>
              <a:t>(item, flavor)</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pan         &lt;- </a:t>
            </a:r>
            <a:r>
              <a:rPr lang="en-US" sz="1400" dirty="0" err="1">
                <a:solidFill>
                  <a:srgbClr val="0070C0"/>
                </a:solidFill>
                <a:latin typeface="Courier New" panose="02070309020205020404" pitchFamily="49" charset="0"/>
                <a:cs typeface="Courier New" panose="02070309020205020404" pitchFamily="49" charset="0"/>
              </a:rPr>
              <a:t>select_pan</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oven        &lt;- </a:t>
            </a:r>
            <a:r>
              <a:rPr lang="en-US" sz="1400" dirty="0" err="1">
                <a:solidFill>
                  <a:srgbClr val="0070C0"/>
                </a:solidFill>
                <a:latin typeface="Courier New" panose="02070309020205020404" pitchFamily="49" charset="0"/>
                <a:cs typeface="Courier New" panose="02070309020205020404" pitchFamily="49" charset="0"/>
              </a:rPr>
              <a:t>set_temp_time</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decorate	</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&lt;- </a:t>
            </a:r>
            <a:r>
              <a:rPr lang="en-US" sz="1400" dirty="0">
                <a:solidFill>
                  <a:srgbClr val="0070C0"/>
                </a:solidFill>
                <a:latin typeface="Courier New" panose="02070309020205020404" pitchFamily="49" charset="0"/>
                <a:cs typeface="Courier New" panose="02070309020205020404" pitchFamily="49" charset="0"/>
              </a:rPr>
              <a:t>decorate</a:t>
            </a:r>
            <a:r>
              <a:rPr lang="en-US" sz="1400" dirty="0">
                <a:latin typeface="Courier New" panose="02070309020205020404" pitchFamily="49" charset="0"/>
                <a:cs typeface="Courier New" panose="02070309020205020404" pitchFamily="49" charset="0"/>
              </a:rPr>
              <a:t>(frosted)</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sz="1400" dirty="0">
                <a:solidFill>
                  <a:schemeClr val="bg1">
                    <a:lumMod val="50000"/>
                  </a:schemeClr>
                </a:solidFill>
                <a:latin typeface="Courier New" panose="02070309020205020404" pitchFamily="49" charset="0"/>
                <a:cs typeface="Courier New" panose="02070309020205020404" pitchFamily="49" charset="0"/>
              </a:rPr>
              <a:t>  # bake</a:t>
            </a:r>
          </a:p>
          <a:p>
            <a:r>
              <a:rPr lang="en-US" sz="1400"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sz="1400"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sz="14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B0E57392-DE97-0A8A-B13A-482AEA365901}"/>
              </a:ext>
            </a:extLst>
          </p:cNvPr>
          <p:cNvSpPr txBox="1"/>
          <p:nvPr/>
        </p:nvSpPr>
        <p:spPr>
          <a:xfrm>
            <a:off x="463046" y="2590800"/>
            <a:ext cx="3449534" cy="369332"/>
          </a:xfrm>
          <a:prstGeom prst="rect">
            <a:avLst/>
          </a:prstGeom>
          <a:noFill/>
        </p:spPr>
        <p:txBody>
          <a:bodyPr wrap="none" rtlCol="0">
            <a:spAutoFit/>
          </a:bodyPr>
          <a:lstStyle/>
          <a:p>
            <a:r>
              <a:rPr lang="en-US" dirty="0"/>
              <a:t>Abstraction provided a basic model</a:t>
            </a:r>
          </a:p>
        </p:txBody>
      </p:sp>
      <p:sp>
        <p:nvSpPr>
          <p:cNvPr id="6" name="TextBox 5">
            <a:extLst>
              <a:ext uri="{FF2B5EF4-FFF2-40B4-BE49-F238E27FC236}">
                <a16:creationId xmlns:a16="http://schemas.microsoft.com/office/drawing/2014/main" id="{5E3DFEEE-6BAD-E10F-4D3D-7D9B2459FA6F}"/>
              </a:ext>
            </a:extLst>
          </p:cNvPr>
          <p:cNvSpPr txBox="1"/>
          <p:nvPr/>
        </p:nvSpPr>
        <p:spPr>
          <a:xfrm>
            <a:off x="1024128" y="1774134"/>
            <a:ext cx="7353808" cy="369332"/>
          </a:xfrm>
          <a:prstGeom prst="rect">
            <a:avLst/>
          </a:prstGeom>
          <a:noFill/>
        </p:spPr>
        <p:txBody>
          <a:bodyPr wrap="none" rtlCol="0">
            <a:spAutoFit/>
          </a:bodyPr>
          <a:lstStyle/>
          <a:p>
            <a:r>
              <a:rPr lang="en-US" dirty="0"/>
              <a:t>The model says what goes in. The algorithm says what happens, in what order.</a:t>
            </a:r>
          </a:p>
        </p:txBody>
      </p:sp>
    </p:spTree>
    <p:extLst>
      <p:ext uri="{BB962C8B-B14F-4D97-AF65-F5344CB8AC3E}">
        <p14:creationId xmlns:p14="http://schemas.microsoft.com/office/powerpoint/2010/main" val="2149612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693399" y="1908229"/>
            <a:ext cx="8724120" cy="461665"/>
          </a:xfrm>
          <a:prstGeom prst="rect">
            <a:avLst/>
          </a:prstGeom>
          <a:noFill/>
        </p:spPr>
        <p:txBody>
          <a:bodyPr wrap="none" rtlCol="0">
            <a:spAutoFit/>
          </a:bodyPr>
          <a:lstStyle/>
          <a:p>
            <a:r>
              <a:rPr lang="en-US" sz="2400" dirty="0"/>
              <a:t>Functions can provide different outputs based on inputs and conditions</a:t>
            </a:r>
          </a:p>
        </p:txBody>
      </p:sp>
      <p:sp>
        <p:nvSpPr>
          <p:cNvPr id="2" name="TextBox 1">
            <a:extLst>
              <a:ext uri="{FF2B5EF4-FFF2-40B4-BE49-F238E27FC236}">
                <a16:creationId xmlns:a16="http://schemas.microsoft.com/office/drawing/2014/main" id="{8B331A49-C541-C470-1DDF-B1F6AC0CB0DB}"/>
              </a:ext>
            </a:extLst>
          </p:cNvPr>
          <p:cNvSpPr txBox="1"/>
          <p:nvPr/>
        </p:nvSpPr>
        <p:spPr>
          <a:xfrm>
            <a:off x="483723" y="3397525"/>
            <a:ext cx="5849123" cy="2893100"/>
          </a:xfrm>
          <a:prstGeom prst="rect">
            <a:avLst/>
          </a:prstGeom>
          <a:solidFill>
            <a:schemeClr val="bg1">
              <a:lumMod val="95000"/>
            </a:schemeClr>
          </a:solid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 &lt;- </a:t>
            </a:r>
            <a:r>
              <a:rPr lang="en-US" sz="1600" dirty="0">
                <a:solidFill>
                  <a:srgbClr val="0070C0"/>
                </a:solidFill>
                <a:latin typeface="Courier New" panose="02070309020205020404" pitchFamily="49" charset="0"/>
                <a:cs typeface="Courier New" panose="02070309020205020404" pitchFamily="49" charset="0"/>
              </a:rPr>
              <a:t>function</a:t>
            </a:r>
            <a:r>
              <a:rPr lang="en-US" sz="1600" dirty="0">
                <a:latin typeface="Courier New" panose="02070309020205020404" pitchFamily="49" charset="0"/>
                <a:cs typeface="Courier New" panose="02070309020205020404" pitchFamily="49" charset="0"/>
              </a:rPr>
              <a:t>(</a:t>
            </a:r>
            <a:r>
              <a:rPr lang="en-US" sz="1600" dirty="0">
                <a:solidFill>
                  <a:srgbClr val="FF0000"/>
                </a:solidFill>
                <a:latin typeface="Courier New" panose="02070309020205020404" pitchFamily="49" charset="0"/>
                <a:cs typeface="Courier New" panose="02070309020205020404" pitchFamily="49" charset="0"/>
              </a:rPr>
              <a:t>item</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"cupcake"</a:t>
            </a:r>
            <a:r>
              <a:rPr lang="en-US" sz="1600" dirty="0">
                <a:latin typeface="Courier New" panose="02070309020205020404" pitchFamily="49" charset="0"/>
                <a:cs typeface="Courier New" panose="02070309020205020404" pitchFamily="49" charset="0"/>
              </a:rPr>
              <a:t> | item == </a:t>
            </a:r>
            <a:r>
              <a:rPr lang="en-US" sz="1600" dirty="0">
                <a:solidFill>
                  <a:schemeClr val="accent5"/>
                </a:solidFill>
                <a:latin typeface="Courier New" panose="02070309020205020404" pitchFamily="49" charset="0"/>
                <a:cs typeface="Courier New" panose="02070309020205020404" pitchFamily="49" charset="0"/>
              </a:rPr>
              <a:t>"muffin"</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"cupcake tin"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 if </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"round cake pan"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"square cake pan"</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return</a:t>
            </a:r>
            <a:r>
              <a:rPr lang="en-US" sz="1600" dirty="0">
                <a:latin typeface="Courier New" panose="02070309020205020404" pitchFamily="49" charset="0"/>
                <a:cs typeface="Courier New" panose="02070309020205020404" pitchFamily="49" charset="0"/>
              </a:rPr>
              <a:t>(pan)</a:t>
            </a:r>
          </a:p>
          <a:p>
            <a:r>
              <a:rPr lang="en-US" sz="1600" dirty="0">
                <a:latin typeface="Courier New" panose="02070309020205020404" pitchFamily="49" charset="0"/>
                <a:cs typeface="Courier New" panose="02070309020205020404" pitchFamily="49" charset="0"/>
              </a:rPr>
              <a:t>}</a:t>
            </a:r>
          </a:p>
        </p:txBody>
      </p:sp>
      <p:grpSp>
        <p:nvGrpSpPr>
          <p:cNvPr id="11" name="Group 10">
            <a:extLst>
              <a:ext uri="{FF2B5EF4-FFF2-40B4-BE49-F238E27FC236}">
                <a16:creationId xmlns:a16="http://schemas.microsoft.com/office/drawing/2014/main" id="{E8D822B4-B781-0FA7-B5B3-868215344942}"/>
              </a:ext>
            </a:extLst>
          </p:cNvPr>
          <p:cNvGrpSpPr/>
          <p:nvPr/>
        </p:nvGrpSpPr>
        <p:grpSpPr>
          <a:xfrm>
            <a:off x="3015974" y="3358257"/>
            <a:ext cx="2373199" cy="610770"/>
            <a:chOff x="3015974" y="3358257"/>
            <a:chExt cx="2373199" cy="610770"/>
          </a:xfrm>
        </p:grpSpPr>
        <p:sp>
          <p:nvSpPr>
            <p:cNvPr id="13" name="TextBox 12">
              <a:extLst>
                <a:ext uri="{FF2B5EF4-FFF2-40B4-BE49-F238E27FC236}">
                  <a16:creationId xmlns:a16="http://schemas.microsoft.com/office/drawing/2014/main" id="{9777614C-AD1D-EA23-2B1C-AAB202252992}"/>
                </a:ext>
              </a:extLst>
            </p:cNvPr>
            <p:cNvSpPr txBox="1"/>
            <p:nvPr/>
          </p:nvSpPr>
          <p:spPr>
            <a:xfrm>
              <a:off x="4614602" y="3358257"/>
              <a:ext cx="774571" cy="461665"/>
            </a:xfrm>
            <a:prstGeom prst="rect">
              <a:avLst/>
            </a:prstGeom>
            <a:noFill/>
          </p:spPr>
          <p:txBody>
            <a:bodyPr wrap="square" rtlCol="0">
              <a:spAutoFit/>
            </a:bodyPr>
            <a:lstStyle/>
            <a:p>
              <a:r>
                <a:rPr lang="en-US" sz="2400" dirty="0"/>
                <a:t>input</a:t>
              </a:r>
            </a:p>
          </p:txBody>
        </p:sp>
        <p:sp>
          <p:nvSpPr>
            <p:cNvPr id="15" name="Oval 14">
              <a:extLst>
                <a:ext uri="{FF2B5EF4-FFF2-40B4-BE49-F238E27FC236}">
                  <a16:creationId xmlns:a16="http://schemas.microsoft.com/office/drawing/2014/main" id="{014B5FEA-E174-3163-4DB4-B23996EF52F9}"/>
                </a:ext>
              </a:extLst>
            </p:cNvPr>
            <p:cNvSpPr/>
            <p:nvPr/>
          </p:nvSpPr>
          <p:spPr>
            <a:xfrm>
              <a:off x="3015974" y="3670817"/>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4207630" y="3630854"/>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A2220AE3-DD56-7E3B-93CB-AB8A714AA9B9}"/>
              </a:ext>
            </a:extLst>
          </p:cNvPr>
          <p:cNvGrpSpPr/>
          <p:nvPr/>
        </p:nvGrpSpPr>
        <p:grpSpPr>
          <a:xfrm>
            <a:off x="1544619" y="5618590"/>
            <a:ext cx="1956120" cy="544325"/>
            <a:chOff x="1544619" y="5618590"/>
            <a:chExt cx="1956120" cy="544325"/>
          </a:xfrm>
        </p:grpSpPr>
        <p:sp>
          <p:nvSpPr>
            <p:cNvPr id="14" name="TextBox 13">
              <a:extLst>
                <a:ext uri="{FF2B5EF4-FFF2-40B4-BE49-F238E27FC236}">
                  <a16:creationId xmlns:a16="http://schemas.microsoft.com/office/drawing/2014/main" id="{52C1157B-2320-E639-8BED-0C452F7F83CC}"/>
                </a:ext>
              </a:extLst>
            </p:cNvPr>
            <p:cNvSpPr txBox="1"/>
            <p:nvPr/>
          </p:nvSpPr>
          <p:spPr>
            <a:xfrm>
              <a:off x="2556250" y="5701250"/>
              <a:ext cx="944489" cy="461665"/>
            </a:xfrm>
            <a:prstGeom prst="rect">
              <a:avLst/>
            </a:prstGeom>
            <a:noFill/>
          </p:spPr>
          <p:txBody>
            <a:bodyPr wrap="none" rtlCol="0">
              <a:spAutoFit/>
            </a:bodyPr>
            <a:lstStyle/>
            <a:p>
              <a:r>
                <a:rPr lang="en-US" sz="2400" dirty="0"/>
                <a:t>output</a:t>
              </a:r>
            </a:p>
          </p:txBody>
        </p:sp>
        <p:sp>
          <p:nvSpPr>
            <p:cNvPr id="19" name="Oval 18">
              <a:extLst>
                <a:ext uri="{FF2B5EF4-FFF2-40B4-BE49-F238E27FC236}">
                  <a16:creationId xmlns:a16="http://schemas.microsoft.com/office/drawing/2014/main" id="{A54D7566-8979-B5DB-DF41-DCCE44935F4D}"/>
                </a:ext>
              </a:extLst>
            </p:cNvPr>
            <p:cNvSpPr/>
            <p:nvPr/>
          </p:nvSpPr>
          <p:spPr>
            <a:xfrm>
              <a:off x="1544619" y="5618590"/>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2241952" y="5852602"/>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53637A2-D679-78A2-D215-076E93CE875F}"/>
              </a:ext>
            </a:extLst>
          </p:cNvPr>
          <p:cNvGrpSpPr/>
          <p:nvPr/>
        </p:nvGrpSpPr>
        <p:grpSpPr>
          <a:xfrm>
            <a:off x="693399" y="3925305"/>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483723" y="2900483"/>
            <a:ext cx="4008983" cy="369332"/>
          </a:xfrm>
          <a:prstGeom prst="rect">
            <a:avLst/>
          </a:prstGeom>
          <a:noFill/>
        </p:spPr>
        <p:txBody>
          <a:bodyPr wrap="none" rtlCol="0">
            <a:spAutoFit/>
          </a:bodyPr>
          <a:lstStyle/>
          <a:p>
            <a:r>
              <a:rPr lang="en-US" dirty="0"/>
              <a:t>Write the function to reflect the conditions</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889264" y="2864616"/>
            <a:ext cx="4367286" cy="369332"/>
          </a:xfrm>
          <a:prstGeom prst="rect">
            <a:avLst/>
          </a:prstGeom>
          <a:noFill/>
        </p:spPr>
        <p:txBody>
          <a:bodyPr wrap="none" rtlCol="0">
            <a:spAutoFit/>
          </a:bodyPr>
          <a:lstStyle/>
          <a:p>
            <a:r>
              <a:rPr lang="en-US" dirty="0"/>
              <a:t>Use the function: provide input and get output</a:t>
            </a:r>
          </a:p>
        </p:txBody>
      </p:sp>
      <p:grpSp>
        <p:nvGrpSpPr>
          <p:cNvPr id="9" name="Group 8">
            <a:extLst>
              <a:ext uri="{FF2B5EF4-FFF2-40B4-BE49-F238E27FC236}">
                <a16:creationId xmlns:a16="http://schemas.microsoft.com/office/drawing/2014/main" id="{C110F2AD-03A2-C545-98BB-D0C57836C229}"/>
              </a:ext>
            </a:extLst>
          </p:cNvPr>
          <p:cNvGrpSpPr/>
          <p:nvPr/>
        </p:nvGrpSpPr>
        <p:grpSpPr>
          <a:xfrm>
            <a:off x="6978456" y="3371345"/>
            <a:ext cx="3668925" cy="2778481"/>
            <a:chOff x="6338979" y="3385278"/>
            <a:chExt cx="3668925" cy="2778481"/>
          </a:xfrm>
        </p:grpSpPr>
        <p:sp>
          <p:nvSpPr>
            <p:cNvPr id="8" name="Rectangle 7">
              <a:extLst>
                <a:ext uri="{FF2B5EF4-FFF2-40B4-BE49-F238E27FC236}">
                  <a16:creationId xmlns:a16="http://schemas.microsoft.com/office/drawing/2014/main" id="{0888EBE0-C391-76C2-5811-ED36230AD051}"/>
                </a:ext>
              </a:extLst>
            </p:cNvPr>
            <p:cNvSpPr/>
            <p:nvPr/>
          </p:nvSpPr>
          <p:spPr>
            <a:xfrm>
              <a:off x="6338980" y="5036200"/>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E0F70A-FCAB-66EA-E198-080EF063C036}"/>
                </a:ext>
              </a:extLst>
            </p:cNvPr>
            <p:cNvSpPr/>
            <p:nvPr/>
          </p:nvSpPr>
          <p:spPr>
            <a:xfrm>
              <a:off x="6338980" y="3385278"/>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3E3CE56-612C-0572-6314-607554FE1800}"/>
                </a:ext>
              </a:extLst>
            </p:cNvPr>
            <p:cNvSpPr txBox="1"/>
            <p:nvPr/>
          </p:nvSpPr>
          <p:spPr>
            <a:xfrm>
              <a:off x="6338980" y="3451950"/>
              <a:ext cx="3270447" cy="1077218"/>
            </a:xfrm>
            <a:prstGeom prst="rect">
              <a:avLst/>
            </a:prstGeom>
            <a:noFill/>
          </p:spPr>
          <p:txBody>
            <a:bodyPr wrap="non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"round cake pan"</a:t>
              </a:r>
            </a:p>
          </p:txBody>
        </p:sp>
        <p:sp>
          <p:nvSpPr>
            <p:cNvPr id="5" name="TextBox 4">
              <a:extLst>
                <a:ext uri="{FF2B5EF4-FFF2-40B4-BE49-F238E27FC236}">
                  <a16:creationId xmlns:a16="http://schemas.microsoft.com/office/drawing/2014/main" id="{8B3F983B-8648-C39E-E0FF-7DD6C38E2BB4}"/>
                </a:ext>
              </a:extLst>
            </p:cNvPr>
            <p:cNvSpPr txBox="1"/>
            <p:nvPr/>
          </p:nvSpPr>
          <p:spPr>
            <a:xfrm>
              <a:off x="6338979" y="5086541"/>
              <a:ext cx="3668925" cy="1077218"/>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"brownie"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"square cake pan"</a:t>
              </a:r>
            </a:p>
          </p:txBody>
        </p:sp>
      </p:gr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design Part 1</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4: Design step-by-step instructions</a:t>
            </a:r>
          </a:p>
        </p:txBody>
      </p:sp>
      <p:sp>
        <p:nvSpPr>
          <p:cNvPr id="14" name="TextBox 14"/>
          <p:cNvSpPr txBox="1"/>
          <p:nvPr/>
        </p:nvSpPr>
        <p:spPr>
          <a:xfrm>
            <a:off x="1024128" y="2468879"/>
            <a:ext cx="5577840" cy="3566160"/>
          </a:xfrm>
          <a:prstGeom prst="rect">
            <a:avLst/>
          </a:prstGeom>
          <a:noFill/>
        </p:spPr>
        <p:txBody>
          <a:bodyPr wrap="square" lIns="91440" tIns="91440" rIns="91440" bIns="91440" rtlCol="0" anchor="t"/>
          <a:lstStyle/>
          <a:p>
            <a:pPr marL="457200" lvl="0" indent="-457200">
              <a:spcAft>
                <a:spcPts val="500"/>
              </a:spcAft>
              <a:buFont typeface="+mj-lt"/>
              <a:buAutoNum type="arabicPeriod"/>
            </a:pPr>
            <a:r>
              <a:rPr lang="en-US" sz="1600" b="1" dirty="0">
                <a:solidFill>
                  <a:schemeClr val="accent1">
                    <a:lumMod val="75000"/>
                  </a:schemeClr>
                </a:solidFill>
              </a:rPr>
              <a:t>Think. </a:t>
            </a:r>
            <a:r>
              <a:rPr lang="en-US" sz="1600" dirty="0"/>
              <a:t>Put your Exercise 1 sub-tasks in order as numbered steps.</a:t>
            </a:r>
          </a:p>
          <a:p>
            <a:pPr marL="457200" lvl="0" indent="-457200">
              <a:spcAft>
                <a:spcPts val="500"/>
              </a:spcAft>
              <a:buFont typeface="+mj-lt"/>
              <a:buAutoNum type="arabicPeriod"/>
            </a:pPr>
            <a:r>
              <a:rPr lang="en-US" sz="1600" b="1" dirty="0">
                <a:solidFill>
                  <a:schemeClr val="accent1">
                    <a:lumMod val="75000"/>
                  </a:schemeClr>
                </a:solidFill>
              </a:rPr>
              <a:t>Prompt. </a:t>
            </a:r>
            <a:r>
              <a:rPr lang="en-US" sz="1600" dirty="0"/>
              <a:t>In a new chat, send your cold prompt again with one line added (at right).</a:t>
            </a:r>
          </a:p>
          <a:p>
            <a:pPr marL="457200" lvl="0" indent="-457200">
              <a:spcAft>
                <a:spcPts val="500"/>
              </a:spcAft>
              <a:buFont typeface="+mj-lt"/>
              <a:buAutoNum type="arabicPeriod"/>
            </a:pPr>
            <a:r>
              <a:rPr lang="en-US" sz="1600" b="1" dirty="0">
                <a:solidFill>
                  <a:schemeClr val="accent1">
                    <a:lumMod val="75000"/>
                  </a:schemeClr>
                </a:solidFill>
              </a:rPr>
              <a:t>Answer </a:t>
            </a:r>
            <a:r>
              <a:rPr lang="en-US" sz="1600" dirty="0"/>
              <a:t>Claude's questions. Use your own work and the facts page on the handout.</a:t>
            </a:r>
          </a:p>
          <a:p>
            <a:pPr marL="457200" lvl="0" indent="-457200">
              <a:spcAft>
                <a:spcPts val="500"/>
              </a:spcAft>
              <a:buFont typeface="+mj-lt"/>
              <a:buAutoNum type="arabicPeriod"/>
            </a:pPr>
            <a:r>
              <a:rPr lang="en-US" sz="1600" b="1" dirty="0">
                <a:solidFill>
                  <a:schemeClr val="accent1">
                    <a:lumMod val="75000"/>
                  </a:schemeClr>
                </a:solidFill>
              </a:rPr>
              <a:t>Check the plan </a:t>
            </a:r>
            <a:r>
              <a:rPr lang="en-US" sz="1600" dirty="0"/>
              <a:t>against your steps. Correct it or approve it. Then ask for the code.</a:t>
            </a:r>
          </a:p>
          <a:p>
            <a:pPr marL="457200" lvl="0" indent="-457200">
              <a:spcAft>
                <a:spcPts val="0"/>
              </a:spcAft>
              <a:buFont typeface="+mj-lt"/>
              <a:buAutoNum type="arabicPeriod"/>
            </a:pPr>
            <a:r>
              <a:rPr lang="en-US" sz="1600" b="1" dirty="0">
                <a:solidFill>
                  <a:schemeClr val="accent1">
                    <a:lumMod val="75000"/>
                  </a:schemeClr>
                </a:solidFill>
              </a:rPr>
              <a:t>Run the code. </a:t>
            </a:r>
            <a:r>
              <a:rPr lang="en-US" sz="1600" dirty="0"/>
              <a:t>Check: the table totals 6,481 patients, and patients with no patient type are still there.</a:t>
            </a:r>
          </a:p>
        </p:txBody>
      </p:sp>
      <p:sp>
        <p:nvSpPr>
          <p:cNvPr id="15" name="TextBox 15"/>
          <p:cNvSpPr txBox="1"/>
          <p:nvPr/>
        </p:nvSpPr>
        <p:spPr>
          <a:xfrm>
            <a:off x="6949440" y="2560320"/>
            <a:ext cx="4206240" cy="2743200"/>
          </a:xfrm>
          <a:prstGeom prst="rect">
            <a:avLst/>
          </a:prstGeom>
          <a:solidFill>
            <a:srgbClr val="EEF3F6"/>
          </a:solidFill>
        </p:spPr>
        <p:txBody>
          <a:bodyPr wrap="square" lIns="182880" tIns="182880" rIns="182880" bIns="182880" rtlCol="0" anchor="t"/>
          <a:lstStyle/>
          <a:p>
            <a:pPr marL="0" indent="0">
              <a:spcAft>
                <a:spcPts val="600"/>
              </a:spcAft>
              <a:buNone/>
            </a:pPr>
            <a:r>
              <a:rPr lang="en-US" sz="1600" b="1" dirty="0"/>
              <a:t>Add this line to your cold prompt:</a:t>
            </a:r>
          </a:p>
          <a:p>
            <a:pPr marL="0" indent="0">
              <a:spcAft>
                <a:spcPts val="900"/>
              </a:spcAft>
              <a:buNone/>
            </a:pPr>
            <a:r>
              <a:rPr lang="en-US" sz="1800" i="1" dirty="0"/>
              <a:t>If anything essential is missing, ask me before answering.</a:t>
            </a:r>
          </a:p>
          <a:p>
            <a:pPr marL="0" indent="0">
              <a:spcAft>
                <a:spcPts val="0"/>
              </a:spcAft>
              <a:buNone/>
            </a:pPr>
            <a:r>
              <a:rPr lang="en-US" sz="1500" dirty="0"/>
              <a:t>No cold prompt worth reusing? A standard one is on the handout.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DCB0-D649-3A59-0FE5-053ECF5AAEA3}"/>
              </a:ext>
            </a:extLst>
          </p:cNvPr>
          <p:cNvSpPr>
            <a:spLocks noGrp="1"/>
          </p:cNvSpPr>
          <p:nvPr>
            <p:ph type="title"/>
          </p:nvPr>
        </p:nvSpPr>
        <p:spPr/>
        <p:txBody>
          <a:bodyPr/>
          <a:lstStyle/>
          <a:p>
            <a:r>
              <a:rPr lang="en-US" dirty="0"/>
              <a:t>Algorithm design part 2</a:t>
            </a:r>
          </a:p>
        </p:txBody>
      </p:sp>
      <p:sp>
        <p:nvSpPr>
          <p:cNvPr id="3" name="Content Placeholder 2">
            <a:extLst>
              <a:ext uri="{FF2B5EF4-FFF2-40B4-BE49-F238E27FC236}">
                <a16:creationId xmlns:a16="http://schemas.microsoft.com/office/drawing/2014/main" id="{C20DA549-A0EB-2594-40A1-50709FC2F72B}"/>
              </a:ext>
            </a:extLst>
          </p:cNvPr>
          <p:cNvSpPr>
            <a:spLocks noGrp="1"/>
          </p:cNvSpPr>
          <p:nvPr>
            <p:ph idx="1"/>
          </p:nvPr>
        </p:nvSpPr>
        <p:spPr>
          <a:xfrm>
            <a:off x="1024127" y="2249424"/>
            <a:ext cx="10062973" cy="4226532"/>
          </a:xfrm>
        </p:spPr>
        <p:txBody>
          <a:bodyPr>
            <a:normAutofit fontScale="92500"/>
          </a:bodyPr>
          <a:lstStyle/>
          <a:p>
            <a:pPr marL="0" indent="0">
              <a:buNone/>
            </a:pPr>
            <a:r>
              <a:rPr lang="en-US" sz="2000" dirty="0"/>
              <a:t>Compare the output if you create a prompt in a new chat that follows the provided framework:</a:t>
            </a:r>
          </a:p>
          <a:p>
            <a:r>
              <a:rPr lang="en-US" sz="1800" dirty="0">
                <a:solidFill>
                  <a:schemeClr val="accent1"/>
                </a:solidFill>
              </a:rPr>
              <a:t>Task: </a:t>
            </a:r>
            <a:r>
              <a:rPr lang="en-US" sz="1800" dirty="0"/>
              <a:t>Write R code to answer two questions. Q1. Does turnaround time differ by patient type? Q2. Are we meeting a 3-hour collect-to-verify goal? </a:t>
            </a:r>
          </a:p>
          <a:p>
            <a:r>
              <a:rPr lang="en-US" sz="1800" dirty="0">
                <a:solidFill>
                  <a:schemeClr val="accent1"/>
                </a:solidFill>
              </a:rPr>
              <a:t>Context: </a:t>
            </a:r>
            <a:r>
              <a:rPr lang="en-US" sz="1800" dirty="0"/>
              <a:t>I am a core lab director answering a concern from an ICU physician, who says ICU chemistry results come back slower than results for other units. Our target is ____% of patients within 3 hours. I am new to R. </a:t>
            </a:r>
          </a:p>
          <a:p>
            <a:r>
              <a:rPr lang="en-US" sz="1800" dirty="0">
                <a:solidFill>
                  <a:schemeClr val="accent1"/>
                </a:solidFill>
              </a:rPr>
              <a:t>Material: </a:t>
            </a:r>
            <a:r>
              <a:rPr lang="en-US" sz="1800" dirty="0"/>
              <a:t>My data is in a file called </a:t>
            </a:r>
            <a:r>
              <a:rPr lang="en-US" sz="1800" dirty="0" err="1"/>
              <a:t>chem_subset.csv</a:t>
            </a:r>
            <a:r>
              <a:rPr lang="en-US" sz="1800" dirty="0"/>
              <a:t>. I can't upload it. The columns are: [paste the column names]. One row is ___. Each patient has ____ rows. The columns </a:t>
            </a:r>
            <a:r>
              <a:rPr lang="en-US" sz="1800" dirty="0" err="1"/>
              <a:t>col_rec_tat</a:t>
            </a:r>
            <a:r>
              <a:rPr lang="en-US" sz="1800" dirty="0"/>
              <a:t> and </a:t>
            </a:r>
            <a:r>
              <a:rPr lang="en-US" sz="1800" dirty="0" err="1"/>
              <a:t>rec_ver_tat</a:t>
            </a:r>
            <a:r>
              <a:rPr lang="en-US" sz="1800" dirty="0"/>
              <a:t> are turnaround times in ___. </a:t>
            </a:r>
          </a:p>
          <a:p>
            <a:r>
              <a:rPr lang="en-US" sz="1800" dirty="0">
                <a:solidFill>
                  <a:schemeClr val="accent1"/>
                </a:solidFill>
              </a:rPr>
              <a:t>Constraints: </a:t>
            </a:r>
            <a:r>
              <a:rPr lang="en-US" sz="1800" dirty="0"/>
              <a:t>Use </a:t>
            </a:r>
            <a:r>
              <a:rPr lang="en-US" sz="1800" dirty="0" err="1"/>
              <a:t>dplyr</a:t>
            </a:r>
            <a:r>
              <a:rPr lang="en-US" sz="1800" dirty="0"/>
              <a:t>. Count patients, not rows. For patients with no patient type, ___. Tell me anything you assume. </a:t>
            </a:r>
          </a:p>
          <a:p>
            <a:r>
              <a:rPr lang="en-US" sz="1800" dirty="0">
                <a:solidFill>
                  <a:schemeClr val="accent1"/>
                </a:solidFill>
              </a:rPr>
              <a:t>Output: </a:t>
            </a:r>
            <a:r>
              <a:rPr lang="en-US" sz="1800" dirty="0"/>
              <a:t>First give me your plan as numbered steps. Do not write code until I approve the plan. Then give me one table by patient type with the number of patients, the median total turnaround time and the percent within 3 hours, plus one sentence answering each question. Keep the code short, with a comment on each step. </a:t>
            </a:r>
          </a:p>
          <a:p>
            <a:r>
              <a:rPr lang="en-US" sz="1800" dirty="0">
                <a:solidFill>
                  <a:schemeClr val="accent1"/>
                </a:solidFill>
              </a:rPr>
              <a:t>If anything essential is missing, ask me before answering.</a:t>
            </a:r>
          </a:p>
        </p:txBody>
      </p:sp>
    </p:spTree>
    <p:extLst>
      <p:ext uri="{BB962C8B-B14F-4D97-AF65-F5344CB8AC3E}">
        <p14:creationId xmlns:p14="http://schemas.microsoft.com/office/powerpoint/2010/main" val="336406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what you should see</a:t>
            </a:r>
          </a:p>
        </p:txBody>
      </p:sp>
      <p:sp>
        <p:nvSpPr>
          <p:cNvPr id="12" name="TextBox 12"/>
          <p:cNvSpPr txBox="1"/>
          <p:nvPr/>
        </p:nvSpPr>
        <p:spPr>
          <a:xfrm>
            <a:off x="1024128" y="2103120"/>
            <a:ext cx="9966960" cy="2011680"/>
          </a:xfrm>
          <a:prstGeom prst="rect">
            <a:avLst/>
          </a:prstGeom>
          <a:solidFill>
            <a:srgbClr val="EEF3F6"/>
          </a:solidFill>
        </p:spPr>
        <p:txBody>
          <a:bodyPr wrap="square" lIns="137160" tIns="137160" rIns="137160" bIns="137160" rtlCol="0" anchor="t"/>
          <a:lstStyle/>
          <a:p>
            <a:pPr marL="0" indent="0">
              <a:buNone/>
            </a:pPr>
            <a:r>
              <a:rPr lang="en-US" sz="1300" dirty="0">
                <a:solidFill>
                  <a:srgbClr val="1F2A30"/>
                </a:solidFill>
                <a:latin typeface="Courier New"/>
                <a:cs typeface="Courier New"/>
              </a:rPr>
              <a:t>  pat_type      n_patients median_total_hrs p90_total_hrs pct_within_3h</a:t>
            </a:r>
          </a:p>
          <a:p>
            <a:pPr marL="0" indent="0">
              <a:buNone/>
            </a:pPr>
            <a:r>
              <a:rPr lang="en-US" sz="1300" dirty="0">
                <a:solidFill>
                  <a:srgbClr val="1F2A30"/>
                </a:solidFill>
                <a:latin typeface="Courier New"/>
                <a:cs typeface="Courier New"/>
              </a:rPr>
              <a:t>1 inpatient          1067             2.55          3.39          73.4</a:t>
            </a:r>
          </a:p>
          <a:p>
            <a:pPr marL="0" indent="0">
              <a:buNone/>
            </a:pPr>
            <a:r>
              <a:rPr lang="en-US" sz="1300" dirty="0">
                <a:solidFill>
                  <a:srgbClr val="1F2A30"/>
                </a:solidFill>
                <a:latin typeface="Courier New"/>
                <a:cs typeface="Courier New"/>
              </a:rPr>
              <a:t>2 missing            1088             2.55          3.38          73.1</a:t>
            </a:r>
          </a:p>
          <a:p>
            <a:pPr marL="0" indent="0">
              <a:buNone/>
            </a:pPr>
            <a:r>
              <a:rPr lang="en-US" sz="1300" dirty="0">
                <a:solidFill>
                  <a:srgbClr val="1F2A30"/>
                </a:solidFill>
                <a:latin typeface="Courier New"/>
                <a:cs typeface="Courier New"/>
              </a:rPr>
              <a:t>3 outpatient         1072             2.55          3.36          75.2</a:t>
            </a:r>
          </a:p>
          <a:p>
            <a:pPr marL="0" indent="0">
              <a:buNone/>
            </a:pPr>
            <a:r>
              <a:rPr lang="en-US" sz="1300" dirty="0">
                <a:solidFill>
                  <a:srgbClr val="1F2A30"/>
                </a:solidFill>
                <a:latin typeface="Courier New"/>
                <a:cs typeface="Courier New"/>
              </a:rPr>
              <a:t>4 client             1092             2.53          3.37          74.5</a:t>
            </a:r>
          </a:p>
          <a:p>
            <a:pPr marL="0" indent="0">
              <a:buNone/>
            </a:pPr>
            <a:r>
              <a:rPr lang="en-US" sz="1300" dirty="0">
                <a:solidFill>
                  <a:srgbClr val="1F2A30"/>
                </a:solidFill>
                <a:latin typeface="Courier New"/>
                <a:cs typeface="Courier New"/>
              </a:rPr>
              <a:t>5 icu                1103             2.53          3.38          74.1</a:t>
            </a:r>
          </a:p>
          <a:p>
            <a:pPr marL="0" indent="0">
              <a:buNone/>
            </a:pPr>
            <a:r>
              <a:rPr lang="en-US" sz="1300" dirty="0">
                <a:solidFill>
                  <a:srgbClr val="1F2A30"/>
                </a:solidFill>
                <a:latin typeface="Courier New"/>
                <a:cs typeface="Courier New"/>
              </a:rPr>
              <a:t>6 cancer center      1059             2.51          3.37          73.9</a:t>
            </a:r>
          </a:p>
        </p:txBody>
      </p:sp>
      <p:sp>
        <p:nvSpPr>
          <p:cNvPr id="13" name="TextBox 13"/>
          <p:cNvSpPr txBox="1"/>
          <p:nvPr/>
        </p:nvSpPr>
        <p:spPr>
          <a:xfrm>
            <a:off x="1024128" y="4343400"/>
            <a:ext cx="9875520" cy="219518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b="1" dirty="0"/>
              <a:t>Q1: </a:t>
            </a:r>
            <a:r>
              <a:rPr lang="en-US" sz="1800" dirty="0"/>
              <a:t>Turnaround time does not differ by patient type. The ICU is not slower.</a:t>
            </a:r>
          </a:p>
          <a:p>
            <a:pPr marL="285750" lvl="0" indent="-285750">
              <a:spcAft>
                <a:spcPts val="600"/>
              </a:spcAft>
              <a:buFont typeface="Arial"/>
              <a:buChar char="•"/>
            </a:pPr>
            <a:r>
              <a:rPr lang="en-US" sz="1800" b="1" dirty="0"/>
              <a:t>Q2: </a:t>
            </a:r>
            <a:r>
              <a:rPr lang="en-US" sz="1800" dirty="0"/>
              <a:t>74% of patients are within 3 hours. Our target is 90%, so we are not meeting the goal.</a:t>
            </a:r>
          </a:p>
          <a:p>
            <a:pPr marL="285750" lvl="0" indent="-285750">
              <a:spcAft>
                <a:spcPts val="600"/>
              </a:spcAft>
              <a:buFont typeface="Arial"/>
              <a:buChar char="•"/>
            </a:pPr>
            <a:r>
              <a:rPr lang="en-US" sz="1800" dirty="0"/>
              <a:t>Claude may report minutes: 2.53 hours is 152 minutes. Judge the code by its output.</a:t>
            </a:r>
          </a:p>
          <a:p>
            <a:pPr marL="285750" lvl="0" indent="-285750">
              <a:spcAft>
                <a:spcPts val="600"/>
              </a:spcAft>
              <a:buFont typeface="Arial"/>
              <a:buChar char="•"/>
            </a:pPr>
            <a:endParaRPr lang="en-US" dirty="0"/>
          </a:p>
          <a:p>
            <a:pPr marL="285750" lvl="0" indent="-285750">
              <a:spcAft>
                <a:spcPts val="600"/>
              </a:spcAft>
              <a:buFont typeface="Arial"/>
              <a:buChar char="•"/>
            </a:pPr>
            <a:r>
              <a:rPr lang="en-US" sz="1800" dirty="0"/>
              <a:t>Now you have an algorithm or code base to perform the same analysis tomorrow or for a different patient area if needed. It is transparent and reproducible. All decisions were built into the code.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fontScale="92500" lnSpcReduction="10000"/>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Process and decisions become transparent</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 </a:t>
            </a:r>
            <a:r>
              <a:rPr lang="en-US" dirty="0" err="1"/>
              <a:t>autoverification</a:t>
            </a:r>
            <a:r>
              <a:rPr lang="en-US" dirty="0"/>
              <a:t> rules</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D708D-0A77-1D60-AAA7-18995BEAB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4ABE-59E3-B383-16DB-01CF76FBCADD}"/>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66F3C84B-D465-50AB-8DE0-4673B8F9DAC6}"/>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C45C6272-A2B7-5912-D1B9-492BA482ECBE}"/>
              </a:ext>
            </a:extLst>
          </p:cNvPr>
          <p:cNvSpPr/>
          <p:nvPr/>
        </p:nvSpPr>
        <p:spPr>
          <a:xfrm>
            <a:off x="2718148" y="1853852"/>
            <a:ext cx="6538586" cy="3544866"/>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402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Does this make sense?</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5: Apply coding concepts to check a solution</a:t>
            </a:r>
          </a:p>
        </p:txBody>
      </p:sp>
      <p:sp>
        <p:nvSpPr>
          <p:cNvPr id="14" name="TextBox 14"/>
          <p:cNvSpPr txBox="1"/>
          <p:nvPr/>
        </p:nvSpPr>
        <p:spPr>
          <a:xfrm>
            <a:off x="1024128" y="2560320"/>
            <a:ext cx="9692640" cy="338328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dirty="0"/>
              <a:t>Add up the patient counts in your table. Do they total 6,481?</a:t>
            </a:r>
          </a:p>
          <a:p>
            <a:pPr marL="457200" lvl="0" indent="-457200">
              <a:spcAft>
                <a:spcPts val="900"/>
              </a:spcAft>
              <a:buFont typeface="+mj-lt"/>
              <a:buAutoNum type="arabicPeriod"/>
            </a:pPr>
            <a:r>
              <a:rPr lang="en-US" sz="1900" dirty="0"/>
              <a:t>Do the results support the ICU complaint? If not, what would you check next?</a:t>
            </a:r>
          </a:p>
          <a:p>
            <a:pPr marL="457200" lvl="0" indent="-457200">
              <a:spcAft>
                <a:spcPts val="900"/>
              </a:spcAft>
              <a:buFont typeface="+mj-lt"/>
              <a:buAutoNum type="arabicPeriod"/>
            </a:pPr>
            <a:r>
              <a:rPr lang="en-US" sz="1900" dirty="0"/>
              <a:t>Compare your cold prompt with your final one. What did Claude fill in the first time that you supplied the second time?</a:t>
            </a:r>
          </a:p>
          <a:p>
            <a:pPr marL="457200" lvl="0" indent="-457200">
              <a:spcAft>
                <a:spcPts val="0"/>
              </a:spcAft>
              <a:buFont typeface="+mj-lt"/>
              <a:buAutoNum type="arabicPeriod"/>
            </a:pPr>
            <a:r>
              <a:rPr lang="en-US" sz="1900" dirty="0"/>
              <a:t>Look at your confidence rating from the cold prompt. Was it justified?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Whatever you leave out, Claude fills in</a:t>
            </a:r>
          </a:p>
        </p:txBody>
      </p:sp>
      <p:graphicFrame>
        <p:nvGraphicFramePr>
          <p:cNvPr id="12" name="Table 12"/>
          <p:cNvGraphicFramePr>
            <a:graphicFrameLocks noGrp="1"/>
          </p:cNvGraphicFramePr>
          <p:nvPr>
            <p:extLst>
              <p:ext uri="{D42A27DB-BD31-4B8C-83A1-F6EECF244321}">
                <p14:modId xmlns:p14="http://schemas.microsoft.com/office/powerpoint/2010/main" val="571296784"/>
              </p:ext>
            </p:extLst>
          </p:nvPr>
        </p:nvGraphicFramePr>
        <p:xfrm>
          <a:off x="1024128" y="2103120"/>
          <a:ext cx="9875520" cy="2267712"/>
        </p:xfrm>
        <a:graphic>
          <a:graphicData uri="http://schemas.openxmlformats.org/drawingml/2006/table">
            <a:tbl>
              <a:tblPr/>
              <a:tblGrid>
                <a:gridCol w="42062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566928">
                <a:tc>
                  <a:txBody>
                    <a:bodyPr/>
                    <a:lstStyle/>
                    <a:p>
                      <a:pPr marL="0" indent="0">
                        <a:buNone/>
                      </a:pPr>
                      <a:r>
                        <a:rPr lang="en-US" sz="1600" b="1" dirty="0"/>
                        <a:t>What we gave Claude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What Claude may have filled in itself (various tests)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566928">
                <a:tc>
                  <a:txBody>
                    <a:bodyPr/>
                    <a:lstStyle/>
                    <a:p>
                      <a:pPr marL="0" indent="0">
                        <a:buNone/>
                      </a:pPr>
                      <a:r>
                        <a:rPr lang="en-US" sz="1600" dirty="0"/>
                        <a:t>The question only</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Column names and a made-up dataset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600" dirty="0"/>
                        <a:t>The question and the column names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A 90% target, which patients to drop, what counts as one specimen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566928">
                <a:tc>
                  <a:txBody>
                    <a:bodyPr/>
                    <a:lstStyle/>
                    <a:p>
                      <a:pPr marL="0" indent="0">
                        <a:buNone/>
                      </a:pPr>
                      <a:r>
                        <a:rPr lang="en-US" sz="1600" dirty="0"/>
                        <a:t>The question and "ask me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It asked five questions and showed a plan.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4572000"/>
            <a:ext cx="9875520" cy="1554480"/>
          </a:xfrm>
          <a:prstGeom prst="rect">
            <a:avLst/>
          </a:prstGeom>
          <a:noFill/>
        </p:spPr>
        <p:txBody>
          <a:bodyPr wrap="square" lIns="91440" tIns="91440" rIns="91440" bIns="91440" rtlCol="0" anchor="t"/>
          <a:lstStyle/>
          <a:p>
            <a:pPr marL="285750" lvl="0" indent="-285750">
              <a:spcAft>
                <a:spcPts val="600"/>
              </a:spcAft>
              <a:buFont typeface="Arial"/>
              <a:buChar char="•"/>
            </a:pPr>
            <a:r>
              <a:rPr lang="en-US" sz="1700" dirty="0"/>
              <a:t>Without that line, Claude asked no questions in our tests. It assumed, said so, and kept going.</a:t>
            </a:r>
          </a:p>
          <a:p>
            <a:pPr marL="285750" lvl="0" indent="-285750">
              <a:spcAft>
                <a:spcPts val="600"/>
              </a:spcAft>
              <a:buFont typeface="Arial"/>
              <a:buChar char="•"/>
            </a:pPr>
            <a:r>
              <a:rPr lang="en-US" sz="1700" dirty="0"/>
              <a:t>One default dropped every patient with no patient type: 1,088 people, 17% of the data.</a:t>
            </a:r>
          </a:p>
          <a:p>
            <a:pPr marL="285750" lvl="0" indent="-285750">
              <a:spcAft>
                <a:spcPts val="600"/>
              </a:spcAft>
              <a:buFont typeface="Arial"/>
              <a:buChar char="•"/>
            </a:pPr>
            <a:r>
              <a:rPr lang="en-US" sz="1700" b="1" dirty="0"/>
              <a:t>Claude can list the decisions. Making them is your job.</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a:xfrm>
            <a:off x="1024128" y="2286000"/>
            <a:ext cx="10062972" cy="4023360"/>
          </a:xfrm>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r>
              <a:rPr lang="en-US" dirty="0"/>
              <a:t>Doing it along the way prevents rework or failed output</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1894090"/>
            <a:ext cx="9720073" cy="949318"/>
          </a:xfrm>
        </p:spPr>
        <p:txBody>
          <a:bodyPr>
            <a:normAutofit/>
          </a:bodyPr>
          <a:lstStyle/>
          <a:p>
            <a:pPr marL="0" indent="0">
              <a:buNone/>
            </a:pPr>
            <a:r>
              <a:rPr lang="en-US" sz="2400"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56864045"/>
              </p:ext>
            </p:extLst>
          </p:nvPr>
        </p:nvGraphicFramePr>
        <p:xfrm>
          <a:off x="570059" y="3074669"/>
          <a:ext cx="11051881" cy="2499360"/>
        </p:xfrm>
        <a:graphic>
          <a:graphicData uri="http://schemas.openxmlformats.org/drawingml/2006/table">
            <a:tbl>
              <a:tblPr firstRow="1" bandRow="1">
                <a:tableStyleId>{5940675A-B579-460E-94D1-54222C63F5DA}</a:tableStyleId>
              </a:tblPr>
              <a:tblGrid>
                <a:gridCol w="4628242">
                  <a:extLst>
                    <a:ext uri="{9D8B030D-6E8A-4147-A177-3AD203B41FA5}">
                      <a16:colId xmlns:a16="http://schemas.microsoft.com/office/drawing/2014/main" val="63775097"/>
                    </a:ext>
                  </a:extLst>
                </a:gridCol>
                <a:gridCol w="2658766">
                  <a:extLst>
                    <a:ext uri="{9D8B030D-6E8A-4147-A177-3AD203B41FA5}">
                      <a16:colId xmlns:a16="http://schemas.microsoft.com/office/drawing/2014/main" val="676232085"/>
                    </a:ext>
                  </a:extLst>
                </a:gridCol>
                <a:gridCol w="3764873">
                  <a:extLst>
                    <a:ext uri="{9D8B030D-6E8A-4147-A177-3AD203B41FA5}">
                      <a16:colId xmlns:a16="http://schemas.microsoft.com/office/drawing/2014/main" val="3452021442"/>
                    </a:ext>
                  </a:extLst>
                </a:gridCol>
              </a:tblGrid>
              <a:tr h="370840">
                <a:tc>
                  <a:txBody>
                    <a:bodyPr/>
                    <a:lstStyle/>
                    <a:p>
                      <a:r>
                        <a:rPr lang="en-US" sz="2000" b="1" dirty="0"/>
                        <a:t>Computational thinking skill</a:t>
                      </a:r>
                    </a:p>
                  </a:txBody>
                  <a:tcPr/>
                </a:tc>
                <a:tc>
                  <a:txBody>
                    <a:bodyPr/>
                    <a:lstStyle/>
                    <a:p>
                      <a:r>
                        <a:rPr lang="en-US" sz="2000" b="1" dirty="0"/>
                        <a:t>Programming concept</a:t>
                      </a:r>
                    </a:p>
                  </a:txBody>
                  <a:tcPr/>
                </a:tc>
                <a:tc>
                  <a:txBody>
                    <a:bodyPr/>
                    <a:lstStyle/>
                    <a:p>
                      <a:r>
                        <a:rPr lang="en-US" sz="2000" b="1" dirty="0"/>
                        <a:t>When to use</a:t>
                      </a:r>
                    </a:p>
                  </a:txBody>
                  <a:tcPr/>
                </a:tc>
                <a:extLst>
                  <a:ext uri="{0D108BD9-81ED-4DB2-BD59-A6C34878D82A}">
                    <a16:rowId xmlns:a16="http://schemas.microsoft.com/office/drawing/2014/main" val="1629335367"/>
                  </a:ext>
                </a:extLst>
              </a:tr>
              <a:tr h="370840">
                <a:tc>
                  <a:txBody>
                    <a:bodyPr/>
                    <a:lstStyle/>
                    <a:p>
                      <a:r>
                        <a:rPr lang="en-US" sz="2000" dirty="0"/>
                        <a:t>Abstraction steps identify essential elements that are re-used</a:t>
                      </a:r>
                    </a:p>
                  </a:txBody>
                  <a:tcPr/>
                </a:tc>
                <a:tc>
                  <a:txBody>
                    <a:bodyPr/>
                    <a:lstStyle/>
                    <a:p>
                      <a:r>
                        <a:rPr lang="en-US" sz="2000" dirty="0"/>
                        <a:t>Function</a:t>
                      </a:r>
                    </a:p>
                  </a:txBody>
                  <a:tcPr/>
                </a:tc>
                <a:tc>
                  <a:txBody>
                    <a:bodyPr/>
                    <a:lstStyle/>
                    <a:p>
                      <a:pPr marL="0" lvl="0" indent="0">
                        <a:buClr>
                          <a:schemeClr val="accent1"/>
                        </a:buClr>
                        <a:buSzPct val="100000"/>
                        <a:buFont typeface="Arial" panose="020B0604020202020204" pitchFamily="34" charset="0"/>
                        <a:buNone/>
                      </a:pPr>
                      <a:r>
                        <a:rPr lang="en-US" sz="2000" dirty="0"/>
                        <a:t>Reusable block of code to generate outputs from new inputs</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Abstraction and algorithm design identify rules or decisions that guide actions</a:t>
                      </a:r>
                    </a:p>
                  </a:txBody>
                  <a:tcPr/>
                </a:tc>
                <a:tc>
                  <a:txBody>
                    <a:bodyPr/>
                    <a:lstStyle/>
                    <a:p>
                      <a:r>
                        <a:rPr lang="en-US" sz="2000" dirty="0"/>
                        <a:t>Conditional</a:t>
                      </a:r>
                    </a:p>
                  </a:txBody>
                  <a:tcPr/>
                </a:tc>
                <a:tc>
                  <a:txBody>
                    <a:bodyPr/>
                    <a:lstStyle/>
                    <a:p>
                      <a:r>
                        <a:rPr lang="en-US" sz="2000" dirty="0"/>
                        <a:t>Change actions based on conditions</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Pattern recognition and algorithm design identify repeated steps</a:t>
                      </a:r>
                    </a:p>
                  </a:txBody>
                  <a:tcPr/>
                </a:tc>
                <a:tc>
                  <a:txBody>
                    <a:bodyPr/>
                    <a:lstStyle/>
                    <a:p>
                      <a:r>
                        <a:rPr lang="en-US" sz="2000" dirty="0"/>
                        <a:t>Loop</a:t>
                      </a:r>
                    </a:p>
                  </a:txBody>
                  <a:tcPr/>
                </a:tc>
                <a:tc>
                  <a:txBody>
                    <a:bodyPr/>
                    <a:lstStyle/>
                    <a:p>
                      <a:r>
                        <a:rPr lang="en-US" sz="2000" dirty="0"/>
                        <a:t>Run same command repeatedly</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431685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GenAI habits to keep</a:t>
            </a:r>
          </a:p>
        </p:txBody>
      </p:sp>
      <p:sp>
        <p:nvSpPr>
          <p:cNvPr id="12" name="TextBox 12"/>
          <p:cNvSpPr txBox="1"/>
          <p:nvPr/>
        </p:nvSpPr>
        <p:spPr>
          <a:xfrm>
            <a:off x="1024128" y="2103120"/>
            <a:ext cx="9692640" cy="384048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2000" b="1" dirty="0"/>
              <a:t>Think first. </a:t>
            </a:r>
            <a:r>
              <a:rPr lang="en-US" sz="2000" dirty="0"/>
              <a:t>Write your own answer before you ask.</a:t>
            </a:r>
          </a:p>
          <a:p>
            <a:pPr marL="457200" lvl="0" indent="-457200">
              <a:spcAft>
                <a:spcPts val="600"/>
              </a:spcAft>
              <a:buFont typeface="+mj-lt"/>
              <a:buAutoNum type="arabicPeriod"/>
            </a:pPr>
            <a:r>
              <a:rPr lang="en-US" sz="2000" b="1" dirty="0"/>
              <a:t>Tell it to ask first. </a:t>
            </a:r>
            <a:r>
              <a:rPr lang="en-US" sz="2000" dirty="0"/>
              <a:t>"If anything essential is missing, ask me before answering."</a:t>
            </a:r>
          </a:p>
          <a:p>
            <a:pPr marL="457200" lvl="0" indent="-457200">
              <a:spcAft>
                <a:spcPts val="600"/>
              </a:spcAft>
              <a:buFont typeface="+mj-lt"/>
              <a:buAutoNum type="arabicPeriod"/>
            </a:pPr>
            <a:r>
              <a:rPr lang="en-US" sz="2000" b="1" dirty="0"/>
              <a:t>Describe your data. </a:t>
            </a:r>
            <a:r>
              <a:rPr lang="en-US" sz="2000" dirty="0"/>
              <a:t>Say what one row is and key structures. Don't upload patient data.</a:t>
            </a:r>
          </a:p>
          <a:p>
            <a:pPr marL="457200" lvl="0" indent="-457200">
              <a:spcAft>
                <a:spcPts val="600"/>
              </a:spcAft>
              <a:buFont typeface="+mj-lt"/>
              <a:buAutoNum type="arabicPeriod"/>
            </a:pPr>
            <a:r>
              <a:rPr lang="en-US" sz="2000" b="1" dirty="0"/>
              <a:t>Read the assumptions before the code. </a:t>
            </a:r>
            <a:r>
              <a:rPr lang="en-US" sz="2000" dirty="0"/>
              <a:t>Decide each one yourself.</a:t>
            </a:r>
          </a:p>
          <a:p>
            <a:pPr marL="457200" lvl="0" indent="-457200">
              <a:spcAft>
                <a:spcPts val="600"/>
              </a:spcAft>
              <a:buFont typeface="+mj-lt"/>
              <a:buAutoNum type="arabicPeriod"/>
            </a:pPr>
            <a:r>
              <a:rPr lang="en-US" sz="2000" b="1" dirty="0"/>
              <a:t>Check the result </a:t>
            </a:r>
            <a:r>
              <a:rPr lang="en-US" sz="2000" dirty="0"/>
              <a:t>against what you know.</a:t>
            </a:r>
          </a:p>
          <a:p>
            <a:pPr marL="457200" lvl="0" indent="-457200">
              <a:spcAft>
                <a:spcPts val="0"/>
              </a:spcAft>
              <a:buFont typeface="+mj-lt"/>
              <a:buAutoNum type="arabicPeriod"/>
            </a:pPr>
            <a:r>
              <a:rPr lang="en-US" sz="2000" b="1" dirty="0"/>
              <a:t>Save prompts that work </a:t>
            </a:r>
            <a:r>
              <a:rPr lang="en-US" sz="2000" dirty="0"/>
              <a:t>as templates with blanks or within customization features.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38397</TotalTime>
  <Words>6591</Words>
  <Application>Microsoft Macintosh PowerPoint</Application>
  <PresentationFormat>Widescreen</PresentationFormat>
  <Paragraphs>721</Paragraphs>
  <Slides>64</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Courier New</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Today's lab case</vt:lpstr>
      <vt:lpstr>Warm-up: build your subset</vt:lpstr>
      <vt:lpstr>Cold prompt</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Decomposition</vt:lpstr>
      <vt:lpstr>Model sub-tasks</vt:lpstr>
      <vt:lpstr>How does this help us?</vt:lpstr>
      <vt:lpstr>All at once vs step by step</vt:lpstr>
      <vt:lpstr>Better prompting:  plan first, then step by step</vt:lpstr>
      <vt:lpstr>computational thinking skills</vt:lpstr>
      <vt:lpstr>Pattern recognition</vt:lpstr>
      <vt:lpstr>Recognizing patterns in sub-tasks</vt:lpstr>
      <vt:lpstr>Recognizing patterns across problems</vt:lpstr>
      <vt:lpstr>What is a loop?</vt:lpstr>
      <vt:lpstr>Calculate the median for each column: Copy and paste method</vt:lpstr>
      <vt:lpstr>Calculate the median for each column: for loop method</vt:lpstr>
      <vt:lpstr>Calculate the median for each column: for loop method</vt:lpstr>
      <vt:lpstr>From loops to group_by()</vt:lpstr>
      <vt:lpstr>Let’s try it</vt:lpstr>
      <vt:lpstr>Pattern recognition</vt:lpstr>
      <vt:lpstr>PowerPoint Presentation</vt:lpstr>
      <vt:lpstr>How does this help us?</vt:lpstr>
      <vt:lpstr>computational thinking skills</vt:lpstr>
      <vt:lpstr>abstraction</vt:lpstr>
      <vt:lpstr>Abstracting the science of baking</vt:lpstr>
      <vt:lpstr>Basic recipe: a model for baking</vt:lpstr>
      <vt:lpstr>Baking as a computational model</vt:lpstr>
      <vt:lpstr>What is a function?</vt:lpstr>
      <vt:lpstr>Ggplot R function creates a new graph object</vt:lpstr>
      <vt:lpstr>Let’s try it</vt:lpstr>
      <vt:lpstr>Abstraction</vt:lpstr>
      <vt:lpstr>Abstraction: what you should see</vt:lpstr>
      <vt:lpstr>How does this help us?</vt:lpstr>
      <vt:lpstr>LLM prompting framework</vt:lpstr>
      <vt:lpstr>Templates, projects and saved instructions</vt:lpstr>
      <vt:lpstr>computational thinking skills</vt:lpstr>
      <vt:lpstr>Algorithm Design</vt:lpstr>
      <vt:lpstr>Detailed recipe: algorithm for baking</vt:lpstr>
      <vt:lpstr>What is a condition?</vt:lpstr>
      <vt:lpstr>Combining functions with conditionals</vt:lpstr>
      <vt:lpstr>Let’s try it</vt:lpstr>
      <vt:lpstr>Algorithm design Part 1</vt:lpstr>
      <vt:lpstr>Algorithm design part 2</vt:lpstr>
      <vt:lpstr>Algorithm: what you should see</vt:lpstr>
      <vt:lpstr>How does this help us?</vt:lpstr>
      <vt:lpstr>computational thinking skills</vt:lpstr>
      <vt:lpstr>PowerPoint Presentation</vt:lpstr>
      <vt:lpstr>Does this make sense?</vt:lpstr>
      <vt:lpstr>Whatever you leave out, Claude fills in</vt:lpstr>
      <vt:lpstr>How does this help us?</vt:lpstr>
      <vt:lpstr>Building a foundation for ds101</vt:lpstr>
      <vt:lpstr>GenAI habits to keep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28</cp:revision>
  <dcterms:created xsi:type="dcterms:W3CDTF">2022-06-28T07:45:18Z</dcterms:created>
  <dcterms:modified xsi:type="dcterms:W3CDTF">2026-10-05T03:43:11Z</dcterms:modified>
</cp:coreProperties>
</file>