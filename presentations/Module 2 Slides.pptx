
<file path=[Content_Types].xml><?xml version="1.0" encoding="utf-8"?>
<Types xmlns="http://schemas.openxmlformats.org/package/2006/content-types">
  <Default Extension="jpeg" ContentType="image/jpeg"/>
  <Default Extension="jpg" ContentType="image/jpeg"/>
  <Default Extension="mov" ContentType="video/quicktime"/>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3"/>
  </p:notesMasterIdLst>
  <p:sldIdLst>
    <p:sldId id="710" r:id="rId2"/>
    <p:sldId id="579" r:id="rId3"/>
    <p:sldId id="608" r:id="rId4"/>
    <p:sldId id="714" r:id="rId5"/>
    <p:sldId id="552" r:id="rId6"/>
    <p:sldId id="557" r:id="rId7"/>
    <p:sldId id="609" r:id="rId8"/>
    <p:sldId id="610" r:id="rId9"/>
    <p:sldId id="611" r:id="rId10"/>
    <p:sldId id="612" r:id="rId11"/>
    <p:sldId id="585" r:id="rId12"/>
    <p:sldId id="624" r:id="rId13"/>
    <p:sldId id="588" r:id="rId14"/>
    <p:sldId id="596" r:id="rId15"/>
    <p:sldId id="717" r:id="rId16"/>
    <p:sldId id="591" r:id="rId17"/>
    <p:sldId id="592" r:id="rId18"/>
    <p:sldId id="459" r:id="rId19"/>
    <p:sldId id="440" r:id="rId20"/>
    <p:sldId id="415" r:id="rId21"/>
    <p:sldId id="627" r:id="rId22"/>
    <p:sldId id="584" r:id="rId23"/>
    <p:sldId id="425" r:id="rId24"/>
    <p:sldId id="417" r:id="rId25"/>
    <p:sldId id="427" r:id="rId26"/>
    <p:sldId id="431" r:id="rId27"/>
    <p:sldId id="637" r:id="rId28"/>
    <p:sldId id="428" r:id="rId29"/>
    <p:sldId id="471" r:id="rId30"/>
    <p:sldId id="586" r:id="rId31"/>
    <p:sldId id="587" r:id="rId32"/>
    <p:sldId id="468" r:id="rId33"/>
    <p:sldId id="553" r:id="rId34"/>
    <p:sldId id="487" r:id="rId35"/>
    <p:sldId id="374" r:id="rId36"/>
    <p:sldId id="316" r:id="rId37"/>
    <p:sldId id="319" r:id="rId38"/>
    <p:sldId id="599" r:id="rId39"/>
    <p:sldId id="433" r:id="rId40"/>
    <p:sldId id="346" r:id="rId41"/>
    <p:sldId id="359" r:id="rId42"/>
    <p:sldId id="361" r:id="rId43"/>
    <p:sldId id="362" r:id="rId44"/>
    <p:sldId id="363" r:id="rId45"/>
    <p:sldId id="364" r:id="rId46"/>
    <p:sldId id="583" r:id="rId47"/>
    <p:sldId id="593" r:id="rId48"/>
    <p:sldId id="600" r:id="rId49"/>
    <p:sldId id="565" r:id="rId50"/>
    <p:sldId id="589" r:id="rId51"/>
    <p:sldId id="590" r:id="rId52"/>
    <p:sldId id="716" r:id="rId53"/>
    <p:sldId id="718" r:id="rId54"/>
    <p:sldId id="598" r:id="rId55"/>
    <p:sldId id="597" r:id="rId56"/>
    <p:sldId id="721" r:id="rId57"/>
    <p:sldId id="289" r:id="rId58"/>
    <p:sldId id="641" r:id="rId59"/>
    <p:sldId id="642" r:id="rId60"/>
    <p:sldId id="653" r:id="rId61"/>
    <p:sldId id="272" r:id="rId62"/>
    <p:sldId id="654" r:id="rId63"/>
    <p:sldId id="719" r:id="rId64"/>
    <p:sldId id="722" r:id="rId65"/>
    <p:sldId id="723" r:id="rId66"/>
    <p:sldId id="724" r:id="rId67"/>
    <p:sldId id="725" r:id="rId68"/>
    <p:sldId id="726" r:id="rId69"/>
    <p:sldId id="727" r:id="rId70"/>
    <p:sldId id="728" r:id="rId71"/>
    <p:sldId id="720" r:id="rId7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97"/>
    <p:restoredTop sz="77178"/>
  </p:normalViewPr>
  <p:slideViewPr>
    <p:cSldViewPr snapToGrid="0" snapToObjects="1">
      <p:cViewPr varScale="1">
        <p:scale>
          <a:sx n="95" d="100"/>
          <a:sy n="95" d="100"/>
        </p:scale>
        <p:origin x="9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10/4/26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first session our goal is to develop some familiarity with the R programming language.</a:t>
            </a:r>
          </a:p>
          <a:p>
            <a:endParaRPr lang="en-US" dirty="0"/>
          </a:p>
          <a:p>
            <a:r>
              <a:rPr lang="en-US" dirty="0"/>
              <a:t>We will also discuss the important role of reproducible data analysis and how R can help us with this.</a:t>
            </a:r>
          </a:p>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2</a:t>
            </a:fld>
            <a:endParaRPr lang="en-US"/>
          </a:p>
        </p:txBody>
      </p:sp>
    </p:spTree>
    <p:extLst>
      <p:ext uri="{BB962C8B-B14F-4D97-AF65-F5344CB8AC3E}">
        <p14:creationId xmlns:p14="http://schemas.microsoft.com/office/powerpoint/2010/main" val="1908121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62eb0d21fa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62eb0d21fa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I’m sure you all are excited to get started programming and we will do that in just a few minutes.</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Before we do that I want to introduce you to 3 items.</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The first is R. R is a programming language for data analysis. There are lots of great things about R:  it is freely available, great for wrangling data, and very capable for producing impressive visualizations.  There is also a great community of folks using it for data science, and we are excited to welcome you all to the R community via this course.</a:t>
            </a:r>
          </a:p>
          <a:p>
            <a:pPr marL="0" lvl="0" indent="0" algn="l" rtl="0">
              <a:spcBef>
                <a:spcPts val="0"/>
              </a:spcBef>
              <a:spcAft>
                <a:spcPts val="0"/>
              </a:spcAft>
              <a:buNone/>
            </a:pPr>
            <a:endParaRPr lang="en" dirty="0">
              <a:solidFill>
                <a:schemeClr val="dk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dirty="0"/>
              <a:t>(**) Then, there’s RStudio. RStudio is the name of a free piece of software made by the company Posit (formerly known as R</a:t>
            </a:r>
            <a:r>
              <a:rPr lang="en-US" dirty="0"/>
              <a:t>S</a:t>
            </a:r>
            <a:r>
              <a:rPr lang="en" dirty="0" err="1"/>
              <a:t>tudio</a:t>
            </a:r>
            <a:r>
              <a:rPr lang="en" dirty="0"/>
              <a:t>). You can think of RStudio as a sophisticated text editor for writing R code. You can run </a:t>
            </a:r>
            <a:r>
              <a:rPr lang="en" dirty="0">
                <a:solidFill>
                  <a:schemeClr val="dk1"/>
                </a:solidFill>
              </a:rPr>
              <a:t>RStudio on Mac or Windows, or on a server.</a:t>
            </a:r>
          </a:p>
          <a:p>
            <a:pPr marL="0" lvl="0" indent="0" algn="l" rtl="0">
              <a:spcBef>
                <a:spcPts val="0"/>
              </a:spcBef>
              <a:spcAft>
                <a:spcPts val="0"/>
              </a:spcAft>
              <a:buNone/>
            </a:pPr>
            <a:endParaRPr lang="en" dirty="0">
              <a:solidFill>
                <a:schemeClr val="dk1"/>
              </a:solidFill>
            </a:endParaRPr>
          </a:p>
          <a:p>
            <a:pPr marL="0" lvl="0" indent="0" algn="l" rtl="0">
              <a:spcBef>
                <a:spcPts val="0"/>
              </a:spcBef>
              <a:spcAft>
                <a:spcPts val="0"/>
              </a:spcAft>
              <a:buNone/>
            </a:pPr>
            <a:r>
              <a:rPr lang="en" dirty="0"/>
              <a:t>(**) Finally there’s R Markdown. (**) Or at least that what we used to say when we taught this course.  The next generation of R Markdown known as (**) Quarto was recently released. Quarto is a computational document format that has executable code. Quarto also includes capabilities for annotating your work which is incredibly handy and supports multiple programming languages for mixing and matching code.</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R, R</a:t>
            </a:r>
            <a:r>
              <a:rPr lang="en-US" dirty="0"/>
              <a:t>Studio, and Quarto </a:t>
            </a:r>
            <a:r>
              <a:rPr lang="en" dirty="0"/>
              <a:t>synergize for a robust ecosystem for performing data analysis.</a:t>
            </a:r>
          </a:p>
          <a:p>
            <a:pPr marL="0" lvl="0" indent="0" algn="l" rtl="0">
              <a:spcBef>
                <a:spcPts val="0"/>
              </a:spcBef>
              <a:spcAft>
                <a:spcPts val="0"/>
              </a:spcAft>
              <a:buNone/>
            </a:pPr>
            <a:endParaRPr lang="en" dirty="0"/>
          </a:p>
        </p:txBody>
      </p:sp>
    </p:spTree>
    <p:extLst>
      <p:ext uri="{BB962C8B-B14F-4D97-AF65-F5344CB8AC3E}">
        <p14:creationId xmlns:p14="http://schemas.microsoft.com/office/powerpoint/2010/main" val="3695504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2E4CE-0A71-E514-2562-51D9332DB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77469-D750-C22D-979E-EDA30A7E6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AAAAC-B8D1-1E36-3CFA-8436FF1CAC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F739C6-41E8-1266-E982-4C175C6ACB97}"/>
              </a:ext>
            </a:extLst>
          </p:cNvPr>
          <p:cNvSpPr>
            <a:spLocks noGrp="1"/>
          </p:cNvSpPr>
          <p:nvPr>
            <p:ph type="sldNum" sz="quarter" idx="5"/>
          </p:nvPr>
        </p:nvSpPr>
        <p:spPr/>
        <p:txBody>
          <a:bodyPr/>
          <a:lstStyle/>
          <a:p>
            <a:fld id="{0A193586-FEB5-7C43-8F44-7EFAE4EECA28}" type="slidenum">
              <a:rPr lang="en-US" smtClean="0"/>
              <a:t>4</a:t>
            </a:fld>
            <a:endParaRPr lang="en-US"/>
          </a:p>
        </p:txBody>
      </p:sp>
    </p:spTree>
    <p:extLst>
      <p:ext uri="{BB962C8B-B14F-4D97-AF65-F5344CB8AC3E}">
        <p14:creationId xmlns:p14="http://schemas.microsoft.com/office/powerpoint/2010/main" val="4256926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powerful aspects of working in the R environment is the ability to conduct reproducible data analyses (those analyses that can be shared, revised, repurposed and reproduced) by others.</a:t>
            </a:r>
          </a:p>
        </p:txBody>
      </p:sp>
      <p:sp>
        <p:nvSpPr>
          <p:cNvPr id="4" name="Slide Number Placeholder 3"/>
          <p:cNvSpPr>
            <a:spLocks noGrp="1"/>
          </p:cNvSpPr>
          <p:nvPr>
            <p:ph type="sldNum" sz="quarter" idx="5"/>
          </p:nvPr>
        </p:nvSpPr>
        <p:spPr/>
        <p:txBody>
          <a:bodyPr/>
          <a:lstStyle/>
          <a:p>
            <a:fld id="{0A193586-FEB5-7C43-8F44-7EFAE4EECA28}" type="slidenum">
              <a:rPr lang="en-US" smtClean="0"/>
              <a:t>5</a:t>
            </a:fld>
            <a:endParaRPr lang="en-US"/>
          </a:p>
        </p:txBody>
      </p:sp>
    </p:spTree>
    <p:extLst>
      <p:ext uri="{BB962C8B-B14F-4D97-AF65-F5344CB8AC3E}">
        <p14:creationId xmlns:p14="http://schemas.microsoft.com/office/powerpoint/2010/main" val="3086994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61fff11857_3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g61fff11857_3_31:notes"/>
          <p:cNvSpPr txBox="1">
            <a:spLocks noGrp="1"/>
          </p:cNvSpPr>
          <p:nvPr>
            <p:ph type="body" idx="1"/>
          </p:nvPr>
        </p:nvSpPr>
        <p:spPr>
          <a:xfrm>
            <a:off x="685800" y="4400549"/>
            <a:ext cx="5486400" cy="3600451"/>
          </a:xfrm>
          <a:prstGeom prst="rect">
            <a:avLst/>
          </a:prstGeom>
          <a:noFill/>
          <a:ln>
            <a:noFill/>
          </a:ln>
        </p:spPr>
        <p:txBody>
          <a:bodyPr spcFirstLastPara="1" wrap="square" lIns="91425" tIns="45700" rIns="91425" bIns="45700" anchor="t" anchorCtr="0">
            <a:noAutofit/>
          </a:bodyPr>
          <a:lstStyle/>
          <a:p>
            <a:r>
              <a:rPr lang="en-US" dirty="0"/>
              <a:t>Quarto provides us with features and tools to tackle the reproducibility problem.</a:t>
            </a:r>
          </a:p>
          <a:p>
            <a:endParaRPr lang="en-US" dirty="0"/>
          </a:p>
          <a:p>
            <a:r>
              <a:rPr lang="en-US" dirty="0"/>
              <a:t>In Quarto, we can craft computer code mixed in with narrative annotation that documents the purpose of the code and details about the decisions we made in our analysis.</a:t>
            </a:r>
          </a:p>
          <a:p>
            <a:endParaRPr lang="en-US" dirty="0"/>
          </a:p>
          <a:p>
            <a:r>
              <a:rPr lang="en-US" dirty="0"/>
              <a:t>Quarto provides a lab notebook interface for analysis, visualization, and annotation of our work.</a:t>
            </a:r>
          </a:p>
          <a:p>
            <a:endParaRPr lang="en-US" dirty="0"/>
          </a:p>
          <a:p>
            <a:r>
              <a:rPr lang="en-US" dirty="0"/>
              <a:t>Like R Markdown before it, Quarto is quickly becoming the gold standard for reproducible data analysis.  In the course we will teach you to use Quarto and we encourage you to continue using it consistently in your future work.  In fact, it is the strongest recommendation we will make to you today.</a:t>
            </a:r>
          </a:p>
        </p:txBody>
      </p:sp>
      <p:sp>
        <p:nvSpPr>
          <p:cNvPr id="272" name="Google Shape;272;g61fff11857_3_31:notes"/>
          <p:cNvSpPr txBox="1">
            <a:spLocks noGrp="1"/>
          </p:cNvSpPr>
          <p:nvPr>
            <p:ph type="sldNum" idx="12"/>
          </p:nvPr>
        </p:nvSpPr>
        <p:spPr>
          <a:xfrm>
            <a:off x="3884613" y="8685214"/>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a:t>
            </a:fld>
            <a:endParaRPr/>
          </a:p>
        </p:txBody>
      </p:sp>
    </p:spTree>
    <p:extLst>
      <p:ext uri="{BB962C8B-B14F-4D97-AF65-F5344CB8AC3E}">
        <p14:creationId xmlns:p14="http://schemas.microsoft.com/office/powerpoint/2010/main" val="3382162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Quarto documents are composed of 3 basic building blocks.</a:t>
            </a:r>
          </a:p>
          <a:p>
            <a:endParaRPr lang="en-US" dirty="0"/>
          </a:p>
          <a:p>
            <a:r>
              <a:rPr lang="en-US" dirty="0"/>
              <a:t>**The first is the Header which includes pieces like the name of the document, the document’s author, and the desired output format when the document is assembled.</a:t>
            </a:r>
          </a:p>
          <a:p>
            <a:endParaRPr lang="en-US" dirty="0"/>
          </a:p>
          <a:p>
            <a:r>
              <a:rPr lang="en-US" dirty="0"/>
              <a:t>**The second block is the text.  Quarto documents can be marked in ways that promote readability with various formatting styles.</a:t>
            </a:r>
          </a:p>
          <a:p>
            <a:endParaRPr lang="en-US" dirty="0"/>
          </a:p>
          <a:p>
            <a:r>
              <a:rPr lang="en-US" dirty="0"/>
              <a:t>**Finally, there are code chunks.  Code chunks include include R code that can be executed to output results.</a:t>
            </a:r>
          </a:p>
        </p:txBody>
      </p:sp>
      <p:sp>
        <p:nvSpPr>
          <p:cNvPr id="4" name="Slide Number Placeholder 3"/>
          <p:cNvSpPr>
            <a:spLocks noGrp="1"/>
          </p:cNvSpPr>
          <p:nvPr>
            <p:ph type="sldNum" sz="quarter" idx="5"/>
          </p:nvPr>
        </p:nvSpPr>
        <p:spPr/>
        <p:txBody>
          <a:bodyPr/>
          <a:lstStyle/>
          <a:p>
            <a:fld id="{0A193586-FEB5-7C43-8F44-7EFAE4EECA28}" type="slidenum">
              <a:rPr lang="en-US" smtClean="0"/>
              <a:t>7</a:t>
            </a:fld>
            <a:endParaRPr lang="en-US"/>
          </a:p>
        </p:txBody>
      </p:sp>
    </p:spTree>
    <p:extLst>
      <p:ext uri="{BB962C8B-B14F-4D97-AF65-F5344CB8AC3E}">
        <p14:creationId xmlns:p14="http://schemas.microsoft.com/office/powerpoint/2010/main" val="3365813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Within the Quarto document, we can execute a single code chunk by ** clicking the “Run Code Chunk” arrow. </a:t>
            </a:r>
          </a:p>
          <a:p>
            <a:endParaRPr lang="en-US" dirty="0"/>
          </a:p>
          <a:p>
            <a:r>
              <a:rPr lang="en-US" dirty="0"/>
              <a:t>And with the click of a button ** (called rendering), we can turn a Quarto document from this (**) to this.</a:t>
            </a:r>
          </a:p>
          <a:p>
            <a:endParaRPr lang="en-US" dirty="0"/>
          </a:p>
        </p:txBody>
      </p:sp>
      <p:sp>
        <p:nvSpPr>
          <p:cNvPr id="4" name="Slide Number Placeholder 3"/>
          <p:cNvSpPr>
            <a:spLocks noGrp="1"/>
          </p:cNvSpPr>
          <p:nvPr>
            <p:ph type="sldNum" sz="quarter" idx="10"/>
          </p:nvPr>
        </p:nvSpPr>
        <p:spPr/>
        <p:txBody>
          <a:bodyPr/>
          <a:lstStyle/>
          <a:p>
            <a:fld id="{DD65BEC1-91A9-F040-80A2-A1EC33E8D6DB}" type="slidenum">
              <a:rPr lang="en-US" smtClean="0"/>
              <a:t>8</a:t>
            </a:fld>
            <a:endParaRPr lang="en-US"/>
          </a:p>
        </p:txBody>
      </p:sp>
    </p:spTree>
    <p:extLst>
      <p:ext uri="{BB962C8B-B14F-4D97-AF65-F5344CB8AC3E}">
        <p14:creationId xmlns:p14="http://schemas.microsoft.com/office/powerpoint/2010/main" val="4096493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this Quarto document in greater detail.</a:t>
            </a:r>
          </a:p>
          <a:p>
            <a:endParaRPr lang="en-US" dirty="0"/>
          </a:p>
          <a:p>
            <a:r>
              <a:rPr lang="en-US" dirty="0"/>
              <a:t>Again the first block is header section</a:t>
            </a:r>
          </a:p>
          <a:p>
            <a:endParaRPr lang="en-US" dirty="0"/>
          </a:p>
          <a:p>
            <a:r>
              <a:rPr lang="en-US" dirty="0"/>
              <a:t>** The second block includes narrative text with styling applied.</a:t>
            </a:r>
          </a:p>
          <a:p>
            <a:endParaRPr lang="en-US" baseline="0" dirty="0"/>
          </a:p>
          <a:p>
            <a:r>
              <a:rPr lang="en-US" baseline="0" dirty="0"/>
              <a:t>** Then we get to the code chunks (shown in gray boxes).  Don’t worry about the grammar of these particular code chunks at this point.  In brief the first code chunk generates 100 normally distributed values which are performing a summary on.  The rendered document shows us our code ** and the output of that code.</a:t>
            </a:r>
          </a:p>
          <a:p>
            <a:endParaRPr lang="en-US" baseline="0" dirty="0"/>
          </a:p>
          <a:p>
            <a:r>
              <a:rPr lang="en-US" baseline="0" dirty="0"/>
              <a:t>** The second code chunk renders a histogram visualization of that data.</a:t>
            </a:r>
          </a:p>
          <a:p>
            <a:endParaRPr lang="en-US" baseline="0" dirty="0"/>
          </a:p>
          <a:p>
            <a:r>
              <a:rPr lang="en-US" baseline="0" dirty="0"/>
              <a:t>The result is a neatly formatted document that includes an annotated description of our analysis, the code we used, and the output of that code. </a:t>
            </a:r>
          </a:p>
        </p:txBody>
      </p:sp>
      <p:sp>
        <p:nvSpPr>
          <p:cNvPr id="4" name="Slide Number Placeholder 3"/>
          <p:cNvSpPr>
            <a:spLocks noGrp="1"/>
          </p:cNvSpPr>
          <p:nvPr>
            <p:ph type="sldNum" sz="quarter" idx="10"/>
          </p:nvPr>
        </p:nvSpPr>
        <p:spPr/>
        <p:txBody>
          <a:bodyPr/>
          <a:lstStyle/>
          <a:p>
            <a:fld id="{DD65BEC1-91A9-F040-80A2-A1EC33E8D6DB}" type="slidenum">
              <a:rPr lang="en-US" smtClean="0"/>
              <a:t>9</a:t>
            </a:fld>
            <a:endParaRPr lang="en-US"/>
          </a:p>
        </p:txBody>
      </p:sp>
    </p:spTree>
    <p:extLst>
      <p:ext uri="{BB962C8B-B14F-4D97-AF65-F5344CB8AC3E}">
        <p14:creationId xmlns:p14="http://schemas.microsoft.com/office/powerpoint/2010/main" val="987892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your turn again.</a:t>
            </a:r>
          </a:p>
          <a:p>
            <a:endParaRPr lang="en-US" dirty="0"/>
          </a:p>
          <a:p>
            <a:r>
              <a:rPr lang="en-US" dirty="0"/>
              <a:t>Follow the instructions in Your Turn #2 to</a:t>
            </a:r>
          </a:p>
          <a:p>
            <a:r>
              <a:rPr lang="en-US" dirty="0"/>
              <a:t>-open a Quarto document</a:t>
            </a:r>
          </a:p>
          <a:p>
            <a:r>
              <a:rPr lang="en-US" dirty="0"/>
              <a:t>-review the format</a:t>
            </a:r>
          </a:p>
          <a:p>
            <a:r>
              <a:rPr lang="en-US" dirty="0"/>
              <a:t>-execute individual code chunks</a:t>
            </a:r>
          </a:p>
          <a:p>
            <a:r>
              <a:rPr lang="en-US" dirty="0"/>
              <a:t>-render the document</a:t>
            </a:r>
          </a:p>
          <a:p>
            <a:endParaRPr lang="en-US" dirty="0"/>
          </a:p>
          <a:p>
            <a:r>
              <a:rPr lang="en-US" dirty="0"/>
              <a:t>We will meet back in 3 minutes to review this exercise together.</a:t>
            </a:r>
          </a:p>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10</a:t>
            </a:fld>
            <a:endParaRPr lang="en-US"/>
          </a:p>
        </p:txBody>
      </p:sp>
    </p:spTree>
    <p:extLst>
      <p:ext uri="{BB962C8B-B14F-4D97-AF65-F5344CB8AC3E}">
        <p14:creationId xmlns:p14="http://schemas.microsoft.com/office/powerpoint/2010/main" val="11802961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0FE19-D8F1-6A58-C296-BF3A4F256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DDD998-17F5-B0D8-2755-067196DED1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B28D93-44D4-333E-C9E3-8C5C938E563D}"/>
              </a:ext>
            </a:extLst>
          </p:cNvPr>
          <p:cNvSpPr>
            <a:spLocks noGrp="1"/>
          </p:cNvSpPr>
          <p:nvPr>
            <p:ph type="body" idx="1"/>
          </p:nvPr>
        </p:nvSpPr>
        <p:spPr/>
        <p:txBody>
          <a:bodyPr/>
          <a:lstStyle/>
          <a:p>
            <a:r>
              <a:rPr lang="en-US" dirty="0"/>
              <a:t>It’s your turn again.</a:t>
            </a:r>
          </a:p>
          <a:p>
            <a:endParaRPr lang="en-US" dirty="0"/>
          </a:p>
          <a:p>
            <a:r>
              <a:rPr lang="en-US" dirty="0"/>
              <a:t>Follow the instructions in Your Turn #2 to</a:t>
            </a:r>
          </a:p>
          <a:p>
            <a:r>
              <a:rPr lang="en-US" dirty="0"/>
              <a:t>-open a Quarto document</a:t>
            </a:r>
          </a:p>
          <a:p>
            <a:r>
              <a:rPr lang="en-US" dirty="0"/>
              <a:t>-review the format</a:t>
            </a:r>
          </a:p>
          <a:p>
            <a:r>
              <a:rPr lang="en-US" dirty="0"/>
              <a:t>-execute individual code chunks</a:t>
            </a:r>
          </a:p>
          <a:p>
            <a:r>
              <a:rPr lang="en-US" dirty="0"/>
              <a:t>-render the document</a:t>
            </a:r>
          </a:p>
          <a:p>
            <a:endParaRPr lang="en-US" dirty="0"/>
          </a:p>
          <a:p>
            <a:r>
              <a:rPr lang="en-US" dirty="0"/>
              <a:t>We will meet back in 3 minutes to review this exercise together.</a:t>
            </a:r>
          </a:p>
          <a:p>
            <a:endParaRPr lang="en-US" dirty="0"/>
          </a:p>
        </p:txBody>
      </p:sp>
      <p:sp>
        <p:nvSpPr>
          <p:cNvPr id="4" name="Slide Number Placeholder 3">
            <a:extLst>
              <a:ext uri="{FF2B5EF4-FFF2-40B4-BE49-F238E27FC236}">
                <a16:creationId xmlns:a16="http://schemas.microsoft.com/office/drawing/2014/main" id="{52BEC4D7-D058-D700-09EB-5F7E26133EAC}"/>
              </a:ext>
            </a:extLst>
          </p:cNvPr>
          <p:cNvSpPr>
            <a:spLocks noGrp="1"/>
          </p:cNvSpPr>
          <p:nvPr>
            <p:ph type="sldNum" sz="quarter" idx="5"/>
          </p:nvPr>
        </p:nvSpPr>
        <p:spPr/>
        <p:txBody>
          <a:bodyPr/>
          <a:lstStyle/>
          <a:p>
            <a:fld id="{0A193586-FEB5-7C43-8F44-7EFAE4EECA28}" type="slidenum">
              <a:rPr lang="en-US" smtClean="0"/>
              <a:t>15</a:t>
            </a:fld>
            <a:endParaRPr lang="en-US"/>
          </a:p>
        </p:txBody>
      </p:sp>
    </p:spTree>
    <p:extLst>
      <p:ext uri="{BB962C8B-B14F-4D97-AF65-F5344CB8AC3E}">
        <p14:creationId xmlns:p14="http://schemas.microsoft.com/office/powerpoint/2010/main" val="1465679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does the code go?</a:t>
            </a:r>
          </a:p>
          <a:p>
            <a:r>
              <a:rPr lang="en-US" dirty="0"/>
              <a:t>We place these in “chunks” that are executable independently and have a very unique syntax</a:t>
            </a:r>
          </a:p>
          <a:p>
            <a:r>
              <a:rPr lang="en-US" dirty="0"/>
              <a:t>Backticks (top left of your keyboard) open and close code chunks</a:t>
            </a:r>
          </a:p>
        </p:txBody>
      </p:sp>
      <p:sp>
        <p:nvSpPr>
          <p:cNvPr id="4" name="Slide Number Placeholder 3"/>
          <p:cNvSpPr>
            <a:spLocks noGrp="1"/>
          </p:cNvSpPr>
          <p:nvPr>
            <p:ph type="sldNum" sz="quarter" idx="5"/>
          </p:nvPr>
        </p:nvSpPr>
        <p:spPr/>
        <p:txBody>
          <a:bodyPr/>
          <a:lstStyle/>
          <a:p>
            <a:fld id="{1FCC21F6-288D-5A4B-ACA3-285287681776}" type="slidenum">
              <a:rPr lang="en-US" smtClean="0"/>
              <a:t>16</a:t>
            </a:fld>
            <a:endParaRPr lang="en-US"/>
          </a:p>
        </p:txBody>
      </p:sp>
    </p:spTree>
    <p:extLst>
      <p:ext uri="{BB962C8B-B14F-4D97-AF65-F5344CB8AC3E}">
        <p14:creationId xmlns:p14="http://schemas.microsoft.com/office/powerpoint/2010/main" val="2988214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Annoying to type 3 backticks every time you want to insert a chunk so let’s walk through doing this with the </a:t>
            </a:r>
            <a:r>
              <a:rPr lang="en-US" dirty="0" err="1"/>
              <a:t>Rstudio</a:t>
            </a:r>
            <a:r>
              <a:rPr lang="en-US" dirty="0"/>
              <a:t> editor</a:t>
            </a:r>
          </a:p>
        </p:txBody>
      </p:sp>
      <p:sp>
        <p:nvSpPr>
          <p:cNvPr id="4" name="Slide Number Placeholder 3"/>
          <p:cNvSpPr>
            <a:spLocks noGrp="1"/>
          </p:cNvSpPr>
          <p:nvPr>
            <p:ph type="sldNum" sz="quarter" idx="5"/>
          </p:nvPr>
        </p:nvSpPr>
        <p:spPr/>
        <p:txBody>
          <a:bodyPr/>
          <a:lstStyle/>
          <a:p>
            <a:fld id="{1FCC21F6-288D-5A4B-ACA3-285287681776}" type="slidenum">
              <a:rPr lang="en-US" smtClean="0"/>
              <a:t>18</a:t>
            </a:fld>
            <a:endParaRPr lang="en-US"/>
          </a:p>
        </p:txBody>
      </p:sp>
    </p:spTree>
    <p:extLst>
      <p:ext uri="{BB962C8B-B14F-4D97-AF65-F5344CB8AC3E}">
        <p14:creationId xmlns:p14="http://schemas.microsoft.com/office/powerpoint/2010/main" val="7160226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19</a:t>
            </a:fld>
            <a:endParaRPr lang="en-US"/>
          </a:p>
        </p:txBody>
      </p:sp>
    </p:spTree>
    <p:extLst>
      <p:ext uri="{BB962C8B-B14F-4D97-AF65-F5344CB8AC3E}">
        <p14:creationId xmlns:p14="http://schemas.microsoft.com/office/powerpoint/2010/main" val="4274450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At it’s most basic, R is a fancy calculator.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It supports common mathematical operators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 add, - subtract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 multiply, / divide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 exponents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When we execute our code by pressing the play button, the answer is returned below the code chunk.</a:t>
            </a:r>
          </a:p>
        </p:txBody>
      </p:sp>
      <p:sp>
        <p:nvSpPr>
          <p:cNvPr id="4" name="Slide Number Placeholder 3"/>
          <p:cNvSpPr>
            <a:spLocks noGrp="1"/>
          </p:cNvSpPr>
          <p:nvPr>
            <p:ph type="sldNum" sz="quarter" idx="10"/>
          </p:nvPr>
        </p:nvSpPr>
        <p:spPr/>
        <p:txBody>
          <a:bodyPr/>
          <a:lstStyle/>
          <a:p>
            <a:fld id="{0A193586-FEB5-7C43-8F44-7EFAE4EECA28}" type="slidenum">
              <a:rPr lang="en-US" smtClean="0"/>
              <a:t>20</a:t>
            </a:fld>
            <a:endParaRPr lang="en-US"/>
          </a:p>
        </p:txBody>
      </p:sp>
    </p:spTree>
    <p:extLst>
      <p:ext uri="{BB962C8B-B14F-4D97-AF65-F5344CB8AC3E}">
        <p14:creationId xmlns:p14="http://schemas.microsoft.com/office/powerpoint/2010/main" val="4080365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Functions are code that perform actions on our behalf.  We can use functions that others have written (or that we write ourselves) to reuse existing code over and over.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Functions accept an argument (input).  We use parentheses as the syntax (grammar) to identify the argument(s).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Then the function does its task and provides us with some output, in this case the absolute value of an integer.</a:t>
            </a:r>
          </a:p>
        </p:txBody>
      </p:sp>
      <p:sp>
        <p:nvSpPr>
          <p:cNvPr id="4" name="Slide Number Placeholder 3"/>
          <p:cNvSpPr>
            <a:spLocks noGrp="1"/>
          </p:cNvSpPr>
          <p:nvPr>
            <p:ph type="sldNum" sz="quarter" idx="10"/>
          </p:nvPr>
        </p:nvSpPr>
        <p:spPr/>
        <p:txBody>
          <a:bodyPr/>
          <a:lstStyle/>
          <a:p>
            <a:fld id="{0A193586-FEB5-7C43-8F44-7EFAE4EECA28}" type="slidenum">
              <a:rPr lang="en-US" smtClean="0"/>
              <a:t>23</a:t>
            </a:fld>
            <a:endParaRPr lang="en-US"/>
          </a:p>
        </p:txBody>
      </p:sp>
    </p:spTree>
    <p:extLst>
      <p:ext uri="{BB962C8B-B14F-4D97-AF65-F5344CB8AC3E}">
        <p14:creationId xmlns:p14="http://schemas.microsoft.com/office/powerpoint/2010/main" val="3610103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Functions can do more than simple math.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In this case the sequence function </a:t>
            </a:r>
            <a:r>
              <a:rPr lang="en-US" baseline="0" dirty="0" err="1"/>
              <a:t>seq</a:t>
            </a:r>
            <a:r>
              <a:rPr lang="en-US" baseline="0" dirty="0"/>
              <a:t>() accepts arguments defining a start position, a stop position, and an interval, to create a series (a vector) of integers.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0A193586-FEB5-7C43-8F44-7EFAE4EECA28}" type="slidenum">
              <a:rPr lang="en-US" smtClean="0"/>
              <a:t>24</a:t>
            </a:fld>
            <a:endParaRPr lang="en-US"/>
          </a:p>
        </p:txBody>
      </p:sp>
    </p:spTree>
    <p:extLst>
      <p:ext uri="{BB962C8B-B14F-4D97-AF65-F5344CB8AC3E}">
        <p14:creationId xmlns:p14="http://schemas.microsoft.com/office/powerpoint/2010/main" val="2270425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Objects are a very important concept in many programming language.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Objects are the containers in which we can store things for later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You can store single values, series, tables, or even 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In this example we are taking our previous </a:t>
            </a:r>
            <a:r>
              <a:rPr lang="en-US" b="1" baseline="0" dirty="0" err="1"/>
              <a:t>seq</a:t>
            </a:r>
            <a:r>
              <a:rPr lang="en-US" b="1" baseline="0" dirty="0"/>
              <a:t>()</a:t>
            </a:r>
            <a:r>
              <a:rPr lang="en-US" baseline="0" dirty="0"/>
              <a:t> created series and storing it out to an object which we have called </a:t>
            </a:r>
            <a:r>
              <a:rPr lang="en-US" b="1" baseline="0" dirty="0"/>
              <a:t>sequence_of_10s</a:t>
            </a:r>
            <a:r>
              <a:rPr lang="en-US" baseline="0"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The </a:t>
            </a:r>
            <a:r>
              <a:rPr lang="en-US" b="1" baseline="0" dirty="0"/>
              <a:t>&lt;- </a:t>
            </a:r>
            <a:r>
              <a:rPr lang="en-US" b="0" baseline="0" dirty="0"/>
              <a:t>characters are called an assignment operator.  They point to the place where we want to store output.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baseline="0" dirty="0"/>
              <a:t>You can execute code without assigning it to an object however the output is not stored for future use.  If you want to revisit or reference the output of a particular line of code, assign it to an object using the assignment operator </a:t>
            </a:r>
            <a:r>
              <a:rPr lang="en-US" b="1" baseline="0" dirty="0"/>
              <a:t>&lt;-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baseline="0" dirty="0"/>
          </a:p>
        </p:txBody>
      </p:sp>
      <p:sp>
        <p:nvSpPr>
          <p:cNvPr id="4" name="Slide Number Placeholder 3"/>
          <p:cNvSpPr>
            <a:spLocks noGrp="1"/>
          </p:cNvSpPr>
          <p:nvPr>
            <p:ph type="sldNum" sz="quarter" idx="10"/>
          </p:nvPr>
        </p:nvSpPr>
        <p:spPr/>
        <p:txBody>
          <a:bodyPr/>
          <a:lstStyle/>
          <a:p>
            <a:fld id="{0A193586-FEB5-7C43-8F44-7EFAE4EECA28}" type="slidenum">
              <a:rPr lang="en-US" smtClean="0"/>
              <a:t>25</a:t>
            </a:fld>
            <a:endParaRPr lang="en-US"/>
          </a:p>
        </p:txBody>
      </p:sp>
    </p:spTree>
    <p:extLst>
      <p:ext uri="{BB962C8B-B14F-4D97-AF65-F5344CB8AC3E}">
        <p14:creationId xmlns:p14="http://schemas.microsoft.com/office/powerpoint/2010/main" val="3503096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We can also review our object in RStudio via the environment tab.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When we create an object in the environment, it will appear in the environment tab and we can review its contents there.</a:t>
            </a:r>
          </a:p>
        </p:txBody>
      </p:sp>
      <p:sp>
        <p:nvSpPr>
          <p:cNvPr id="4" name="Slide Number Placeholder 3"/>
          <p:cNvSpPr>
            <a:spLocks noGrp="1"/>
          </p:cNvSpPr>
          <p:nvPr>
            <p:ph type="sldNum" sz="quarter" idx="10"/>
          </p:nvPr>
        </p:nvSpPr>
        <p:spPr/>
        <p:txBody>
          <a:bodyPr/>
          <a:lstStyle/>
          <a:p>
            <a:fld id="{0A193586-FEB5-7C43-8F44-7EFAE4EECA28}" type="slidenum">
              <a:rPr lang="en-US" smtClean="0"/>
              <a:t>26</a:t>
            </a:fld>
            <a:endParaRPr lang="en-US"/>
          </a:p>
        </p:txBody>
      </p:sp>
    </p:spTree>
    <p:extLst>
      <p:ext uri="{BB962C8B-B14F-4D97-AF65-F5344CB8AC3E}">
        <p14:creationId xmlns:p14="http://schemas.microsoft.com/office/powerpoint/2010/main" val="7167730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4F769-ECD1-0B37-C5C8-312FCD332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95C75-9AAE-8FAC-B297-40FDD71D91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7D5390-FEBE-50A7-104C-C93B8751577F}"/>
              </a:ext>
            </a:extLst>
          </p:cNvPr>
          <p:cNvSpPr>
            <a:spLocks noGrp="1"/>
          </p:cNvSpPr>
          <p:nvPr>
            <p:ph type="body" idx="1"/>
          </p:nvPr>
        </p:nvSpPr>
        <p:spPr/>
        <p:txBody>
          <a:bodyPr/>
          <a:lstStyle/>
          <a:p>
            <a:r>
              <a:rPr lang="en-US" dirty="0"/>
              <a:t>This little animation sequence uses letter boxes to illustrate some things about how computers operate. The file cabinets are the non-volatile storage (discs, etc.), the letter boxes are volatile storage (RAM) and are cleaned out every night. The desk is the CPU with its vertical file representing CPU cache (which is also cleaned out every night). The initial file in location 1 is a set of instructions for which file to load first each morning (the BIOS). That first file has instructions for the day, which involve loading a file from the file cabinet, with each page going sequentially into neighboring letter boxes. The worker keeps track of which file is where in the letter boxes and how far along in it they are. Based on the first file, the worker loads a second file and proceeds to work with its pages. As the worker progresses down the pages, they are moved to the vertical file on the desk for convenience and speed. Sometimes the worker creates new pages and loads them into the letter boxes. At the end of the day, the new pages that will be saved are loaded from the letter boxes in the file to preserve them. At the end of the day, the worker leaves and the letter boxes and vertical file are emptied.</a:t>
            </a:r>
          </a:p>
        </p:txBody>
      </p:sp>
      <p:sp>
        <p:nvSpPr>
          <p:cNvPr id="4" name="Slide Number Placeholder 3">
            <a:extLst>
              <a:ext uri="{FF2B5EF4-FFF2-40B4-BE49-F238E27FC236}">
                <a16:creationId xmlns:a16="http://schemas.microsoft.com/office/drawing/2014/main" id="{9E306DDB-A6C9-01E2-9171-40A85A2E625D}"/>
              </a:ext>
            </a:extLst>
          </p:cNvPr>
          <p:cNvSpPr>
            <a:spLocks noGrp="1"/>
          </p:cNvSpPr>
          <p:nvPr>
            <p:ph type="sldNum" sz="quarter" idx="5"/>
          </p:nvPr>
        </p:nvSpPr>
        <p:spPr/>
        <p:txBody>
          <a:bodyPr/>
          <a:lstStyle/>
          <a:p>
            <a:fld id="{2ED3860E-B3F9-BC4F-80E5-A2DB630171F2}" type="slidenum">
              <a:rPr lang="en-US" smtClean="0"/>
              <a:t>27</a:t>
            </a:fld>
            <a:endParaRPr lang="en-US"/>
          </a:p>
        </p:txBody>
      </p:sp>
    </p:spTree>
    <p:extLst>
      <p:ext uri="{BB962C8B-B14F-4D97-AF65-F5344CB8AC3E}">
        <p14:creationId xmlns:p14="http://schemas.microsoft.com/office/powerpoint/2010/main" val="930139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Objects are subject to same laws of programming we have learned so far.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We can provides objects as arguments for functions.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0A193586-FEB5-7C43-8F44-7EFAE4EECA28}" type="slidenum">
              <a:rPr lang="en-US" smtClean="0"/>
              <a:t>28</a:t>
            </a:fld>
            <a:endParaRPr lang="en-US"/>
          </a:p>
        </p:txBody>
      </p:sp>
    </p:spTree>
    <p:extLst>
      <p:ext uri="{BB962C8B-B14F-4D97-AF65-F5344CB8AC3E}">
        <p14:creationId xmlns:p14="http://schemas.microsoft.com/office/powerpoint/2010/main" val="10625572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We will meet back together in a minute to see if we can fix this code together.</a:t>
            </a:r>
          </a:p>
          <a:p>
            <a:endParaRPr lang="en-US" b="0" dirty="0"/>
          </a:p>
          <a:p>
            <a:r>
              <a:rPr lang="en-US" b="0" dirty="0"/>
              <a:t>Hint:  There are a total of 5 mistakes.</a:t>
            </a:r>
          </a:p>
        </p:txBody>
      </p:sp>
      <p:sp>
        <p:nvSpPr>
          <p:cNvPr id="4" name="Slide Number Placeholder 3"/>
          <p:cNvSpPr>
            <a:spLocks noGrp="1"/>
          </p:cNvSpPr>
          <p:nvPr>
            <p:ph type="sldNum" sz="quarter" idx="5"/>
          </p:nvPr>
        </p:nvSpPr>
        <p:spPr/>
        <p:txBody>
          <a:bodyPr/>
          <a:lstStyle/>
          <a:p>
            <a:fld id="{0A193586-FEB5-7C43-8F44-7EFAE4EECA28}" type="slidenum">
              <a:rPr lang="en-US" smtClean="0"/>
              <a:t>29</a:t>
            </a:fld>
            <a:endParaRPr lang="en-US"/>
          </a:p>
        </p:txBody>
      </p:sp>
    </p:spTree>
    <p:extLst>
      <p:ext uri="{BB962C8B-B14F-4D97-AF65-F5344CB8AC3E}">
        <p14:creationId xmlns:p14="http://schemas.microsoft.com/office/powerpoint/2010/main" val="38060981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you will need more help than the R help feature provides.</a:t>
            </a:r>
          </a:p>
          <a:p>
            <a:endParaRPr lang="en-US" dirty="0"/>
          </a:p>
          <a:p>
            <a:r>
              <a:rPr lang="en-US" dirty="0"/>
              <a:t>There are many wonderful freely available resources on the internet to assist you.</a:t>
            </a:r>
          </a:p>
          <a:p>
            <a:endParaRPr lang="en-US" dirty="0"/>
          </a:p>
          <a:p>
            <a:r>
              <a:rPr lang="en-US" dirty="0"/>
              <a:t>Chances are others have tackled similar challenges.  A quick internet or forum search can often provide an answer.</a:t>
            </a:r>
          </a:p>
          <a:p>
            <a:endParaRPr lang="en-US" dirty="0"/>
          </a:p>
          <a:p>
            <a:r>
              <a:rPr lang="en-US" dirty="0"/>
              <a:t>The folks at RStudio have developed a number of cheat sheets which are great references.  Many of us keep printed copies of these near our desks for the features and tools we use most.</a:t>
            </a:r>
          </a:p>
          <a:p>
            <a:endParaRPr lang="en-US" dirty="0"/>
          </a:p>
          <a:p>
            <a:r>
              <a:rPr lang="en-US" dirty="0"/>
              <a:t>Also, there are a number of great reference books out there.  One of our favorites is R for Data Science.  It is freely available online and print copies are available also.</a:t>
            </a:r>
          </a:p>
        </p:txBody>
      </p:sp>
      <p:sp>
        <p:nvSpPr>
          <p:cNvPr id="4" name="Slide Number Placeholder 3"/>
          <p:cNvSpPr>
            <a:spLocks noGrp="1"/>
          </p:cNvSpPr>
          <p:nvPr>
            <p:ph type="sldNum" sz="quarter" idx="5"/>
          </p:nvPr>
        </p:nvSpPr>
        <p:spPr/>
        <p:txBody>
          <a:bodyPr/>
          <a:lstStyle/>
          <a:p>
            <a:fld id="{0A193586-FEB5-7C43-8F44-7EFAE4EECA28}" type="slidenum">
              <a:rPr lang="en-US" smtClean="0"/>
              <a:t>32</a:t>
            </a:fld>
            <a:endParaRPr lang="en-US"/>
          </a:p>
        </p:txBody>
      </p:sp>
    </p:spTree>
    <p:extLst>
      <p:ext uri="{BB962C8B-B14F-4D97-AF65-F5344CB8AC3E}">
        <p14:creationId xmlns:p14="http://schemas.microsoft.com/office/powerpoint/2010/main" val="17888233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are familiar with how to create R Markdown documents we can begin the process of performing data analysis in R in earnest by importing a clinical data set.</a:t>
            </a:r>
          </a:p>
        </p:txBody>
      </p:sp>
      <p:sp>
        <p:nvSpPr>
          <p:cNvPr id="4" name="Slide Number Placeholder 3"/>
          <p:cNvSpPr>
            <a:spLocks noGrp="1"/>
          </p:cNvSpPr>
          <p:nvPr>
            <p:ph type="sldNum" sz="quarter" idx="5"/>
          </p:nvPr>
        </p:nvSpPr>
        <p:spPr/>
        <p:txBody>
          <a:bodyPr/>
          <a:lstStyle/>
          <a:p>
            <a:fld id="{0A193586-FEB5-7C43-8F44-7EFAE4EECA28}" type="slidenum">
              <a:rPr lang="en-US" smtClean="0"/>
              <a:t>33</a:t>
            </a:fld>
            <a:endParaRPr lang="en-US"/>
          </a:p>
        </p:txBody>
      </p:sp>
    </p:spTree>
    <p:extLst>
      <p:ext uri="{BB962C8B-B14F-4D97-AF65-F5344CB8AC3E}">
        <p14:creationId xmlns:p14="http://schemas.microsoft.com/office/powerpoint/2010/main" val="31841922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may look familiar, you saw it in the Welcome presentation.</a:t>
            </a:r>
          </a:p>
          <a:p>
            <a:endParaRPr lang="en-US" dirty="0"/>
          </a:p>
          <a:p>
            <a:r>
              <a:rPr lang="en-US" dirty="0"/>
              <a:t>The first step in the data analysis pipeline is to load the data into the environment so we can begin to tidy and transform that data.</a:t>
            </a:r>
          </a:p>
          <a:p>
            <a:endParaRPr lang="en-US" dirty="0"/>
          </a:p>
          <a:p>
            <a:r>
              <a:rPr lang="en-US" dirty="0"/>
              <a:t>In today’s course we will be using a de-identified data set consisting of COVID-19 laboratory test results from a microbiology lab.  This data is stored as a CSV file.</a:t>
            </a:r>
          </a:p>
        </p:txBody>
      </p:sp>
      <p:sp>
        <p:nvSpPr>
          <p:cNvPr id="4" name="Slide Number Placeholder 3"/>
          <p:cNvSpPr>
            <a:spLocks noGrp="1"/>
          </p:cNvSpPr>
          <p:nvPr>
            <p:ph type="sldNum" sz="quarter" idx="5"/>
          </p:nvPr>
        </p:nvSpPr>
        <p:spPr/>
        <p:txBody>
          <a:bodyPr/>
          <a:lstStyle/>
          <a:p>
            <a:fld id="{1FCC21F6-288D-5A4B-ACA3-285287681776}" type="slidenum">
              <a:rPr lang="en-US" smtClean="0"/>
              <a:t>34</a:t>
            </a:fld>
            <a:endParaRPr lang="en-US"/>
          </a:p>
        </p:txBody>
      </p:sp>
    </p:spTree>
    <p:extLst>
      <p:ext uri="{BB962C8B-B14F-4D97-AF65-F5344CB8AC3E}">
        <p14:creationId xmlns:p14="http://schemas.microsoft.com/office/powerpoint/2010/main" val="33377644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a CSV file? CSV stands</a:t>
            </a:r>
            <a:r>
              <a:rPr lang="en-US" baseline="0" dirty="0"/>
              <a:t> for comma-separated values. </a:t>
            </a:r>
          </a:p>
          <a:p>
            <a:endParaRPr lang="en-US" baseline="0" dirty="0"/>
          </a:p>
          <a:p>
            <a:r>
              <a:rPr lang="en-US" baseline="0" dirty="0"/>
              <a:t>** A CSV file is a plain text file, which means you can open it in a text editor and look at it.</a:t>
            </a:r>
          </a:p>
          <a:p>
            <a:endParaRPr lang="en-US" baseline="0" dirty="0"/>
          </a:p>
          <a:p>
            <a:r>
              <a:rPr lang="en-US" baseline="0" dirty="0"/>
              <a:t>Here we have a CSV file with the names, medical record numbers, and dates of birth for three fictional “patients”</a:t>
            </a:r>
          </a:p>
          <a:p>
            <a:endParaRPr lang="en-US" baseline="0" dirty="0"/>
          </a:p>
          <a:p>
            <a:r>
              <a:rPr lang="en-US" baseline="0" dirty="0"/>
              <a:t>** This data structure is called rectangular because it falls into rows and columns, where each row has the same # of columns, and each columns has the same # of rows. </a:t>
            </a:r>
          </a:p>
          <a:p>
            <a:endParaRPr lang="en-US" baseline="0" dirty="0"/>
          </a:p>
          <a:p>
            <a:r>
              <a:rPr lang="en-US" baseline="0" dirty="0"/>
              <a:t>** Also note that this particular CSV file has a header row that instead of data, has a descriptor of what kinds of data are found in each column. CSV files often but not always have such a header row.</a:t>
            </a:r>
          </a:p>
        </p:txBody>
      </p:sp>
      <p:sp>
        <p:nvSpPr>
          <p:cNvPr id="4" name="Slide Number Placeholder 3"/>
          <p:cNvSpPr>
            <a:spLocks noGrp="1"/>
          </p:cNvSpPr>
          <p:nvPr>
            <p:ph type="sldNum" sz="quarter" idx="10"/>
          </p:nvPr>
        </p:nvSpPr>
        <p:spPr/>
        <p:txBody>
          <a:bodyPr/>
          <a:lstStyle/>
          <a:p>
            <a:fld id="{0A193586-FEB5-7C43-8F44-7EFAE4EECA28}" type="slidenum">
              <a:rPr lang="en-US" smtClean="0"/>
              <a:t>35</a:t>
            </a:fld>
            <a:endParaRPr lang="en-US"/>
          </a:p>
        </p:txBody>
      </p:sp>
    </p:spTree>
    <p:extLst>
      <p:ext uri="{BB962C8B-B14F-4D97-AF65-F5344CB8AC3E}">
        <p14:creationId xmlns:p14="http://schemas.microsoft.com/office/powerpoint/2010/main" val="4386338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import our CSV data, we need some additional data analysis tools.  In this course, we will be leveraging the </a:t>
            </a:r>
            <a:r>
              <a:rPr lang="en-US" dirty="0" err="1"/>
              <a:t>Tidyverse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dirty="0" err="1"/>
              <a:t>Tidyverse</a:t>
            </a:r>
            <a:r>
              <a:rPr lang="en-US" dirty="0"/>
              <a:t> is a</a:t>
            </a:r>
            <a:r>
              <a:rPr lang="en-US" baseline="0" dirty="0"/>
              <a:t> modern set of tools for data analysis in R. It’s quickly becoming the de facto standard for doing data science with R.</a:t>
            </a:r>
          </a:p>
          <a:p>
            <a:endParaRPr lang="en-US" dirty="0"/>
          </a:p>
          <a:p>
            <a:r>
              <a:rPr lang="en-US" dirty="0"/>
              <a:t>The basic tenets of “tidy” data analysis include:</a:t>
            </a:r>
          </a:p>
          <a:p>
            <a:pPr marL="171450" indent="-171450">
              <a:buFontTx/>
              <a:buChar char="-"/>
            </a:pPr>
            <a:r>
              <a:rPr lang="en-US" dirty="0"/>
              <a:t>Data should be organized in a consistent, standardized way. Each row is an observation, and each column is a variable. This is a very common way to organize data in a spreadsheet and might sound familiar from how you may already organize data in tools like Excel.</a:t>
            </a:r>
          </a:p>
          <a:p>
            <a:pPr marL="171450" indent="-171450">
              <a:buFontTx/>
              <a:buChar char="-"/>
            </a:pPr>
            <a:r>
              <a:rPr lang="en-US" dirty="0"/>
              <a:t>Programming code that acts on the data should be consistent, concise, and mimic the narrative language as much as possible.</a:t>
            </a:r>
          </a:p>
          <a:p>
            <a:pPr marL="171450" indent="-171450">
              <a:buFontTx/>
              <a:buChar char="-"/>
            </a:pPr>
            <a:r>
              <a:rPr lang="en-US" dirty="0"/>
              <a:t>Each data analysis can be broken down into a series of atomic steps, such as “select this column” or ”arrange the data by the values in that column”. An arbitrarily complex data analysis can be broken down as a pipeline of atomic steps.</a:t>
            </a:r>
          </a:p>
        </p:txBody>
      </p:sp>
      <p:sp>
        <p:nvSpPr>
          <p:cNvPr id="4" name="Slide Number Placeholder 3"/>
          <p:cNvSpPr>
            <a:spLocks noGrp="1"/>
          </p:cNvSpPr>
          <p:nvPr>
            <p:ph type="sldNum" sz="quarter" idx="10"/>
          </p:nvPr>
        </p:nvSpPr>
        <p:spPr/>
        <p:txBody>
          <a:bodyPr/>
          <a:lstStyle/>
          <a:p>
            <a:fld id="{DD65BEC1-91A9-F040-80A2-A1EC33E8D6DB}" type="slidenum">
              <a:rPr lang="en-US" smtClean="0"/>
              <a:t>36</a:t>
            </a:fld>
            <a:endParaRPr lang="en-US"/>
          </a:p>
        </p:txBody>
      </p:sp>
    </p:spTree>
    <p:extLst>
      <p:ext uri="{BB962C8B-B14F-4D97-AF65-F5344CB8AC3E}">
        <p14:creationId xmlns:p14="http://schemas.microsoft.com/office/powerpoint/2010/main" val="31108800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a:t>
            </a:r>
            <a:r>
              <a:rPr lang="en-US" baseline="0" dirty="0" err="1"/>
              <a:t>Tidyverse</a:t>
            </a:r>
            <a:r>
              <a:rPr lang="en-US" baseline="0" dirty="0"/>
              <a:t> is package (a collection of functions, data, and help documentation) that we can use to extend the functionality of R.</a:t>
            </a:r>
          </a:p>
          <a:p>
            <a:endParaRPr lang="en-US" baseline="0" dirty="0"/>
          </a:p>
          <a:p>
            <a:r>
              <a:rPr lang="en-US" baseline="0" dirty="0"/>
              <a:t>Packages need to be installed explicitly – with the command </a:t>
            </a:r>
            <a:r>
              <a:rPr lang="en-US" b="1" baseline="0" dirty="0" err="1"/>
              <a:t>install.packages</a:t>
            </a:r>
            <a:r>
              <a:rPr lang="en-US" baseline="0" dirty="0"/>
              <a:t>. So let’s say you want to install a package named “</a:t>
            </a:r>
            <a:r>
              <a:rPr lang="en-US" baseline="0" dirty="0" err="1"/>
              <a:t>tidyverse</a:t>
            </a:r>
            <a:r>
              <a:rPr lang="en-US" baseline="0" dirty="0"/>
              <a:t>”. You go to the R Console and type </a:t>
            </a:r>
            <a:r>
              <a:rPr lang="en-US" baseline="0" dirty="0" err="1"/>
              <a:t>install.packages</a:t>
            </a:r>
            <a:r>
              <a:rPr lang="en-US" baseline="0" dirty="0"/>
              <a:t>(“</a:t>
            </a:r>
            <a:r>
              <a:rPr lang="en-US" baseline="0" dirty="0" err="1"/>
              <a:t>tidyverse</a:t>
            </a:r>
            <a:r>
              <a:rPr lang="en-US" baseline="0" dirty="0"/>
              <a:t>”). </a:t>
            </a:r>
          </a:p>
          <a:p>
            <a:endParaRPr lang="en-US" baseline="0" dirty="0"/>
          </a:p>
          <a:p>
            <a:r>
              <a:rPr lang="en-US" baseline="0" dirty="0"/>
              <a:t>Each package you want to use needs to be installed only once on each computer. However, in order to use the functions or data in the package, you also need to </a:t>
            </a:r>
            <a:r>
              <a:rPr lang="en-US" b="1" baseline="0" dirty="0"/>
              <a:t>load</a:t>
            </a:r>
            <a:r>
              <a:rPr lang="en-US" b="0" baseline="0" dirty="0"/>
              <a:t> the package. This is done with the command “library”. So to enable all the functions in the “</a:t>
            </a:r>
            <a:r>
              <a:rPr lang="en-US" b="0" baseline="0" dirty="0" err="1"/>
              <a:t>tidyverse</a:t>
            </a:r>
            <a:r>
              <a:rPr lang="en-US" b="0" baseline="0" dirty="0"/>
              <a:t>” package, you type library(“</a:t>
            </a:r>
            <a:r>
              <a:rPr lang="en-US" b="0" baseline="0" dirty="0" err="1"/>
              <a:t>tidyverse</a:t>
            </a:r>
            <a:r>
              <a:rPr lang="en-US" b="0" baseline="0" dirty="0"/>
              <a:t>”). Packages remain loaded until you quit R. So every time you start a new R session you have to load each package that you want to use again.</a:t>
            </a:r>
          </a:p>
          <a:p>
            <a:endParaRPr lang="en-US" b="0" baseline="0" dirty="0"/>
          </a:p>
          <a:p>
            <a:r>
              <a:rPr lang="en-US" b="0" baseline="0" dirty="0"/>
              <a:t>On our RStudio Server, you won’t need to install any packages for this course (we have installed them for you). But at times in this course you’ll need to load packages.</a:t>
            </a:r>
          </a:p>
          <a:p>
            <a:endParaRPr lang="en-US" baseline="0" dirty="0"/>
          </a:p>
          <a:p>
            <a:r>
              <a:rPr lang="en-US" baseline="0" dirty="0"/>
              <a:t>So these are the first two R commands we’ve covered - </a:t>
            </a:r>
            <a:r>
              <a:rPr lang="en-US" b="1" baseline="0" dirty="0" err="1"/>
              <a:t>install.packages</a:t>
            </a:r>
            <a:r>
              <a:rPr lang="en-US" b="1" baseline="0" dirty="0"/>
              <a:t> </a:t>
            </a:r>
            <a:r>
              <a:rPr lang="en-US" baseline="0" dirty="0"/>
              <a:t>and </a:t>
            </a:r>
            <a:r>
              <a:rPr lang="en-US" b="1" baseline="0" dirty="0"/>
              <a:t>library</a:t>
            </a:r>
            <a:r>
              <a:rPr lang="en-US" baseline="0" dirty="0"/>
              <a:t>.</a:t>
            </a:r>
          </a:p>
        </p:txBody>
      </p:sp>
      <p:sp>
        <p:nvSpPr>
          <p:cNvPr id="4" name="Slide Number Placeholder 3"/>
          <p:cNvSpPr>
            <a:spLocks noGrp="1"/>
          </p:cNvSpPr>
          <p:nvPr>
            <p:ph type="sldNum" sz="quarter" idx="10"/>
          </p:nvPr>
        </p:nvSpPr>
        <p:spPr/>
        <p:txBody>
          <a:bodyPr/>
          <a:lstStyle/>
          <a:p>
            <a:fld id="{0A193586-FEB5-7C43-8F44-7EFAE4EECA28}" type="slidenum">
              <a:rPr lang="en-US" smtClean="0"/>
              <a:t>37</a:t>
            </a:fld>
            <a:endParaRPr lang="en-US"/>
          </a:p>
        </p:txBody>
      </p:sp>
    </p:spTree>
    <p:extLst>
      <p:ext uri="{BB962C8B-B14F-4D97-AF65-F5344CB8AC3E}">
        <p14:creationId xmlns:p14="http://schemas.microsoft.com/office/powerpoint/2010/main" val="25456704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38</a:t>
            </a:fld>
            <a:endParaRPr lang="en-US"/>
          </a:p>
        </p:txBody>
      </p:sp>
    </p:spTree>
    <p:extLst>
      <p:ext uri="{BB962C8B-B14F-4D97-AF65-F5344CB8AC3E}">
        <p14:creationId xmlns:p14="http://schemas.microsoft.com/office/powerpoint/2010/main" val="37547155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err="1"/>
              <a:t>Dataframe</a:t>
            </a:r>
            <a:r>
              <a:rPr lang="en-US" baseline="0" dirty="0"/>
              <a:t> is the term we use for a table (think Excel spreadsheet).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err="1"/>
              <a:t>Dataframes</a:t>
            </a:r>
            <a:r>
              <a:rPr lang="en-US" baseline="0" dirty="0"/>
              <a:t> consists of columns (variables) and rows (observations).  This is the tidy way to organize our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We can store </a:t>
            </a:r>
            <a:r>
              <a:rPr lang="en-US" baseline="0" dirty="0" err="1"/>
              <a:t>dataframes</a:t>
            </a:r>
            <a:r>
              <a:rPr lang="en-US" baseline="0" dirty="0"/>
              <a:t> as objects and perform actions on them like other objects.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We can get data into R from a variety of file formats (comma separated value files, excel spreadsheets, or directly from databases).  This is the import part of data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0A193586-FEB5-7C43-8F44-7EFAE4EECA28}" type="slidenum">
              <a:rPr lang="en-US" smtClean="0"/>
              <a:t>39</a:t>
            </a:fld>
            <a:endParaRPr lang="en-US"/>
          </a:p>
        </p:txBody>
      </p:sp>
    </p:spTree>
    <p:extLst>
      <p:ext uri="{BB962C8B-B14F-4D97-AF65-F5344CB8AC3E}">
        <p14:creationId xmlns:p14="http://schemas.microsoft.com/office/powerpoint/2010/main" val="26546155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a:t>
            </a:r>
            <a:r>
              <a:rPr lang="en-US" dirty="0" err="1"/>
              <a:t>Tidyverse</a:t>
            </a:r>
            <a:r>
              <a:rPr lang="en-US" dirty="0"/>
              <a:t> package has been loaded via library, we can</a:t>
            </a:r>
            <a:r>
              <a:rPr lang="en-US" baseline="0" dirty="0"/>
              <a:t> import CSV files using the </a:t>
            </a:r>
            <a:r>
              <a:rPr lang="en-US" baseline="0" dirty="0" err="1"/>
              <a:t>read_csv</a:t>
            </a:r>
            <a:r>
              <a:rPr lang="en-US" baseline="0" dirty="0"/>
              <a:t>() function. </a:t>
            </a:r>
          </a:p>
          <a:p>
            <a:endParaRPr lang="en-US" baseline="0" dirty="0"/>
          </a:p>
          <a:p>
            <a:r>
              <a:rPr lang="en-US" baseline="0" dirty="0"/>
              <a:t>Here is a template for how to use the </a:t>
            </a:r>
            <a:r>
              <a:rPr lang="en-US" baseline="0" dirty="0" err="1"/>
              <a:t>read_csv</a:t>
            </a:r>
            <a:r>
              <a:rPr lang="en-US" baseline="0" dirty="0"/>
              <a:t> function to create a data frame object from a CSV file. </a:t>
            </a:r>
          </a:p>
          <a:p>
            <a:endParaRPr lang="en-US" baseline="0" dirty="0"/>
          </a:p>
          <a:p>
            <a:r>
              <a:rPr lang="en-US" baseline="0" dirty="0"/>
              <a:t>You start with the name of a data frame object then you have this left-ward arrow then </a:t>
            </a:r>
            <a:r>
              <a:rPr lang="en-US" baseline="0" dirty="0" err="1"/>
              <a:t>read_csv</a:t>
            </a:r>
            <a:r>
              <a:rPr lang="en-US" baseline="0" dirty="0"/>
              <a:t> and then the file name in parentheses. </a:t>
            </a:r>
          </a:p>
        </p:txBody>
      </p:sp>
      <p:sp>
        <p:nvSpPr>
          <p:cNvPr id="4" name="Slide Number Placeholder 3"/>
          <p:cNvSpPr>
            <a:spLocks noGrp="1"/>
          </p:cNvSpPr>
          <p:nvPr>
            <p:ph type="sldNum" sz="quarter" idx="10"/>
          </p:nvPr>
        </p:nvSpPr>
        <p:spPr/>
        <p:txBody>
          <a:bodyPr/>
          <a:lstStyle/>
          <a:p>
            <a:fld id="{0A193586-FEB5-7C43-8F44-7EFAE4EECA28}" type="slidenum">
              <a:rPr lang="en-US" smtClean="0"/>
              <a:t>40</a:t>
            </a:fld>
            <a:endParaRPr lang="en-US"/>
          </a:p>
        </p:txBody>
      </p:sp>
    </p:spTree>
    <p:extLst>
      <p:ext uri="{BB962C8B-B14F-4D97-AF65-F5344CB8AC3E}">
        <p14:creationId xmlns:p14="http://schemas.microsoft.com/office/powerpoint/2010/main" val="9444038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a:t>This code construct is exceedingly common in R, so I want to spend a few minutes exploring it together</a:t>
            </a:r>
          </a:p>
          <a:p>
            <a:pPr marL="171450" indent="-171450">
              <a:buFontTx/>
              <a:buChar char="-"/>
            </a:pPr>
            <a:endParaRPr lang="en-US" baseline="0" dirty="0"/>
          </a:p>
          <a:p>
            <a:pPr marL="171450" indent="-171450">
              <a:buFontTx/>
              <a:buChar char="-"/>
            </a:pPr>
            <a:r>
              <a:rPr lang="en-US" baseline="0" dirty="0"/>
              <a:t>Previously we talked about the absolute value and sequence functions.</a:t>
            </a:r>
          </a:p>
          <a:p>
            <a:pPr marL="171450" indent="-171450">
              <a:buFontTx/>
              <a:buChar char="-"/>
            </a:pPr>
            <a:endParaRPr lang="en-US" baseline="0" dirty="0"/>
          </a:p>
          <a:p>
            <a:pPr marL="171450" indent="-171450">
              <a:buFontTx/>
              <a:buChar char="-"/>
            </a:pPr>
            <a:r>
              <a:rPr lang="en-US" baseline="0" dirty="0" err="1"/>
              <a:t>read_csv</a:t>
            </a:r>
            <a:r>
              <a:rPr lang="en-US" baseline="0" dirty="0"/>
              <a:t>() is also a function. Remember that functions are defined in packages. We loaded the </a:t>
            </a:r>
            <a:r>
              <a:rPr lang="en-US" baseline="0" dirty="0" err="1"/>
              <a:t>Tidyverse</a:t>
            </a:r>
            <a:r>
              <a:rPr lang="en-US" baseline="0" dirty="0"/>
              <a:t> package to be able to use the </a:t>
            </a:r>
            <a:r>
              <a:rPr lang="en-US" baseline="0" dirty="0" err="1"/>
              <a:t>read_csv</a:t>
            </a:r>
            <a:r>
              <a:rPr lang="en-US" baseline="0" dirty="0"/>
              <a:t> function. </a:t>
            </a:r>
          </a:p>
          <a:p>
            <a:pPr marL="171450" indent="-171450">
              <a:buFontTx/>
              <a:buChar char="-"/>
            </a:pPr>
            <a:endParaRPr lang="en-US" baseline="0" dirty="0"/>
          </a:p>
          <a:p>
            <a:pPr marL="171450" indent="-171450">
              <a:buFontTx/>
              <a:buChar char="-"/>
            </a:pPr>
            <a:r>
              <a:rPr lang="en-US" baseline="0" dirty="0"/>
              <a:t>You may be familiar with functions from math class. A function takes an input, say an ‘x’ value and returns an output, say a ’y’ value. Functions in computer programming also take inputs and return outputs. But the inputs and outputs here are the arguments and objects that exist within the context of a programming language. </a:t>
            </a:r>
          </a:p>
          <a:p>
            <a:pPr marL="171450" indent="-171450">
              <a:buFontTx/>
              <a:buChar char="-"/>
            </a:pPr>
            <a:endParaRPr lang="en-US" baseline="0" dirty="0"/>
          </a:p>
          <a:p>
            <a:pPr marL="171450" indent="-171450">
              <a:buFontTx/>
              <a:buChar char="-"/>
            </a:pPr>
            <a:r>
              <a:rPr lang="en-US" baseline="0" dirty="0"/>
              <a:t>For </a:t>
            </a:r>
            <a:r>
              <a:rPr lang="en-US" baseline="0" dirty="0" err="1"/>
              <a:t>read_csv</a:t>
            </a:r>
            <a:r>
              <a:rPr lang="en-US" baseline="0" dirty="0"/>
              <a:t>, the input is the file name of a CSV file; and the output is a data frame with the contents of the file.</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41</a:t>
            </a:fld>
            <a:endParaRPr lang="en-US"/>
          </a:p>
        </p:txBody>
      </p:sp>
    </p:spTree>
    <p:extLst>
      <p:ext uri="{BB962C8B-B14F-4D97-AF65-F5344CB8AC3E}">
        <p14:creationId xmlns:p14="http://schemas.microsoft.com/office/powerpoint/2010/main" val="24749974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input that goes</a:t>
            </a:r>
            <a:r>
              <a:rPr lang="en-US" baseline="0" dirty="0"/>
              <a:t> into a function is called an </a:t>
            </a:r>
            <a:r>
              <a:rPr lang="en-US" u="sng" baseline="0" dirty="0"/>
              <a:t>argument</a:t>
            </a:r>
            <a:r>
              <a:rPr lang="en-US" baseline="0" dirty="0"/>
              <a:t>. The argument to a function gets put in parentheses.</a:t>
            </a:r>
          </a:p>
          <a:p>
            <a:pPr marL="628650" lvl="1" indent="-171450">
              <a:buFontTx/>
              <a:buChar char="-"/>
            </a:pPr>
            <a:endParaRPr lang="en-US" baseline="0" dirty="0"/>
          </a:p>
          <a:p>
            <a:pPr marL="171450" lvl="0" indent="-171450">
              <a:buFontTx/>
              <a:buChar char="-"/>
            </a:pPr>
            <a:r>
              <a:rPr lang="en-US" baseline="0" dirty="0"/>
              <a:t>A function can have zero, one, or many arguments. If there is more than one argument, we use commas to separate them (remember the multiple arguments of the sequence function). We’ll see additional examples of this later.</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42</a:t>
            </a:fld>
            <a:endParaRPr lang="en-US"/>
          </a:p>
        </p:txBody>
      </p:sp>
    </p:spTree>
    <p:extLst>
      <p:ext uri="{BB962C8B-B14F-4D97-AF65-F5344CB8AC3E}">
        <p14:creationId xmlns:p14="http://schemas.microsoft.com/office/powerpoint/2010/main" val="15875563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a:t>
            </a:r>
            <a:r>
              <a:rPr lang="en-US" dirty="0" err="1"/>
              <a:t>read_csv</a:t>
            </a:r>
            <a:r>
              <a:rPr lang="en-US" dirty="0"/>
              <a:t> function outputs a data frame (think table), but if we want to *capture* that data frame inside of a named object, we need to specify that explicitly.</a:t>
            </a:r>
            <a:r>
              <a:rPr lang="en-US" baseline="0" dirty="0"/>
              <a:t>  It is a great idea to capture the output of a function in an object so it can be used as the input for other functions, for example to summarize or visualize the data in the named object. </a:t>
            </a:r>
          </a:p>
        </p:txBody>
      </p:sp>
      <p:sp>
        <p:nvSpPr>
          <p:cNvPr id="4" name="Slide Number Placeholder 3"/>
          <p:cNvSpPr>
            <a:spLocks noGrp="1"/>
          </p:cNvSpPr>
          <p:nvPr>
            <p:ph type="sldNum" sz="quarter" idx="10"/>
          </p:nvPr>
        </p:nvSpPr>
        <p:spPr/>
        <p:txBody>
          <a:bodyPr/>
          <a:lstStyle/>
          <a:p>
            <a:fld id="{0A193586-FEB5-7C43-8F44-7EFAE4EECA28}" type="slidenum">
              <a:rPr lang="en-US" smtClean="0"/>
              <a:t>43</a:t>
            </a:fld>
            <a:endParaRPr lang="en-US"/>
          </a:p>
        </p:txBody>
      </p:sp>
    </p:spTree>
    <p:extLst>
      <p:ext uri="{BB962C8B-B14F-4D97-AF65-F5344CB8AC3E}">
        <p14:creationId xmlns:p14="http://schemas.microsoft.com/office/powerpoint/2010/main" val="14194994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To put the output of the </a:t>
            </a:r>
            <a:r>
              <a:rPr lang="en-US" dirty="0" err="1"/>
              <a:t>read_csv</a:t>
            </a:r>
            <a:r>
              <a:rPr lang="en-US" dirty="0"/>
              <a:t> function into a named</a:t>
            </a:r>
            <a:r>
              <a:rPr lang="en-US" baseline="0" dirty="0"/>
              <a:t> object, we use the assignment operator. </a:t>
            </a:r>
          </a:p>
          <a:p>
            <a:pPr marL="171450" indent="-171450">
              <a:buFontTx/>
              <a:buChar char="-"/>
            </a:pPr>
            <a:endParaRPr lang="en-US" baseline="0" dirty="0"/>
          </a:p>
          <a:p>
            <a:pPr marL="171450" indent="-171450">
              <a:buFontTx/>
              <a:buChar char="-"/>
            </a:pPr>
            <a:r>
              <a:rPr lang="en-US" baseline="0" dirty="0"/>
              <a:t>The assignment operator is a smaller-than followed by a dash or minus and looks kind of like an arrow pointing left. It’s usually read as “gets.”</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44</a:t>
            </a:fld>
            <a:endParaRPr lang="en-US"/>
          </a:p>
        </p:txBody>
      </p:sp>
    </p:spTree>
    <p:extLst>
      <p:ext uri="{BB962C8B-B14F-4D97-AF65-F5344CB8AC3E}">
        <p14:creationId xmlns:p14="http://schemas.microsoft.com/office/powerpoint/2010/main" val="9072939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Let’s put these pieces together to load our </a:t>
            </a:r>
            <a:r>
              <a:rPr lang="en-US" baseline="0" dirty="0" err="1"/>
              <a:t>covid</a:t>
            </a:r>
            <a:r>
              <a:rPr lang="en-US" baseline="0" dirty="0"/>
              <a:t> data set.</a:t>
            </a:r>
          </a:p>
          <a:p>
            <a:endParaRPr lang="en-US" baseline="0" dirty="0"/>
          </a:p>
          <a:p>
            <a:r>
              <a:rPr lang="en-US" baseline="0" dirty="0"/>
              <a:t>This line of code reads the “</a:t>
            </a:r>
            <a:r>
              <a:rPr lang="en-US" baseline="0" dirty="0" err="1"/>
              <a:t>covid_testing</a:t>
            </a:r>
            <a:r>
              <a:rPr lang="en-US" baseline="0" dirty="0"/>
              <a:t> object gets the output of the </a:t>
            </a:r>
            <a:r>
              <a:rPr lang="en-US" baseline="0" dirty="0" err="1"/>
              <a:t>read_csv</a:t>
            </a:r>
            <a:r>
              <a:rPr lang="en-US" baseline="0" dirty="0"/>
              <a:t> function on the </a:t>
            </a:r>
            <a:r>
              <a:rPr lang="en-US" baseline="0" dirty="0" err="1"/>
              <a:t>covid_testing</a:t>
            </a:r>
            <a:r>
              <a:rPr lang="en-US" baseline="0" dirty="0"/>
              <a:t> CSV file”.</a:t>
            </a:r>
          </a:p>
          <a:p>
            <a:endParaRPr lang="en-US" baseline="0" dirty="0"/>
          </a:p>
          <a:p>
            <a:r>
              <a:rPr lang="en-US" baseline="0" dirty="0"/>
              <a:t>You might notice that one of the objects is put in quotes and the other one isn't. </a:t>
            </a:r>
          </a:p>
          <a:p>
            <a:endParaRPr lang="en-US" baseline="0" dirty="0"/>
          </a:p>
          <a:p>
            <a:r>
              <a:rPr lang="en-US" baseline="0" dirty="0"/>
              <a:t>To be honest, quotes can be confusing. Names of objects such as data frames don't get quotes. In contrast, literal file names are always put in quotes.  This is part of the grammar of coding (the syntax) in R that will become more familiar to you as you develop proficiency and comfort with the language.</a:t>
            </a:r>
          </a:p>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45</a:t>
            </a:fld>
            <a:endParaRPr lang="en-US"/>
          </a:p>
        </p:txBody>
      </p:sp>
    </p:spTree>
    <p:extLst>
      <p:ext uri="{BB962C8B-B14F-4D97-AF65-F5344CB8AC3E}">
        <p14:creationId xmlns:p14="http://schemas.microsoft.com/office/powerpoint/2010/main" val="1307717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final your turn in this session.</a:t>
            </a:r>
          </a:p>
          <a:p>
            <a:endParaRPr lang="en-US" dirty="0"/>
          </a:p>
          <a:p>
            <a:r>
              <a:rPr lang="en-US" dirty="0"/>
              <a:t>In this exercise, we will ask you to open an R Markdown document and follow the instructions contained in that document to load and explore our data set.</a:t>
            </a:r>
          </a:p>
          <a:p>
            <a:endParaRPr lang="en-US" dirty="0"/>
          </a:p>
          <a:p>
            <a:r>
              <a:rPr lang="en-US" dirty="0"/>
              <a:t>We will meet back in 5 minutes to go over this exercise together.</a:t>
            </a:r>
          </a:p>
        </p:txBody>
      </p:sp>
      <p:sp>
        <p:nvSpPr>
          <p:cNvPr id="4" name="Slide Number Placeholder 3"/>
          <p:cNvSpPr>
            <a:spLocks noGrp="1"/>
          </p:cNvSpPr>
          <p:nvPr>
            <p:ph type="sldNum" sz="quarter" idx="5"/>
          </p:nvPr>
        </p:nvSpPr>
        <p:spPr/>
        <p:txBody>
          <a:bodyPr/>
          <a:lstStyle/>
          <a:p>
            <a:fld id="{0A193586-FEB5-7C43-8F44-7EFAE4EECA28}" type="slidenum">
              <a:rPr lang="en-US" smtClean="0"/>
              <a:t>49</a:t>
            </a:fld>
            <a:endParaRPr lang="en-US"/>
          </a:p>
        </p:txBody>
      </p:sp>
    </p:spTree>
    <p:extLst>
      <p:ext uri="{BB962C8B-B14F-4D97-AF65-F5344CB8AC3E}">
        <p14:creationId xmlns:p14="http://schemas.microsoft.com/office/powerpoint/2010/main" val="17145467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final your turn in this session.</a:t>
            </a:r>
          </a:p>
          <a:p>
            <a:endParaRPr lang="en-US" dirty="0"/>
          </a:p>
          <a:p>
            <a:r>
              <a:rPr lang="en-US" dirty="0"/>
              <a:t>In this exercise, we will ask you to open an R Markdown document and follow the instructions contained in that document to load and explore our data set.</a:t>
            </a:r>
          </a:p>
          <a:p>
            <a:endParaRPr lang="en-US" dirty="0"/>
          </a:p>
          <a:p>
            <a:r>
              <a:rPr lang="en-US" dirty="0"/>
              <a:t>We will meet back in 5 minutes to go over this exercise together.</a:t>
            </a:r>
          </a:p>
        </p:txBody>
      </p:sp>
      <p:sp>
        <p:nvSpPr>
          <p:cNvPr id="4" name="Slide Number Placeholder 3"/>
          <p:cNvSpPr>
            <a:spLocks noGrp="1"/>
          </p:cNvSpPr>
          <p:nvPr>
            <p:ph type="sldNum" sz="quarter" idx="5"/>
          </p:nvPr>
        </p:nvSpPr>
        <p:spPr/>
        <p:txBody>
          <a:bodyPr/>
          <a:lstStyle/>
          <a:p>
            <a:fld id="{0A193586-FEB5-7C43-8F44-7EFAE4EECA28}" type="slidenum">
              <a:rPr lang="en-US" smtClean="0"/>
              <a:t>55</a:t>
            </a:fld>
            <a:endParaRPr lang="en-US"/>
          </a:p>
        </p:txBody>
      </p:sp>
    </p:spTree>
    <p:extLst>
      <p:ext uri="{BB962C8B-B14F-4D97-AF65-F5344CB8AC3E}">
        <p14:creationId xmlns:p14="http://schemas.microsoft.com/office/powerpoint/2010/main" val="35856899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7DABC-C3A8-E9C9-E9F1-5B5E3207F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0DFC02-60EB-5660-ED48-244E72E60C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3BC08D-A804-96CB-AF51-7B0A451269E7}"/>
              </a:ext>
            </a:extLst>
          </p:cNvPr>
          <p:cNvSpPr>
            <a:spLocks noGrp="1"/>
          </p:cNvSpPr>
          <p:nvPr>
            <p:ph type="body" idx="1"/>
          </p:nvPr>
        </p:nvSpPr>
        <p:spPr/>
        <p:txBody>
          <a:bodyPr/>
          <a:lstStyle/>
          <a:p>
            <a:r>
              <a:rPr lang="en-US" dirty="0"/>
              <a:t>One of the most powerful aspects of working in the R environment is the ability to conduct reproducible data analyses (those analyses that can be shared, revised, repurposed and reproduced) by others.</a:t>
            </a:r>
          </a:p>
        </p:txBody>
      </p:sp>
      <p:sp>
        <p:nvSpPr>
          <p:cNvPr id="4" name="Slide Number Placeholder 3">
            <a:extLst>
              <a:ext uri="{FF2B5EF4-FFF2-40B4-BE49-F238E27FC236}">
                <a16:creationId xmlns:a16="http://schemas.microsoft.com/office/drawing/2014/main" id="{6528FE4B-FC30-C39D-E5CD-610060B85DFA}"/>
              </a:ext>
            </a:extLst>
          </p:cNvPr>
          <p:cNvSpPr>
            <a:spLocks noGrp="1"/>
          </p:cNvSpPr>
          <p:nvPr>
            <p:ph type="sldNum" sz="quarter" idx="5"/>
          </p:nvPr>
        </p:nvSpPr>
        <p:spPr/>
        <p:txBody>
          <a:bodyPr/>
          <a:lstStyle/>
          <a:p>
            <a:fld id="{0A193586-FEB5-7C43-8F44-7EFAE4EECA28}" type="slidenum">
              <a:rPr lang="en-US" smtClean="0"/>
              <a:t>56</a:t>
            </a:fld>
            <a:endParaRPr lang="en-US"/>
          </a:p>
        </p:txBody>
      </p:sp>
    </p:spTree>
    <p:extLst>
      <p:ext uri="{BB962C8B-B14F-4D97-AF65-F5344CB8AC3E}">
        <p14:creationId xmlns:p14="http://schemas.microsoft.com/office/powerpoint/2010/main" val="7480268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Why is data quality important for computers? Humans become conservative when data is uncertain and the stakes are high computers don’t unless programmed in, handling uncertainty, incorporating </a:t>
            </a:r>
            <a:r>
              <a:rPr lang="en-US"/>
              <a:t>low quality </a:t>
            </a:r>
            <a:r>
              <a:rPr lang="en-US" dirty="0"/>
              <a:t>into result (result quality may reflect lowest quality data), garbage in &amp; garbage out</a:t>
            </a:r>
          </a:p>
        </p:txBody>
      </p:sp>
      <p:sp>
        <p:nvSpPr>
          <p:cNvPr id="4" name="Slide Number Placeholder 3"/>
          <p:cNvSpPr>
            <a:spLocks noGrp="1"/>
          </p:cNvSpPr>
          <p:nvPr>
            <p:ph type="sldNum" sz="quarter" idx="5"/>
          </p:nvPr>
        </p:nvSpPr>
        <p:spPr/>
        <p:txBody>
          <a:bodyPr/>
          <a:lstStyle/>
          <a:p>
            <a:fld id="{BA8C5944-C2A2-7948-A427-5DBC5EDE9FCD}" type="slidenum">
              <a:rPr lang="en-US" smtClean="0"/>
              <a:t>57</a:t>
            </a:fld>
            <a:endParaRPr lang="en-US"/>
          </a:p>
        </p:txBody>
      </p:sp>
    </p:spTree>
    <p:extLst>
      <p:ext uri="{BB962C8B-B14F-4D97-AF65-F5344CB8AC3E}">
        <p14:creationId xmlns:p14="http://schemas.microsoft.com/office/powerpoint/2010/main" val="38372868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51b620d7a5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351b620d7a5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351b620d7a5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58</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51b620d7a5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51b620d7a5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63" name="Google Shape;163;g351b620d7a5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59</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4dd2eacf5a_1_3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g34dd2eacf5a_1_35: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dirty="0"/>
          </a:p>
        </p:txBody>
      </p:sp>
      <p:sp>
        <p:nvSpPr>
          <p:cNvPr id="254" name="Google Shape;254;g34dd2eacf5a_1_35: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60</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543cd6436a_0_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g3543cd6436a_0_0: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a:p>
        </p:txBody>
      </p:sp>
      <p:sp>
        <p:nvSpPr>
          <p:cNvPr id="263" name="Google Shape;263;g3543cd6436a_0_0: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61</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543cd6436a_0_2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g3543cd6436a_0_21: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pPr marL="0" indent="0"/>
            <a:endParaRPr dirty="0"/>
          </a:p>
        </p:txBody>
      </p:sp>
      <p:sp>
        <p:nvSpPr>
          <p:cNvPr id="271" name="Google Shape;271;g3543cd6436a_0_21: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62</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19AAE-BD17-F87B-6CF3-09C962179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8C542-D23A-F849-564D-4B73BCA1C1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A688DC-BD1C-6868-1478-F0799A0623E6}"/>
              </a:ext>
            </a:extLst>
          </p:cNvPr>
          <p:cNvSpPr>
            <a:spLocks noGrp="1"/>
          </p:cNvSpPr>
          <p:nvPr>
            <p:ph type="body" idx="1"/>
          </p:nvPr>
        </p:nvSpPr>
        <p:spPr/>
        <p:txBody>
          <a:bodyPr/>
          <a:lstStyle/>
          <a:p>
            <a:r>
              <a:rPr lang="en-US" dirty="0"/>
              <a:t>One final your turn in this session.</a:t>
            </a:r>
          </a:p>
          <a:p>
            <a:endParaRPr lang="en-US" dirty="0"/>
          </a:p>
          <a:p>
            <a:r>
              <a:rPr lang="en-US" dirty="0"/>
              <a:t>In this exercise, we will ask you to open an R Markdown document and follow the instructions contained in that document to load and explore our data set.</a:t>
            </a:r>
          </a:p>
          <a:p>
            <a:endParaRPr lang="en-US" dirty="0"/>
          </a:p>
          <a:p>
            <a:r>
              <a:rPr lang="en-US" dirty="0"/>
              <a:t>We will meet back in 5 minutes to go over this exercise together.</a:t>
            </a:r>
          </a:p>
        </p:txBody>
      </p:sp>
      <p:sp>
        <p:nvSpPr>
          <p:cNvPr id="4" name="Slide Number Placeholder 3">
            <a:extLst>
              <a:ext uri="{FF2B5EF4-FFF2-40B4-BE49-F238E27FC236}">
                <a16:creationId xmlns:a16="http://schemas.microsoft.com/office/drawing/2014/main" id="{8E5F73AB-9736-E43E-2F92-019B4B88FDF8}"/>
              </a:ext>
            </a:extLst>
          </p:cNvPr>
          <p:cNvSpPr>
            <a:spLocks noGrp="1"/>
          </p:cNvSpPr>
          <p:nvPr>
            <p:ph type="sldNum" sz="quarter" idx="5"/>
          </p:nvPr>
        </p:nvSpPr>
        <p:spPr/>
        <p:txBody>
          <a:bodyPr/>
          <a:lstStyle/>
          <a:p>
            <a:fld id="{0A193586-FEB5-7C43-8F44-7EFAE4EECA28}" type="slidenum">
              <a:rPr lang="en-US" smtClean="0"/>
              <a:t>63</a:t>
            </a:fld>
            <a:endParaRPr lang="en-US"/>
          </a:p>
        </p:txBody>
      </p:sp>
    </p:spTree>
    <p:extLst>
      <p:ext uri="{BB962C8B-B14F-4D97-AF65-F5344CB8AC3E}">
        <p14:creationId xmlns:p14="http://schemas.microsoft.com/office/powerpoint/2010/main" val="304331159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E052A-AB2D-BAE2-C00D-FB76B7D62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72223-299F-2F88-C3AD-4D3329D244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8122A0-397E-7487-E9F0-2E0C12C8458B}"/>
              </a:ext>
            </a:extLst>
          </p:cNvPr>
          <p:cNvSpPr>
            <a:spLocks noGrp="1"/>
          </p:cNvSpPr>
          <p:nvPr>
            <p:ph type="body" idx="1"/>
          </p:nvPr>
        </p:nvSpPr>
        <p:spPr/>
        <p:txBody>
          <a:bodyPr/>
          <a:lstStyle/>
          <a:p>
            <a:r>
              <a:rPr lang="en-US" dirty="0"/>
              <a:t>One of the most powerful aspects of working in the R environment is the ability to conduct reproducible data analyses (those analyses that can be shared, revised, repurposed and reproduced) by others.</a:t>
            </a:r>
          </a:p>
        </p:txBody>
      </p:sp>
      <p:sp>
        <p:nvSpPr>
          <p:cNvPr id="4" name="Slide Number Placeholder 3">
            <a:extLst>
              <a:ext uri="{FF2B5EF4-FFF2-40B4-BE49-F238E27FC236}">
                <a16:creationId xmlns:a16="http://schemas.microsoft.com/office/drawing/2014/main" id="{45319BE7-BE09-014C-8636-FFC236AF8624}"/>
              </a:ext>
            </a:extLst>
          </p:cNvPr>
          <p:cNvSpPr>
            <a:spLocks noGrp="1"/>
          </p:cNvSpPr>
          <p:nvPr>
            <p:ph type="sldNum" sz="quarter" idx="5"/>
          </p:nvPr>
        </p:nvSpPr>
        <p:spPr/>
        <p:txBody>
          <a:bodyPr/>
          <a:lstStyle/>
          <a:p>
            <a:fld id="{0A193586-FEB5-7C43-8F44-7EFAE4EECA28}" type="slidenum">
              <a:rPr lang="en-US" smtClean="0"/>
              <a:t>64</a:t>
            </a:fld>
            <a:endParaRPr lang="en-US"/>
          </a:p>
        </p:txBody>
      </p:sp>
    </p:spTree>
    <p:extLst>
      <p:ext uri="{BB962C8B-B14F-4D97-AF65-F5344CB8AC3E}">
        <p14:creationId xmlns:p14="http://schemas.microsoft.com/office/powerpoint/2010/main" val="39737045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AC687-9A47-B718-4E76-FCBB56FCD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4C8BBB-3DDB-240A-DE7A-97A8DD6543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BF77A-846D-9DBD-489D-A62D07D00473}"/>
              </a:ext>
            </a:extLst>
          </p:cNvPr>
          <p:cNvSpPr>
            <a:spLocks noGrp="1"/>
          </p:cNvSpPr>
          <p:nvPr>
            <p:ph type="body" idx="1"/>
          </p:nvPr>
        </p:nvSpPr>
        <p:spPr/>
        <p:txBody>
          <a:bodyPr/>
          <a:lstStyle/>
          <a:p>
            <a:r>
              <a:rPr lang="en-US" dirty="0"/>
              <a:t>One final your turn in this session.</a:t>
            </a:r>
          </a:p>
          <a:p>
            <a:endParaRPr lang="en-US" dirty="0"/>
          </a:p>
          <a:p>
            <a:r>
              <a:rPr lang="en-US" dirty="0"/>
              <a:t>In this exercise, we will ask you to open an R Markdown document and follow the instructions contained in that document to load and explore our data set.</a:t>
            </a:r>
          </a:p>
          <a:p>
            <a:endParaRPr lang="en-US" dirty="0"/>
          </a:p>
          <a:p>
            <a:r>
              <a:rPr lang="en-US" dirty="0"/>
              <a:t>We will meet back in 5 minutes to go over this exercise together.</a:t>
            </a:r>
          </a:p>
        </p:txBody>
      </p:sp>
      <p:sp>
        <p:nvSpPr>
          <p:cNvPr id="4" name="Slide Number Placeholder 3">
            <a:extLst>
              <a:ext uri="{FF2B5EF4-FFF2-40B4-BE49-F238E27FC236}">
                <a16:creationId xmlns:a16="http://schemas.microsoft.com/office/drawing/2014/main" id="{7E29BA0F-45E8-B0F7-CAC8-6A22DE446B0C}"/>
              </a:ext>
            </a:extLst>
          </p:cNvPr>
          <p:cNvSpPr>
            <a:spLocks noGrp="1"/>
          </p:cNvSpPr>
          <p:nvPr>
            <p:ph type="sldNum" sz="quarter" idx="5"/>
          </p:nvPr>
        </p:nvSpPr>
        <p:spPr/>
        <p:txBody>
          <a:bodyPr/>
          <a:lstStyle/>
          <a:p>
            <a:fld id="{0A193586-FEB5-7C43-8F44-7EFAE4EECA28}" type="slidenum">
              <a:rPr lang="en-US" smtClean="0"/>
              <a:t>70</a:t>
            </a:fld>
            <a:endParaRPr lang="en-US"/>
          </a:p>
        </p:txBody>
      </p:sp>
    </p:spTree>
    <p:extLst>
      <p:ext uri="{BB962C8B-B14F-4D97-AF65-F5344CB8AC3E}">
        <p14:creationId xmlns:p14="http://schemas.microsoft.com/office/powerpoint/2010/main" val="5260471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C5BD1-9C56-DB82-A87E-373887E25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08349-54AD-026F-BB11-004C1C958B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9B50B7-1182-7351-5DF8-193A874FBD18}"/>
              </a:ext>
            </a:extLst>
          </p:cNvPr>
          <p:cNvSpPr>
            <a:spLocks noGrp="1"/>
          </p:cNvSpPr>
          <p:nvPr>
            <p:ph type="body" idx="1"/>
          </p:nvPr>
        </p:nvSpPr>
        <p:spPr/>
        <p:txBody>
          <a:bodyPr/>
          <a:lstStyle/>
          <a:p>
            <a:r>
              <a:rPr lang="en-US" dirty="0"/>
              <a:t>In this first session our goal is to develop some familiarity with the R programming language.</a:t>
            </a:r>
          </a:p>
          <a:p>
            <a:endParaRPr lang="en-US" dirty="0"/>
          </a:p>
          <a:p>
            <a:r>
              <a:rPr lang="en-US" dirty="0"/>
              <a:t>We will also discuss the important role of reproducible data analysis and how R can help us with this.</a:t>
            </a:r>
          </a:p>
          <a:p>
            <a:endParaRPr lang="en-US" dirty="0"/>
          </a:p>
        </p:txBody>
      </p:sp>
      <p:sp>
        <p:nvSpPr>
          <p:cNvPr id="4" name="Slide Number Placeholder 3">
            <a:extLst>
              <a:ext uri="{FF2B5EF4-FFF2-40B4-BE49-F238E27FC236}">
                <a16:creationId xmlns:a16="http://schemas.microsoft.com/office/drawing/2014/main" id="{C95D425E-30D0-BE79-76E9-71EEDEEE4A16}"/>
              </a:ext>
            </a:extLst>
          </p:cNvPr>
          <p:cNvSpPr>
            <a:spLocks noGrp="1"/>
          </p:cNvSpPr>
          <p:nvPr>
            <p:ph type="sldNum" sz="quarter" idx="10"/>
          </p:nvPr>
        </p:nvSpPr>
        <p:spPr/>
        <p:txBody>
          <a:bodyPr/>
          <a:lstStyle/>
          <a:p>
            <a:fld id="{0A193586-FEB5-7C43-8F44-7EFAE4EECA28}" type="slidenum">
              <a:rPr lang="en-US" smtClean="0"/>
              <a:t>71</a:t>
            </a:fld>
            <a:endParaRPr lang="en-US"/>
          </a:p>
        </p:txBody>
      </p:sp>
    </p:spTree>
    <p:extLst>
      <p:ext uri="{BB962C8B-B14F-4D97-AF65-F5344CB8AC3E}">
        <p14:creationId xmlns:p14="http://schemas.microsoft.com/office/powerpoint/2010/main" val="233479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10/4/26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10/4/26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10/4/26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2942069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tandard Content Slide">
  <p:cSld name="Standard Content Slide">
    <p:spTree>
      <p:nvGrpSpPr>
        <p:cNvPr id="1" name="Shape 31"/>
        <p:cNvGrpSpPr/>
        <p:nvPr/>
      </p:nvGrpSpPr>
      <p:grpSpPr>
        <a:xfrm>
          <a:off x="0" y="0"/>
          <a:ext cx="0" cy="0"/>
          <a:chOff x="0" y="0"/>
          <a:chExt cx="0" cy="0"/>
        </a:xfrm>
      </p:grpSpPr>
      <p:pic>
        <p:nvPicPr>
          <p:cNvPr id="32" name="Google Shape;32;p16"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33" name="Google Shape;33;p16"/>
          <p:cNvSpPr txBox="1">
            <a:spLocks noGrp="1"/>
          </p:cNvSpPr>
          <p:nvPr>
            <p:ph type="body" idx="1"/>
          </p:nvPr>
        </p:nvSpPr>
        <p:spPr>
          <a:xfrm>
            <a:off x="838200" y="1825625"/>
            <a:ext cx="10515599" cy="3937866"/>
          </a:xfrm>
          <a:prstGeom prst="rect">
            <a:avLst/>
          </a:prstGeom>
          <a:noFill/>
          <a:ln>
            <a:noFill/>
          </a:ln>
        </p:spPr>
        <p:txBody>
          <a:bodyPr spcFirstLastPara="1" wrap="square" lIns="91425" tIns="45700" rIns="91425" bIns="45700" anchor="t" anchorCtr="0">
            <a:normAutofit/>
          </a:bodyPr>
          <a:lstStyle>
            <a:lvl1pPr marL="457200" lvl="0" indent="-419100" algn="l">
              <a:lnSpc>
                <a:spcPct val="122222"/>
              </a:lnSpc>
              <a:spcBef>
                <a:spcPts val="1000"/>
              </a:spcBef>
              <a:spcAft>
                <a:spcPts val="0"/>
              </a:spcAft>
              <a:buClr>
                <a:srgbClr val="B01F24"/>
              </a:buClr>
              <a:buSzPts val="3000"/>
              <a:buChar char="•"/>
              <a:defRPr sz="3000"/>
            </a:lvl1pPr>
            <a:lvl2pPr marL="914400" lvl="1" indent="-393700" algn="l">
              <a:lnSpc>
                <a:spcPct val="122222"/>
              </a:lnSpc>
              <a:spcBef>
                <a:spcPts val="500"/>
              </a:spcBef>
              <a:spcAft>
                <a:spcPts val="0"/>
              </a:spcAft>
              <a:buClr>
                <a:srgbClr val="B01F24"/>
              </a:buClr>
              <a:buSzPts val="2600"/>
              <a:buChar char="•"/>
              <a:defRPr sz="2600"/>
            </a:lvl2pPr>
            <a:lvl3pPr marL="1371600" lvl="2" indent="-368300" algn="l">
              <a:lnSpc>
                <a:spcPct val="122222"/>
              </a:lnSpc>
              <a:spcBef>
                <a:spcPts val="500"/>
              </a:spcBef>
              <a:spcAft>
                <a:spcPts val="0"/>
              </a:spcAft>
              <a:buClr>
                <a:srgbClr val="B01F24"/>
              </a:buClr>
              <a:buSzPts val="2200"/>
              <a:buChar char="•"/>
              <a:defRPr sz="2200"/>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32009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44"/>
        <p:cNvGrpSpPr/>
        <p:nvPr/>
      </p:nvGrpSpPr>
      <p:grpSpPr>
        <a:xfrm>
          <a:off x="0" y="0"/>
          <a:ext cx="0" cy="0"/>
          <a:chOff x="0" y="0"/>
          <a:chExt cx="0" cy="0"/>
        </a:xfrm>
      </p:grpSpPr>
      <p:pic>
        <p:nvPicPr>
          <p:cNvPr id="45" name="Google Shape;45;p22"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46" name="Google Shape;46;p22"/>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2"/>
          <p:cNvSpPr>
            <a:spLocks noGrp="1"/>
          </p:cNvSpPr>
          <p:nvPr>
            <p:ph type="chart" idx="2"/>
          </p:nvPr>
        </p:nvSpPr>
        <p:spPr>
          <a:xfrm>
            <a:off x="838200" y="2600596"/>
            <a:ext cx="7857567" cy="2980596"/>
          </a:xfrm>
          <a:prstGeom prst="rect">
            <a:avLst/>
          </a:prstGeom>
          <a:noFill/>
          <a:ln>
            <a:noFill/>
          </a:ln>
        </p:spPr>
        <p:txBody>
          <a:bodyPr spcFirstLastPara="1" wrap="square" lIns="91425" tIns="45700" rIns="91425" bIns="45700" anchor="t" anchorCtr="0">
            <a:normAutofit/>
          </a:bodyPr>
          <a:lstStyle>
            <a:lvl1pPr marR="0" lvl="0" algn="l" rtl="0">
              <a:lnSpc>
                <a:spcPct val="122222"/>
              </a:lnSpc>
              <a:spcBef>
                <a:spcPts val="1000"/>
              </a:spcBef>
              <a:spcAft>
                <a:spcPts val="0"/>
              </a:spcAft>
              <a:buClr>
                <a:srgbClr val="B01F24"/>
              </a:buClr>
              <a:buSzPts val="1800"/>
              <a:buFont typeface="Arial"/>
              <a:buNone/>
              <a:defRPr sz="1800" b="0" i="0" u="none" strike="noStrike" cap="none">
                <a:solidFill>
                  <a:srgbClr val="58595B"/>
                </a:solidFill>
                <a:latin typeface="Arial"/>
                <a:ea typeface="Arial"/>
                <a:cs typeface="Arial"/>
                <a:sym typeface="Arial"/>
              </a:defRPr>
            </a:lvl1pPr>
            <a:lvl2pPr marR="0" lvl="1"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2pPr>
            <a:lvl3pPr marR="0" lvl="2"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3pPr>
            <a:lvl4pPr marR="0" lvl="3"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4pPr>
            <a:lvl5pPr marR="0" lvl="4"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8" name="Google Shape;48;p22"/>
          <p:cNvSpPr txBox="1">
            <a:spLocks noGrp="1"/>
          </p:cNvSpPr>
          <p:nvPr>
            <p:ph type="body" idx="1"/>
          </p:nvPr>
        </p:nvSpPr>
        <p:spPr>
          <a:xfrm>
            <a:off x="838200" y="1828800"/>
            <a:ext cx="10515600" cy="745958"/>
          </a:xfrm>
          <a:prstGeom prst="rect">
            <a:avLst/>
          </a:prstGeom>
          <a:noFill/>
          <a:ln>
            <a:noFill/>
          </a:ln>
        </p:spPr>
        <p:txBody>
          <a:bodyPr spcFirstLastPara="1" wrap="square" lIns="91425" tIns="45700" rIns="91425" bIns="45700" anchor="t" anchorCtr="0">
            <a:normAutofit/>
          </a:bodyPr>
          <a:lstStyle>
            <a:lvl1pPr marL="457200" lvl="0" indent="-228600" algn="l">
              <a:lnSpc>
                <a:spcPct val="122222"/>
              </a:lnSpc>
              <a:spcBef>
                <a:spcPts val="1000"/>
              </a:spcBef>
              <a:spcAft>
                <a:spcPts val="0"/>
              </a:spcAft>
              <a:buSzPts val="1800"/>
              <a:buFont typeface="Arial"/>
              <a:buNone/>
              <a:defRPr/>
            </a:lvl1pPr>
            <a:lvl2pPr marL="914400" lvl="1" indent="-228600" algn="l">
              <a:lnSpc>
                <a:spcPct val="122222"/>
              </a:lnSpc>
              <a:spcBef>
                <a:spcPts val="500"/>
              </a:spcBef>
              <a:spcAft>
                <a:spcPts val="0"/>
              </a:spcAft>
              <a:buSzPts val="1800"/>
              <a:buFont typeface="Arial"/>
              <a:buNone/>
              <a:defRPr/>
            </a:lvl2pPr>
            <a:lvl3pPr marL="1371600" lvl="2" indent="-228600" algn="l">
              <a:lnSpc>
                <a:spcPct val="122222"/>
              </a:lnSpc>
              <a:spcBef>
                <a:spcPts val="500"/>
              </a:spcBef>
              <a:spcAft>
                <a:spcPts val="0"/>
              </a:spcAft>
              <a:buSzPts val="1800"/>
              <a:buFont typeface="Arial"/>
              <a:buNone/>
              <a:defRPr/>
            </a:lvl3pPr>
            <a:lvl4pPr marL="1828800" lvl="3" indent="-228600" algn="l">
              <a:lnSpc>
                <a:spcPct val="122222"/>
              </a:lnSpc>
              <a:spcBef>
                <a:spcPts val="500"/>
              </a:spcBef>
              <a:spcAft>
                <a:spcPts val="0"/>
              </a:spcAft>
              <a:buSzPts val="1800"/>
              <a:buFont typeface="Arial"/>
              <a:buNone/>
              <a:defRPr/>
            </a:lvl4pPr>
            <a:lvl5pPr marL="2286000" lvl="4" indent="-228600" algn="l">
              <a:lnSpc>
                <a:spcPct val="122222"/>
              </a:lnSpc>
              <a:spcBef>
                <a:spcPts val="500"/>
              </a:spcBef>
              <a:spcAft>
                <a:spcPts val="0"/>
              </a:spcAft>
              <a:buSzPts val="1800"/>
              <a:buFont typeface="Arial"/>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2"/>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2"/>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7589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tandard Content + Picture">
  <p:cSld name="Standard Content + Picture">
    <p:spTree>
      <p:nvGrpSpPr>
        <p:cNvPr id="1" name="Shape 60"/>
        <p:cNvGrpSpPr/>
        <p:nvPr/>
      </p:nvGrpSpPr>
      <p:grpSpPr>
        <a:xfrm>
          <a:off x="0" y="0"/>
          <a:ext cx="0" cy="0"/>
          <a:chOff x="0" y="0"/>
          <a:chExt cx="0" cy="0"/>
        </a:xfrm>
      </p:grpSpPr>
      <p:pic>
        <p:nvPicPr>
          <p:cNvPr id="61" name="Google Shape;61;p19"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62" name="Google Shape;62;p19"/>
          <p:cNvSpPr>
            <a:spLocks noGrp="1"/>
          </p:cNvSpPr>
          <p:nvPr>
            <p:ph type="pic" idx="2"/>
          </p:nvPr>
        </p:nvSpPr>
        <p:spPr>
          <a:xfrm flipH="1">
            <a:off x="6816435" y="1839479"/>
            <a:ext cx="4537759" cy="3937864"/>
          </a:xfrm>
          <a:prstGeom prst="rect">
            <a:avLst/>
          </a:prstGeom>
          <a:noFill/>
          <a:ln>
            <a:noFill/>
          </a:ln>
        </p:spPr>
        <p:txBody>
          <a:bodyPr/>
          <a:lstStyle/>
          <a:p>
            <a:endParaRPr lang="en-US"/>
          </a:p>
        </p:txBody>
      </p:sp>
      <p:sp>
        <p:nvSpPr>
          <p:cNvPr id="63" name="Google Shape;63;p19"/>
          <p:cNvSpPr txBox="1">
            <a:spLocks noGrp="1"/>
          </p:cNvSpPr>
          <p:nvPr>
            <p:ph type="body" idx="1"/>
          </p:nvPr>
        </p:nvSpPr>
        <p:spPr>
          <a:xfrm>
            <a:off x="838201" y="1825625"/>
            <a:ext cx="5675334"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SzPts val="1800"/>
              <a:buChar char="•"/>
              <a:defRPr/>
            </a:lvl2pPr>
            <a:lvl3pPr marL="1371600" lvl="2" indent="-342900" algn="l">
              <a:lnSpc>
                <a:spcPct val="122222"/>
              </a:lnSpc>
              <a:spcBef>
                <a:spcPts val="500"/>
              </a:spcBef>
              <a:spcAft>
                <a:spcPts val="0"/>
              </a:spcAft>
              <a:buSzPts val="1800"/>
              <a:buChar char="•"/>
              <a:defRPr/>
            </a:lvl3pPr>
            <a:lvl4pPr marL="1828800" lvl="3" indent="-342900" algn="l">
              <a:lnSpc>
                <a:spcPct val="122222"/>
              </a:lnSpc>
              <a:spcBef>
                <a:spcPts val="500"/>
              </a:spcBef>
              <a:spcAft>
                <a:spcPts val="0"/>
              </a:spcAft>
              <a:buSzPts val="1800"/>
              <a:buChar char="•"/>
              <a:defRPr/>
            </a:lvl4pPr>
            <a:lvl5pPr marL="2286000" lvl="4" indent="-342900" algn="l">
              <a:lnSpc>
                <a:spcPct val="122222"/>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9"/>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9"/>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34922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tandard Content Slide - Blank">
  <p:cSld name="Standard Content Slide - Blank">
    <p:spTree>
      <p:nvGrpSpPr>
        <p:cNvPr id="1" name="Shape 53"/>
        <p:cNvGrpSpPr/>
        <p:nvPr/>
      </p:nvGrpSpPr>
      <p:grpSpPr>
        <a:xfrm>
          <a:off x="0" y="0"/>
          <a:ext cx="0" cy="0"/>
          <a:chOff x="0" y="0"/>
          <a:chExt cx="0" cy="0"/>
        </a:xfrm>
      </p:grpSpPr>
      <p:sp>
        <p:nvSpPr>
          <p:cNvPr id="54" name="Google Shape;54;p17"/>
          <p:cNvSpPr/>
          <p:nvPr/>
        </p:nvSpPr>
        <p:spPr>
          <a:xfrm>
            <a:off x="892352" y="1376412"/>
            <a:ext cx="1311833" cy="2156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5" name="Google Shape;55;p17"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56" name="Google Shape;56;p17"/>
          <p:cNvSpPr txBox="1">
            <a:spLocks noGrp="1"/>
          </p:cNvSpPr>
          <p:nvPr>
            <p:ph type="body" idx="1"/>
          </p:nvPr>
        </p:nvSpPr>
        <p:spPr>
          <a:xfrm>
            <a:off x="838200" y="1443789"/>
            <a:ext cx="10515599" cy="4319702"/>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Clr>
                <a:srgbClr val="B01F24"/>
              </a:buClr>
              <a:buSzPts val="1800"/>
              <a:buChar char="•"/>
              <a:defRPr/>
            </a:lvl2pPr>
            <a:lvl3pPr marL="1371600" lvl="2" indent="-342900" algn="l">
              <a:lnSpc>
                <a:spcPct val="122222"/>
              </a:lnSpc>
              <a:spcBef>
                <a:spcPts val="500"/>
              </a:spcBef>
              <a:spcAft>
                <a:spcPts val="0"/>
              </a:spcAft>
              <a:buClr>
                <a:srgbClr val="B01F24"/>
              </a:buClr>
              <a:buSzPts val="1800"/>
              <a:buChar char="•"/>
              <a:defRPr/>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7"/>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7"/>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29078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Your_Turn_3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3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10/4/26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295813417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1_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10/4/26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398337227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10/4/26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9" r:id="rId17"/>
    <p:sldLayoutId id="2147483680" r:id="rId18"/>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tiff"/></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r4ds.had.co.nz/" TargetMode="External"/><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4.tiff"/><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45.tiff"/><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3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52.png"/><Relationship Id="rId5" Type="http://schemas.openxmlformats.org/officeDocument/2006/relationships/image" Target="../media/image51.tiff"/><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1.xml"/><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cap="none" dirty="0"/>
              <a:t>Introduction to R and RStudio</a:t>
            </a:r>
          </a:p>
        </p:txBody>
      </p:sp>
      <p:sp>
        <p:nvSpPr>
          <p:cNvPr id="3" name="Subtitle 2"/>
          <p:cNvSpPr>
            <a:spLocks noGrp="1"/>
          </p:cNvSpPr>
          <p:nvPr>
            <p:ph type="subTitle" idx="1"/>
          </p:nvPr>
        </p:nvSpPr>
        <p:spPr/>
        <p:txBody>
          <a:bodyPr>
            <a:normAutofit/>
          </a:bodyPr>
          <a:lstStyle/>
          <a:p>
            <a:r>
              <a:rPr lang="en-US" sz="2800" dirty="0"/>
              <a:t>DS 100 — Module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721251" y="344000"/>
            <a:ext cx="10939550" cy="7193508"/>
          </a:xfrm>
          <a:prstGeom prst="rect">
            <a:avLst/>
          </a:prstGeom>
          <a:noFill/>
        </p:spPr>
        <p:txBody>
          <a:bodyPr wrap="square" rtlCol="0">
            <a:spAutoFit/>
          </a:bodyPr>
          <a:lstStyle/>
          <a:p>
            <a:r>
              <a:rPr lang="en-US" sz="3200" dirty="0"/>
              <a:t>Lesson Goals</a:t>
            </a:r>
          </a:p>
          <a:p>
            <a:pPr marL="342900" marR="0" lvl="0" indent="-342900" rtl="0">
              <a:lnSpc>
                <a:spcPct val="107000"/>
              </a:lnSpc>
              <a:spcBef>
                <a:spcPts val="0"/>
              </a:spcBef>
              <a:spcAft>
                <a:spcPts val="0"/>
              </a:spcAft>
              <a:buFont typeface="+mj-lt"/>
              <a:buAutoNum type="arabicPeriod"/>
            </a:pPr>
            <a:r>
              <a:rPr lang="en-US" sz="3200" kern="100" dirty="0">
                <a:effectLst/>
                <a:ea typeface="Calibri" panose="020F0502020204030204" pitchFamily="34" charset="0"/>
                <a:cs typeface="Arial" panose="020B0604020202020204" pitchFamily="34" charset="0"/>
              </a:rPr>
              <a:t> Incorporate best practices for reproducibility and transparency into data analysis projects</a:t>
            </a:r>
          </a:p>
          <a:p>
            <a:pPr marL="342900" marR="0" lvl="0" indent="-342900" rtl="0">
              <a:lnSpc>
                <a:spcPct val="107000"/>
              </a:lnSpc>
              <a:spcBef>
                <a:spcPts val="0"/>
              </a:spcBef>
              <a:spcAft>
                <a:spcPts val="0"/>
              </a:spcAft>
              <a:buFont typeface="+mj-lt"/>
              <a:buAutoNum type="arabicPeriod"/>
            </a:pPr>
            <a:r>
              <a:rPr lang="en-US" sz="3200" kern="100" dirty="0">
                <a:effectLst/>
                <a:ea typeface="Calibri" panose="020F0502020204030204" pitchFamily="34" charset="0"/>
                <a:cs typeface="Arial" panose="020B0604020202020204" pitchFamily="34" charset="0"/>
              </a:rPr>
              <a:t> Utilize programming and software tools to facilitate efficient, reproducible, and transparent data analytics workflows</a:t>
            </a:r>
          </a:p>
          <a:p>
            <a:pPr marL="342900" indent="-342900">
              <a:lnSpc>
                <a:spcPct val="107000"/>
              </a:lnSpc>
              <a:buFont typeface="+mj-lt"/>
              <a:buAutoNum type="arabicPeriod"/>
            </a:pPr>
            <a:r>
              <a:rPr lang="en-US" sz="3200" kern="100" dirty="0">
                <a:ea typeface="Calibri" panose="020F0502020204030204" pitchFamily="34" charset="0"/>
                <a:cs typeface="Arial" panose="020B0604020202020204" pitchFamily="34" charset="0"/>
              </a:rPr>
              <a:t>Compare and contrast different data types (e.g., numerical, categorical, timestamp, logical) used in data analytics</a:t>
            </a:r>
            <a:endParaRPr lang="en-US" sz="3200" kern="100" dirty="0">
              <a:effectLst/>
              <a:ea typeface="Calibri" panose="020F0502020204030204" pitchFamily="34" charset="0"/>
              <a:cs typeface="Arial" panose="020B0604020202020204" pitchFamily="34" charset="0"/>
            </a:endParaRPr>
          </a:p>
          <a:p>
            <a:pPr marL="514350" indent="-514350">
              <a:buAutoNum type="arabicPeriod"/>
            </a:pPr>
            <a:endParaRPr lang="en-US" sz="3200" dirty="0"/>
          </a:p>
          <a:p>
            <a:r>
              <a:rPr lang="en-US" sz="3200" dirty="0"/>
              <a:t>Lesson Objectives</a:t>
            </a:r>
          </a:p>
          <a:p>
            <a:pPr marL="514350" indent="-514350">
              <a:buAutoNum type="arabicPeriod"/>
            </a:pPr>
            <a:r>
              <a:rPr lang="en-US" sz="3200" dirty="0"/>
              <a:t>Create and modify a Quarto document</a:t>
            </a:r>
          </a:p>
          <a:p>
            <a:pPr marL="514350" indent="-514350">
              <a:buAutoNum type="arabicPeriod"/>
            </a:pPr>
            <a:r>
              <a:rPr lang="en-US" sz="3200" dirty="0"/>
              <a:t>Import data from a file into the R environment</a:t>
            </a:r>
          </a:p>
          <a:p>
            <a:pPr marL="514350" indent="-514350">
              <a:buAutoNum type="arabicPeriod"/>
            </a:pPr>
            <a:r>
              <a:rPr lang="en-US" sz="3200" dirty="0"/>
              <a:t>Inspect the contents of a </a:t>
            </a:r>
            <a:r>
              <a:rPr lang="en-US" sz="3200" dirty="0" err="1"/>
              <a:t>dataframe</a:t>
            </a:r>
            <a:endParaRPr lang="en-US" sz="3200" dirty="0"/>
          </a:p>
          <a:p>
            <a:pPr marL="514350" indent="-514350">
              <a:buAutoNum type="arabicPeriod"/>
            </a:pPr>
            <a:endParaRPr lang="en-US" sz="3200" dirty="0"/>
          </a:p>
          <a:p>
            <a:pPr marL="514350" indent="-514350">
              <a:buAutoNum type="arabicPeriod"/>
            </a:pPr>
            <a:endParaRPr lang="en-US" sz="3200" dirty="0"/>
          </a:p>
        </p:txBody>
      </p:sp>
    </p:spTree>
    <p:extLst>
      <p:ext uri="{BB962C8B-B14F-4D97-AF65-F5344CB8AC3E}">
        <p14:creationId xmlns:p14="http://schemas.microsoft.com/office/powerpoint/2010/main" val="896677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grpSp>
        <p:nvGrpSpPr>
          <p:cNvPr id="2" name="Group 1">
            <a:extLst>
              <a:ext uri="{FF2B5EF4-FFF2-40B4-BE49-F238E27FC236}">
                <a16:creationId xmlns:a16="http://schemas.microsoft.com/office/drawing/2014/main" id="{EF4A823E-10FB-0A4C-B546-733E23BAD681}"/>
              </a:ext>
            </a:extLst>
          </p:cNvPr>
          <p:cNvGrpSpPr/>
          <p:nvPr/>
        </p:nvGrpSpPr>
        <p:grpSpPr>
          <a:xfrm>
            <a:off x="188667" y="1221165"/>
            <a:ext cx="3930000" cy="5261654"/>
            <a:chOff x="188667" y="1221165"/>
            <a:chExt cx="3930000" cy="5261654"/>
          </a:xfrm>
        </p:grpSpPr>
        <p:pic>
          <p:nvPicPr>
            <p:cNvPr id="245" name="Google Shape;245;p37"/>
            <p:cNvPicPr preferRelativeResize="0"/>
            <p:nvPr/>
          </p:nvPicPr>
          <p:blipFill>
            <a:blip r:embed="rId3">
              <a:alphaModFix/>
            </a:blip>
            <a:stretch>
              <a:fillRect/>
            </a:stretch>
          </p:blipFill>
          <p:spPr>
            <a:xfrm>
              <a:off x="705226" y="1221165"/>
              <a:ext cx="2849300" cy="2207835"/>
            </a:xfrm>
            <a:prstGeom prst="rect">
              <a:avLst/>
            </a:prstGeom>
            <a:noFill/>
            <a:ln>
              <a:noFill/>
            </a:ln>
          </p:spPr>
        </p:pic>
        <p:sp>
          <p:nvSpPr>
            <p:cNvPr id="247" name="Google Shape;247;p37"/>
            <p:cNvSpPr txBox="1"/>
            <p:nvPr/>
          </p:nvSpPr>
          <p:spPr>
            <a:xfrm>
              <a:off x="188667" y="4086786"/>
              <a:ext cx="3930000" cy="2396033"/>
            </a:xfrm>
            <a:prstGeom prst="rect">
              <a:avLst/>
            </a:prstGeom>
            <a:noFill/>
            <a:ln>
              <a:noFill/>
            </a:ln>
          </p:spPr>
          <p:txBody>
            <a:bodyPr spcFirstLastPara="1" wrap="square" lIns="91433" tIns="45700" rIns="91433" bIns="45700" anchor="t" anchorCtr="0">
              <a:noAutofit/>
            </a:bodyPr>
            <a:lstStyle/>
            <a:p>
              <a:pPr algn="ctr">
                <a:lnSpc>
                  <a:spcPct val="90000"/>
                </a:lnSpc>
                <a:buClr>
                  <a:schemeClr val="dk1"/>
                </a:buClr>
                <a:buSzPts val="3300"/>
              </a:pPr>
              <a:r>
                <a:rPr lang="en" sz="3600" b="1" dirty="0">
                  <a:latin typeface="Tw Cen MT" panose="020B0602020104020603" pitchFamily="34" charset="77"/>
                  <a:ea typeface="Raleway"/>
                  <a:cs typeface="Raleway"/>
                  <a:sym typeface="Raleway"/>
                </a:rPr>
                <a:t>R</a:t>
              </a:r>
              <a:endParaRPr sz="3600" b="1" dirty="0">
                <a:latin typeface="Tw Cen MT" panose="020B0602020104020603" pitchFamily="34" charset="77"/>
                <a:ea typeface="Raleway"/>
                <a:cs typeface="Raleway"/>
                <a:sym typeface="Raleway"/>
              </a:endParaRPr>
            </a:p>
            <a:p>
              <a:pPr algn="ctr">
                <a:lnSpc>
                  <a:spcPct val="90000"/>
                </a:lnSpc>
                <a:buClr>
                  <a:schemeClr val="dk1"/>
                </a:buClr>
                <a:buSzPts val="3300"/>
              </a:pPr>
              <a:endParaRPr lang="en"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 sz="3200" dirty="0">
                  <a:latin typeface="Tw Cen MT" panose="020B0602020104020603" pitchFamily="34" charset="77"/>
                  <a:ea typeface="Raleway"/>
                  <a:cs typeface="Raleway"/>
                  <a:sym typeface="Raleway"/>
                </a:rPr>
                <a:t>Programming language for </a:t>
              </a:r>
              <a:endParaRPr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 sz="3200" dirty="0">
                  <a:latin typeface="Tw Cen MT" panose="020B0602020104020603" pitchFamily="34" charset="77"/>
                  <a:ea typeface="Raleway"/>
                  <a:cs typeface="Raleway"/>
                  <a:sym typeface="Raleway"/>
                </a:rPr>
                <a:t>data analysis</a:t>
              </a:r>
              <a:endParaRPr sz="3200" dirty="0">
                <a:latin typeface="Tw Cen MT" panose="020B0602020104020603" pitchFamily="34" charset="77"/>
                <a:ea typeface="Raleway"/>
                <a:cs typeface="Raleway"/>
                <a:sym typeface="Raleway"/>
              </a:endParaRPr>
            </a:p>
            <a:p>
              <a:pPr>
                <a:lnSpc>
                  <a:spcPct val="90000"/>
                </a:lnSpc>
                <a:buClr>
                  <a:schemeClr val="dk1"/>
                </a:buClr>
                <a:buSzPts val="3300"/>
              </a:pPr>
              <a:endParaRPr sz="3600" b="1" dirty="0">
                <a:latin typeface="Tw Cen MT" panose="020B0602020104020603" pitchFamily="34" charset="77"/>
                <a:ea typeface="Raleway"/>
                <a:cs typeface="Raleway"/>
                <a:sym typeface="Raleway"/>
              </a:endParaRPr>
            </a:p>
          </p:txBody>
        </p:sp>
      </p:grpSp>
      <p:grpSp>
        <p:nvGrpSpPr>
          <p:cNvPr id="3" name="Group 2">
            <a:extLst>
              <a:ext uri="{FF2B5EF4-FFF2-40B4-BE49-F238E27FC236}">
                <a16:creationId xmlns:a16="http://schemas.microsoft.com/office/drawing/2014/main" id="{64F5EEB4-8032-2A4E-9566-CD2CF9A2B4C5}"/>
              </a:ext>
            </a:extLst>
          </p:cNvPr>
          <p:cNvGrpSpPr/>
          <p:nvPr/>
        </p:nvGrpSpPr>
        <p:grpSpPr>
          <a:xfrm>
            <a:off x="4118667" y="1185070"/>
            <a:ext cx="3930000" cy="5491253"/>
            <a:chOff x="4118667" y="1185070"/>
            <a:chExt cx="3930000" cy="5491253"/>
          </a:xfrm>
        </p:grpSpPr>
        <p:pic>
          <p:nvPicPr>
            <p:cNvPr id="244" name="Google Shape;244;p37"/>
            <p:cNvPicPr preferRelativeResize="0"/>
            <p:nvPr/>
          </p:nvPicPr>
          <p:blipFill rotWithShape="1">
            <a:blip r:embed="rId4">
              <a:alphaModFix/>
              <a:extLst>
                <a:ext uri="{28A0092B-C50C-407E-A947-70E740481C1C}">
                  <a14:useLocalDpi xmlns:a14="http://schemas.microsoft.com/office/drawing/2010/main"/>
                </a:ext>
              </a:extLst>
            </a:blip>
            <a:srcRect/>
            <a:stretch/>
          </p:blipFill>
          <p:spPr>
            <a:xfrm>
              <a:off x="5004433" y="1185070"/>
              <a:ext cx="2158467" cy="2508000"/>
            </a:xfrm>
            <a:prstGeom prst="rect">
              <a:avLst/>
            </a:prstGeom>
            <a:noFill/>
            <a:ln>
              <a:noFill/>
            </a:ln>
          </p:spPr>
        </p:pic>
        <p:sp>
          <p:nvSpPr>
            <p:cNvPr id="248" name="Google Shape;248;p37"/>
            <p:cNvSpPr txBox="1"/>
            <p:nvPr/>
          </p:nvSpPr>
          <p:spPr>
            <a:xfrm>
              <a:off x="4118667" y="4189923"/>
              <a:ext cx="3930000" cy="2486400"/>
            </a:xfrm>
            <a:prstGeom prst="rect">
              <a:avLst/>
            </a:prstGeom>
            <a:noFill/>
            <a:ln>
              <a:noFill/>
            </a:ln>
          </p:spPr>
          <p:txBody>
            <a:bodyPr spcFirstLastPara="1" wrap="square" lIns="91433" tIns="45700" rIns="91433" bIns="45700" anchor="t" anchorCtr="0">
              <a:noAutofit/>
            </a:bodyPr>
            <a:lstStyle/>
            <a:p>
              <a:pPr algn="ctr">
                <a:lnSpc>
                  <a:spcPct val="90000"/>
                </a:lnSpc>
                <a:buClr>
                  <a:schemeClr val="dk1"/>
                </a:buClr>
                <a:buSzPts val="3300"/>
              </a:pPr>
              <a:r>
                <a:rPr lang="en" sz="3600" b="1" dirty="0" err="1">
                  <a:latin typeface="Tw Cen MT" panose="020B0602020104020603" pitchFamily="34" charset="77"/>
                  <a:ea typeface="Raleway"/>
                  <a:cs typeface="Raleway"/>
                  <a:sym typeface="Raleway"/>
                </a:rPr>
                <a:t>RStudio</a:t>
              </a:r>
              <a:endParaRPr sz="3600" b="1" dirty="0">
                <a:latin typeface="Tw Cen MT" panose="020B0602020104020603" pitchFamily="34" charset="77"/>
                <a:ea typeface="Raleway"/>
                <a:cs typeface="Raleway"/>
                <a:sym typeface="Raleway"/>
              </a:endParaRPr>
            </a:p>
            <a:p>
              <a:pPr algn="ctr">
                <a:lnSpc>
                  <a:spcPct val="90000"/>
                </a:lnSpc>
                <a:buClr>
                  <a:schemeClr val="dk1"/>
                </a:buClr>
                <a:buSzPts val="3300"/>
              </a:pPr>
              <a:endParaRPr lang="en-US"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US" sz="3200" dirty="0">
                  <a:latin typeface="Tw Cen MT" panose="020B0602020104020603" pitchFamily="34" charset="77"/>
                  <a:ea typeface="Raleway"/>
                  <a:cs typeface="Raleway"/>
                  <a:sym typeface="Raleway"/>
                </a:rPr>
                <a:t>Interactive development environment (IDE)</a:t>
              </a:r>
              <a:endParaRPr sz="4400" b="1" dirty="0">
                <a:latin typeface="Tw Cen MT" panose="020B0602020104020603" pitchFamily="34" charset="77"/>
                <a:ea typeface="Raleway"/>
                <a:cs typeface="Raleway"/>
                <a:sym typeface="Raleway"/>
              </a:endParaRPr>
            </a:p>
          </p:txBody>
        </p:sp>
      </p:grpSp>
      <p:grpSp>
        <p:nvGrpSpPr>
          <p:cNvPr id="4" name="Group 3">
            <a:extLst>
              <a:ext uri="{FF2B5EF4-FFF2-40B4-BE49-F238E27FC236}">
                <a16:creationId xmlns:a16="http://schemas.microsoft.com/office/drawing/2014/main" id="{491333B0-BEFD-D94A-A0DF-4F0900CB372A}"/>
              </a:ext>
            </a:extLst>
          </p:cNvPr>
          <p:cNvGrpSpPr/>
          <p:nvPr/>
        </p:nvGrpSpPr>
        <p:grpSpPr>
          <a:xfrm>
            <a:off x="7860000" y="1221165"/>
            <a:ext cx="4143333" cy="5299253"/>
            <a:chOff x="7860000" y="1221165"/>
            <a:chExt cx="4143333" cy="5299253"/>
          </a:xfrm>
        </p:grpSpPr>
        <p:pic>
          <p:nvPicPr>
            <p:cNvPr id="246" name="Google Shape;246;p37"/>
            <p:cNvPicPr preferRelativeResize="0"/>
            <p:nvPr/>
          </p:nvPicPr>
          <p:blipFill rotWithShape="1">
            <a:blip r:embed="rId5">
              <a:alphaModFix/>
            </a:blip>
            <a:srcRect/>
            <a:stretch/>
          </p:blipFill>
          <p:spPr>
            <a:xfrm>
              <a:off x="8911858" y="1221165"/>
              <a:ext cx="2205435" cy="2486285"/>
            </a:xfrm>
            <a:prstGeom prst="rect">
              <a:avLst/>
            </a:prstGeom>
            <a:noFill/>
            <a:ln>
              <a:noFill/>
            </a:ln>
          </p:spPr>
        </p:pic>
        <p:sp>
          <p:nvSpPr>
            <p:cNvPr id="249" name="Google Shape;249;p37"/>
            <p:cNvSpPr txBox="1"/>
            <p:nvPr/>
          </p:nvSpPr>
          <p:spPr>
            <a:xfrm>
              <a:off x="7860000" y="4226018"/>
              <a:ext cx="4143333" cy="2294400"/>
            </a:xfrm>
            <a:prstGeom prst="rect">
              <a:avLst/>
            </a:prstGeom>
            <a:noFill/>
            <a:ln>
              <a:noFill/>
            </a:ln>
          </p:spPr>
          <p:txBody>
            <a:bodyPr spcFirstLastPara="1" wrap="square" lIns="91433" tIns="45700" rIns="91433" bIns="45700" anchor="t" anchorCtr="0">
              <a:noAutofit/>
            </a:bodyPr>
            <a:lstStyle/>
            <a:p>
              <a:pPr algn="ctr">
                <a:lnSpc>
                  <a:spcPct val="90000"/>
                </a:lnSpc>
                <a:buClr>
                  <a:schemeClr val="dk1"/>
                </a:buClr>
                <a:buSzPts val="3300"/>
              </a:pPr>
              <a:r>
                <a:rPr lang="en" sz="3600" b="1" dirty="0">
                  <a:latin typeface="Tw Cen MT" panose="020B0602020104020603" pitchFamily="34" charset="77"/>
                  <a:ea typeface="Raleway"/>
                  <a:cs typeface="Raleway"/>
                  <a:sym typeface="Raleway"/>
                </a:rPr>
                <a:t>R Markdown</a:t>
              </a:r>
              <a:endParaRPr sz="3600" b="1" dirty="0">
                <a:latin typeface="Tw Cen MT" panose="020B0602020104020603" pitchFamily="34" charset="77"/>
                <a:ea typeface="Raleway"/>
                <a:cs typeface="Raleway"/>
                <a:sym typeface="Raleway"/>
              </a:endParaRPr>
            </a:p>
            <a:p>
              <a:pPr algn="ctr">
                <a:lnSpc>
                  <a:spcPct val="90000"/>
                </a:lnSpc>
                <a:buClr>
                  <a:schemeClr val="dk1"/>
                </a:buClr>
                <a:buSzPts val="3300"/>
              </a:pPr>
              <a:endParaRPr lang="en"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 sz="3200" dirty="0">
                  <a:latin typeface="Tw Cen MT" panose="020B0602020104020603" pitchFamily="34" charset="77"/>
                  <a:ea typeface="Raleway"/>
                  <a:cs typeface="Raleway"/>
                  <a:sym typeface="Raleway"/>
                </a:rPr>
                <a:t>Computational document format</a:t>
              </a:r>
              <a:endParaRPr sz="3200" dirty="0">
                <a:latin typeface="Tw Cen MT" panose="020B0602020104020603" pitchFamily="34" charset="77"/>
                <a:ea typeface="Raleway"/>
                <a:cs typeface="Raleway"/>
                <a:sym typeface="Raleway"/>
              </a:endParaRPr>
            </a:p>
          </p:txBody>
        </p:sp>
      </p:grpSp>
      <p:grpSp>
        <p:nvGrpSpPr>
          <p:cNvPr id="8" name="Group 7">
            <a:extLst>
              <a:ext uri="{FF2B5EF4-FFF2-40B4-BE49-F238E27FC236}">
                <a16:creationId xmlns:a16="http://schemas.microsoft.com/office/drawing/2014/main" id="{939853B4-F433-6DCE-BE0C-28999DB97250}"/>
              </a:ext>
            </a:extLst>
          </p:cNvPr>
          <p:cNvGrpSpPr/>
          <p:nvPr/>
        </p:nvGrpSpPr>
        <p:grpSpPr>
          <a:xfrm>
            <a:off x="7942908" y="977966"/>
            <a:ext cx="4143333" cy="5542452"/>
            <a:chOff x="7860000" y="987376"/>
            <a:chExt cx="4143333" cy="5542452"/>
          </a:xfrm>
        </p:grpSpPr>
        <p:pic>
          <p:nvPicPr>
            <p:cNvPr id="6" name="Picture 5">
              <a:extLst>
                <a:ext uri="{FF2B5EF4-FFF2-40B4-BE49-F238E27FC236}">
                  <a16:creationId xmlns:a16="http://schemas.microsoft.com/office/drawing/2014/main" id="{0A38D229-69B7-DD03-46A8-543EBB4B12FA}"/>
                </a:ext>
              </a:extLst>
            </p:cNvPr>
            <p:cNvPicPr>
              <a:picLocks noChangeAspect="1"/>
            </p:cNvPicPr>
            <p:nvPr/>
          </p:nvPicPr>
          <p:blipFill>
            <a:blip r:embed="rId6"/>
            <a:stretch>
              <a:fillRect/>
            </a:stretch>
          </p:blipFill>
          <p:spPr>
            <a:xfrm>
              <a:off x="8675599" y="987376"/>
              <a:ext cx="2677952" cy="2953862"/>
            </a:xfrm>
            <a:prstGeom prst="rect">
              <a:avLst/>
            </a:prstGeom>
          </p:spPr>
        </p:pic>
        <p:sp>
          <p:nvSpPr>
            <p:cNvPr id="7" name="Google Shape;249;p37">
              <a:extLst>
                <a:ext uri="{FF2B5EF4-FFF2-40B4-BE49-F238E27FC236}">
                  <a16:creationId xmlns:a16="http://schemas.microsoft.com/office/drawing/2014/main" id="{36213810-B365-ED65-EC08-184B7E1D9059}"/>
                </a:ext>
              </a:extLst>
            </p:cNvPr>
            <p:cNvSpPr txBox="1"/>
            <p:nvPr/>
          </p:nvSpPr>
          <p:spPr>
            <a:xfrm>
              <a:off x="7860000" y="4235428"/>
              <a:ext cx="4143333" cy="2294400"/>
            </a:xfrm>
            <a:prstGeom prst="rect">
              <a:avLst/>
            </a:prstGeom>
            <a:solidFill>
              <a:schemeClr val="bg1"/>
            </a:solidFill>
            <a:ln>
              <a:noFill/>
            </a:ln>
          </p:spPr>
          <p:txBody>
            <a:bodyPr spcFirstLastPara="1" wrap="square" lIns="91433" tIns="45700" rIns="91433" bIns="45700" anchor="t" anchorCtr="0">
              <a:noAutofit/>
            </a:bodyPr>
            <a:lstStyle/>
            <a:p>
              <a:pPr algn="ctr">
                <a:lnSpc>
                  <a:spcPct val="90000"/>
                </a:lnSpc>
                <a:buClr>
                  <a:schemeClr val="dk1"/>
                </a:buClr>
                <a:buSzPts val="3300"/>
              </a:pPr>
              <a:r>
                <a:rPr lang="en-US" sz="3600" b="1" dirty="0">
                  <a:latin typeface="Tw Cen MT" panose="020B0602020104020603" pitchFamily="34" charset="77"/>
                  <a:ea typeface="Raleway"/>
                  <a:cs typeface="Raleway"/>
                  <a:sym typeface="Raleway"/>
                </a:rPr>
                <a:t>Quarto</a:t>
              </a:r>
              <a:endParaRPr sz="3600" b="1" dirty="0">
                <a:latin typeface="Tw Cen MT" panose="020B0602020104020603" pitchFamily="34" charset="77"/>
                <a:ea typeface="Raleway"/>
                <a:cs typeface="Raleway"/>
                <a:sym typeface="Raleway"/>
              </a:endParaRPr>
            </a:p>
            <a:p>
              <a:pPr algn="ctr">
                <a:lnSpc>
                  <a:spcPct val="90000"/>
                </a:lnSpc>
                <a:buClr>
                  <a:schemeClr val="dk1"/>
                </a:buClr>
                <a:buSzPts val="3300"/>
              </a:pPr>
              <a:endParaRPr lang="en"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 sz="3200" dirty="0">
                  <a:latin typeface="Tw Cen MT" panose="020B0602020104020603" pitchFamily="34" charset="77"/>
                  <a:ea typeface="Raleway"/>
                  <a:cs typeface="Raleway"/>
                  <a:sym typeface="Raleway"/>
                </a:rPr>
                <a:t>Computational document format</a:t>
              </a:r>
              <a:endParaRPr sz="3200" dirty="0">
                <a:latin typeface="Tw Cen MT" panose="020B0602020104020603" pitchFamily="34" charset="77"/>
                <a:ea typeface="Raleway"/>
                <a:cs typeface="Raleway"/>
                <a:sym typeface="Raleway"/>
              </a:endParaRPr>
            </a:p>
          </p:txBody>
        </p:sp>
      </p:grpSp>
    </p:spTree>
    <p:extLst>
      <p:ext uri="{BB962C8B-B14F-4D97-AF65-F5344CB8AC3E}">
        <p14:creationId xmlns:p14="http://schemas.microsoft.com/office/powerpoint/2010/main" val="73070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B7DF-BC79-FA18-4601-19FAA7721BD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7F4A583-372D-E5C9-E76B-7EBB8B840A15}"/>
              </a:ext>
            </a:extLst>
          </p:cNvPr>
          <p:cNvPicPr>
            <a:picLocks noChangeAspect="1"/>
          </p:cNvPicPr>
          <p:nvPr/>
        </p:nvPicPr>
        <p:blipFill>
          <a:blip r:embed="rId3"/>
          <a:stretch>
            <a:fillRect/>
          </a:stretch>
        </p:blipFill>
        <p:spPr>
          <a:xfrm>
            <a:off x="360796" y="0"/>
            <a:ext cx="11048533" cy="6858000"/>
          </a:xfrm>
          <a:prstGeom prst="rect">
            <a:avLst/>
          </a:prstGeom>
        </p:spPr>
      </p:pic>
      <p:grpSp>
        <p:nvGrpSpPr>
          <p:cNvPr id="14" name="Group 13">
            <a:extLst>
              <a:ext uri="{FF2B5EF4-FFF2-40B4-BE49-F238E27FC236}">
                <a16:creationId xmlns:a16="http://schemas.microsoft.com/office/drawing/2014/main" id="{6F625408-BE76-6F89-F7F8-D260A18D3CF5}"/>
              </a:ext>
            </a:extLst>
          </p:cNvPr>
          <p:cNvGrpSpPr/>
          <p:nvPr/>
        </p:nvGrpSpPr>
        <p:grpSpPr>
          <a:xfrm>
            <a:off x="360795" y="4182035"/>
            <a:ext cx="6458990" cy="2675964"/>
            <a:chOff x="360795" y="4182035"/>
            <a:chExt cx="6458990" cy="2675964"/>
          </a:xfrm>
        </p:grpSpPr>
        <p:sp>
          <p:nvSpPr>
            <p:cNvPr id="5" name="Rectangle 4">
              <a:extLst>
                <a:ext uri="{FF2B5EF4-FFF2-40B4-BE49-F238E27FC236}">
                  <a16:creationId xmlns:a16="http://schemas.microsoft.com/office/drawing/2014/main" id="{1DAEF7DF-24C1-C447-DA3D-A252B393C78C}"/>
                </a:ext>
              </a:extLst>
            </p:cNvPr>
            <p:cNvSpPr/>
            <p:nvPr/>
          </p:nvSpPr>
          <p:spPr>
            <a:xfrm>
              <a:off x="360795" y="4182035"/>
              <a:ext cx="6458990" cy="2675964"/>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72F48D18-513A-2E9C-DFAF-4B541A70FD9D}"/>
                </a:ext>
              </a:extLst>
            </p:cNvPr>
            <p:cNvSpPr txBox="1"/>
            <p:nvPr/>
          </p:nvSpPr>
          <p:spPr>
            <a:xfrm>
              <a:off x="2612142" y="6212264"/>
              <a:ext cx="1952614" cy="584775"/>
            </a:xfrm>
            <a:prstGeom prst="rect">
              <a:avLst/>
            </a:prstGeom>
            <a:noFill/>
          </p:spPr>
          <p:txBody>
            <a:bodyPr wrap="square" rtlCol="0">
              <a:spAutoFit/>
            </a:bodyPr>
            <a:lstStyle/>
            <a:p>
              <a:pPr algn="ctr"/>
              <a:r>
                <a:rPr lang="en-US" sz="3200" dirty="0">
                  <a:solidFill>
                    <a:schemeClr val="accent6"/>
                  </a:solidFill>
                </a:rPr>
                <a:t>CONSOLE</a:t>
              </a:r>
            </a:p>
          </p:txBody>
        </p:sp>
      </p:grpSp>
      <p:grpSp>
        <p:nvGrpSpPr>
          <p:cNvPr id="15" name="Group 14">
            <a:extLst>
              <a:ext uri="{FF2B5EF4-FFF2-40B4-BE49-F238E27FC236}">
                <a16:creationId xmlns:a16="http://schemas.microsoft.com/office/drawing/2014/main" id="{A9D09FDF-556E-362C-43A8-C6AFE37E3ABB}"/>
              </a:ext>
            </a:extLst>
          </p:cNvPr>
          <p:cNvGrpSpPr/>
          <p:nvPr/>
        </p:nvGrpSpPr>
        <p:grpSpPr>
          <a:xfrm>
            <a:off x="6816102" y="387458"/>
            <a:ext cx="4593228" cy="2448216"/>
            <a:chOff x="6816102" y="387458"/>
            <a:chExt cx="4593228" cy="2448216"/>
          </a:xfrm>
        </p:grpSpPr>
        <p:sp>
          <p:nvSpPr>
            <p:cNvPr id="10" name="Rectangle 9">
              <a:extLst>
                <a:ext uri="{FF2B5EF4-FFF2-40B4-BE49-F238E27FC236}">
                  <a16:creationId xmlns:a16="http://schemas.microsoft.com/office/drawing/2014/main" id="{0D717587-3A8D-7CF1-D8FC-776363A41AFD}"/>
                </a:ext>
              </a:extLst>
            </p:cNvPr>
            <p:cNvSpPr/>
            <p:nvPr/>
          </p:nvSpPr>
          <p:spPr>
            <a:xfrm>
              <a:off x="6816102" y="387458"/>
              <a:ext cx="4593228" cy="241773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249633AD-737D-ADB4-E40E-19F9AB147C79}"/>
                </a:ext>
              </a:extLst>
            </p:cNvPr>
            <p:cNvSpPr txBox="1"/>
            <p:nvPr/>
          </p:nvSpPr>
          <p:spPr>
            <a:xfrm>
              <a:off x="7650434" y="2250899"/>
              <a:ext cx="3001604" cy="584775"/>
            </a:xfrm>
            <a:prstGeom prst="rect">
              <a:avLst/>
            </a:prstGeom>
            <a:noFill/>
          </p:spPr>
          <p:txBody>
            <a:bodyPr wrap="square" rtlCol="0">
              <a:spAutoFit/>
            </a:bodyPr>
            <a:lstStyle/>
            <a:p>
              <a:pPr algn="ctr"/>
              <a:r>
                <a:rPr lang="en-US" sz="3200" dirty="0">
                  <a:solidFill>
                    <a:schemeClr val="accent6"/>
                  </a:solidFill>
                </a:rPr>
                <a:t>ENVIRONMENT</a:t>
              </a:r>
            </a:p>
          </p:txBody>
        </p:sp>
      </p:grpSp>
      <p:grpSp>
        <p:nvGrpSpPr>
          <p:cNvPr id="16" name="Group 15">
            <a:extLst>
              <a:ext uri="{FF2B5EF4-FFF2-40B4-BE49-F238E27FC236}">
                <a16:creationId xmlns:a16="http://schemas.microsoft.com/office/drawing/2014/main" id="{A355AE3E-4944-2448-FE61-3CD0B24450E4}"/>
              </a:ext>
            </a:extLst>
          </p:cNvPr>
          <p:cNvGrpSpPr/>
          <p:nvPr/>
        </p:nvGrpSpPr>
        <p:grpSpPr>
          <a:xfrm>
            <a:off x="6816102" y="2805194"/>
            <a:ext cx="4593227" cy="4052806"/>
            <a:chOff x="6816102" y="2805194"/>
            <a:chExt cx="4593227" cy="4052806"/>
          </a:xfrm>
        </p:grpSpPr>
        <p:sp>
          <p:nvSpPr>
            <p:cNvPr id="12" name="Rectangle 11">
              <a:extLst>
                <a:ext uri="{FF2B5EF4-FFF2-40B4-BE49-F238E27FC236}">
                  <a16:creationId xmlns:a16="http://schemas.microsoft.com/office/drawing/2014/main" id="{BCD78022-56EF-F97E-2487-80F44CD383C6}"/>
                </a:ext>
              </a:extLst>
            </p:cNvPr>
            <p:cNvSpPr/>
            <p:nvPr/>
          </p:nvSpPr>
          <p:spPr>
            <a:xfrm>
              <a:off x="6816102" y="2805194"/>
              <a:ext cx="4593227" cy="405280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0BE948FB-E27A-F43E-AD02-0FFBFAA45E47}"/>
                </a:ext>
              </a:extLst>
            </p:cNvPr>
            <p:cNvSpPr txBox="1"/>
            <p:nvPr/>
          </p:nvSpPr>
          <p:spPr>
            <a:xfrm>
              <a:off x="8154424" y="6212265"/>
              <a:ext cx="1920266" cy="584775"/>
            </a:xfrm>
            <a:prstGeom prst="rect">
              <a:avLst/>
            </a:prstGeom>
            <a:noFill/>
          </p:spPr>
          <p:txBody>
            <a:bodyPr wrap="square" rtlCol="0">
              <a:spAutoFit/>
            </a:bodyPr>
            <a:lstStyle/>
            <a:p>
              <a:pPr algn="ctr"/>
              <a:r>
                <a:rPr lang="en-US" sz="3200" dirty="0">
                  <a:solidFill>
                    <a:schemeClr val="accent6"/>
                  </a:solidFill>
                </a:rPr>
                <a:t>FILES</a:t>
              </a:r>
            </a:p>
          </p:txBody>
        </p:sp>
      </p:grpSp>
      <p:sp>
        <p:nvSpPr>
          <p:cNvPr id="7" name="Rectangle 6">
            <a:extLst>
              <a:ext uri="{FF2B5EF4-FFF2-40B4-BE49-F238E27FC236}">
                <a16:creationId xmlns:a16="http://schemas.microsoft.com/office/drawing/2014/main" id="{87F8D62E-79F4-A207-C12B-A2E85396E768}"/>
              </a:ext>
            </a:extLst>
          </p:cNvPr>
          <p:cNvSpPr/>
          <p:nvPr/>
        </p:nvSpPr>
        <p:spPr>
          <a:xfrm>
            <a:off x="357111" y="387458"/>
            <a:ext cx="6458990" cy="379457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20137942-0B43-2347-E441-DC3E779AD8C8}"/>
              </a:ext>
            </a:extLst>
          </p:cNvPr>
          <p:cNvSpPr txBox="1"/>
          <p:nvPr/>
        </p:nvSpPr>
        <p:spPr>
          <a:xfrm>
            <a:off x="2610299" y="3335352"/>
            <a:ext cx="1952614" cy="584775"/>
          </a:xfrm>
          <a:prstGeom prst="rect">
            <a:avLst/>
          </a:prstGeom>
          <a:noFill/>
        </p:spPr>
        <p:txBody>
          <a:bodyPr wrap="square" rtlCol="0">
            <a:spAutoFit/>
          </a:bodyPr>
          <a:lstStyle/>
          <a:p>
            <a:pPr algn="ctr"/>
            <a:r>
              <a:rPr lang="en-US" sz="3200" dirty="0">
                <a:solidFill>
                  <a:schemeClr val="accent6"/>
                </a:solidFill>
              </a:rPr>
              <a:t>SOURCE</a:t>
            </a:r>
          </a:p>
        </p:txBody>
      </p:sp>
    </p:spTree>
    <p:extLst>
      <p:ext uri="{BB962C8B-B14F-4D97-AF65-F5344CB8AC3E}">
        <p14:creationId xmlns:p14="http://schemas.microsoft.com/office/powerpoint/2010/main" val="2930711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Reproducible Data Analysis with Quarto</a:t>
            </a:r>
          </a:p>
        </p:txBody>
      </p:sp>
    </p:spTree>
    <p:extLst>
      <p:ext uri="{BB962C8B-B14F-4D97-AF65-F5344CB8AC3E}">
        <p14:creationId xmlns:p14="http://schemas.microsoft.com/office/powerpoint/2010/main" val="3074487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74" name="Google Shape;274;p40"/>
          <p:cNvPicPr preferRelativeResize="0"/>
          <p:nvPr/>
        </p:nvPicPr>
        <p:blipFill rotWithShape="1">
          <a:blip r:embed="rId3">
            <a:alphaModFix/>
          </a:blip>
          <a:srcRect/>
          <a:stretch/>
        </p:blipFill>
        <p:spPr>
          <a:xfrm>
            <a:off x="4572524" y="1711516"/>
            <a:ext cx="3046952" cy="3434968"/>
          </a:xfrm>
          <a:prstGeom prst="rect">
            <a:avLst/>
          </a:prstGeom>
          <a:noFill/>
          <a:ln>
            <a:noFill/>
          </a:ln>
        </p:spPr>
      </p:pic>
      <p:pic>
        <p:nvPicPr>
          <p:cNvPr id="2" name="Picture 1">
            <a:extLst>
              <a:ext uri="{FF2B5EF4-FFF2-40B4-BE49-F238E27FC236}">
                <a16:creationId xmlns:a16="http://schemas.microsoft.com/office/drawing/2014/main" id="{F81DFE49-F042-DDDD-19E0-B7A8D3C36D66}"/>
              </a:ext>
            </a:extLst>
          </p:cNvPr>
          <p:cNvPicPr>
            <a:picLocks noChangeAspect="1"/>
          </p:cNvPicPr>
          <p:nvPr/>
        </p:nvPicPr>
        <p:blipFill>
          <a:blip r:embed="rId4"/>
          <a:stretch>
            <a:fillRect/>
          </a:stretch>
        </p:blipFill>
        <p:spPr>
          <a:xfrm>
            <a:off x="4471514" y="1711515"/>
            <a:ext cx="3413701" cy="3765415"/>
          </a:xfrm>
          <a:prstGeom prst="rect">
            <a:avLst/>
          </a:prstGeom>
        </p:spPr>
      </p:pic>
    </p:spTree>
    <p:extLst>
      <p:ext uri="{BB962C8B-B14F-4D97-AF65-F5344CB8AC3E}">
        <p14:creationId xmlns:p14="http://schemas.microsoft.com/office/powerpoint/2010/main" val="1686179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10">
            <a:extLst>
              <a:ext uri="{FF2B5EF4-FFF2-40B4-BE49-F238E27FC236}">
                <a16:creationId xmlns:a16="http://schemas.microsoft.com/office/drawing/2014/main" id="{3836DDFE-46CA-A949-914E-CEE3C641356C}"/>
              </a:ext>
            </a:extLst>
          </p:cNvPr>
          <p:cNvSpPr txBox="1"/>
          <p:nvPr/>
        </p:nvSpPr>
        <p:spPr>
          <a:xfrm>
            <a:off x="-1" y="682728"/>
            <a:ext cx="12192001" cy="689291"/>
          </a:xfrm>
          <a:prstGeom prst="rect">
            <a:avLst/>
          </a:prstGeom>
        </p:spPr>
        <p:txBody>
          <a:bodyPr vert="horz" wrap="square" lIns="0" tIns="12065" rIns="0" bIns="0" rtlCol="0">
            <a:spAutoFit/>
          </a:bodyPr>
          <a:lstStyle/>
          <a:p>
            <a:pPr marL="12700" algn="ctr">
              <a:lnSpc>
                <a:spcPct val="100000"/>
              </a:lnSpc>
              <a:spcBef>
                <a:spcPts val="95"/>
              </a:spcBef>
            </a:pPr>
            <a:r>
              <a:rPr lang="en-US" sz="4400" dirty="0">
                <a:latin typeface="Tw Cen MT" panose="020B0602020104020603" pitchFamily="34" charset="77"/>
                <a:cs typeface="Helvetica Neue"/>
              </a:rPr>
              <a:t>Anatomy of a Quarto Document</a:t>
            </a:r>
            <a:endParaRPr sz="4400" dirty="0">
              <a:latin typeface="Tw Cen MT" panose="020B0602020104020603" pitchFamily="34" charset="77"/>
              <a:cs typeface="Helvetica Neue"/>
            </a:endParaRPr>
          </a:p>
        </p:txBody>
      </p:sp>
      <p:grpSp>
        <p:nvGrpSpPr>
          <p:cNvPr id="6" name="Group 5">
            <a:extLst>
              <a:ext uri="{FF2B5EF4-FFF2-40B4-BE49-F238E27FC236}">
                <a16:creationId xmlns:a16="http://schemas.microsoft.com/office/drawing/2014/main" id="{1FFF8D3B-1F72-5B4D-AB39-4D8A3A824895}"/>
              </a:ext>
            </a:extLst>
          </p:cNvPr>
          <p:cNvGrpSpPr/>
          <p:nvPr/>
        </p:nvGrpSpPr>
        <p:grpSpPr>
          <a:xfrm>
            <a:off x="1545771" y="1640046"/>
            <a:ext cx="3658865" cy="1376686"/>
            <a:chOff x="1831585" y="1574731"/>
            <a:chExt cx="2805176" cy="1376686"/>
          </a:xfrm>
        </p:grpSpPr>
        <p:sp>
          <p:nvSpPr>
            <p:cNvPr id="10" name="TextBox 9">
              <a:extLst>
                <a:ext uri="{FF2B5EF4-FFF2-40B4-BE49-F238E27FC236}">
                  <a16:creationId xmlns:a16="http://schemas.microsoft.com/office/drawing/2014/main" id="{5FC81D85-E2DC-5C4A-A4E4-BCC7012B23F2}"/>
                </a:ext>
              </a:extLst>
            </p:cNvPr>
            <p:cNvSpPr txBox="1"/>
            <p:nvPr/>
          </p:nvSpPr>
          <p:spPr>
            <a:xfrm>
              <a:off x="2063980" y="1874199"/>
              <a:ext cx="1955868" cy="1077218"/>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Header</a:t>
              </a:r>
            </a:p>
            <a:p>
              <a:pPr algn="ctr"/>
              <a:endParaRPr lang="en-US" dirty="0">
                <a:solidFill>
                  <a:schemeClr val="bg1"/>
                </a:solidFill>
              </a:endParaRPr>
            </a:p>
          </p:txBody>
        </p:sp>
        <p:sp>
          <p:nvSpPr>
            <p:cNvPr id="11" name="Right Brace 10">
              <a:extLst>
                <a:ext uri="{FF2B5EF4-FFF2-40B4-BE49-F238E27FC236}">
                  <a16:creationId xmlns:a16="http://schemas.microsoft.com/office/drawing/2014/main" id="{F2164B6D-8D90-A44A-8355-7DACAB3D0EBD}"/>
                </a:ext>
              </a:extLst>
            </p:cNvPr>
            <p:cNvSpPr/>
            <p:nvPr/>
          </p:nvSpPr>
          <p:spPr>
            <a:xfrm flipH="1">
              <a:off x="4445085" y="1648738"/>
              <a:ext cx="191676" cy="1077218"/>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2" name="Group 11">
              <a:extLst>
                <a:ext uri="{FF2B5EF4-FFF2-40B4-BE49-F238E27FC236}">
                  <a16:creationId xmlns:a16="http://schemas.microsoft.com/office/drawing/2014/main" id="{7C1F2ABC-869B-AE4C-9A63-BF5B81BB6635}"/>
                </a:ext>
              </a:extLst>
            </p:cNvPr>
            <p:cNvGrpSpPr/>
            <p:nvPr/>
          </p:nvGrpSpPr>
          <p:grpSpPr>
            <a:xfrm>
              <a:off x="1831585" y="1574731"/>
              <a:ext cx="1955868" cy="1077218"/>
              <a:chOff x="5011308" y="441228"/>
              <a:chExt cx="2365216" cy="2011084"/>
            </a:xfrm>
          </p:grpSpPr>
          <p:sp>
            <p:nvSpPr>
              <p:cNvPr id="13" name="Rounded Rectangular Callout 12">
                <a:extLst>
                  <a:ext uri="{FF2B5EF4-FFF2-40B4-BE49-F238E27FC236}">
                    <a16:creationId xmlns:a16="http://schemas.microsoft.com/office/drawing/2014/main" id="{9DC607BE-04AB-DF4D-A2AE-A606CC267DB6}"/>
                  </a:ext>
                </a:extLst>
              </p:cNvPr>
              <p:cNvSpPr/>
              <p:nvPr/>
            </p:nvSpPr>
            <p:spPr>
              <a:xfrm>
                <a:off x="5011308" y="828536"/>
                <a:ext cx="2365216" cy="1246648"/>
              </a:xfrm>
              <a:prstGeom prst="wedgeRoundRectCallout">
                <a:avLst>
                  <a:gd name="adj1" fmla="val 81879"/>
                  <a:gd name="adj2" fmla="val 1443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8E62CC5-44C1-5F48-8D89-606A2D43937D}"/>
                  </a:ext>
                </a:extLst>
              </p:cNvPr>
              <p:cNvSpPr txBox="1"/>
              <p:nvPr/>
            </p:nvSpPr>
            <p:spPr>
              <a:xfrm>
                <a:off x="5011308" y="441228"/>
                <a:ext cx="2365216" cy="2011084"/>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Header</a:t>
                </a:r>
              </a:p>
              <a:p>
                <a:pPr algn="ctr"/>
                <a:endParaRPr lang="en-US" dirty="0">
                  <a:solidFill>
                    <a:schemeClr val="bg1"/>
                  </a:solidFill>
                </a:endParaRPr>
              </a:p>
            </p:txBody>
          </p:sp>
        </p:grpSp>
      </p:grpSp>
      <p:grpSp>
        <p:nvGrpSpPr>
          <p:cNvPr id="9" name="Group 8">
            <a:extLst>
              <a:ext uri="{FF2B5EF4-FFF2-40B4-BE49-F238E27FC236}">
                <a16:creationId xmlns:a16="http://schemas.microsoft.com/office/drawing/2014/main" id="{04569BE5-5149-DA46-B56B-F0FF53B7E55C}"/>
              </a:ext>
            </a:extLst>
          </p:cNvPr>
          <p:cNvGrpSpPr/>
          <p:nvPr/>
        </p:nvGrpSpPr>
        <p:grpSpPr>
          <a:xfrm>
            <a:off x="1545771" y="3256868"/>
            <a:ext cx="3658865" cy="1775630"/>
            <a:chOff x="1831585" y="2905227"/>
            <a:chExt cx="2806994" cy="1775630"/>
          </a:xfrm>
        </p:grpSpPr>
        <p:sp>
          <p:nvSpPr>
            <p:cNvPr id="23" name="Rounded Rectangular Callout 22">
              <a:extLst>
                <a:ext uri="{FF2B5EF4-FFF2-40B4-BE49-F238E27FC236}">
                  <a16:creationId xmlns:a16="http://schemas.microsoft.com/office/drawing/2014/main" id="{C57553F0-26F7-F74A-A27D-C1975C9C80B1}"/>
                </a:ext>
              </a:extLst>
            </p:cNvPr>
            <p:cNvSpPr/>
            <p:nvPr/>
          </p:nvSpPr>
          <p:spPr>
            <a:xfrm>
              <a:off x="1831585" y="3065590"/>
              <a:ext cx="1955868" cy="1077218"/>
            </a:xfrm>
            <a:prstGeom prst="wedgeRoundRectCallout">
              <a:avLst>
                <a:gd name="adj1" fmla="val 81879"/>
                <a:gd name="adj2" fmla="val 1443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9A11D78-1618-794B-86FA-A08852E74C0B}"/>
                </a:ext>
              </a:extLst>
            </p:cNvPr>
            <p:cNvSpPr txBox="1"/>
            <p:nvPr/>
          </p:nvSpPr>
          <p:spPr>
            <a:xfrm>
              <a:off x="1831585" y="2911701"/>
              <a:ext cx="1955868" cy="1384995"/>
            </a:xfrm>
            <a:prstGeom prst="rect">
              <a:avLst/>
            </a:prstGeom>
            <a:noFill/>
          </p:spPr>
          <p:txBody>
            <a:bodyPr wrap="square" rtlCol="0" anchor="ctr">
              <a:spAutoFit/>
            </a:bodyPr>
            <a:lstStyle/>
            <a:p>
              <a:pPr algn="ctr"/>
              <a:r>
                <a:rPr lang="en-US" sz="2800" dirty="0">
                  <a:solidFill>
                    <a:schemeClr val="bg1"/>
                  </a:solidFill>
                </a:rPr>
                <a:t>Text </a:t>
              </a:r>
              <a:br>
                <a:rPr lang="en-US" sz="2800" dirty="0">
                  <a:solidFill>
                    <a:schemeClr val="bg1"/>
                  </a:solidFill>
                </a:rPr>
              </a:br>
              <a:r>
                <a:rPr lang="en-US" sz="2800" dirty="0">
                  <a:solidFill>
                    <a:schemeClr val="bg1"/>
                  </a:solidFill>
                </a:rPr>
                <a:t>(w/ formatting)</a:t>
              </a:r>
            </a:p>
          </p:txBody>
        </p:sp>
        <p:sp>
          <p:nvSpPr>
            <p:cNvPr id="25" name="Right Brace 24">
              <a:extLst>
                <a:ext uri="{FF2B5EF4-FFF2-40B4-BE49-F238E27FC236}">
                  <a16:creationId xmlns:a16="http://schemas.microsoft.com/office/drawing/2014/main" id="{378040DE-39BC-3C41-9BBB-74240462675E}"/>
                </a:ext>
              </a:extLst>
            </p:cNvPr>
            <p:cNvSpPr/>
            <p:nvPr/>
          </p:nvSpPr>
          <p:spPr>
            <a:xfrm flipH="1">
              <a:off x="4452876" y="2905227"/>
              <a:ext cx="185703" cy="177563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16CB7D87-19EE-8147-BA51-9097073C8C57}"/>
              </a:ext>
            </a:extLst>
          </p:cNvPr>
          <p:cNvGrpSpPr/>
          <p:nvPr/>
        </p:nvGrpSpPr>
        <p:grpSpPr>
          <a:xfrm>
            <a:off x="1545771" y="5182763"/>
            <a:ext cx="3658865" cy="1077218"/>
            <a:chOff x="1852003" y="4890053"/>
            <a:chExt cx="2786576" cy="1077218"/>
          </a:xfrm>
        </p:grpSpPr>
        <p:sp>
          <p:nvSpPr>
            <p:cNvPr id="26" name="Right Brace 25">
              <a:extLst>
                <a:ext uri="{FF2B5EF4-FFF2-40B4-BE49-F238E27FC236}">
                  <a16:creationId xmlns:a16="http://schemas.microsoft.com/office/drawing/2014/main" id="{95EA4009-48DE-E14C-B0FD-0D4137A9FB7E}"/>
                </a:ext>
              </a:extLst>
            </p:cNvPr>
            <p:cNvSpPr/>
            <p:nvPr/>
          </p:nvSpPr>
          <p:spPr>
            <a:xfrm flipH="1">
              <a:off x="4454227" y="5151766"/>
              <a:ext cx="184352" cy="74455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7" name="Group 26">
              <a:extLst>
                <a:ext uri="{FF2B5EF4-FFF2-40B4-BE49-F238E27FC236}">
                  <a16:creationId xmlns:a16="http://schemas.microsoft.com/office/drawing/2014/main" id="{CD4C646E-48A4-AD48-8ED9-6298ADD1CA94}"/>
                </a:ext>
              </a:extLst>
            </p:cNvPr>
            <p:cNvGrpSpPr/>
            <p:nvPr/>
          </p:nvGrpSpPr>
          <p:grpSpPr>
            <a:xfrm>
              <a:off x="1852003" y="4890053"/>
              <a:ext cx="1955869" cy="1077218"/>
              <a:chOff x="5011307" y="441228"/>
              <a:chExt cx="2365217" cy="2011084"/>
            </a:xfrm>
          </p:grpSpPr>
          <p:sp>
            <p:nvSpPr>
              <p:cNvPr id="28" name="Rounded Rectangular Callout 27">
                <a:extLst>
                  <a:ext uri="{FF2B5EF4-FFF2-40B4-BE49-F238E27FC236}">
                    <a16:creationId xmlns:a16="http://schemas.microsoft.com/office/drawing/2014/main" id="{F48091B5-18B3-2341-954B-4A908209EF5B}"/>
                  </a:ext>
                </a:extLst>
              </p:cNvPr>
              <p:cNvSpPr/>
              <p:nvPr/>
            </p:nvSpPr>
            <p:spPr>
              <a:xfrm>
                <a:off x="5011308" y="828536"/>
                <a:ext cx="2365216" cy="1246648"/>
              </a:xfrm>
              <a:prstGeom prst="wedgeRoundRectCallout">
                <a:avLst>
                  <a:gd name="adj1" fmla="val 81879"/>
                  <a:gd name="adj2" fmla="val 1443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20302D6B-6120-9F48-8E6E-8F695D894BB8}"/>
                  </a:ext>
                </a:extLst>
              </p:cNvPr>
              <p:cNvSpPr txBox="1"/>
              <p:nvPr/>
            </p:nvSpPr>
            <p:spPr>
              <a:xfrm>
                <a:off x="5011307" y="441228"/>
                <a:ext cx="2365216" cy="2011084"/>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Code chunk</a:t>
                </a:r>
              </a:p>
              <a:p>
                <a:pPr algn="ctr"/>
                <a:endParaRPr lang="en-US" dirty="0">
                  <a:solidFill>
                    <a:schemeClr val="bg1"/>
                  </a:solidFill>
                </a:endParaRPr>
              </a:p>
            </p:txBody>
          </p:sp>
        </p:grpSp>
      </p:grpSp>
      <p:pic>
        <p:nvPicPr>
          <p:cNvPr id="5" name="Picture 4">
            <a:extLst>
              <a:ext uri="{FF2B5EF4-FFF2-40B4-BE49-F238E27FC236}">
                <a16:creationId xmlns:a16="http://schemas.microsoft.com/office/drawing/2014/main" id="{43190A32-9492-C3C4-088C-2B3027813139}"/>
              </a:ext>
            </a:extLst>
          </p:cNvPr>
          <p:cNvPicPr>
            <a:picLocks noChangeAspect="1"/>
          </p:cNvPicPr>
          <p:nvPr/>
        </p:nvPicPr>
        <p:blipFill rotWithShape="1">
          <a:blip r:embed="rId3"/>
          <a:srcRect b="21171"/>
          <a:stretch/>
        </p:blipFill>
        <p:spPr>
          <a:xfrm>
            <a:off x="5267347" y="1535305"/>
            <a:ext cx="5829300" cy="4865496"/>
          </a:xfrm>
          <a:prstGeom prst="rect">
            <a:avLst/>
          </a:prstGeom>
        </p:spPr>
      </p:pic>
    </p:spTree>
    <p:extLst>
      <p:ext uri="{BB962C8B-B14F-4D97-AF65-F5344CB8AC3E}">
        <p14:creationId xmlns:p14="http://schemas.microsoft.com/office/powerpoint/2010/main" val="529671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D22DB5-10C6-4300-0695-54107F28519F}"/>
              </a:ext>
            </a:extLst>
          </p:cNvPr>
          <p:cNvPicPr>
            <a:picLocks noChangeAspect="1"/>
          </p:cNvPicPr>
          <p:nvPr/>
        </p:nvPicPr>
        <p:blipFill>
          <a:blip r:embed="rId3"/>
          <a:stretch>
            <a:fillRect/>
          </a:stretch>
        </p:blipFill>
        <p:spPr>
          <a:xfrm>
            <a:off x="445606" y="674601"/>
            <a:ext cx="5829300" cy="6172200"/>
          </a:xfrm>
          <a:prstGeom prst="rect">
            <a:avLst/>
          </a:prstGeom>
        </p:spPr>
      </p:pic>
      <p:sp>
        <p:nvSpPr>
          <p:cNvPr id="26" name="Rectangle 25">
            <a:extLst>
              <a:ext uri="{FF2B5EF4-FFF2-40B4-BE49-F238E27FC236}">
                <a16:creationId xmlns:a16="http://schemas.microsoft.com/office/drawing/2014/main" id="{EABEB7E5-2A1D-F14F-85AF-4BE4D9C133A8}"/>
              </a:ext>
            </a:extLst>
          </p:cNvPr>
          <p:cNvSpPr/>
          <p:nvPr/>
        </p:nvSpPr>
        <p:spPr>
          <a:xfrm>
            <a:off x="5239303" y="4290561"/>
            <a:ext cx="914400" cy="914400"/>
          </a:xfrm>
          <a:prstGeom prst="rect">
            <a:avLst/>
          </a:prstGeom>
          <a:noFill/>
          <a:ln w="635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FC11256-D53B-6D39-B9E5-F09E25ADA867}"/>
              </a:ext>
            </a:extLst>
          </p:cNvPr>
          <p:cNvPicPr>
            <a:picLocks noChangeAspect="1"/>
          </p:cNvPicPr>
          <p:nvPr/>
        </p:nvPicPr>
        <p:blipFill>
          <a:blip r:embed="rId4"/>
          <a:stretch>
            <a:fillRect/>
          </a:stretch>
        </p:blipFill>
        <p:spPr>
          <a:xfrm>
            <a:off x="5163656" y="173858"/>
            <a:ext cx="1308100" cy="381000"/>
          </a:xfrm>
          <a:prstGeom prst="rect">
            <a:avLst/>
          </a:prstGeom>
          <a:ln w="63500">
            <a:solidFill>
              <a:schemeClr val="accent2"/>
            </a:solidFill>
          </a:ln>
        </p:spPr>
      </p:pic>
      <p:pic>
        <p:nvPicPr>
          <p:cNvPr id="10" name="Picture 9">
            <a:extLst>
              <a:ext uri="{FF2B5EF4-FFF2-40B4-BE49-F238E27FC236}">
                <a16:creationId xmlns:a16="http://schemas.microsoft.com/office/drawing/2014/main" id="{B21928D6-8CCE-471E-B9CB-5A3F9E0D8F56}"/>
              </a:ext>
            </a:extLst>
          </p:cNvPr>
          <p:cNvPicPr>
            <a:picLocks noChangeAspect="1"/>
          </p:cNvPicPr>
          <p:nvPr/>
        </p:nvPicPr>
        <p:blipFill>
          <a:blip r:embed="rId5"/>
          <a:stretch>
            <a:fillRect/>
          </a:stretch>
        </p:blipFill>
        <p:spPr>
          <a:xfrm>
            <a:off x="6750050" y="554858"/>
            <a:ext cx="5292206" cy="6269228"/>
          </a:xfrm>
          <a:prstGeom prst="rect">
            <a:avLst/>
          </a:prstGeom>
        </p:spPr>
      </p:pic>
    </p:spTree>
    <p:extLst>
      <p:ext uri="{BB962C8B-B14F-4D97-AF65-F5344CB8AC3E}">
        <p14:creationId xmlns:p14="http://schemas.microsoft.com/office/powerpoint/2010/main" val="396551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CEB9A765-B3D9-6DC4-BC7D-38CFB5970DF1}"/>
              </a:ext>
            </a:extLst>
          </p:cNvPr>
          <p:cNvGrpSpPr/>
          <p:nvPr/>
        </p:nvGrpSpPr>
        <p:grpSpPr>
          <a:xfrm>
            <a:off x="1330779" y="143583"/>
            <a:ext cx="10861221" cy="1185332"/>
            <a:chOff x="1330779" y="143583"/>
            <a:chExt cx="10861221" cy="1185332"/>
          </a:xfrm>
        </p:grpSpPr>
        <p:pic>
          <p:nvPicPr>
            <p:cNvPr id="10" name="Picture 9">
              <a:extLst>
                <a:ext uri="{FF2B5EF4-FFF2-40B4-BE49-F238E27FC236}">
                  <a16:creationId xmlns:a16="http://schemas.microsoft.com/office/drawing/2014/main" id="{36FE2A93-95AE-D8D0-21B0-4C24D61733AA}"/>
                </a:ext>
              </a:extLst>
            </p:cNvPr>
            <p:cNvPicPr>
              <a:picLocks noChangeAspect="1"/>
            </p:cNvPicPr>
            <p:nvPr/>
          </p:nvPicPr>
          <p:blipFill rotWithShape="1">
            <a:blip r:embed="rId3"/>
            <a:srcRect b="76507"/>
            <a:stretch/>
          </p:blipFill>
          <p:spPr>
            <a:xfrm>
              <a:off x="1330779" y="143583"/>
              <a:ext cx="4765221" cy="1185332"/>
            </a:xfrm>
            <a:prstGeom prst="rect">
              <a:avLst/>
            </a:prstGeom>
          </p:spPr>
        </p:pic>
        <p:pic>
          <p:nvPicPr>
            <p:cNvPr id="13" name="Picture 12">
              <a:extLst>
                <a:ext uri="{FF2B5EF4-FFF2-40B4-BE49-F238E27FC236}">
                  <a16:creationId xmlns:a16="http://schemas.microsoft.com/office/drawing/2014/main" id="{2D3F8772-72D8-2B60-E5D0-C2D8023717D0}"/>
                </a:ext>
              </a:extLst>
            </p:cNvPr>
            <p:cNvPicPr>
              <a:picLocks noChangeAspect="1"/>
            </p:cNvPicPr>
            <p:nvPr/>
          </p:nvPicPr>
          <p:blipFill rotWithShape="1">
            <a:blip r:embed="rId4"/>
            <a:srcRect b="93749"/>
            <a:stretch/>
          </p:blipFill>
          <p:spPr>
            <a:xfrm>
              <a:off x="6899794" y="359873"/>
              <a:ext cx="5292206" cy="391885"/>
            </a:xfrm>
            <a:prstGeom prst="rect">
              <a:avLst/>
            </a:prstGeom>
          </p:spPr>
        </p:pic>
      </p:grpSp>
      <p:grpSp>
        <p:nvGrpSpPr>
          <p:cNvPr id="33" name="Group 32">
            <a:extLst>
              <a:ext uri="{FF2B5EF4-FFF2-40B4-BE49-F238E27FC236}">
                <a16:creationId xmlns:a16="http://schemas.microsoft.com/office/drawing/2014/main" id="{74FC8F87-968D-497B-2475-90EA122F858C}"/>
              </a:ext>
            </a:extLst>
          </p:cNvPr>
          <p:cNvGrpSpPr/>
          <p:nvPr/>
        </p:nvGrpSpPr>
        <p:grpSpPr>
          <a:xfrm>
            <a:off x="1330779" y="4378288"/>
            <a:ext cx="9729107" cy="2473121"/>
            <a:chOff x="1330779" y="4378288"/>
            <a:chExt cx="9729107" cy="2473121"/>
          </a:xfrm>
        </p:grpSpPr>
        <p:pic>
          <p:nvPicPr>
            <p:cNvPr id="16" name="Picture 15">
              <a:extLst>
                <a:ext uri="{FF2B5EF4-FFF2-40B4-BE49-F238E27FC236}">
                  <a16:creationId xmlns:a16="http://schemas.microsoft.com/office/drawing/2014/main" id="{4F591237-071A-8A97-B52A-2D1561DD13CB}"/>
                </a:ext>
              </a:extLst>
            </p:cNvPr>
            <p:cNvPicPr>
              <a:picLocks noChangeAspect="1"/>
            </p:cNvPicPr>
            <p:nvPr/>
          </p:nvPicPr>
          <p:blipFill rotWithShape="1">
            <a:blip r:embed="rId4"/>
            <a:srcRect t="46941"/>
            <a:stretch/>
          </p:blipFill>
          <p:spPr>
            <a:xfrm>
              <a:off x="7125169" y="4378288"/>
              <a:ext cx="3934717" cy="2473121"/>
            </a:xfrm>
            <a:prstGeom prst="rect">
              <a:avLst/>
            </a:prstGeom>
          </p:spPr>
        </p:pic>
        <p:pic>
          <p:nvPicPr>
            <p:cNvPr id="25" name="Picture 24">
              <a:extLst>
                <a:ext uri="{FF2B5EF4-FFF2-40B4-BE49-F238E27FC236}">
                  <a16:creationId xmlns:a16="http://schemas.microsoft.com/office/drawing/2014/main" id="{F7FB82B2-7919-339A-3670-924151526D3E}"/>
                </a:ext>
              </a:extLst>
            </p:cNvPr>
            <p:cNvPicPr>
              <a:picLocks noChangeAspect="1"/>
            </p:cNvPicPr>
            <p:nvPr/>
          </p:nvPicPr>
          <p:blipFill rotWithShape="1">
            <a:blip r:embed="rId3"/>
            <a:srcRect t="78271"/>
            <a:stretch/>
          </p:blipFill>
          <p:spPr>
            <a:xfrm>
              <a:off x="1330779" y="4635337"/>
              <a:ext cx="4765221" cy="1096346"/>
            </a:xfrm>
            <a:prstGeom prst="rect">
              <a:avLst/>
            </a:prstGeom>
          </p:spPr>
        </p:pic>
      </p:grpSp>
      <p:grpSp>
        <p:nvGrpSpPr>
          <p:cNvPr id="31" name="Group 30">
            <a:extLst>
              <a:ext uri="{FF2B5EF4-FFF2-40B4-BE49-F238E27FC236}">
                <a16:creationId xmlns:a16="http://schemas.microsoft.com/office/drawing/2014/main" id="{FF2A9EBE-3081-DD74-9490-BF1CD565D20C}"/>
              </a:ext>
            </a:extLst>
          </p:cNvPr>
          <p:cNvGrpSpPr/>
          <p:nvPr/>
        </p:nvGrpSpPr>
        <p:grpSpPr>
          <a:xfrm>
            <a:off x="1330779" y="1328915"/>
            <a:ext cx="10819429" cy="1917581"/>
            <a:chOff x="1330779" y="1328915"/>
            <a:chExt cx="10819429" cy="1917581"/>
          </a:xfrm>
        </p:grpSpPr>
        <p:pic>
          <p:nvPicPr>
            <p:cNvPr id="14" name="Picture 13">
              <a:extLst>
                <a:ext uri="{FF2B5EF4-FFF2-40B4-BE49-F238E27FC236}">
                  <a16:creationId xmlns:a16="http://schemas.microsoft.com/office/drawing/2014/main" id="{CFA0CE35-6EAE-65BA-86AE-70B933375A42}"/>
                </a:ext>
              </a:extLst>
            </p:cNvPr>
            <p:cNvPicPr>
              <a:picLocks noChangeAspect="1"/>
            </p:cNvPicPr>
            <p:nvPr/>
          </p:nvPicPr>
          <p:blipFill rotWithShape="1">
            <a:blip r:embed="rId3"/>
            <a:srcRect t="23493" b="39118"/>
            <a:stretch/>
          </p:blipFill>
          <p:spPr>
            <a:xfrm>
              <a:off x="1330779" y="1359985"/>
              <a:ext cx="4765221" cy="1886511"/>
            </a:xfrm>
            <a:prstGeom prst="rect">
              <a:avLst/>
            </a:prstGeom>
          </p:spPr>
        </p:pic>
        <p:pic>
          <p:nvPicPr>
            <p:cNvPr id="26" name="Picture 25">
              <a:extLst>
                <a:ext uri="{FF2B5EF4-FFF2-40B4-BE49-F238E27FC236}">
                  <a16:creationId xmlns:a16="http://schemas.microsoft.com/office/drawing/2014/main" id="{586B18ED-499A-C148-DFF3-0A1562CB479B}"/>
                </a:ext>
              </a:extLst>
            </p:cNvPr>
            <p:cNvPicPr>
              <a:picLocks noChangeAspect="1"/>
            </p:cNvPicPr>
            <p:nvPr/>
          </p:nvPicPr>
          <p:blipFill rotWithShape="1">
            <a:blip r:embed="rId4"/>
            <a:srcRect t="6251" b="66498"/>
            <a:stretch/>
          </p:blipFill>
          <p:spPr>
            <a:xfrm>
              <a:off x="6858002" y="1328915"/>
              <a:ext cx="5292206" cy="1708414"/>
            </a:xfrm>
            <a:prstGeom prst="rect">
              <a:avLst/>
            </a:prstGeom>
          </p:spPr>
        </p:pic>
      </p:grpSp>
      <p:grpSp>
        <p:nvGrpSpPr>
          <p:cNvPr id="32" name="Group 31">
            <a:extLst>
              <a:ext uri="{FF2B5EF4-FFF2-40B4-BE49-F238E27FC236}">
                <a16:creationId xmlns:a16="http://schemas.microsoft.com/office/drawing/2014/main" id="{987C1ACC-D81C-DAA5-2138-7CF88C062CA5}"/>
              </a:ext>
            </a:extLst>
          </p:cNvPr>
          <p:cNvGrpSpPr/>
          <p:nvPr/>
        </p:nvGrpSpPr>
        <p:grpSpPr>
          <a:xfrm>
            <a:off x="1330779" y="3314723"/>
            <a:ext cx="10861221" cy="783081"/>
            <a:chOff x="1330779" y="3314723"/>
            <a:chExt cx="10861221" cy="783081"/>
          </a:xfrm>
        </p:grpSpPr>
        <p:pic>
          <p:nvPicPr>
            <p:cNvPr id="27" name="Picture 26">
              <a:extLst>
                <a:ext uri="{FF2B5EF4-FFF2-40B4-BE49-F238E27FC236}">
                  <a16:creationId xmlns:a16="http://schemas.microsoft.com/office/drawing/2014/main" id="{DD12AAA4-08A9-9C4F-AAF8-F485EF52CA62}"/>
                </a:ext>
              </a:extLst>
            </p:cNvPr>
            <p:cNvPicPr>
              <a:picLocks noChangeAspect="1"/>
            </p:cNvPicPr>
            <p:nvPr/>
          </p:nvPicPr>
          <p:blipFill rotWithShape="1">
            <a:blip r:embed="rId3"/>
            <a:srcRect t="60882" b="23598"/>
            <a:stretch/>
          </p:blipFill>
          <p:spPr>
            <a:xfrm>
              <a:off x="1330779" y="3314723"/>
              <a:ext cx="4765221" cy="783081"/>
            </a:xfrm>
            <a:prstGeom prst="rect">
              <a:avLst/>
            </a:prstGeom>
          </p:spPr>
        </p:pic>
        <p:pic>
          <p:nvPicPr>
            <p:cNvPr id="28" name="Picture 27">
              <a:extLst>
                <a:ext uri="{FF2B5EF4-FFF2-40B4-BE49-F238E27FC236}">
                  <a16:creationId xmlns:a16="http://schemas.microsoft.com/office/drawing/2014/main" id="{C12969F0-2604-C127-BC61-D788E3A12C65}"/>
                </a:ext>
              </a:extLst>
            </p:cNvPr>
            <p:cNvPicPr>
              <a:picLocks noChangeAspect="1"/>
            </p:cNvPicPr>
            <p:nvPr/>
          </p:nvPicPr>
          <p:blipFill rotWithShape="1">
            <a:blip r:embed="rId4"/>
            <a:srcRect t="33154" b="58001"/>
            <a:stretch/>
          </p:blipFill>
          <p:spPr>
            <a:xfrm>
              <a:off x="6899794" y="3314723"/>
              <a:ext cx="5292206" cy="554529"/>
            </a:xfrm>
            <a:prstGeom prst="rect">
              <a:avLst/>
            </a:prstGeom>
          </p:spPr>
        </p:pic>
      </p:grpSp>
      <p:pic>
        <p:nvPicPr>
          <p:cNvPr id="29" name="Picture 28">
            <a:extLst>
              <a:ext uri="{FF2B5EF4-FFF2-40B4-BE49-F238E27FC236}">
                <a16:creationId xmlns:a16="http://schemas.microsoft.com/office/drawing/2014/main" id="{5954478A-CE75-C908-7705-7224C7D040F4}"/>
              </a:ext>
            </a:extLst>
          </p:cNvPr>
          <p:cNvPicPr>
            <a:picLocks noChangeAspect="1"/>
          </p:cNvPicPr>
          <p:nvPr/>
        </p:nvPicPr>
        <p:blipFill rotWithShape="1">
          <a:blip r:embed="rId4"/>
          <a:srcRect t="41829" b="51055"/>
          <a:stretch/>
        </p:blipFill>
        <p:spPr>
          <a:xfrm>
            <a:off x="6899794" y="3869251"/>
            <a:ext cx="5292206" cy="446101"/>
          </a:xfrm>
          <a:prstGeom prst="rect">
            <a:avLst/>
          </a:prstGeom>
        </p:spPr>
      </p:pic>
    </p:spTree>
    <p:extLst>
      <p:ext uri="{BB962C8B-B14F-4D97-AF65-F5344CB8AC3E}">
        <p14:creationId xmlns:p14="http://schemas.microsoft.com/office/powerpoint/2010/main" val="120158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AA3D-CC1E-C74E-A634-995E791A2433}"/>
              </a:ext>
            </a:extLst>
          </p:cNvPr>
          <p:cNvSpPr>
            <a:spLocks noGrp="1"/>
          </p:cNvSpPr>
          <p:nvPr>
            <p:ph type="title"/>
          </p:nvPr>
        </p:nvSpPr>
        <p:spPr/>
        <p:txBody>
          <a:bodyPr/>
          <a:lstStyle/>
          <a:p>
            <a:r>
              <a:rPr lang="en-US" dirty="0"/>
              <a:t>My First Quarto</a:t>
            </a:r>
          </a:p>
        </p:txBody>
      </p:sp>
      <p:sp>
        <p:nvSpPr>
          <p:cNvPr id="3" name="Text Placeholder 2">
            <a:extLst>
              <a:ext uri="{FF2B5EF4-FFF2-40B4-BE49-F238E27FC236}">
                <a16:creationId xmlns:a16="http://schemas.microsoft.com/office/drawing/2014/main" id="{EE19BCF9-CEA1-7D4C-9B3A-71C9D9023AEA}"/>
              </a:ext>
            </a:extLst>
          </p:cNvPr>
          <p:cNvSpPr>
            <a:spLocks noGrp="1"/>
          </p:cNvSpPr>
          <p:nvPr>
            <p:ph idx="1"/>
          </p:nvPr>
        </p:nvSpPr>
        <p:spPr/>
        <p:txBody>
          <a:bodyPr>
            <a:noAutofit/>
          </a:bodyPr>
          <a:lstStyle/>
          <a:p>
            <a:pPr marL="514350" indent="-514350">
              <a:buFont typeface="+mj-lt"/>
              <a:buAutoNum type="arabicPeriod"/>
            </a:pPr>
            <a:r>
              <a:rPr lang="en-US" sz="2800" dirty="0"/>
              <a:t>Open a sample Quarto document (File -&gt; New File -&gt; Quarto Document). Enter </a:t>
            </a:r>
            <a:r>
              <a:rPr lang="en-US" sz="2800" dirty="0">
                <a:solidFill>
                  <a:schemeClr val="accent1"/>
                </a:solidFill>
              </a:rPr>
              <a:t>My First Quarto </a:t>
            </a:r>
            <a:r>
              <a:rPr lang="en-US" sz="2800" dirty="0"/>
              <a:t>as the title in the prompt and press </a:t>
            </a:r>
            <a:r>
              <a:rPr lang="en-US" sz="2800" dirty="0">
                <a:solidFill>
                  <a:schemeClr val="accent1"/>
                </a:solidFill>
              </a:rPr>
              <a:t>Create</a:t>
            </a:r>
            <a:r>
              <a:rPr lang="en-US" sz="2800" dirty="0"/>
              <a:t>.</a:t>
            </a:r>
          </a:p>
          <a:p>
            <a:pPr marL="514350" indent="-514350">
              <a:buFont typeface="+mj-lt"/>
              <a:buAutoNum type="arabicPeriod"/>
            </a:pPr>
            <a:r>
              <a:rPr lang="en-US" sz="2800" dirty="0"/>
              <a:t>Review the format of the document:  header, text, code chunks </a:t>
            </a:r>
          </a:p>
          <a:p>
            <a:pPr marL="514350" indent="-514350">
              <a:buFont typeface="+mj-lt"/>
              <a:buAutoNum type="arabicPeriod"/>
            </a:pPr>
            <a:r>
              <a:rPr lang="en-US" sz="2800" dirty="0"/>
              <a:t>Execute the individual code chunks by selecting the Run Current Chunk arrow.  </a:t>
            </a:r>
          </a:p>
          <a:p>
            <a:pPr marL="514350" indent="-514350">
              <a:buFont typeface="+mj-lt"/>
              <a:buAutoNum type="arabicPeriod"/>
            </a:pPr>
            <a:r>
              <a:rPr lang="en-US" sz="2800" dirty="0"/>
              <a:t>Render the document to HTML.  You will prompted to save your Quarto Document first.  Name it </a:t>
            </a:r>
            <a:r>
              <a:rPr lang="en-US" sz="2800" dirty="0">
                <a:solidFill>
                  <a:schemeClr val="accent1"/>
                </a:solidFill>
              </a:rPr>
              <a:t>My First Quarto </a:t>
            </a:r>
            <a:r>
              <a:rPr lang="en-US" sz="2800" dirty="0"/>
              <a:t>and click save.  Review the rendered document.</a:t>
            </a:r>
          </a:p>
        </p:txBody>
      </p:sp>
      <p:sp>
        <p:nvSpPr>
          <p:cNvPr id="4" name="TextBox 3">
            <a:extLst>
              <a:ext uri="{FF2B5EF4-FFF2-40B4-BE49-F238E27FC236}">
                <a16:creationId xmlns:a16="http://schemas.microsoft.com/office/drawing/2014/main" id="{32914561-2453-D858-5605-7FBCD3EB0674}"/>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2451147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340B5D99-FFFA-D76F-6F8F-6C2E32D18E3C}"/>
              </a:ext>
            </a:extLst>
          </p:cNvPr>
          <p:cNvPicPr>
            <a:picLocks noChangeAspect="1"/>
          </p:cNvPicPr>
          <p:nvPr/>
        </p:nvPicPr>
        <p:blipFill>
          <a:blip r:embed="rId2"/>
          <a:stretch>
            <a:fillRect/>
          </a:stretch>
        </p:blipFill>
        <p:spPr>
          <a:xfrm>
            <a:off x="2209800" y="322515"/>
            <a:ext cx="7772400" cy="6212969"/>
          </a:xfrm>
          <a:prstGeom prst="rect">
            <a:avLst/>
          </a:prstGeom>
        </p:spPr>
      </p:pic>
      <p:cxnSp>
        <p:nvCxnSpPr>
          <p:cNvPr id="4" name="Straight Arrow Connector 3">
            <a:extLst>
              <a:ext uri="{FF2B5EF4-FFF2-40B4-BE49-F238E27FC236}">
                <a16:creationId xmlns:a16="http://schemas.microsoft.com/office/drawing/2014/main" id="{CA6E7317-D57F-2840-86C4-D950E478BF82}"/>
              </a:ext>
            </a:extLst>
          </p:cNvPr>
          <p:cNvCxnSpPr>
            <a:cxnSpLocks/>
          </p:cNvCxnSpPr>
          <p:nvPr/>
        </p:nvCxnSpPr>
        <p:spPr>
          <a:xfrm flipH="1">
            <a:off x="4997062" y="1003610"/>
            <a:ext cx="1188147" cy="41433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9325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ED99EC51-1E6C-B4FB-394F-AB01073BAD13}"/>
              </a:ext>
            </a:extLst>
          </p:cNvPr>
          <p:cNvPicPr>
            <a:picLocks noChangeAspect="1"/>
          </p:cNvPicPr>
          <p:nvPr/>
        </p:nvPicPr>
        <p:blipFill>
          <a:blip r:embed="rId2"/>
          <a:stretch>
            <a:fillRect/>
          </a:stretch>
        </p:blipFill>
        <p:spPr>
          <a:xfrm>
            <a:off x="540519" y="-1"/>
            <a:ext cx="11110962" cy="6858001"/>
          </a:xfrm>
          <a:prstGeom prst="rect">
            <a:avLst/>
          </a:prstGeom>
        </p:spPr>
      </p:pic>
      <p:cxnSp>
        <p:nvCxnSpPr>
          <p:cNvPr id="4" name="Straight Arrow Connector 3">
            <a:extLst>
              <a:ext uri="{FF2B5EF4-FFF2-40B4-BE49-F238E27FC236}">
                <a16:creationId xmlns:a16="http://schemas.microsoft.com/office/drawing/2014/main" id="{9D198073-C125-AD77-B7E3-92C4FAE1CDA5}"/>
              </a:ext>
            </a:extLst>
          </p:cNvPr>
          <p:cNvCxnSpPr>
            <a:cxnSpLocks/>
          </p:cNvCxnSpPr>
          <p:nvPr/>
        </p:nvCxnSpPr>
        <p:spPr>
          <a:xfrm flipH="1">
            <a:off x="8085951" y="2098170"/>
            <a:ext cx="103574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D7DFBF8-F007-86CF-6A19-76AAB3D3F2A3}"/>
              </a:ext>
            </a:extLst>
          </p:cNvPr>
          <p:cNvCxnSpPr>
            <a:cxnSpLocks/>
          </p:cNvCxnSpPr>
          <p:nvPr/>
        </p:nvCxnSpPr>
        <p:spPr>
          <a:xfrm flipH="1" flipV="1">
            <a:off x="7403326" y="5183341"/>
            <a:ext cx="558645" cy="64874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8F55D09-D021-F54F-4AEF-420833339524}"/>
              </a:ext>
            </a:extLst>
          </p:cNvPr>
          <p:cNvSpPr txBox="1"/>
          <p:nvPr/>
        </p:nvSpPr>
        <p:spPr>
          <a:xfrm>
            <a:off x="9121698" y="1913504"/>
            <a:ext cx="2529783" cy="369332"/>
          </a:xfrm>
          <a:prstGeom prst="rect">
            <a:avLst/>
          </a:prstGeom>
          <a:noFill/>
        </p:spPr>
        <p:txBody>
          <a:bodyPr wrap="square" rtlCol="0">
            <a:spAutoFit/>
          </a:bodyPr>
          <a:lstStyle/>
          <a:p>
            <a:r>
              <a:rPr lang="en-US" dirty="0"/>
              <a:t>Enter title</a:t>
            </a:r>
          </a:p>
        </p:txBody>
      </p:sp>
      <p:sp>
        <p:nvSpPr>
          <p:cNvPr id="10" name="TextBox 9">
            <a:extLst>
              <a:ext uri="{FF2B5EF4-FFF2-40B4-BE49-F238E27FC236}">
                <a16:creationId xmlns:a16="http://schemas.microsoft.com/office/drawing/2014/main" id="{A3A14734-1670-85CE-E6ED-BB50A61D95F2}"/>
              </a:ext>
            </a:extLst>
          </p:cNvPr>
          <p:cNvSpPr txBox="1"/>
          <p:nvPr/>
        </p:nvSpPr>
        <p:spPr>
          <a:xfrm>
            <a:off x="7961971" y="5647422"/>
            <a:ext cx="2529783" cy="369332"/>
          </a:xfrm>
          <a:prstGeom prst="rect">
            <a:avLst/>
          </a:prstGeom>
          <a:noFill/>
        </p:spPr>
        <p:txBody>
          <a:bodyPr wrap="square" rtlCol="0">
            <a:spAutoFit/>
          </a:bodyPr>
          <a:lstStyle/>
          <a:p>
            <a:r>
              <a:rPr lang="en-US" dirty="0"/>
              <a:t>Create document</a:t>
            </a:r>
          </a:p>
        </p:txBody>
      </p:sp>
    </p:spTree>
    <p:extLst>
      <p:ext uri="{BB962C8B-B14F-4D97-AF65-F5344CB8AC3E}">
        <p14:creationId xmlns:p14="http://schemas.microsoft.com/office/powerpoint/2010/main" val="131422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5322923B-198C-897A-A677-CDD3BBC5AB9C}"/>
              </a:ext>
            </a:extLst>
          </p:cNvPr>
          <p:cNvPicPr>
            <a:picLocks noChangeAspect="1"/>
          </p:cNvPicPr>
          <p:nvPr/>
        </p:nvPicPr>
        <p:blipFill>
          <a:blip r:embed="rId2"/>
          <a:stretch>
            <a:fillRect/>
          </a:stretch>
        </p:blipFill>
        <p:spPr>
          <a:xfrm>
            <a:off x="792897" y="0"/>
            <a:ext cx="10115551" cy="6858000"/>
          </a:xfrm>
          <a:prstGeom prst="rect">
            <a:avLst/>
          </a:prstGeom>
        </p:spPr>
      </p:pic>
      <p:cxnSp>
        <p:nvCxnSpPr>
          <p:cNvPr id="5" name="Straight Arrow Connector 4">
            <a:extLst>
              <a:ext uri="{FF2B5EF4-FFF2-40B4-BE49-F238E27FC236}">
                <a16:creationId xmlns:a16="http://schemas.microsoft.com/office/drawing/2014/main" id="{CB9816CC-82E3-7445-A3D4-93C4F73D1C96}"/>
              </a:ext>
            </a:extLst>
          </p:cNvPr>
          <p:cNvCxnSpPr>
            <a:cxnSpLocks/>
          </p:cNvCxnSpPr>
          <p:nvPr/>
        </p:nvCxnSpPr>
        <p:spPr>
          <a:xfrm>
            <a:off x="8684798" y="2659419"/>
            <a:ext cx="0" cy="76958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DAF5464-5680-034A-BD84-C07D1EF9128A}"/>
              </a:ext>
            </a:extLst>
          </p:cNvPr>
          <p:cNvSpPr txBox="1"/>
          <p:nvPr/>
        </p:nvSpPr>
        <p:spPr>
          <a:xfrm>
            <a:off x="6744356" y="2019506"/>
            <a:ext cx="3880883" cy="523220"/>
          </a:xfrm>
          <a:prstGeom prst="rect">
            <a:avLst/>
          </a:prstGeom>
          <a:noFill/>
        </p:spPr>
        <p:txBody>
          <a:bodyPr wrap="square" rtlCol="0">
            <a:spAutoFit/>
          </a:bodyPr>
          <a:lstStyle/>
          <a:p>
            <a:pPr algn="ctr"/>
            <a:r>
              <a:rPr lang="en-US" sz="2800" dirty="0"/>
              <a:t>Scroll down</a:t>
            </a:r>
          </a:p>
        </p:txBody>
      </p:sp>
      <p:cxnSp>
        <p:nvCxnSpPr>
          <p:cNvPr id="12" name="Straight Arrow Connector 11">
            <a:extLst>
              <a:ext uri="{FF2B5EF4-FFF2-40B4-BE49-F238E27FC236}">
                <a16:creationId xmlns:a16="http://schemas.microsoft.com/office/drawing/2014/main" id="{BE18DB4B-D3B8-0D49-A63A-52E67F4D06CD}"/>
              </a:ext>
            </a:extLst>
          </p:cNvPr>
          <p:cNvCxnSpPr>
            <a:cxnSpLocks/>
          </p:cNvCxnSpPr>
          <p:nvPr/>
        </p:nvCxnSpPr>
        <p:spPr>
          <a:xfrm flipH="1">
            <a:off x="7751832" y="4177143"/>
            <a:ext cx="667339" cy="52322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F4310A3-3124-EF44-83C2-11B6782A25CA}"/>
              </a:ext>
            </a:extLst>
          </p:cNvPr>
          <p:cNvSpPr txBox="1"/>
          <p:nvPr/>
        </p:nvSpPr>
        <p:spPr>
          <a:xfrm>
            <a:off x="8419171" y="3682812"/>
            <a:ext cx="2698595" cy="523220"/>
          </a:xfrm>
          <a:prstGeom prst="rect">
            <a:avLst/>
          </a:prstGeom>
          <a:noFill/>
        </p:spPr>
        <p:txBody>
          <a:bodyPr wrap="square" rtlCol="0">
            <a:spAutoFit/>
          </a:bodyPr>
          <a:lstStyle/>
          <a:p>
            <a:r>
              <a:rPr lang="en-US" sz="2800" dirty="0"/>
              <a:t>Hit button to run</a:t>
            </a:r>
          </a:p>
        </p:txBody>
      </p:sp>
    </p:spTree>
    <p:extLst>
      <p:ext uri="{BB962C8B-B14F-4D97-AF65-F5344CB8AC3E}">
        <p14:creationId xmlns:p14="http://schemas.microsoft.com/office/powerpoint/2010/main" val="2955446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with medium confidence">
            <a:extLst>
              <a:ext uri="{FF2B5EF4-FFF2-40B4-BE49-F238E27FC236}">
                <a16:creationId xmlns:a16="http://schemas.microsoft.com/office/drawing/2014/main" id="{C445C705-2FD3-070C-3B45-5D17E4BD389E}"/>
              </a:ext>
            </a:extLst>
          </p:cNvPr>
          <p:cNvPicPr>
            <a:picLocks noChangeAspect="1"/>
          </p:cNvPicPr>
          <p:nvPr/>
        </p:nvPicPr>
        <p:blipFill>
          <a:blip r:embed="rId2"/>
          <a:stretch>
            <a:fillRect/>
          </a:stretch>
        </p:blipFill>
        <p:spPr>
          <a:xfrm>
            <a:off x="546269" y="0"/>
            <a:ext cx="11099461" cy="6858000"/>
          </a:xfrm>
          <a:prstGeom prst="rect">
            <a:avLst/>
          </a:prstGeom>
        </p:spPr>
      </p:pic>
      <p:cxnSp>
        <p:nvCxnSpPr>
          <p:cNvPr id="4" name="Straight Arrow Connector 3">
            <a:extLst>
              <a:ext uri="{FF2B5EF4-FFF2-40B4-BE49-F238E27FC236}">
                <a16:creationId xmlns:a16="http://schemas.microsoft.com/office/drawing/2014/main" id="{3C5E08BA-D606-E249-859D-7B48713BAE6F}"/>
              </a:ext>
            </a:extLst>
          </p:cNvPr>
          <p:cNvCxnSpPr>
            <a:cxnSpLocks/>
          </p:cNvCxnSpPr>
          <p:nvPr/>
        </p:nvCxnSpPr>
        <p:spPr>
          <a:xfrm flipH="1" flipV="1">
            <a:off x="3130231" y="801401"/>
            <a:ext cx="962267" cy="34717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7C6E408-6BA3-384A-939F-898A7CE85CD2}"/>
              </a:ext>
            </a:extLst>
          </p:cNvPr>
          <p:cNvSpPr txBox="1"/>
          <p:nvPr/>
        </p:nvSpPr>
        <p:spPr>
          <a:xfrm>
            <a:off x="4218621" y="886966"/>
            <a:ext cx="3880883" cy="523220"/>
          </a:xfrm>
          <a:prstGeom prst="rect">
            <a:avLst/>
          </a:prstGeom>
          <a:noFill/>
        </p:spPr>
        <p:txBody>
          <a:bodyPr wrap="square" rtlCol="0">
            <a:spAutoFit/>
          </a:bodyPr>
          <a:lstStyle/>
          <a:p>
            <a:r>
              <a:rPr lang="en-US" sz="2800" dirty="0"/>
              <a:t>Render document</a:t>
            </a:r>
          </a:p>
        </p:txBody>
      </p:sp>
      <p:cxnSp>
        <p:nvCxnSpPr>
          <p:cNvPr id="7" name="Straight Arrow Connector 6">
            <a:extLst>
              <a:ext uri="{FF2B5EF4-FFF2-40B4-BE49-F238E27FC236}">
                <a16:creationId xmlns:a16="http://schemas.microsoft.com/office/drawing/2014/main" id="{D46BD26A-F0D8-D459-CA41-04F00824681A}"/>
              </a:ext>
            </a:extLst>
          </p:cNvPr>
          <p:cNvCxnSpPr>
            <a:cxnSpLocks/>
          </p:cNvCxnSpPr>
          <p:nvPr/>
        </p:nvCxnSpPr>
        <p:spPr>
          <a:xfrm flipH="1">
            <a:off x="8099504" y="2190471"/>
            <a:ext cx="910681"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E11FF4A-37FF-7829-4821-F028893B3E78}"/>
              </a:ext>
            </a:extLst>
          </p:cNvPr>
          <p:cNvSpPr txBox="1"/>
          <p:nvPr/>
        </p:nvSpPr>
        <p:spPr>
          <a:xfrm>
            <a:off x="9010185" y="1928861"/>
            <a:ext cx="3880883" cy="523220"/>
          </a:xfrm>
          <a:prstGeom prst="rect">
            <a:avLst/>
          </a:prstGeom>
          <a:noFill/>
        </p:spPr>
        <p:txBody>
          <a:bodyPr wrap="square" rtlCol="0">
            <a:spAutoFit/>
          </a:bodyPr>
          <a:lstStyle/>
          <a:p>
            <a:r>
              <a:rPr lang="en-US" sz="2800" dirty="0"/>
              <a:t>Name file</a:t>
            </a:r>
          </a:p>
        </p:txBody>
      </p:sp>
      <p:cxnSp>
        <p:nvCxnSpPr>
          <p:cNvPr id="11" name="Straight Arrow Connector 10">
            <a:extLst>
              <a:ext uri="{FF2B5EF4-FFF2-40B4-BE49-F238E27FC236}">
                <a16:creationId xmlns:a16="http://schemas.microsoft.com/office/drawing/2014/main" id="{F0054AB5-925D-28ED-9AB3-296E68165BBB}"/>
              </a:ext>
            </a:extLst>
          </p:cNvPr>
          <p:cNvCxnSpPr>
            <a:cxnSpLocks/>
          </p:cNvCxnSpPr>
          <p:nvPr/>
        </p:nvCxnSpPr>
        <p:spPr>
          <a:xfrm flipH="1" flipV="1">
            <a:off x="5486402" y="2452081"/>
            <a:ext cx="814037" cy="51414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2B2A9E1-EC5C-DC8B-0630-F12FE5DA7350}"/>
              </a:ext>
            </a:extLst>
          </p:cNvPr>
          <p:cNvSpPr txBox="1"/>
          <p:nvPr/>
        </p:nvSpPr>
        <p:spPr>
          <a:xfrm>
            <a:off x="6300439" y="2704614"/>
            <a:ext cx="3880883" cy="523220"/>
          </a:xfrm>
          <a:prstGeom prst="rect">
            <a:avLst/>
          </a:prstGeom>
          <a:noFill/>
        </p:spPr>
        <p:txBody>
          <a:bodyPr wrap="square" rtlCol="0">
            <a:spAutoFit/>
          </a:bodyPr>
          <a:lstStyle/>
          <a:p>
            <a:r>
              <a:rPr lang="en-US" sz="2800" dirty="0"/>
              <a:t>Confirm destination</a:t>
            </a:r>
          </a:p>
        </p:txBody>
      </p:sp>
      <p:cxnSp>
        <p:nvCxnSpPr>
          <p:cNvPr id="14" name="Straight Arrow Connector 13">
            <a:extLst>
              <a:ext uri="{FF2B5EF4-FFF2-40B4-BE49-F238E27FC236}">
                <a16:creationId xmlns:a16="http://schemas.microsoft.com/office/drawing/2014/main" id="{3BC14980-8080-0087-CB3E-27A8E9CCD7D3}"/>
              </a:ext>
            </a:extLst>
          </p:cNvPr>
          <p:cNvCxnSpPr>
            <a:cxnSpLocks/>
          </p:cNvCxnSpPr>
          <p:nvPr/>
        </p:nvCxnSpPr>
        <p:spPr>
          <a:xfrm flipH="1" flipV="1">
            <a:off x="7285467" y="5035447"/>
            <a:ext cx="814037" cy="51414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EE2EC82-2F46-79AC-F297-D9C15F6FC6F1}"/>
              </a:ext>
            </a:extLst>
          </p:cNvPr>
          <p:cNvSpPr txBox="1"/>
          <p:nvPr/>
        </p:nvSpPr>
        <p:spPr>
          <a:xfrm>
            <a:off x="8099504" y="5287980"/>
            <a:ext cx="3880883" cy="523220"/>
          </a:xfrm>
          <a:prstGeom prst="rect">
            <a:avLst/>
          </a:prstGeom>
          <a:noFill/>
        </p:spPr>
        <p:txBody>
          <a:bodyPr wrap="square" rtlCol="0">
            <a:spAutoFit/>
          </a:bodyPr>
          <a:lstStyle/>
          <a:p>
            <a:r>
              <a:rPr lang="en-US" sz="2800" dirty="0"/>
              <a:t>Save file</a:t>
            </a:r>
          </a:p>
        </p:txBody>
      </p:sp>
    </p:spTree>
    <p:extLst>
      <p:ext uri="{BB962C8B-B14F-4D97-AF65-F5344CB8AC3E}">
        <p14:creationId xmlns:p14="http://schemas.microsoft.com/office/powerpoint/2010/main" val="913740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C872E-49D1-64CF-752A-A28D843F8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FFC97D-A1B1-F409-3021-BC25CEB0ADA3}"/>
              </a:ext>
            </a:extLst>
          </p:cNvPr>
          <p:cNvSpPr>
            <a:spLocks noGrp="1"/>
          </p:cNvSpPr>
          <p:nvPr>
            <p:ph type="title"/>
          </p:nvPr>
        </p:nvSpPr>
        <p:spPr/>
        <p:txBody>
          <a:bodyPr/>
          <a:lstStyle/>
          <a:p>
            <a:r>
              <a:rPr lang="en-US" dirty="0"/>
              <a:t>My First Quarto</a:t>
            </a:r>
          </a:p>
        </p:txBody>
      </p:sp>
      <p:sp>
        <p:nvSpPr>
          <p:cNvPr id="3" name="Text Placeholder 2">
            <a:extLst>
              <a:ext uri="{FF2B5EF4-FFF2-40B4-BE49-F238E27FC236}">
                <a16:creationId xmlns:a16="http://schemas.microsoft.com/office/drawing/2014/main" id="{BE34C85D-ECFB-67DA-9AEC-D04F4AA4C359}"/>
              </a:ext>
            </a:extLst>
          </p:cNvPr>
          <p:cNvSpPr>
            <a:spLocks noGrp="1"/>
          </p:cNvSpPr>
          <p:nvPr>
            <p:ph idx="1"/>
          </p:nvPr>
        </p:nvSpPr>
        <p:spPr/>
        <p:txBody>
          <a:bodyPr>
            <a:noAutofit/>
          </a:bodyPr>
          <a:lstStyle/>
          <a:p>
            <a:pPr marL="514350" indent="-514350">
              <a:buFont typeface="+mj-lt"/>
              <a:buAutoNum type="arabicPeriod"/>
            </a:pPr>
            <a:r>
              <a:rPr lang="en-US" sz="2800" dirty="0"/>
              <a:t>Open a sample Quarto document (File -&gt; New File -&gt; Quarto Document). Enter </a:t>
            </a:r>
            <a:r>
              <a:rPr lang="en-US" sz="2800" dirty="0">
                <a:solidFill>
                  <a:schemeClr val="accent1"/>
                </a:solidFill>
              </a:rPr>
              <a:t>My First Quarto </a:t>
            </a:r>
            <a:r>
              <a:rPr lang="en-US" sz="2800" dirty="0"/>
              <a:t>as the title in the prompt and press </a:t>
            </a:r>
            <a:r>
              <a:rPr lang="en-US" sz="2800" dirty="0">
                <a:solidFill>
                  <a:schemeClr val="accent1"/>
                </a:solidFill>
              </a:rPr>
              <a:t>Create</a:t>
            </a:r>
            <a:r>
              <a:rPr lang="en-US" sz="2800" dirty="0"/>
              <a:t>.</a:t>
            </a:r>
          </a:p>
          <a:p>
            <a:pPr marL="514350" indent="-514350">
              <a:buFont typeface="+mj-lt"/>
              <a:buAutoNum type="arabicPeriod"/>
            </a:pPr>
            <a:r>
              <a:rPr lang="en-US" sz="2800" dirty="0"/>
              <a:t>Review the format of the document:  header, text, code chunks </a:t>
            </a:r>
          </a:p>
          <a:p>
            <a:pPr marL="514350" indent="-514350">
              <a:buFont typeface="+mj-lt"/>
              <a:buAutoNum type="arabicPeriod"/>
            </a:pPr>
            <a:r>
              <a:rPr lang="en-US" sz="2800" dirty="0"/>
              <a:t>Execute the individual code chunks by selecting the Run Current Chunk arrow.  </a:t>
            </a:r>
          </a:p>
          <a:p>
            <a:pPr marL="514350" indent="-514350">
              <a:buFont typeface="+mj-lt"/>
              <a:buAutoNum type="arabicPeriod"/>
            </a:pPr>
            <a:r>
              <a:rPr lang="en-US" sz="2800" dirty="0"/>
              <a:t>Render the document to HTML.  You will prompted to save your Quarto Document first.  Name it </a:t>
            </a:r>
            <a:r>
              <a:rPr lang="en-US" sz="2800" dirty="0">
                <a:solidFill>
                  <a:schemeClr val="accent1"/>
                </a:solidFill>
              </a:rPr>
              <a:t>My First Quarto </a:t>
            </a:r>
            <a:r>
              <a:rPr lang="en-US" sz="2800" dirty="0"/>
              <a:t>and click save.  Review the rendered document.</a:t>
            </a:r>
          </a:p>
        </p:txBody>
      </p:sp>
      <p:sp>
        <p:nvSpPr>
          <p:cNvPr id="4" name="TextBox 3">
            <a:extLst>
              <a:ext uri="{FF2B5EF4-FFF2-40B4-BE49-F238E27FC236}">
                <a16:creationId xmlns:a16="http://schemas.microsoft.com/office/drawing/2014/main" id="{5A34DAA4-3B46-2014-1812-7893585C8A4E}"/>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4083928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 line, font, screenshot&#10;&#10;Description automatically generated">
            <a:extLst>
              <a:ext uri="{FF2B5EF4-FFF2-40B4-BE49-F238E27FC236}">
                <a16:creationId xmlns:a16="http://schemas.microsoft.com/office/drawing/2014/main" id="{8E04359F-E7DE-238F-578D-C7E2025577FD}"/>
              </a:ext>
            </a:extLst>
          </p:cNvPr>
          <p:cNvPicPr>
            <a:picLocks noChangeAspect="1"/>
          </p:cNvPicPr>
          <p:nvPr/>
        </p:nvPicPr>
        <p:blipFill>
          <a:blip r:embed="rId3"/>
          <a:stretch>
            <a:fillRect/>
          </a:stretch>
        </p:blipFill>
        <p:spPr>
          <a:xfrm>
            <a:off x="2209800" y="3725765"/>
            <a:ext cx="7772400" cy="1058814"/>
          </a:xfrm>
          <a:prstGeom prst="rect">
            <a:avLst/>
          </a:prstGeom>
        </p:spPr>
      </p:pic>
      <p:sp>
        <p:nvSpPr>
          <p:cNvPr id="2" name="Title 1">
            <a:extLst>
              <a:ext uri="{FF2B5EF4-FFF2-40B4-BE49-F238E27FC236}">
                <a16:creationId xmlns:a16="http://schemas.microsoft.com/office/drawing/2014/main" id="{449E85D2-8B1F-1B42-84C5-2371EC064410}"/>
              </a:ext>
            </a:extLst>
          </p:cNvPr>
          <p:cNvSpPr>
            <a:spLocks noGrp="1"/>
          </p:cNvSpPr>
          <p:nvPr>
            <p:ph type="title"/>
          </p:nvPr>
        </p:nvSpPr>
        <p:spPr/>
        <p:txBody>
          <a:bodyPr/>
          <a:lstStyle/>
          <a:p>
            <a:r>
              <a:rPr lang="en-US" dirty="0"/>
              <a:t>Code chunks</a:t>
            </a:r>
          </a:p>
        </p:txBody>
      </p:sp>
      <p:sp>
        <p:nvSpPr>
          <p:cNvPr id="21" name="Rounded Rectangle 20">
            <a:extLst>
              <a:ext uri="{FF2B5EF4-FFF2-40B4-BE49-F238E27FC236}">
                <a16:creationId xmlns:a16="http://schemas.microsoft.com/office/drawing/2014/main" id="{C39948F5-1A6B-CA4F-9939-607AA5EB105F}"/>
              </a:ext>
            </a:extLst>
          </p:cNvPr>
          <p:cNvSpPr/>
          <p:nvPr/>
        </p:nvSpPr>
        <p:spPr>
          <a:xfrm>
            <a:off x="2419999" y="2135542"/>
            <a:ext cx="1520696" cy="877264"/>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Language</a:t>
            </a:r>
          </a:p>
        </p:txBody>
      </p:sp>
      <p:sp>
        <p:nvSpPr>
          <p:cNvPr id="22" name="Right Triangle 21">
            <a:extLst>
              <a:ext uri="{FF2B5EF4-FFF2-40B4-BE49-F238E27FC236}">
                <a16:creationId xmlns:a16="http://schemas.microsoft.com/office/drawing/2014/main" id="{26260B7F-4EE0-3A40-8DC4-CF68798BEBEF}"/>
              </a:ext>
            </a:extLst>
          </p:cNvPr>
          <p:cNvSpPr/>
          <p:nvPr/>
        </p:nvSpPr>
        <p:spPr>
          <a:xfrm rot="11899486">
            <a:off x="2714314" y="2875169"/>
            <a:ext cx="196553" cy="1035252"/>
          </a:xfrm>
          <a:prstGeom prst="rtTriangl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Triangle 24">
            <a:extLst>
              <a:ext uri="{FF2B5EF4-FFF2-40B4-BE49-F238E27FC236}">
                <a16:creationId xmlns:a16="http://schemas.microsoft.com/office/drawing/2014/main" id="{D07C62FC-1593-EA47-81E9-E68F33E57656}"/>
              </a:ext>
            </a:extLst>
          </p:cNvPr>
          <p:cNvSpPr/>
          <p:nvPr/>
        </p:nvSpPr>
        <p:spPr>
          <a:xfrm rot="1900612">
            <a:off x="8843305" y="3421450"/>
            <a:ext cx="361358" cy="381890"/>
          </a:xfrm>
          <a:prstGeom prst="rtTriangl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6E926126-3065-874E-B699-E3648F1C2EC5}"/>
              </a:ext>
            </a:extLst>
          </p:cNvPr>
          <p:cNvSpPr/>
          <p:nvPr/>
        </p:nvSpPr>
        <p:spPr>
          <a:xfrm>
            <a:off x="6997581" y="2757903"/>
            <a:ext cx="2050399" cy="967862"/>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Run chunk</a:t>
            </a:r>
          </a:p>
        </p:txBody>
      </p:sp>
      <p:sp>
        <p:nvSpPr>
          <p:cNvPr id="27" name="Right Triangle 26">
            <a:extLst>
              <a:ext uri="{FF2B5EF4-FFF2-40B4-BE49-F238E27FC236}">
                <a16:creationId xmlns:a16="http://schemas.microsoft.com/office/drawing/2014/main" id="{8467606F-09E4-6B47-906F-FFF2E38A5C34}"/>
              </a:ext>
            </a:extLst>
          </p:cNvPr>
          <p:cNvSpPr/>
          <p:nvPr/>
        </p:nvSpPr>
        <p:spPr>
          <a:xfrm rot="12934440">
            <a:off x="2743448" y="4400755"/>
            <a:ext cx="493369" cy="207309"/>
          </a:xfrm>
          <a:prstGeom prst="rtTriangl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622B9323-6F75-B640-809D-4F8EBC9593DA}"/>
              </a:ext>
            </a:extLst>
          </p:cNvPr>
          <p:cNvSpPr/>
          <p:nvPr/>
        </p:nvSpPr>
        <p:spPr>
          <a:xfrm>
            <a:off x="2990132" y="4525732"/>
            <a:ext cx="2377671" cy="1325563"/>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Code in body of chunk</a:t>
            </a:r>
          </a:p>
        </p:txBody>
      </p:sp>
      <p:pic>
        <p:nvPicPr>
          <p:cNvPr id="29" name="Picture 28">
            <a:extLst>
              <a:ext uri="{FF2B5EF4-FFF2-40B4-BE49-F238E27FC236}">
                <a16:creationId xmlns:a16="http://schemas.microsoft.com/office/drawing/2014/main" id="{850BD1BB-55D0-E14A-B6BA-3C437A0422B2}"/>
              </a:ext>
            </a:extLst>
          </p:cNvPr>
          <p:cNvPicPr>
            <a:picLocks noChangeAspect="1"/>
          </p:cNvPicPr>
          <p:nvPr/>
        </p:nvPicPr>
        <p:blipFill>
          <a:blip r:embed="rId4"/>
          <a:stretch>
            <a:fillRect/>
          </a:stretch>
        </p:blipFill>
        <p:spPr>
          <a:xfrm>
            <a:off x="10744200" y="150617"/>
            <a:ext cx="1132477" cy="1273271"/>
          </a:xfrm>
          <a:prstGeom prst="rect">
            <a:avLst/>
          </a:prstGeom>
        </p:spPr>
      </p:pic>
    </p:spTree>
    <p:extLst>
      <p:ext uri="{BB962C8B-B14F-4D97-AF65-F5344CB8AC3E}">
        <p14:creationId xmlns:p14="http://schemas.microsoft.com/office/powerpoint/2010/main" val="3825338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6" grpId="0" animBg="1"/>
      <p:bldP spid="27" grpId="0" animBg="1"/>
      <p:bldP spid="2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10;&#10;Description automatically generated">
            <a:extLst>
              <a:ext uri="{FF2B5EF4-FFF2-40B4-BE49-F238E27FC236}">
                <a16:creationId xmlns:a16="http://schemas.microsoft.com/office/drawing/2014/main" id="{4FE96D45-5205-5234-015A-44F59EF83F00}"/>
              </a:ext>
            </a:extLst>
          </p:cNvPr>
          <p:cNvPicPr>
            <a:picLocks noChangeAspect="1"/>
          </p:cNvPicPr>
          <p:nvPr/>
        </p:nvPicPr>
        <p:blipFill>
          <a:blip r:embed="rId2"/>
          <a:stretch>
            <a:fillRect/>
          </a:stretch>
        </p:blipFill>
        <p:spPr>
          <a:xfrm>
            <a:off x="1067109" y="164892"/>
            <a:ext cx="9684625" cy="6610350"/>
          </a:xfrm>
          <a:prstGeom prst="rect">
            <a:avLst/>
          </a:prstGeom>
        </p:spPr>
      </p:pic>
      <p:cxnSp>
        <p:nvCxnSpPr>
          <p:cNvPr id="4" name="Straight Arrow Connector 3">
            <a:extLst>
              <a:ext uri="{FF2B5EF4-FFF2-40B4-BE49-F238E27FC236}">
                <a16:creationId xmlns:a16="http://schemas.microsoft.com/office/drawing/2014/main" id="{D1245388-90B4-314E-B84A-E65E65E61479}"/>
              </a:ext>
            </a:extLst>
          </p:cNvPr>
          <p:cNvCxnSpPr>
            <a:cxnSpLocks/>
          </p:cNvCxnSpPr>
          <p:nvPr/>
        </p:nvCxnSpPr>
        <p:spPr>
          <a:xfrm flipH="1" flipV="1">
            <a:off x="8572643" y="1470800"/>
            <a:ext cx="549055" cy="85575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6411DB-FB60-D84B-9D68-80BA7D12F8B2}"/>
              </a:ext>
            </a:extLst>
          </p:cNvPr>
          <p:cNvSpPr txBox="1"/>
          <p:nvPr/>
        </p:nvSpPr>
        <p:spPr>
          <a:xfrm>
            <a:off x="9169077" y="2149025"/>
            <a:ext cx="3165313" cy="523220"/>
          </a:xfrm>
          <a:prstGeom prst="rect">
            <a:avLst/>
          </a:prstGeom>
          <a:noFill/>
        </p:spPr>
        <p:txBody>
          <a:bodyPr wrap="square" rtlCol="0">
            <a:spAutoFit/>
          </a:bodyPr>
          <a:lstStyle/>
          <a:p>
            <a:r>
              <a:rPr lang="en-US" sz="2800" dirty="0"/>
              <a:t>Insert code chunk</a:t>
            </a:r>
          </a:p>
        </p:txBody>
      </p:sp>
      <p:cxnSp>
        <p:nvCxnSpPr>
          <p:cNvPr id="6" name="Straight Arrow Connector 5">
            <a:extLst>
              <a:ext uri="{FF2B5EF4-FFF2-40B4-BE49-F238E27FC236}">
                <a16:creationId xmlns:a16="http://schemas.microsoft.com/office/drawing/2014/main" id="{5782E1C9-6842-AD47-B597-5D5C9AD0127F}"/>
              </a:ext>
            </a:extLst>
          </p:cNvPr>
          <p:cNvCxnSpPr>
            <a:cxnSpLocks/>
          </p:cNvCxnSpPr>
          <p:nvPr/>
        </p:nvCxnSpPr>
        <p:spPr>
          <a:xfrm flipH="1" flipV="1">
            <a:off x="1898422" y="5257004"/>
            <a:ext cx="838553" cy="42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4B80EF3-9336-4F44-836E-743B676C35F3}"/>
              </a:ext>
            </a:extLst>
          </p:cNvPr>
          <p:cNvSpPr txBox="1"/>
          <p:nvPr/>
        </p:nvSpPr>
        <p:spPr>
          <a:xfrm>
            <a:off x="2736975" y="4995394"/>
            <a:ext cx="4543293" cy="523220"/>
          </a:xfrm>
          <a:prstGeom prst="rect">
            <a:avLst/>
          </a:prstGeom>
          <a:noFill/>
        </p:spPr>
        <p:txBody>
          <a:bodyPr wrap="square" rtlCol="0">
            <a:spAutoFit/>
          </a:bodyPr>
          <a:lstStyle/>
          <a:p>
            <a:r>
              <a:rPr lang="en-US" sz="2800" dirty="0"/>
              <a:t>Place cursor in document</a:t>
            </a:r>
          </a:p>
        </p:txBody>
      </p:sp>
    </p:spTree>
    <p:extLst>
      <p:ext uri="{BB962C8B-B14F-4D97-AF65-F5344CB8AC3E}">
        <p14:creationId xmlns:p14="http://schemas.microsoft.com/office/powerpoint/2010/main" val="1934437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C3DA-92B8-8640-BF09-15382646FA79}"/>
              </a:ext>
            </a:extLst>
          </p:cNvPr>
          <p:cNvSpPr>
            <a:spLocks noGrp="1"/>
          </p:cNvSpPr>
          <p:nvPr>
            <p:ph type="title"/>
          </p:nvPr>
        </p:nvSpPr>
        <p:spPr/>
        <p:txBody>
          <a:bodyPr/>
          <a:lstStyle/>
          <a:p>
            <a:r>
              <a:rPr lang="en-US" dirty="0"/>
              <a:t>Adding to a Code Chunk</a:t>
            </a:r>
          </a:p>
        </p:txBody>
      </p:sp>
      <p:sp>
        <p:nvSpPr>
          <p:cNvPr id="3" name="Text Placeholder 2">
            <a:extLst>
              <a:ext uri="{FF2B5EF4-FFF2-40B4-BE49-F238E27FC236}">
                <a16:creationId xmlns:a16="http://schemas.microsoft.com/office/drawing/2014/main" id="{263ADB81-4E84-6448-A283-A925ADD6BBDD}"/>
              </a:ext>
            </a:extLst>
          </p:cNvPr>
          <p:cNvSpPr>
            <a:spLocks noGrp="1"/>
          </p:cNvSpPr>
          <p:nvPr>
            <p:ph idx="1"/>
          </p:nvPr>
        </p:nvSpPr>
        <p:spPr/>
        <p:txBody>
          <a:bodyPr>
            <a:normAutofit fontScale="92500" lnSpcReduction="10000"/>
          </a:bodyPr>
          <a:lstStyle/>
          <a:p>
            <a:r>
              <a:rPr lang="en-US" dirty="0"/>
              <a:t>1. At the bottom of your document insert a code chunk into white space using the </a:t>
            </a:r>
            <a:r>
              <a:rPr lang="en-US" dirty="0">
                <a:solidFill>
                  <a:schemeClr val="accent1"/>
                </a:solidFill>
              </a:rPr>
              <a:t>+C </a:t>
            </a:r>
            <a:r>
              <a:rPr lang="en-US" dirty="0"/>
              <a:t>button on top right of the Editor window</a:t>
            </a:r>
          </a:p>
          <a:p>
            <a:r>
              <a:rPr lang="en-US" dirty="0"/>
              <a:t>2. Type the following into your new code chunk: </a:t>
            </a:r>
          </a:p>
          <a:p>
            <a:pPr marL="457200" lvl="1" indent="0">
              <a:buNone/>
            </a:pPr>
            <a:r>
              <a:rPr lang="en-US" sz="3600" dirty="0">
                <a:solidFill>
                  <a:schemeClr val="accent1"/>
                </a:solidFill>
              </a:rPr>
              <a:t>mean(c(10, 20, 30))</a:t>
            </a:r>
          </a:p>
          <a:p>
            <a:r>
              <a:rPr lang="en-US" dirty="0"/>
              <a:t>3. Execute code chunk by pressing the run button on top right of code chunk</a:t>
            </a:r>
          </a:p>
          <a:p>
            <a:r>
              <a:rPr lang="en-US" dirty="0"/>
              <a:t>4. Put up your sticky note when complete</a:t>
            </a:r>
          </a:p>
          <a:p>
            <a:endParaRPr lang="en-US" dirty="0">
              <a:solidFill>
                <a:schemeClr val="accent4">
                  <a:lumMod val="75000"/>
                </a:schemeClr>
              </a:solidFill>
            </a:endParaRPr>
          </a:p>
        </p:txBody>
      </p:sp>
      <p:sp>
        <p:nvSpPr>
          <p:cNvPr id="4" name="TextBox 3">
            <a:extLst>
              <a:ext uri="{FF2B5EF4-FFF2-40B4-BE49-F238E27FC236}">
                <a16:creationId xmlns:a16="http://schemas.microsoft.com/office/drawing/2014/main" id="{64C41DE0-2DD7-F071-FEB2-95F62039CCDB}"/>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3414701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018" y="2926081"/>
            <a:ext cx="11187112" cy="1463040"/>
          </a:xfrm>
        </p:spPr>
        <p:txBody>
          <a:bodyPr/>
          <a:lstStyle/>
          <a:p>
            <a:r>
              <a:rPr lang="en-US" dirty="0"/>
              <a:t>The Basics of Coding</a:t>
            </a:r>
            <a:br>
              <a:rPr lang="en-US" dirty="0"/>
            </a:br>
            <a:endParaRPr lang="en-US" sz="3600" dirty="0"/>
          </a:p>
        </p:txBody>
      </p:sp>
    </p:spTree>
    <p:extLst>
      <p:ext uri="{BB962C8B-B14F-4D97-AF65-F5344CB8AC3E}">
        <p14:creationId xmlns:p14="http://schemas.microsoft.com/office/powerpoint/2010/main" val="2235221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2A2254F-D100-3F44-B0FC-32A5D4092B87}"/>
              </a:ext>
            </a:extLst>
          </p:cNvPr>
          <p:cNvPicPr>
            <a:picLocks noChangeAspect="1"/>
          </p:cNvPicPr>
          <p:nvPr/>
        </p:nvPicPr>
        <p:blipFill>
          <a:blip r:embed="rId3"/>
          <a:stretch>
            <a:fillRect/>
          </a:stretch>
        </p:blipFill>
        <p:spPr>
          <a:xfrm>
            <a:off x="1519770" y="3346087"/>
            <a:ext cx="5245100" cy="2082800"/>
          </a:xfrm>
          <a:prstGeom prst="rect">
            <a:avLst/>
          </a:prstGeom>
        </p:spPr>
      </p:pic>
      <p:sp>
        <p:nvSpPr>
          <p:cNvPr id="2" name="Title 1"/>
          <p:cNvSpPr>
            <a:spLocks noGrp="1"/>
          </p:cNvSpPr>
          <p:nvPr>
            <p:ph type="title"/>
          </p:nvPr>
        </p:nvSpPr>
        <p:spPr/>
        <p:txBody>
          <a:bodyPr/>
          <a:lstStyle/>
          <a:p>
            <a:r>
              <a:rPr lang="en-US" dirty="0"/>
              <a:t>The Basics of Coding:  Calculation</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286000"/>
            <a:ext cx="9948672"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R is a calculator! </a:t>
            </a:r>
            <a:endParaRPr lang="en-US" sz="2800" dirty="0"/>
          </a:p>
        </p:txBody>
      </p:sp>
      <p:grpSp>
        <p:nvGrpSpPr>
          <p:cNvPr id="9" name="Group 8">
            <a:extLst>
              <a:ext uri="{FF2B5EF4-FFF2-40B4-BE49-F238E27FC236}">
                <a16:creationId xmlns:a16="http://schemas.microsoft.com/office/drawing/2014/main" id="{AD741B97-808F-E94C-AC75-7056F05843D2}"/>
              </a:ext>
            </a:extLst>
          </p:cNvPr>
          <p:cNvGrpSpPr/>
          <p:nvPr/>
        </p:nvGrpSpPr>
        <p:grpSpPr>
          <a:xfrm>
            <a:off x="7599058" y="1612061"/>
            <a:ext cx="2922970" cy="1938992"/>
            <a:chOff x="4422679" y="2350827"/>
            <a:chExt cx="2922970" cy="1938992"/>
          </a:xfrm>
        </p:grpSpPr>
        <p:sp>
          <p:nvSpPr>
            <p:cNvPr id="7" name="Rounded Rectangular Callout 6">
              <a:extLst>
                <a:ext uri="{FF2B5EF4-FFF2-40B4-BE49-F238E27FC236}">
                  <a16:creationId xmlns:a16="http://schemas.microsoft.com/office/drawing/2014/main" id="{6B514042-561E-5C43-928B-745BEC10BAD6}"/>
                </a:ext>
              </a:extLst>
            </p:cNvPr>
            <p:cNvSpPr/>
            <p:nvPr/>
          </p:nvSpPr>
          <p:spPr>
            <a:xfrm>
              <a:off x="4422679" y="2696999"/>
              <a:ext cx="2922970" cy="1246648"/>
            </a:xfrm>
            <a:prstGeom prst="wedgeRoundRectCallout">
              <a:avLst>
                <a:gd name="adj1" fmla="val -88215"/>
                <a:gd name="adj2" fmla="val 74932"/>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584A6BE-753D-1840-85A1-A98D0F5F734D}"/>
                </a:ext>
              </a:extLst>
            </p:cNvPr>
            <p:cNvSpPr txBox="1"/>
            <p:nvPr/>
          </p:nvSpPr>
          <p:spPr>
            <a:xfrm>
              <a:off x="4536753" y="2350827"/>
              <a:ext cx="2718018" cy="1938992"/>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 press play button to execute code</a:t>
              </a:r>
            </a:p>
            <a:p>
              <a:pPr algn="ctr"/>
              <a:endParaRPr lang="en-US" dirty="0">
                <a:solidFill>
                  <a:schemeClr val="bg1"/>
                </a:solidFill>
              </a:endParaRPr>
            </a:p>
          </p:txBody>
        </p:sp>
      </p:grpSp>
      <p:sp>
        <p:nvSpPr>
          <p:cNvPr id="12" name="Rounded Rectangular Callout 11">
            <a:extLst>
              <a:ext uri="{FF2B5EF4-FFF2-40B4-BE49-F238E27FC236}">
                <a16:creationId xmlns:a16="http://schemas.microsoft.com/office/drawing/2014/main" id="{8E3C99DE-0CEE-B24B-BA88-16E942190BA9}"/>
              </a:ext>
            </a:extLst>
          </p:cNvPr>
          <p:cNvSpPr/>
          <p:nvPr/>
        </p:nvSpPr>
        <p:spPr>
          <a:xfrm>
            <a:off x="7713132" y="4937075"/>
            <a:ext cx="2718018" cy="1246648"/>
          </a:xfrm>
          <a:prstGeom prst="wedgeRoundRectCallout">
            <a:avLst>
              <a:gd name="adj1" fmla="val -103592"/>
              <a:gd name="adj2" fmla="val -27503"/>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7739482-D76C-DD40-A1EA-67813EC8AA8F}"/>
              </a:ext>
            </a:extLst>
          </p:cNvPr>
          <p:cNvSpPr txBox="1"/>
          <p:nvPr/>
        </p:nvSpPr>
        <p:spPr>
          <a:xfrm>
            <a:off x="7713132" y="4801255"/>
            <a:ext cx="2718018"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answer returned below</a:t>
            </a:r>
          </a:p>
          <a:p>
            <a:pPr algn="ctr"/>
            <a:endParaRPr lang="en-US" dirty="0">
              <a:solidFill>
                <a:schemeClr val="bg1"/>
              </a:solidFill>
            </a:endParaRPr>
          </a:p>
        </p:txBody>
      </p:sp>
    </p:spTree>
    <p:extLst>
      <p:ext uri="{BB962C8B-B14F-4D97-AF65-F5344CB8AC3E}">
        <p14:creationId xmlns:p14="http://schemas.microsoft.com/office/powerpoint/2010/main" val="199113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B2FFA-B2A7-5846-9825-16537C9F216C}"/>
              </a:ext>
            </a:extLst>
          </p:cNvPr>
          <p:cNvSpPr>
            <a:spLocks noGrp="1"/>
          </p:cNvSpPr>
          <p:nvPr>
            <p:ph type="title"/>
          </p:nvPr>
        </p:nvSpPr>
        <p:spPr/>
        <p:txBody>
          <a:bodyPr/>
          <a:lstStyle/>
          <a:p>
            <a:r>
              <a:rPr lang="en-US" dirty="0"/>
              <a:t>Common arithmetic operations</a:t>
            </a:r>
          </a:p>
        </p:txBody>
      </p:sp>
      <p:pic>
        <p:nvPicPr>
          <p:cNvPr id="6" name="Picture 5">
            <a:extLst>
              <a:ext uri="{FF2B5EF4-FFF2-40B4-BE49-F238E27FC236}">
                <a16:creationId xmlns:a16="http://schemas.microsoft.com/office/drawing/2014/main" id="{39842D64-130C-6D4D-80B4-8343E88E5318}"/>
              </a:ext>
            </a:extLst>
          </p:cNvPr>
          <p:cNvPicPr>
            <a:picLocks noChangeAspect="1"/>
          </p:cNvPicPr>
          <p:nvPr/>
        </p:nvPicPr>
        <p:blipFill>
          <a:blip r:embed="rId2"/>
          <a:stretch>
            <a:fillRect/>
          </a:stretch>
        </p:blipFill>
        <p:spPr>
          <a:xfrm>
            <a:off x="3134614" y="2177143"/>
            <a:ext cx="5499100" cy="4572000"/>
          </a:xfrm>
          <a:prstGeom prst="rect">
            <a:avLst/>
          </a:prstGeom>
        </p:spPr>
      </p:pic>
    </p:spTree>
    <p:extLst>
      <p:ext uri="{BB962C8B-B14F-4D97-AF65-F5344CB8AC3E}">
        <p14:creationId xmlns:p14="http://schemas.microsoft.com/office/powerpoint/2010/main" val="1368905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0B572-D390-7147-824F-E332E4274E2B}"/>
              </a:ext>
            </a:extLst>
          </p:cNvPr>
          <p:cNvSpPr>
            <a:spLocks noGrp="1"/>
          </p:cNvSpPr>
          <p:nvPr>
            <p:ph type="title"/>
          </p:nvPr>
        </p:nvSpPr>
        <p:spPr/>
        <p:txBody>
          <a:bodyPr/>
          <a:lstStyle/>
          <a:p>
            <a:r>
              <a:rPr lang="en-US" dirty="0"/>
              <a:t>Don’t forget those math rules</a:t>
            </a:r>
          </a:p>
        </p:txBody>
      </p:sp>
      <p:pic>
        <p:nvPicPr>
          <p:cNvPr id="4" name="Picture 3">
            <a:extLst>
              <a:ext uri="{FF2B5EF4-FFF2-40B4-BE49-F238E27FC236}">
                <a16:creationId xmlns:a16="http://schemas.microsoft.com/office/drawing/2014/main" id="{AD484E47-6236-AA41-9679-982FD318C41E}"/>
              </a:ext>
            </a:extLst>
          </p:cNvPr>
          <p:cNvPicPr>
            <a:picLocks noChangeAspect="1"/>
          </p:cNvPicPr>
          <p:nvPr/>
        </p:nvPicPr>
        <p:blipFill>
          <a:blip r:embed="rId2"/>
          <a:stretch>
            <a:fillRect/>
          </a:stretch>
        </p:blipFill>
        <p:spPr>
          <a:xfrm>
            <a:off x="3255264" y="2084832"/>
            <a:ext cx="5257800" cy="4406900"/>
          </a:xfrm>
          <a:prstGeom prst="rect">
            <a:avLst/>
          </a:prstGeom>
        </p:spPr>
      </p:pic>
    </p:spTree>
    <p:extLst>
      <p:ext uri="{BB962C8B-B14F-4D97-AF65-F5344CB8AC3E}">
        <p14:creationId xmlns:p14="http://schemas.microsoft.com/office/powerpoint/2010/main" val="2128161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Basics of Coding:  Functions</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286000"/>
            <a:ext cx="5660451"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Code that extends our reach beyond the basic operators</a:t>
            </a:r>
          </a:p>
        </p:txBody>
      </p:sp>
      <p:grpSp>
        <p:nvGrpSpPr>
          <p:cNvPr id="9" name="Group 8">
            <a:extLst>
              <a:ext uri="{FF2B5EF4-FFF2-40B4-BE49-F238E27FC236}">
                <a16:creationId xmlns:a16="http://schemas.microsoft.com/office/drawing/2014/main" id="{35C887FB-8F35-DC44-95CD-5059EB25E786}"/>
              </a:ext>
            </a:extLst>
          </p:cNvPr>
          <p:cNvGrpSpPr/>
          <p:nvPr/>
        </p:nvGrpSpPr>
        <p:grpSpPr>
          <a:xfrm>
            <a:off x="6684578" y="5029434"/>
            <a:ext cx="4832347" cy="655320"/>
            <a:chOff x="2080825" y="3162925"/>
            <a:chExt cx="8090002" cy="655320"/>
          </a:xfrm>
        </p:grpSpPr>
        <p:sp>
          <p:nvSpPr>
            <p:cNvPr id="10" name="Rectangle 9">
              <a:extLst>
                <a:ext uri="{FF2B5EF4-FFF2-40B4-BE49-F238E27FC236}">
                  <a16:creationId xmlns:a16="http://schemas.microsoft.com/office/drawing/2014/main" id="{FBF632D9-96E9-B14C-9649-228A644249DE}"/>
                </a:ext>
              </a:extLst>
            </p:cNvPr>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89C8582-2AEE-9745-BCBC-7D1441189476}"/>
                </a:ext>
              </a:extLst>
            </p:cNvPr>
            <p:cNvSpPr txBox="1"/>
            <p:nvPr/>
          </p:nvSpPr>
          <p:spPr>
            <a:xfrm>
              <a:off x="2370429" y="3235065"/>
              <a:ext cx="7800398" cy="523220"/>
            </a:xfrm>
            <a:prstGeom prst="rect">
              <a:avLst/>
            </a:prstGeom>
            <a:noFill/>
          </p:spPr>
          <p:txBody>
            <a:bodyPr wrap="square" rtlCol="0">
              <a:spAutoFit/>
            </a:bodyPr>
            <a:lstStyle/>
            <a:p>
              <a:pPr algn="ctr"/>
              <a:r>
                <a:rPr lang="en-US" sz="2800" b="1" dirty="0">
                  <a:latin typeface="Monaco" charset="0"/>
                  <a:ea typeface="Monaco" charset="0"/>
                  <a:cs typeface="Monaco" charset="0"/>
                </a:rPr>
                <a:t>abs</a:t>
              </a:r>
              <a:r>
                <a:rPr lang="en-US" sz="2800" dirty="0">
                  <a:latin typeface="Monaco" charset="0"/>
                  <a:ea typeface="Monaco" charset="0"/>
                  <a:cs typeface="Monaco" charset="0"/>
                </a:rPr>
                <a:t>(</a:t>
              </a:r>
              <a:r>
                <a:rPr lang="en-US" sz="2800" i="1" dirty="0">
                  <a:solidFill>
                    <a:srgbClr val="0070C0"/>
                  </a:solidFill>
                  <a:latin typeface="Monaco" charset="0"/>
                  <a:ea typeface="Monaco" charset="0"/>
                  <a:cs typeface="Monaco" charset="0"/>
                </a:rPr>
                <a:t>-77 </a:t>
              </a:r>
              <a:r>
                <a:rPr lang="en-US" sz="2800" dirty="0">
                  <a:latin typeface="Monaco" charset="0"/>
                  <a:ea typeface="Monaco" charset="0"/>
                  <a:cs typeface="Monaco" charset="0"/>
                </a:rPr>
                <a:t>)</a:t>
              </a:r>
            </a:p>
          </p:txBody>
        </p:sp>
      </p:grpSp>
      <p:grpSp>
        <p:nvGrpSpPr>
          <p:cNvPr id="12" name="Group 11">
            <a:extLst>
              <a:ext uri="{FF2B5EF4-FFF2-40B4-BE49-F238E27FC236}">
                <a16:creationId xmlns:a16="http://schemas.microsoft.com/office/drawing/2014/main" id="{2221ED05-9288-114D-BD2F-46901A17F627}"/>
              </a:ext>
            </a:extLst>
          </p:cNvPr>
          <p:cNvGrpSpPr/>
          <p:nvPr/>
        </p:nvGrpSpPr>
        <p:grpSpPr>
          <a:xfrm>
            <a:off x="6684579" y="3429000"/>
            <a:ext cx="2365216" cy="1692771"/>
            <a:chOff x="1322364" y="4528478"/>
            <a:chExt cx="1503814" cy="1301318"/>
          </a:xfrm>
        </p:grpSpPr>
        <p:sp>
          <p:nvSpPr>
            <p:cNvPr id="13" name="Rounded Rectangular Callout 12">
              <a:extLst>
                <a:ext uri="{FF2B5EF4-FFF2-40B4-BE49-F238E27FC236}">
                  <a16:creationId xmlns:a16="http://schemas.microsoft.com/office/drawing/2014/main" id="{ED3FE3AC-7180-BC4A-B0D3-37B079170CB0}"/>
                </a:ext>
              </a:extLst>
            </p:cNvPr>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806C00B-06A2-BB4A-A6E5-E9E0BF3443D1}"/>
                </a:ext>
              </a:extLst>
            </p:cNvPr>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15" name="Group 14">
            <a:extLst>
              <a:ext uri="{FF2B5EF4-FFF2-40B4-BE49-F238E27FC236}">
                <a16:creationId xmlns:a16="http://schemas.microsoft.com/office/drawing/2014/main" id="{E7C31AD6-0384-6045-8144-C2ABB23318BD}"/>
              </a:ext>
            </a:extLst>
          </p:cNvPr>
          <p:cNvGrpSpPr/>
          <p:nvPr/>
        </p:nvGrpSpPr>
        <p:grpSpPr>
          <a:xfrm>
            <a:off x="9329807" y="3428997"/>
            <a:ext cx="2365216" cy="1692772"/>
            <a:chOff x="1322364" y="4528477"/>
            <a:chExt cx="1503814" cy="1301319"/>
          </a:xfrm>
        </p:grpSpPr>
        <p:sp>
          <p:nvSpPr>
            <p:cNvPr id="16" name="Rounded Rectangular Callout 15">
              <a:extLst>
                <a:ext uri="{FF2B5EF4-FFF2-40B4-BE49-F238E27FC236}">
                  <a16:creationId xmlns:a16="http://schemas.microsoft.com/office/drawing/2014/main" id="{11825281-6595-9C45-8D98-686969D5DFF8}"/>
                </a:ext>
              </a:extLst>
            </p:cNvPr>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52606BD-60C4-2E49-9785-F15AD294B4B0}"/>
                </a:ext>
              </a:extLst>
            </p:cNvPr>
            <p:cNvSpPr txBox="1"/>
            <p:nvPr/>
          </p:nvSpPr>
          <p:spPr>
            <a:xfrm>
              <a:off x="1322364" y="4528477"/>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a:t>
              </a:r>
            </a:p>
            <a:p>
              <a:pPr algn="ctr"/>
              <a:r>
                <a:rPr lang="en-US" sz="2800" dirty="0">
                  <a:solidFill>
                    <a:schemeClr val="bg1"/>
                  </a:solidFill>
                </a:rPr>
                <a:t>(input)</a:t>
              </a:r>
            </a:p>
            <a:p>
              <a:pPr algn="ctr"/>
              <a:endParaRPr lang="en-US" dirty="0">
                <a:solidFill>
                  <a:schemeClr val="bg1"/>
                </a:solidFill>
              </a:endParaRPr>
            </a:p>
          </p:txBody>
        </p:sp>
      </p:grpSp>
      <p:pic>
        <p:nvPicPr>
          <p:cNvPr id="20" name="Picture 19">
            <a:extLst>
              <a:ext uri="{FF2B5EF4-FFF2-40B4-BE49-F238E27FC236}">
                <a16:creationId xmlns:a16="http://schemas.microsoft.com/office/drawing/2014/main" id="{F79953C6-31C3-D24D-8A71-B851A05F4AC2}"/>
              </a:ext>
            </a:extLst>
          </p:cNvPr>
          <p:cNvPicPr>
            <a:picLocks noChangeAspect="1"/>
          </p:cNvPicPr>
          <p:nvPr/>
        </p:nvPicPr>
        <p:blipFill>
          <a:blip r:embed="rId3"/>
          <a:stretch>
            <a:fillRect/>
          </a:stretch>
        </p:blipFill>
        <p:spPr>
          <a:xfrm>
            <a:off x="1752600" y="3610647"/>
            <a:ext cx="3581400" cy="2336800"/>
          </a:xfrm>
          <a:prstGeom prst="rect">
            <a:avLst/>
          </a:prstGeom>
        </p:spPr>
      </p:pic>
    </p:spTree>
    <p:extLst>
      <p:ext uri="{BB962C8B-B14F-4D97-AF65-F5344CB8AC3E}">
        <p14:creationId xmlns:p14="http://schemas.microsoft.com/office/powerpoint/2010/main" val="3974756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Putting Functions to Work</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084832"/>
            <a:ext cx="9948672" cy="4224528"/>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We can use functions to do more than simple math, we can make things!</a:t>
            </a:r>
          </a:p>
          <a:p>
            <a:pPr>
              <a:buFont typeface="Arial" panose="020B0604020202020204" pitchFamily="34" charset="0"/>
              <a:buChar char="•"/>
            </a:pPr>
            <a:r>
              <a:rPr lang="en-US" sz="3200" dirty="0"/>
              <a:t>We can create a series of integers (a vector) using the </a:t>
            </a:r>
            <a:r>
              <a:rPr lang="en-US" sz="3200" dirty="0" err="1"/>
              <a:t>seq</a:t>
            </a:r>
            <a:r>
              <a:rPr lang="en-US" sz="3200" dirty="0"/>
              <a:t>() function</a:t>
            </a:r>
          </a:p>
          <a:p>
            <a:pPr>
              <a:buFont typeface="Arial" panose="020B0604020202020204" pitchFamily="34" charset="0"/>
              <a:buChar char="•"/>
            </a:pPr>
            <a:endParaRPr lang="en-US" sz="2800" dirty="0"/>
          </a:p>
        </p:txBody>
      </p:sp>
      <p:pic>
        <p:nvPicPr>
          <p:cNvPr id="7" name="Picture 6">
            <a:extLst>
              <a:ext uri="{FF2B5EF4-FFF2-40B4-BE49-F238E27FC236}">
                <a16:creationId xmlns:a16="http://schemas.microsoft.com/office/drawing/2014/main" id="{AA344CEA-018E-F444-8E1A-EF25F2B56E4A}"/>
              </a:ext>
            </a:extLst>
          </p:cNvPr>
          <p:cNvPicPr>
            <a:picLocks noChangeAspect="1"/>
          </p:cNvPicPr>
          <p:nvPr/>
        </p:nvPicPr>
        <p:blipFill>
          <a:blip r:embed="rId3"/>
          <a:stretch>
            <a:fillRect/>
          </a:stretch>
        </p:blipFill>
        <p:spPr>
          <a:xfrm>
            <a:off x="1604264" y="4332024"/>
            <a:ext cx="8788400" cy="2413000"/>
          </a:xfrm>
          <a:prstGeom prst="rect">
            <a:avLst/>
          </a:prstGeom>
        </p:spPr>
      </p:pic>
    </p:spTree>
    <p:extLst>
      <p:ext uri="{BB962C8B-B14F-4D97-AF65-F5344CB8AC3E}">
        <p14:creationId xmlns:p14="http://schemas.microsoft.com/office/powerpoint/2010/main" val="1963900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Basics of Coding:  Objects</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286000"/>
            <a:ext cx="9948672"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endParaRPr lang="en-US" sz="2800" dirty="0"/>
          </a:p>
        </p:txBody>
      </p:sp>
      <p:sp>
        <p:nvSpPr>
          <p:cNvPr id="4" name="Content Placeholder 2">
            <a:extLst>
              <a:ext uri="{FF2B5EF4-FFF2-40B4-BE49-F238E27FC236}">
                <a16:creationId xmlns:a16="http://schemas.microsoft.com/office/drawing/2014/main" id="{0150BE79-1B33-FF41-954A-DF9704FB3AAE}"/>
              </a:ext>
            </a:extLst>
          </p:cNvPr>
          <p:cNvSpPr txBox="1">
            <a:spLocks/>
          </p:cNvSpPr>
          <p:nvPr/>
        </p:nvSpPr>
        <p:spPr>
          <a:xfrm>
            <a:off x="1176528" y="2438400"/>
            <a:ext cx="9948672"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Objects are the container for your output</a:t>
            </a:r>
          </a:p>
        </p:txBody>
      </p:sp>
      <p:grpSp>
        <p:nvGrpSpPr>
          <p:cNvPr id="6" name="Group 5">
            <a:extLst>
              <a:ext uri="{FF2B5EF4-FFF2-40B4-BE49-F238E27FC236}">
                <a16:creationId xmlns:a16="http://schemas.microsoft.com/office/drawing/2014/main" id="{478677F6-A013-0547-893B-4ED5F0D89920}"/>
              </a:ext>
            </a:extLst>
          </p:cNvPr>
          <p:cNvGrpSpPr/>
          <p:nvPr/>
        </p:nvGrpSpPr>
        <p:grpSpPr>
          <a:xfrm>
            <a:off x="712425" y="5158026"/>
            <a:ext cx="10757339" cy="655320"/>
            <a:chOff x="2080825" y="3162925"/>
            <a:chExt cx="8090003" cy="655320"/>
          </a:xfrm>
        </p:grpSpPr>
        <p:sp>
          <p:nvSpPr>
            <p:cNvPr id="7" name="Rectangle 6">
              <a:extLst>
                <a:ext uri="{FF2B5EF4-FFF2-40B4-BE49-F238E27FC236}">
                  <a16:creationId xmlns:a16="http://schemas.microsoft.com/office/drawing/2014/main" id="{E6EB63E2-211A-B242-BC5B-5C74CAE71051}"/>
                </a:ext>
              </a:extLst>
            </p:cNvPr>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F9D1304-1B7B-C647-99EB-BFD02FDECCF6}"/>
                </a:ext>
              </a:extLst>
            </p:cNvPr>
            <p:cNvSpPr txBox="1"/>
            <p:nvPr/>
          </p:nvSpPr>
          <p:spPr>
            <a:xfrm>
              <a:off x="2080826" y="3235065"/>
              <a:ext cx="8090002" cy="523220"/>
            </a:xfrm>
            <a:prstGeom prst="rect">
              <a:avLst/>
            </a:prstGeom>
            <a:noFill/>
          </p:spPr>
          <p:txBody>
            <a:bodyPr wrap="square" rtlCol="0">
              <a:spAutoFit/>
            </a:bodyPr>
            <a:lstStyle/>
            <a:p>
              <a:pPr algn="ctr"/>
              <a:r>
                <a:rPr lang="en-US" sz="2800" dirty="0">
                  <a:solidFill>
                    <a:srgbClr val="0070C0"/>
                  </a:solidFill>
                  <a:latin typeface="Monaco" charset="0"/>
                  <a:ea typeface="Monaco" charset="0"/>
                  <a:cs typeface="Monaco" charset="0"/>
                </a:rPr>
                <a:t>sequence_of_10s </a:t>
              </a:r>
              <a:r>
                <a:rPr lang="en-US" sz="2800" dirty="0">
                  <a:latin typeface="Monaco" charset="0"/>
                  <a:ea typeface="Monaco" charset="0"/>
                  <a:cs typeface="Monaco" charset="0"/>
                </a:rPr>
                <a:t>&lt;- </a:t>
              </a:r>
              <a:r>
                <a:rPr lang="en-US" sz="2800" b="1" dirty="0" err="1">
                  <a:latin typeface="Monaco" charset="0"/>
                  <a:ea typeface="Monaco" charset="0"/>
                  <a:cs typeface="Monaco" charset="0"/>
                </a:rPr>
                <a:t>seq</a:t>
              </a:r>
              <a:r>
                <a:rPr lang="en-US" sz="2800" dirty="0">
                  <a:latin typeface="Monaco" charset="0"/>
                  <a:ea typeface="Monaco" charset="0"/>
                  <a:cs typeface="Monaco" charset="0"/>
                </a:rPr>
                <a:t>(</a:t>
              </a:r>
              <a:r>
                <a:rPr lang="en-US" sz="2800" dirty="0">
                  <a:solidFill>
                    <a:srgbClr val="0070C0"/>
                  </a:solidFill>
                  <a:latin typeface="Monaco" charset="0"/>
                  <a:ea typeface="Monaco" charset="0"/>
                  <a:cs typeface="Monaco" charset="0"/>
                </a:rPr>
                <a:t>from=5, to=150, by=10 </a:t>
              </a:r>
              <a:r>
                <a:rPr lang="en-US" sz="2800" dirty="0">
                  <a:latin typeface="Monaco" charset="0"/>
                  <a:ea typeface="Monaco" charset="0"/>
                  <a:cs typeface="Monaco" charset="0"/>
                </a:rPr>
                <a:t>)</a:t>
              </a:r>
            </a:p>
          </p:txBody>
        </p:sp>
      </p:grpSp>
      <p:grpSp>
        <p:nvGrpSpPr>
          <p:cNvPr id="9" name="Group 8">
            <a:extLst>
              <a:ext uri="{FF2B5EF4-FFF2-40B4-BE49-F238E27FC236}">
                <a16:creationId xmlns:a16="http://schemas.microsoft.com/office/drawing/2014/main" id="{DF717633-0643-DE43-8D00-0A4256574544}"/>
              </a:ext>
            </a:extLst>
          </p:cNvPr>
          <p:cNvGrpSpPr/>
          <p:nvPr/>
        </p:nvGrpSpPr>
        <p:grpSpPr>
          <a:xfrm>
            <a:off x="4655558" y="3389054"/>
            <a:ext cx="2365216" cy="1692771"/>
            <a:chOff x="1322364" y="4528478"/>
            <a:chExt cx="1503814" cy="1301318"/>
          </a:xfrm>
        </p:grpSpPr>
        <p:sp>
          <p:nvSpPr>
            <p:cNvPr id="10" name="Rounded Rectangular Callout 9">
              <a:extLst>
                <a:ext uri="{FF2B5EF4-FFF2-40B4-BE49-F238E27FC236}">
                  <a16:creationId xmlns:a16="http://schemas.microsoft.com/office/drawing/2014/main" id="{9A83F5DD-9F7C-4A4A-B458-DD52F14C3CD6}"/>
                </a:ext>
              </a:extLst>
            </p:cNvPr>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852E4B6-120D-1443-8E08-CD0D8BB97BD2}"/>
                </a:ext>
              </a:extLst>
            </p:cNvPr>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12" name="Group 11">
            <a:extLst>
              <a:ext uri="{FF2B5EF4-FFF2-40B4-BE49-F238E27FC236}">
                <a16:creationId xmlns:a16="http://schemas.microsoft.com/office/drawing/2014/main" id="{D3A45335-80B3-664B-B232-6D3002092D72}"/>
              </a:ext>
            </a:extLst>
          </p:cNvPr>
          <p:cNvGrpSpPr/>
          <p:nvPr/>
        </p:nvGrpSpPr>
        <p:grpSpPr>
          <a:xfrm>
            <a:off x="8124780" y="3389054"/>
            <a:ext cx="2365216" cy="1692772"/>
            <a:chOff x="1322364" y="4528478"/>
            <a:chExt cx="1503814" cy="1301319"/>
          </a:xfrm>
        </p:grpSpPr>
        <p:sp>
          <p:nvSpPr>
            <p:cNvPr id="13" name="Rounded Rectangular Callout 12">
              <a:extLst>
                <a:ext uri="{FF2B5EF4-FFF2-40B4-BE49-F238E27FC236}">
                  <a16:creationId xmlns:a16="http://schemas.microsoft.com/office/drawing/2014/main" id="{A2065173-5FD9-2F40-95CB-37FEBEABC384}"/>
                </a:ext>
              </a:extLst>
            </p:cNvPr>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6A16EB6-A8A7-F746-A0DB-D19EEA696A8E}"/>
                </a:ext>
              </a:extLst>
            </p:cNvPr>
            <p:cNvSpPr txBox="1"/>
            <p:nvPr/>
          </p:nvSpPr>
          <p:spPr>
            <a:xfrm>
              <a:off x="1322364" y="4528478"/>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arguments</a:t>
              </a:r>
            </a:p>
            <a:p>
              <a:pPr algn="ctr"/>
              <a:r>
                <a:rPr lang="en-US" sz="2800" dirty="0">
                  <a:solidFill>
                    <a:schemeClr val="bg1"/>
                  </a:solidFill>
                </a:rPr>
                <a:t>(input)</a:t>
              </a:r>
            </a:p>
            <a:p>
              <a:pPr algn="ctr"/>
              <a:endParaRPr lang="en-US" dirty="0">
                <a:solidFill>
                  <a:schemeClr val="bg1"/>
                </a:solidFill>
              </a:endParaRPr>
            </a:p>
          </p:txBody>
        </p:sp>
      </p:grpSp>
      <p:grpSp>
        <p:nvGrpSpPr>
          <p:cNvPr id="15" name="Group 14">
            <a:extLst>
              <a:ext uri="{FF2B5EF4-FFF2-40B4-BE49-F238E27FC236}">
                <a16:creationId xmlns:a16="http://schemas.microsoft.com/office/drawing/2014/main" id="{30EA3784-29F7-3248-B31D-70FA7998E122}"/>
              </a:ext>
            </a:extLst>
          </p:cNvPr>
          <p:cNvGrpSpPr/>
          <p:nvPr/>
        </p:nvGrpSpPr>
        <p:grpSpPr>
          <a:xfrm>
            <a:off x="1978640" y="3358277"/>
            <a:ext cx="2365216" cy="1754326"/>
            <a:chOff x="1968398" y="1876487"/>
            <a:chExt cx="2365216" cy="1754326"/>
          </a:xfrm>
        </p:grpSpPr>
        <p:sp>
          <p:nvSpPr>
            <p:cNvPr id="16" name="Rounded Rectangular Callout 15">
              <a:extLst>
                <a:ext uri="{FF2B5EF4-FFF2-40B4-BE49-F238E27FC236}">
                  <a16:creationId xmlns:a16="http://schemas.microsoft.com/office/drawing/2014/main" id="{EDFE8737-A973-6945-A5F5-E12E84037A28}"/>
                </a:ext>
              </a:extLst>
            </p:cNvPr>
            <p:cNvSpPr/>
            <p:nvPr/>
          </p:nvSpPr>
          <p:spPr>
            <a:xfrm>
              <a:off x="1968398" y="2135413"/>
              <a:ext cx="2365216" cy="1246649"/>
            </a:xfrm>
            <a:prstGeom prst="wedgeRoundRectCallout">
              <a:avLst>
                <a:gd name="adj1" fmla="val 1102"/>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6BA87D2-B740-5F49-883B-6508B8887B1E}"/>
                </a:ext>
              </a:extLst>
            </p:cNvPr>
            <p:cNvSpPr txBox="1"/>
            <p:nvPr/>
          </p:nvSpPr>
          <p:spPr>
            <a:xfrm>
              <a:off x="1968398" y="1876487"/>
              <a:ext cx="2365216" cy="1754326"/>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object</a:t>
              </a:r>
            </a:p>
            <a:p>
              <a:pPr algn="ctr"/>
              <a:r>
                <a:rPr lang="en-US" sz="2800" dirty="0">
                  <a:solidFill>
                    <a:schemeClr val="bg1"/>
                  </a:solidFill>
                </a:rPr>
                <a:t>(stores output)</a:t>
              </a:r>
              <a:endParaRPr lang="en-US" dirty="0">
                <a:solidFill>
                  <a:schemeClr val="bg1"/>
                </a:solidFill>
              </a:endParaRPr>
            </a:p>
            <a:p>
              <a:pPr algn="ctr"/>
              <a:endParaRPr lang="en-US" dirty="0">
                <a:solidFill>
                  <a:schemeClr val="bg1"/>
                </a:solidFill>
              </a:endParaRPr>
            </a:p>
          </p:txBody>
        </p:sp>
      </p:grpSp>
    </p:spTree>
    <p:extLst>
      <p:ext uri="{BB962C8B-B14F-4D97-AF65-F5344CB8AC3E}">
        <p14:creationId xmlns:p14="http://schemas.microsoft.com/office/powerpoint/2010/main" val="17371681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Checking the contents of an object</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286000"/>
            <a:ext cx="10072658"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The environment tab shows us the objects we have created.</a:t>
            </a:r>
          </a:p>
        </p:txBody>
      </p:sp>
      <p:pic>
        <p:nvPicPr>
          <p:cNvPr id="4" name="Picture 3">
            <a:extLst>
              <a:ext uri="{FF2B5EF4-FFF2-40B4-BE49-F238E27FC236}">
                <a16:creationId xmlns:a16="http://schemas.microsoft.com/office/drawing/2014/main" id="{67603056-AAA6-F741-8244-AF94727F5374}"/>
              </a:ext>
            </a:extLst>
          </p:cNvPr>
          <p:cNvPicPr>
            <a:picLocks noChangeAspect="1"/>
          </p:cNvPicPr>
          <p:nvPr/>
        </p:nvPicPr>
        <p:blipFill>
          <a:blip r:embed="rId3"/>
          <a:stretch>
            <a:fillRect/>
          </a:stretch>
        </p:blipFill>
        <p:spPr>
          <a:xfrm>
            <a:off x="2190094" y="3321288"/>
            <a:ext cx="7805244" cy="3189240"/>
          </a:xfrm>
          <a:prstGeom prst="rect">
            <a:avLst/>
          </a:prstGeom>
        </p:spPr>
      </p:pic>
    </p:spTree>
    <p:extLst>
      <p:ext uri="{BB962C8B-B14F-4D97-AF65-F5344CB8AC3E}">
        <p14:creationId xmlns:p14="http://schemas.microsoft.com/office/powerpoint/2010/main" val="172005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0EF04-E51F-2EE2-2C3A-EA64F964097E}"/>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3A329342-1E52-7ABB-E293-D0E10065013F}"/>
              </a:ext>
            </a:extLst>
          </p:cNvPr>
          <p:cNvSpPr/>
          <p:nvPr/>
        </p:nvSpPr>
        <p:spPr>
          <a:xfrm>
            <a:off x="3979620" y="2195741"/>
            <a:ext cx="4400896" cy="2802389"/>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9F29464-D3D0-AA37-09BC-3E72651860FE}"/>
              </a:ext>
            </a:extLst>
          </p:cNvPr>
          <p:cNvPicPr>
            <a:picLocks noChangeAspect="1"/>
          </p:cNvPicPr>
          <p:nvPr/>
        </p:nvPicPr>
        <p:blipFill>
          <a:blip r:embed="rId3"/>
          <a:stretch>
            <a:fillRect/>
          </a:stretch>
        </p:blipFill>
        <p:spPr>
          <a:xfrm>
            <a:off x="838200" y="4430032"/>
            <a:ext cx="2541814" cy="1504637"/>
          </a:xfrm>
          <a:prstGeom prst="rect">
            <a:avLst/>
          </a:prstGeom>
        </p:spPr>
      </p:pic>
      <p:grpSp>
        <p:nvGrpSpPr>
          <p:cNvPr id="18" name="Group 17">
            <a:extLst>
              <a:ext uri="{FF2B5EF4-FFF2-40B4-BE49-F238E27FC236}">
                <a16:creationId xmlns:a16="http://schemas.microsoft.com/office/drawing/2014/main" id="{62CC129E-7B37-C921-1323-DDF9BB5D8912}"/>
              </a:ext>
            </a:extLst>
          </p:cNvPr>
          <p:cNvGrpSpPr/>
          <p:nvPr/>
        </p:nvGrpSpPr>
        <p:grpSpPr>
          <a:xfrm>
            <a:off x="2522583" y="4225771"/>
            <a:ext cx="740228" cy="265220"/>
            <a:chOff x="2522583" y="4225771"/>
            <a:chExt cx="740228" cy="265220"/>
          </a:xfrm>
        </p:grpSpPr>
        <p:sp>
          <p:nvSpPr>
            <p:cNvPr id="6" name="Rectangle 5">
              <a:extLst>
                <a:ext uri="{FF2B5EF4-FFF2-40B4-BE49-F238E27FC236}">
                  <a16:creationId xmlns:a16="http://schemas.microsoft.com/office/drawing/2014/main" id="{888143CB-E098-8EF6-AEF1-3FF9F2905EF6}"/>
                </a:ext>
              </a:extLst>
            </p:cNvPr>
            <p:cNvSpPr/>
            <p:nvPr/>
          </p:nvSpPr>
          <p:spPr>
            <a:xfrm>
              <a:off x="2522583" y="4445272"/>
              <a:ext cx="740228" cy="45719"/>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80042914-50E2-D68B-3A4A-AA63181906FE}"/>
                </a:ext>
              </a:extLst>
            </p:cNvPr>
            <p:cNvCxnSpPr>
              <a:cxnSpLocks/>
            </p:cNvCxnSpPr>
            <p:nvPr/>
          </p:nvCxnSpPr>
          <p:spPr>
            <a:xfrm>
              <a:off x="253346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C7E4336-D99C-7417-9C3A-12D77FC281F4}"/>
                </a:ext>
              </a:extLst>
            </p:cNvPr>
            <p:cNvCxnSpPr>
              <a:cxnSpLocks/>
            </p:cNvCxnSpPr>
            <p:nvPr/>
          </p:nvCxnSpPr>
          <p:spPr>
            <a:xfrm>
              <a:off x="271253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C7C4B3E-0BBE-AFAE-5806-B2EEB4DFBD95}"/>
                </a:ext>
              </a:extLst>
            </p:cNvPr>
            <p:cNvCxnSpPr>
              <a:cxnSpLocks/>
            </p:cNvCxnSpPr>
            <p:nvPr/>
          </p:nvCxnSpPr>
          <p:spPr>
            <a:xfrm>
              <a:off x="289160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C466439-2CA2-9F23-E590-87E8B5484D9C}"/>
                </a:ext>
              </a:extLst>
            </p:cNvPr>
            <p:cNvCxnSpPr>
              <a:cxnSpLocks/>
            </p:cNvCxnSpPr>
            <p:nvPr/>
          </p:nvCxnSpPr>
          <p:spPr>
            <a:xfrm>
              <a:off x="307067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0F7DCFC-A348-F294-F29D-7D30C7575C98}"/>
                </a:ext>
              </a:extLst>
            </p:cNvPr>
            <p:cNvCxnSpPr>
              <a:cxnSpLocks/>
            </p:cNvCxnSpPr>
            <p:nvPr/>
          </p:nvCxnSpPr>
          <p:spPr>
            <a:xfrm>
              <a:off x="324974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5" name="Picture 14">
            <a:extLst>
              <a:ext uri="{FF2B5EF4-FFF2-40B4-BE49-F238E27FC236}">
                <a16:creationId xmlns:a16="http://schemas.microsoft.com/office/drawing/2014/main" id="{705424B8-70BA-452A-F765-855BE6ABA72D}"/>
              </a:ext>
            </a:extLst>
          </p:cNvPr>
          <p:cNvPicPr>
            <a:picLocks noChangeAspect="1"/>
          </p:cNvPicPr>
          <p:nvPr/>
        </p:nvPicPr>
        <p:blipFill>
          <a:blip r:embed="rId4"/>
          <a:stretch>
            <a:fillRect/>
          </a:stretch>
        </p:blipFill>
        <p:spPr>
          <a:xfrm>
            <a:off x="9005327" y="3069980"/>
            <a:ext cx="936696" cy="2842022"/>
          </a:xfrm>
          <a:prstGeom prst="rect">
            <a:avLst/>
          </a:prstGeom>
        </p:spPr>
      </p:pic>
      <p:pic>
        <p:nvPicPr>
          <p:cNvPr id="16" name="Picture 15">
            <a:extLst>
              <a:ext uri="{FF2B5EF4-FFF2-40B4-BE49-F238E27FC236}">
                <a16:creationId xmlns:a16="http://schemas.microsoft.com/office/drawing/2014/main" id="{C69881BA-D9F0-B802-8576-CB559F60E3B9}"/>
              </a:ext>
            </a:extLst>
          </p:cNvPr>
          <p:cNvPicPr>
            <a:picLocks noChangeAspect="1"/>
          </p:cNvPicPr>
          <p:nvPr/>
        </p:nvPicPr>
        <p:blipFill>
          <a:blip r:embed="rId4"/>
          <a:stretch>
            <a:fillRect/>
          </a:stretch>
        </p:blipFill>
        <p:spPr>
          <a:xfrm>
            <a:off x="10098414" y="3069980"/>
            <a:ext cx="936696" cy="2842022"/>
          </a:xfrm>
          <a:prstGeom prst="rect">
            <a:avLst/>
          </a:prstGeom>
        </p:spPr>
      </p:pic>
      <p:pic>
        <p:nvPicPr>
          <p:cNvPr id="20" name="Picture 19">
            <a:extLst>
              <a:ext uri="{FF2B5EF4-FFF2-40B4-BE49-F238E27FC236}">
                <a16:creationId xmlns:a16="http://schemas.microsoft.com/office/drawing/2014/main" id="{D016E1E0-A03E-475F-DBAC-4BEF7BCB0889}"/>
              </a:ext>
            </a:extLst>
          </p:cNvPr>
          <p:cNvPicPr>
            <a:picLocks noChangeAspect="1"/>
          </p:cNvPicPr>
          <p:nvPr/>
        </p:nvPicPr>
        <p:blipFill>
          <a:blip r:embed="rId5"/>
          <a:stretch>
            <a:fillRect/>
          </a:stretch>
        </p:blipFill>
        <p:spPr>
          <a:xfrm>
            <a:off x="4059521" y="2284521"/>
            <a:ext cx="4241095" cy="2624832"/>
          </a:xfrm>
          <a:prstGeom prst="rect">
            <a:avLst/>
          </a:prstGeom>
        </p:spPr>
      </p:pic>
      <p:sp>
        <p:nvSpPr>
          <p:cNvPr id="22" name="TextBox 21">
            <a:extLst>
              <a:ext uri="{FF2B5EF4-FFF2-40B4-BE49-F238E27FC236}">
                <a16:creationId xmlns:a16="http://schemas.microsoft.com/office/drawing/2014/main" id="{6850BD4C-94A8-AA85-B94B-668D876FAB42}"/>
              </a:ext>
            </a:extLst>
          </p:cNvPr>
          <p:cNvSpPr txBox="1"/>
          <p:nvPr/>
        </p:nvSpPr>
        <p:spPr>
          <a:xfrm>
            <a:off x="8814476" y="2651416"/>
            <a:ext cx="1318398" cy="369332"/>
          </a:xfrm>
          <a:prstGeom prst="rect">
            <a:avLst/>
          </a:prstGeom>
          <a:noFill/>
        </p:spPr>
        <p:txBody>
          <a:bodyPr wrap="square" rtlCol="0">
            <a:spAutoFit/>
          </a:bodyPr>
          <a:lstStyle/>
          <a:p>
            <a:pPr algn="ctr"/>
            <a:r>
              <a:rPr lang="en-US" dirty="0"/>
              <a:t>Procedures</a:t>
            </a:r>
          </a:p>
        </p:txBody>
      </p:sp>
      <p:sp>
        <p:nvSpPr>
          <p:cNvPr id="23" name="TextBox 22">
            <a:extLst>
              <a:ext uri="{FF2B5EF4-FFF2-40B4-BE49-F238E27FC236}">
                <a16:creationId xmlns:a16="http://schemas.microsoft.com/office/drawing/2014/main" id="{699BE74C-E1C7-76CB-6C36-22E94EB9BDA9}"/>
              </a:ext>
            </a:extLst>
          </p:cNvPr>
          <p:cNvSpPr txBox="1"/>
          <p:nvPr/>
        </p:nvSpPr>
        <p:spPr>
          <a:xfrm>
            <a:off x="9907563" y="2651416"/>
            <a:ext cx="1318398" cy="369332"/>
          </a:xfrm>
          <a:prstGeom prst="rect">
            <a:avLst/>
          </a:prstGeom>
          <a:noFill/>
        </p:spPr>
        <p:txBody>
          <a:bodyPr wrap="square" rtlCol="0">
            <a:spAutoFit/>
          </a:bodyPr>
          <a:lstStyle/>
          <a:p>
            <a:pPr algn="ctr"/>
            <a:r>
              <a:rPr lang="en-US" dirty="0"/>
              <a:t>Data</a:t>
            </a:r>
          </a:p>
        </p:txBody>
      </p:sp>
      <p:sp>
        <p:nvSpPr>
          <p:cNvPr id="24" name="TextBox 23">
            <a:extLst>
              <a:ext uri="{FF2B5EF4-FFF2-40B4-BE49-F238E27FC236}">
                <a16:creationId xmlns:a16="http://schemas.microsoft.com/office/drawing/2014/main" id="{48027577-38BB-A31C-3B8B-5F81933342CA}"/>
              </a:ext>
            </a:extLst>
          </p:cNvPr>
          <p:cNvSpPr txBox="1"/>
          <p:nvPr/>
        </p:nvSpPr>
        <p:spPr>
          <a:xfrm>
            <a:off x="1315947" y="1645296"/>
            <a:ext cx="1565045" cy="461665"/>
          </a:xfrm>
          <a:prstGeom prst="rect">
            <a:avLst/>
          </a:prstGeom>
          <a:noFill/>
        </p:spPr>
        <p:txBody>
          <a:bodyPr wrap="none" rtlCol="0">
            <a:spAutoFit/>
          </a:bodyPr>
          <a:lstStyle/>
          <a:p>
            <a:pPr algn="ctr"/>
            <a:r>
              <a:rPr lang="en-US" sz="2400" dirty="0"/>
              <a:t>Workspace</a:t>
            </a:r>
          </a:p>
        </p:txBody>
      </p:sp>
      <p:sp>
        <p:nvSpPr>
          <p:cNvPr id="25" name="TextBox 24">
            <a:extLst>
              <a:ext uri="{FF2B5EF4-FFF2-40B4-BE49-F238E27FC236}">
                <a16:creationId xmlns:a16="http://schemas.microsoft.com/office/drawing/2014/main" id="{B18D58B7-C1C4-9D5D-F841-D53021581751}"/>
              </a:ext>
            </a:extLst>
          </p:cNvPr>
          <p:cNvSpPr txBox="1"/>
          <p:nvPr/>
        </p:nvSpPr>
        <p:spPr>
          <a:xfrm>
            <a:off x="4613694" y="1645296"/>
            <a:ext cx="3061736" cy="461665"/>
          </a:xfrm>
          <a:prstGeom prst="rect">
            <a:avLst/>
          </a:prstGeom>
          <a:noFill/>
        </p:spPr>
        <p:txBody>
          <a:bodyPr wrap="none" rtlCol="0">
            <a:spAutoFit/>
          </a:bodyPr>
          <a:lstStyle/>
          <a:p>
            <a:pPr algn="ctr"/>
            <a:r>
              <a:rPr lang="en-US" sz="2400" dirty="0"/>
              <a:t>Numbered letter boxes</a:t>
            </a:r>
          </a:p>
        </p:txBody>
      </p:sp>
      <p:sp>
        <p:nvSpPr>
          <p:cNvPr id="26" name="TextBox 25">
            <a:extLst>
              <a:ext uri="{FF2B5EF4-FFF2-40B4-BE49-F238E27FC236}">
                <a16:creationId xmlns:a16="http://schemas.microsoft.com/office/drawing/2014/main" id="{CF03701F-961E-2D7C-9EAB-F3A45864CF85}"/>
              </a:ext>
            </a:extLst>
          </p:cNvPr>
          <p:cNvSpPr txBox="1"/>
          <p:nvPr/>
        </p:nvSpPr>
        <p:spPr>
          <a:xfrm>
            <a:off x="9649981" y="1645296"/>
            <a:ext cx="740908" cy="461665"/>
          </a:xfrm>
          <a:prstGeom prst="rect">
            <a:avLst/>
          </a:prstGeom>
          <a:noFill/>
        </p:spPr>
        <p:txBody>
          <a:bodyPr wrap="none" rtlCol="0">
            <a:spAutoFit/>
          </a:bodyPr>
          <a:lstStyle/>
          <a:p>
            <a:pPr algn="ctr"/>
            <a:r>
              <a:rPr lang="en-US" sz="2400" dirty="0"/>
              <a:t>Files</a:t>
            </a:r>
          </a:p>
        </p:txBody>
      </p:sp>
      <p:sp>
        <p:nvSpPr>
          <p:cNvPr id="27" name="TextBox 26">
            <a:extLst>
              <a:ext uri="{FF2B5EF4-FFF2-40B4-BE49-F238E27FC236}">
                <a16:creationId xmlns:a16="http://schemas.microsoft.com/office/drawing/2014/main" id="{D7596279-1622-BB93-76E7-F219BD48561B}"/>
              </a:ext>
            </a:extLst>
          </p:cNvPr>
          <p:cNvSpPr txBox="1"/>
          <p:nvPr/>
        </p:nvSpPr>
        <p:spPr>
          <a:xfrm>
            <a:off x="4013504" y="2282084"/>
            <a:ext cx="263332" cy="369332"/>
          </a:xfrm>
          <a:prstGeom prst="rect">
            <a:avLst/>
          </a:prstGeom>
          <a:noFill/>
        </p:spPr>
        <p:txBody>
          <a:bodyPr wrap="square" rtlCol="0">
            <a:spAutoFit/>
          </a:bodyPr>
          <a:lstStyle/>
          <a:p>
            <a:r>
              <a:rPr lang="en-US" dirty="0">
                <a:solidFill>
                  <a:srgbClr val="FF0000"/>
                </a:solidFill>
              </a:rPr>
              <a:t>/</a:t>
            </a:r>
          </a:p>
        </p:txBody>
      </p:sp>
      <p:sp>
        <p:nvSpPr>
          <p:cNvPr id="28" name="TextBox 27">
            <a:extLst>
              <a:ext uri="{FF2B5EF4-FFF2-40B4-BE49-F238E27FC236}">
                <a16:creationId xmlns:a16="http://schemas.microsoft.com/office/drawing/2014/main" id="{E29A5D16-8C2E-F6C6-E2FC-FD3FD7CD068C}"/>
              </a:ext>
            </a:extLst>
          </p:cNvPr>
          <p:cNvSpPr txBox="1"/>
          <p:nvPr/>
        </p:nvSpPr>
        <p:spPr>
          <a:xfrm>
            <a:off x="4140918" y="2853838"/>
            <a:ext cx="3873343" cy="369332"/>
          </a:xfrm>
          <a:prstGeom prst="rect">
            <a:avLst/>
          </a:prstGeom>
          <a:noFill/>
        </p:spPr>
        <p:txBody>
          <a:bodyPr wrap="square" rtlCol="0">
            <a:spAutoFit/>
          </a:bodyPr>
          <a:lstStyle/>
          <a:p>
            <a:r>
              <a:rPr lang="en-US" dirty="0">
                <a:solidFill>
                  <a:srgbClr val="FF0000"/>
                </a:solidFill>
              </a:rPr>
              <a:t>/ / / / / / / / / / / / / / / / / / / / / /  </a:t>
            </a:r>
          </a:p>
        </p:txBody>
      </p:sp>
      <p:sp>
        <p:nvSpPr>
          <p:cNvPr id="29" name="TextBox 28">
            <a:extLst>
              <a:ext uri="{FF2B5EF4-FFF2-40B4-BE49-F238E27FC236}">
                <a16:creationId xmlns:a16="http://schemas.microsoft.com/office/drawing/2014/main" id="{DB61C90A-F2F2-F92E-1088-94F901A41203}"/>
              </a:ext>
            </a:extLst>
          </p:cNvPr>
          <p:cNvSpPr txBox="1"/>
          <p:nvPr/>
        </p:nvSpPr>
        <p:spPr>
          <a:xfrm>
            <a:off x="5261773" y="3412269"/>
            <a:ext cx="3216400" cy="369332"/>
          </a:xfrm>
          <a:prstGeom prst="rect">
            <a:avLst/>
          </a:prstGeom>
          <a:noFill/>
        </p:spPr>
        <p:txBody>
          <a:bodyPr wrap="square" rtlCol="0">
            <a:spAutoFit/>
          </a:bodyPr>
          <a:lstStyle/>
          <a:p>
            <a:r>
              <a:rPr lang="en-US" dirty="0">
                <a:solidFill>
                  <a:srgbClr val="FF0000"/>
                </a:solidFill>
              </a:rPr>
              <a:t>/ / / / / / / / / / / / / / / / / / / / /   </a:t>
            </a:r>
          </a:p>
        </p:txBody>
      </p:sp>
      <p:sp>
        <p:nvSpPr>
          <p:cNvPr id="30" name="TextBox 29">
            <a:extLst>
              <a:ext uri="{FF2B5EF4-FFF2-40B4-BE49-F238E27FC236}">
                <a16:creationId xmlns:a16="http://schemas.microsoft.com/office/drawing/2014/main" id="{7EEE32AB-E167-C3D6-D1B4-689B80F87AB9}"/>
              </a:ext>
            </a:extLst>
          </p:cNvPr>
          <p:cNvSpPr txBox="1"/>
          <p:nvPr/>
        </p:nvSpPr>
        <p:spPr>
          <a:xfrm>
            <a:off x="4013504" y="3696929"/>
            <a:ext cx="3953243" cy="369332"/>
          </a:xfrm>
          <a:prstGeom prst="rect">
            <a:avLst/>
          </a:prstGeom>
          <a:noFill/>
        </p:spPr>
        <p:txBody>
          <a:bodyPr wrap="square" rtlCol="0">
            <a:spAutoFit/>
          </a:bodyPr>
          <a:lstStyle/>
          <a:p>
            <a:r>
              <a:rPr lang="en-US" dirty="0">
                <a:solidFill>
                  <a:srgbClr val="FF0000"/>
                </a:solidFill>
              </a:rPr>
              <a:t>/ / / / / / / / / / / / / / / / / / / / / / / / / / /  </a:t>
            </a:r>
          </a:p>
        </p:txBody>
      </p:sp>
      <p:sp>
        <p:nvSpPr>
          <p:cNvPr id="19" name="Frame 18">
            <a:extLst>
              <a:ext uri="{FF2B5EF4-FFF2-40B4-BE49-F238E27FC236}">
                <a16:creationId xmlns:a16="http://schemas.microsoft.com/office/drawing/2014/main" id="{6B0D4BF5-4226-9FF9-DB9D-F0DDE8F0C9B2}"/>
              </a:ext>
            </a:extLst>
          </p:cNvPr>
          <p:cNvSpPr/>
          <p:nvPr/>
        </p:nvSpPr>
        <p:spPr>
          <a:xfrm>
            <a:off x="6258757" y="3429000"/>
            <a:ext cx="674703" cy="352601"/>
          </a:xfrm>
          <a:prstGeom prst="fram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TextBox 30">
            <a:extLst>
              <a:ext uri="{FF2B5EF4-FFF2-40B4-BE49-F238E27FC236}">
                <a16:creationId xmlns:a16="http://schemas.microsoft.com/office/drawing/2014/main" id="{CD38B953-64D4-0C5C-1EC5-E87456B77779}"/>
              </a:ext>
            </a:extLst>
          </p:cNvPr>
          <p:cNvSpPr txBox="1"/>
          <p:nvPr/>
        </p:nvSpPr>
        <p:spPr>
          <a:xfrm>
            <a:off x="2452573" y="4040638"/>
            <a:ext cx="1092583" cy="461665"/>
          </a:xfrm>
          <a:prstGeom prst="rect">
            <a:avLst/>
          </a:prstGeom>
          <a:noFill/>
        </p:spPr>
        <p:txBody>
          <a:bodyPr wrap="square" rtlCol="0">
            <a:spAutoFit/>
          </a:bodyPr>
          <a:lstStyle/>
          <a:p>
            <a:r>
              <a:rPr lang="en-US" sz="2400" dirty="0">
                <a:solidFill>
                  <a:srgbClr val="FF0000"/>
                </a:solidFill>
              </a:rPr>
              <a:t>/ / / /   </a:t>
            </a:r>
          </a:p>
        </p:txBody>
      </p:sp>
      <p:sp>
        <p:nvSpPr>
          <p:cNvPr id="32" name="TextBox 31">
            <a:extLst>
              <a:ext uri="{FF2B5EF4-FFF2-40B4-BE49-F238E27FC236}">
                <a16:creationId xmlns:a16="http://schemas.microsoft.com/office/drawing/2014/main" id="{329959FB-72DE-97C1-430B-71F4C4DF893B}"/>
              </a:ext>
            </a:extLst>
          </p:cNvPr>
          <p:cNvSpPr txBox="1"/>
          <p:nvPr/>
        </p:nvSpPr>
        <p:spPr>
          <a:xfrm>
            <a:off x="5836741" y="4294187"/>
            <a:ext cx="1936673" cy="369332"/>
          </a:xfrm>
          <a:prstGeom prst="rect">
            <a:avLst/>
          </a:prstGeom>
          <a:noFill/>
        </p:spPr>
        <p:txBody>
          <a:bodyPr wrap="square" rtlCol="0">
            <a:spAutoFit/>
          </a:bodyPr>
          <a:lstStyle/>
          <a:p>
            <a:r>
              <a:rPr lang="en-US" dirty="0">
                <a:solidFill>
                  <a:srgbClr val="00B050"/>
                </a:solidFill>
              </a:rPr>
              <a:t>/ / / / / / / / / / / /  </a:t>
            </a:r>
          </a:p>
        </p:txBody>
      </p:sp>
      <p:cxnSp>
        <p:nvCxnSpPr>
          <p:cNvPr id="4" name="Straight Arrow Connector 3">
            <a:extLst>
              <a:ext uri="{FF2B5EF4-FFF2-40B4-BE49-F238E27FC236}">
                <a16:creationId xmlns:a16="http://schemas.microsoft.com/office/drawing/2014/main" id="{CA26D798-E784-6469-802F-434ADBD154B1}"/>
              </a:ext>
            </a:extLst>
          </p:cNvPr>
          <p:cNvCxnSpPr>
            <a:cxnSpLocks/>
            <a:stCxn id="19" idx="1"/>
            <a:endCxn id="31" idx="3"/>
          </p:cNvCxnSpPr>
          <p:nvPr/>
        </p:nvCxnSpPr>
        <p:spPr>
          <a:xfrm flipH="1">
            <a:off x="3545156" y="3605301"/>
            <a:ext cx="2713601" cy="66617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B67A2C9-3CD2-A2DD-F01F-05BAAEB6EE07}"/>
              </a:ext>
            </a:extLst>
          </p:cNvPr>
          <p:cNvCxnSpPr>
            <a:cxnSpLocks/>
            <a:stCxn id="31" idx="3"/>
            <a:endCxn id="32" idx="1"/>
          </p:cNvCxnSpPr>
          <p:nvPr/>
        </p:nvCxnSpPr>
        <p:spPr>
          <a:xfrm>
            <a:off x="3545156" y="4271471"/>
            <a:ext cx="2291585" cy="20738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10BCE8B-DCF2-DFF2-40F5-6F0581B97C38}"/>
              </a:ext>
            </a:extLst>
          </p:cNvPr>
          <p:cNvCxnSpPr>
            <a:cxnSpLocks/>
          </p:cNvCxnSpPr>
          <p:nvPr/>
        </p:nvCxnSpPr>
        <p:spPr>
          <a:xfrm flipH="1" flipV="1">
            <a:off x="7312400" y="3038504"/>
            <a:ext cx="2088454" cy="5089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2F0CABC-F084-5E0B-06C4-29E9CB069760}"/>
              </a:ext>
            </a:extLst>
          </p:cNvPr>
          <p:cNvCxnSpPr>
            <a:cxnSpLocks/>
          </p:cNvCxnSpPr>
          <p:nvPr/>
        </p:nvCxnSpPr>
        <p:spPr>
          <a:xfrm flipH="1" flipV="1">
            <a:off x="5539313" y="3750015"/>
            <a:ext cx="5027449" cy="54417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44EB631-0377-C7E1-F1BB-3DC387FF6E30}"/>
              </a:ext>
            </a:extLst>
          </p:cNvPr>
          <p:cNvCxnSpPr>
            <a:cxnSpLocks/>
          </p:cNvCxnSpPr>
          <p:nvPr/>
        </p:nvCxnSpPr>
        <p:spPr>
          <a:xfrm>
            <a:off x="7672741" y="4475363"/>
            <a:ext cx="2894021" cy="45174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27AB6BF-2B3B-0EE9-80E6-5EF7A3CB3427}"/>
              </a:ext>
            </a:extLst>
          </p:cNvPr>
          <p:cNvSpPr txBox="1"/>
          <p:nvPr/>
        </p:nvSpPr>
        <p:spPr>
          <a:xfrm>
            <a:off x="8814476" y="6192456"/>
            <a:ext cx="2411485" cy="584775"/>
          </a:xfrm>
          <a:prstGeom prst="rect">
            <a:avLst/>
          </a:prstGeom>
          <a:noFill/>
        </p:spPr>
        <p:txBody>
          <a:bodyPr wrap="square" rtlCol="0">
            <a:spAutoFit/>
          </a:bodyPr>
          <a:lstStyle/>
          <a:p>
            <a:pPr algn="ctr"/>
            <a:r>
              <a:rPr lang="en-US" sz="3200" dirty="0"/>
              <a:t>Hard drive</a:t>
            </a:r>
          </a:p>
        </p:txBody>
      </p:sp>
      <p:sp>
        <p:nvSpPr>
          <p:cNvPr id="36" name="TextBox 35">
            <a:extLst>
              <a:ext uri="{FF2B5EF4-FFF2-40B4-BE49-F238E27FC236}">
                <a16:creationId xmlns:a16="http://schemas.microsoft.com/office/drawing/2014/main" id="{2B2F30AE-2715-72B8-A17D-B4122FF39191}"/>
              </a:ext>
            </a:extLst>
          </p:cNvPr>
          <p:cNvSpPr txBox="1"/>
          <p:nvPr/>
        </p:nvSpPr>
        <p:spPr>
          <a:xfrm>
            <a:off x="4938819" y="6192455"/>
            <a:ext cx="2411485" cy="584775"/>
          </a:xfrm>
          <a:prstGeom prst="rect">
            <a:avLst/>
          </a:prstGeom>
          <a:noFill/>
        </p:spPr>
        <p:txBody>
          <a:bodyPr wrap="square" rtlCol="0">
            <a:spAutoFit/>
          </a:bodyPr>
          <a:lstStyle/>
          <a:p>
            <a:pPr algn="ctr"/>
            <a:r>
              <a:rPr lang="en-US" sz="3200" dirty="0"/>
              <a:t>RAM</a:t>
            </a:r>
          </a:p>
        </p:txBody>
      </p:sp>
      <p:sp>
        <p:nvSpPr>
          <p:cNvPr id="37" name="TextBox 36">
            <a:extLst>
              <a:ext uri="{FF2B5EF4-FFF2-40B4-BE49-F238E27FC236}">
                <a16:creationId xmlns:a16="http://schemas.microsoft.com/office/drawing/2014/main" id="{0B65C12D-1EDB-B7AA-8397-17F412D27D69}"/>
              </a:ext>
            </a:extLst>
          </p:cNvPr>
          <p:cNvSpPr txBox="1"/>
          <p:nvPr/>
        </p:nvSpPr>
        <p:spPr>
          <a:xfrm>
            <a:off x="1675249" y="6187192"/>
            <a:ext cx="2411485" cy="584775"/>
          </a:xfrm>
          <a:prstGeom prst="rect">
            <a:avLst/>
          </a:prstGeom>
          <a:noFill/>
        </p:spPr>
        <p:txBody>
          <a:bodyPr wrap="square" rtlCol="0">
            <a:spAutoFit/>
          </a:bodyPr>
          <a:lstStyle/>
          <a:p>
            <a:pPr algn="ctr"/>
            <a:r>
              <a:rPr lang="en-US" sz="3200" dirty="0"/>
              <a:t>CPU Cache</a:t>
            </a:r>
          </a:p>
        </p:txBody>
      </p:sp>
      <p:sp>
        <p:nvSpPr>
          <p:cNvPr id="3" name="TextBox 2">
            <a:extLst>
              <a:ext uri="{FF2B5EF4-FFF2-40B4-BE49-F238E27FC236}">
                <a16:creationId xmlns:a16="http://schemas.microsoft.com/office/drawing/2014/main" id="{654AC229-6EEA-6888-7636-D26AB6610FAE}"/>
              </a:ext>
            </a:extLst>
          </p:cNvPr>
          <p:cNvSpPr txBox="1"/>
          <p:nvPr/>
        </p:nvSpPr>
        <p:spPr>
          <a:xfrm>
            <a:off x="8515203" y="104221"/>
            <a:ext cx="3061736" cy="1384995"/>
          </a:xfrm>
          <a:prstGeom prst="rect">
            <a:avLst/>
          </a:prstGeom>
          <a:noFill/>
        </p:spPr>
        <p:txBody>
          <a:bodyPr wrap="square" rtlCol="0">
            <a:spAutoFit/>
          </a:bodyPr>
          <a:lstStyle/>
          <a:p>
            <a:pPr algn="ctr"/>
            <a:r>
              <a:rPr lang="en-US" sz="2800" b="1" dirty="0"/>
              <a:t>Files on desktop/remote server</a:t>
            </a:r>
          </a:p>
        </p:txBody>
      </p:sp>
      <p:sp>
        <p:nvSpPr>
          <p:cNvPr id="7" name="TextBox 6">
            <a:extLst>
              <a:ext uri="{FF2B5EF4-FFF2-40B4-BE49-F238E27FC236}">
                <a16:creationId xmlns:a16="http://schemas.microsoft.com/office/drawing/2014/main" id="{E42C20C8-7A26-59E7-750E-B680830712F7}"/>
              </a:ext>
            </a:extLst>
          </p:cNvPr>
          <p:cNvSpPr txBox="1"/>
          <p:nvPr/>
        </p:nvSpPr>
        <p:spPr>
          <a:xfrm>
            <a:off x="4546721" y="314197"/>
            <a:ext cx="3061736" cy="954107"/>
          </a:xfrm>
          <a:prstGeom prst="rect">
            <a:avLst/>
          </a:prstGeom>
          <a:noFill/>
        </p:spPr>
        <p:txBody>
          <a:bodyPr wrap="square" rtlCol="0">
            <a:spAutoFit/>
          </a:bodyPr>
          <a:lstStyle/>
          <a:p>
            <a:pPr algn="ctr"/>
            <a:r>
              <a:rPr lang="en-US" sz="2800" b="1" dirty="0"/>
              <a:t>RStudio Environment</a:t>
            </a:r>
          </a:p>
        </p:txBody>
      </p:sp>
      <p:sp>
        <p:nvSpPr>
          <p:cNvPr id="13" name="TextBox 12">
            <a:extLst>
              <a:ext uri="{FF2B5EF4-FFF2-40B4-BE49-F238E27FC236}">
                <a16:creationId xmlns:a16="http://schemas.microsoft.com/office/drawing/2014/main" id="{331D1062-3B40-1A20-5E4E-86AD275104BD}"/>
              </a:ext>
            </a:extLst>
          </p:cNvPr>
          <p:cNvSpPr txBox="1"/>
          <p:nvPr/>
        </p:nvSpPr>
        <p:spPr>
          <a:xfrm>
            <a:off x="578239" y="314073"/>
            <a:ext cx="3061736" cy="954107"/>
          </a:xfrm>
          <a:prstGeom prst="rect">
            <a:avLst/>
          </a:prstGeom>
          <a:noFill/>
        </p:spPr>
        <p:txBody>
          <a:bodyPr wrap="square" rtlCol="0">
            <a:spAutoFit/>
          </a:bodyPr>
          <a:lstStyle/>
          <a:p>
            <a:pPr algn="ctr"/>
            <a:r>
              <a:rPr lang="en-US" sz="2800" b="1" dirty="0"/>
              <a:t>CPU when executing code</a:t>
            </a:r>
          </a:p>
        </p:txBody>
      </p:sp>
    </p:spTree>
    <p:extLst>
      <p:ext uri="{BB962C8B-B14F-4D97-AF65-F5344CB8AC3E}">
        <p14:creationId xmlns:p14="http://schemas.microsoft.com/office/powerpoint/2010/main" val="16321827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Bending objects to your will</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084832"/>
            <a:ext cx="9948672" cy="4224528"/>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Once we have created an object we can start to interact with it.</a:t>
            </a:r>
          </a:p>
          <a:p>
            <a:pPr>
              <a:buFont typeface="Arial" panose="020B0604020202020204" pitchFamily="34" charset="0"/>
              <a:buChar char="•"/>
            </a:pPr>
            <a:r>
              <a:rPr lang="en-US" sz="3200" dirty="0"/>
              <a:t>This includes passing our objects to other functions… Whoa!</a:t>
            </a:r>
          </a:p>
          <a:p>
            <a:pPr>
              <a:buFont typeface="Arial" panose="020B0604020202020204" pitchFamily="34" charset="0"/>
              <a:buChar char="•"/>
            </a:pPr>
            <a:endParaRPr lang="en-US" sz="2800" dirty="0"/>
          </a:p>
        </p:txBody>
      </p:sp>
      <p:pic>
        <p:nvPicPr>
          <p:cNvPr id="7" name="Picture 6">
            <a:extLst>
              <a:ext uri="{FF2B5EF4-FFF2-40B4-BE49-F238E27FC236}">
                <a16:creationId xmlns:a16="http://schemas.microsoft.com/office/drawing/2014/main" id="{2A5A0BD8-96A5-9E4F-AD1C-FD8E8BDDCFCA}"/>
              </a:ext>
            </a:extLst>
          </p:cNvPr>
          <p:cNvPicPr>
            <a:picLocks noChangeAspect="1"/>
          </p:cNvPicPr>
          <p:nvPr/>
        </p:nvPicPr>
        <p:blipFill>
          <a:blip r:embed="rId3"/>
          <a:stretch>
            <a:fillRect/>
          </a:stretch>
        </p:blipFill>
        <p:spPr>
          <a:xfrm>
            <a:off x="6680200" y="3977032"/>
            <a:ext cx="4064000" cy="2413000"/>
          </a:xfrm>
          <a:prstGeom prst="rect">
            <a:avLst/>
          </a:prstGeom>
        </p:spPr>
      </p:pic>
      <p:pic>
        <p:nvPicPr>
          <p:cNvPr id="9" name="Picture 8">
            <a:extLst>
              <a:ext uri="{FF2B5EF4-FFF2-40B4-BE49-F238E27FC236}">
                <a16:creationId xmlns:a16="http://schemas.microsoft.com/office/drawing/2014/main" id="{F02A1889-69C5-4E4D-8AE7-A71A18A9B349}"/>
              </a:ext>
            </a:extLst>
          </p:cNvPr>
          <p:cNvPicPr>
            <a:picLocks noChangeAspect="1"/>
          </p:cNvPicPr>
          <p:nvPr/>
        </p:nvPicPr>
        <p:blipFill>
          <a:blip r:embed="rId4"/>
          <a:stretch>
            <a:fillRect/>
          </a:stretch>
        </p:blipFill>
        <p:spPr>
          <a:xfrm>
            <a:off x="1447801" y="3977032"/>
            <a:ext cx="4064000" cy="2413000"/>
          </a:xfrm>
          <a:prstGeom prst="rect">
            <a:avLst/>
          </a:prstGeom>
        </p:spPr>
      </p:pic>
    </p:spTree>
    <p:extLst>
      <p:ext uri="{BB962C8B-B14F-4D97-AF65-F5344CB8AC3E}">
        <p14:creationId xmlns:p14="http://schemas.microsoft.com/office/powerpoint/2010/main" val="15068576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BEDA2C6-1787-DD41-8698-A9A0063118C7}"/>
              </a:ext>
            </a:extLst>
          </p:cNvPr>
          <p:cNvSpPr>
            <a:spLocks noGrp="1"/>
          </p:cNvSpPr>
          <p:nvPr>
            <p:ph type="title"/>
          </p:nvPr>
        </p:nvSpPr>
        <p:spPr>
          <a:xfrm>
            <a:off x="1024127" y="753035"/>
            <a:ext cx="9720072" cy="1089212"/>
          </a:xfrm>
        </p:spPr>
        <p:txBody>
          <a:bodyPr>
            <a:normAutofit/>
          </a:bodyPr>
          <a:lstStyle/>
          <a:p>
            <a:r>
              <a:rPr lang="en-US" dirty="0"/>
              <a:t>Spot the Problems</a:t>
            </a:r>
          </a:p>
        </p:txBody>
      </p:sp>
      <p:sp>
        <p:nvSpPr>
          <p:cNvPr id="5" name="Text Placeholder 2">
            <a:extLst>
              <a:ext uri="{FF2B5EF4-FFF2-40B4-BE49-F238E27FC236}">
                <a16:creationId xmlns:a16="http://schemas.microsoft.com/office/drawing/2014/main" id="{F169B706-A9F5-5B45-89EC-80038623C9FF}"/>
              </a:ext>
            </a:extLst>
          </p:cNvPr>
          <p:cNvSpPr>
            <a:spLocks noGrp="1"/>
          </p:cNvSpPr>
          <p:nvPr>
            <p:ph idx="1"/>
          </p:nvPr>
        </p:nvSpPr>
        <p:spPr/>
        <p:txBody>
          <a:bodyPr>
            <a:normAutofit/>
          </a:bodyPr>
          <a:lstStyle/>
          <a:p>
            <a:pPr marL="0" indent="0">
              <a:buNone/>
            </a:pPr>
            <a:r>
              <a:rPr lang="en-US" sz="2400" dirty="0"/>
              <a:t>I’ve written some code to create a sequence from 0 to 500 in increments of 25 called sequence_of_25s.  Ultimately I want to calculate the median value of this sequence.  Unfortunately I’ve made some mistakes in my code and I am hoping you can help me find them.</a:t>
            </a:r>
          </a:p>
          <a:p>
            <a:pPr marL="0" indent="0">
              <a:buNone/>
            </a:pPr>
            <a:endParaRPr lang="en-US" sz="2400" dirty="0"/>
          </a:p>
          <a:p>
            <a:pPr marL="0" indent="0">
              <a:buNone/>
            </a:pPr>
            <a:endParaRPr lang="en-US" sz="2400" dirty="0"/>
          </a:p>
        </p:txBody>
      </p:sp>
      <p:pic>
        <p:nvPicPr>
          <p:cNvPr id="3" name="Picture 2" descr="A screenshot of a computer&#10;&#10;Description automatically generated with low confidence">
            <a:extLst>
              <a:ext uri="{FF2B5EF4-FFF2-40B4-BE49-F238E27FC236}">
                <a16:creationId xmlns:a16="http://schemas.microsoft.com/office/drawing/2014/main" id="{AB79A35F-8076-5C1C-D171-3020DAFA46F2}"/>
              </a:ext>
            </a:extLst>
          </p:cNvPr>
          <p:cNvPicPr>
            <a:picLocks noChangeAspect="1"/>
          </p:cNvPicPr>
          <p:nvPr/>
        </p:nvPicPr>
        <p:blipFill>
          <a:blip r:embed="rId3"/>
          <a:stretch>
            <a:fillRect/>
          </a:stretch>
        </p:blipFill>
        <p:spPr>
          <a:xfrm>
            <a:off x="963894" y="4000729"/>
            <a:ext cx="10264212" cy="2509799"/>
          </a:xfrm>
          <a:prstGeom prst="rect">
            <a:avLst/>
          </a:prstGeom>
        </p:spPr>
      </p:pic>
      <p:sp>
        <p:nvSpPr>
          <p:cNvPr id="2" name="TextBox 1">
            <a:extLst>
              <a:ext uri="{FF2B5EF4-FFF2-40B4-BE49-F238E27FC236}">
                <a16:creationId xmlns:a16="http://schemas.microsoft.com/office/drawing/2014/main" id="{C5212D57-2A9C-2901-B821-7A42DD4EDCD3}"/>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2384464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3B7DF-1536-9F40-8A42-286CDD419D58}"/>
              </a:ext>
            </a:extLst>
          </p:cNvPr>
          <p:cNvSpPr>
            <a:spLocks noGrp="1"/>
          </p:cNvSpPr>
          <p:nvPr>
            <p:ph type="title"/>
          </p:nvPr>
        </p:nvSpPr>
        <p:spPr/>
        <p:txBody>
          <a:bodyPr/>
          <a:lstStyle/>
          <a:p>
            <a:r>
              <a:rPr lang="en-US" dirty="0"/>
              <a:t>Common functions: combine values into a vector</a:t>
            </a:r>
          </a:p>
        </p:txBody>
      </p:sp>
      <p:sp>
        <p:nvSpPr>
          <p:cNvPr id="3" name="Content Placeholder 2">
            <a:extLst>
              <a:ext uri="{FF2B5EF4-FFF2-40B4-BE49-F238E27FC236}">
                <a16:creationId xmlns:a16="http://schemas.microsoft.com/office/drawing/2014/main" id="{CAA03D0F-9885-744C-9261-727002922D62}"/>
              </a:ext>
            </a:extLst>
          </p:cNvPr>
          <p:cNvSpPr>
            <a:spLocks noGrp="1"/>
          </p:cNvSpPr>
          <p:nvPr>
            <p:ph idx="1"/>
          </p:nvPr>
        </p:nvSpPr>
        <p:spPr>
          <a:xfrm>
            <a:off x="1024127" y="4773169"/>
            <a:ext cx="9720073" cy="1981215"/>
          </a:xfrm>
        </p:spPr>
        <p:txBody>
          <a:bodyPr>
            <a:normAutofit lnSpcReduction="10000"/>
          </a:bodyPr>
          <a:lstStyle/>
          <a:p>
            <a:pPr>
              <a:buFont typeface="Arial" panose="020B0604020202020204" pitchFamily="34" charset="0"/>
              <a:buChar char="•"/>
            </a:pPr>
            <a:r>
              <a:rPr lang="en-US" sz="3200" dirty="0"/>
              <a:t>Create an object called </a:t>
            </a:r>
            <a:r>
              <a:rPr lang="en-US" sz="3200" dirty="0" err="1"/>
              <a:t>short_vector</a:t>
            </a:r>
            <a:r>
              <a:rPr lang="en-US" sz="3200" dirty="0"/>
              <a:t> and store a vector containing 1 through 5</a:t>
            </a:r>
          </a:p>
          <a:p>
            <a:pPr>
              <a:buFont typeface="Arial" panose="020B0604020202020204" pitchFamily="34" charset="0"/>
              <a:buChar char="•"/>
            </a:pPr>
            <a:r>
              <a:rPr lang="en-US" sz="3200" dirty="0"/>
              <a:t>Think of this vector as a column of numbers you can apply functions/perform calculations on</a:t>
            </a:r>
          </a:p>
        </p:txBody>
      </p:sp>
      <p:grpSp>
        <p:nvGrpSpPr>
          <p:cNvPr id="4" name="Group 3">
            <a:extLst>
              <a:ext uri="{FF2B5EF4-FFF2-40B4-BE49-F238E27FC236}">
                <a16:creationId xmlns:a16="http://schemas.microsoft.com/office/drawing/2014/main" id="{82CA2E71-230F-474C-8022-AE7CC49EB1AE}"/>
              </a:ext>
            </a:extLst>
          </p:cNvPr>
          <p:cNvGrpSpPr/>
          <p:nvPr/>
        </p:nvGrpSpPr>
        <p:grpSpPr>
          <a:xfrm>
            <a:off x="2131018" y="3710938"/>
            <a:ext cx="7506289" cy="655320"/>
            <a:chOff x="2080825" y="3162925"/>
            <a:chExt cx="8090003" cy="655320"/>
          </a:xfrm>
        </p:grpSpPr>
        <p:sp>
          <p:nvSpPr>
            <p:cNvPr id="5" name="Rectangle 4">
              <a:extLst>
                <a:ext uri="{FF2B5EF4-FFF2-40B4-BE49-F238E27FC236}">
                  <a16:creationId xmlns:a16="http://schemas.microsoft.com/office/drawing/2014/main" id="{B2DB374B-C4BA-DC41-80A4-F8E8D6915888}"/>
                </a:ext>
              </a:extLst>
            </p:cNvPr>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6C6B36A-D639-014B-BC51-DABB6212C6AC}"/>
                </a:ext>
              </a:extLst>
            </p:cNvPr>
            <p:cNvSpPr txBox="1"/>
            <p:nvPr/>
          </p:nvSpPr>
          <p:spPr>
            <a:xfrm>
              <a:off x="2080826" y="3235065"/>
              <a:ext cx="8090002" cy="523220"/>
            </a:xfrm>
            <a:prstGeom prst="rect">
              <a:avLst/>
            </a:prstGeom>
            <a:noFill/>
          </p:spPr>
          <p:txBody>
            <a:bodyPr wrap="square" rtlCol="0">
              <a:spAutoFit/>
            </a:bodyPr>
            <a:lstStyle/>
            <a:p>
              <a:pPr algn="ctr"/>
              <a:r>
                <a:rPr lang="en-US" sz="2800" dirty="0" err="1">
                  <a:solidFill>
                    <a:srgbClr val="0070C0"/>
                  </a:solidFill>
                  <a:latin typeface="Monaco" charset="0"/>
                  <a:ea typeface="Monaco" charset="0"/>
                  <a:cs typeface="Monaco" charset="0"/>
                </a:rPr>
                <a:t>short_vector</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a:latin typeface="Monaco" charset="0"/>
                  <a:ea typeface="Monaco" charset="0"/>
                  <a:cs typeface="Monaco" charset="0"/>
                </a:rPr>
                <a:t>c</a:t>
              </a:r>
              <a:r>
                <a:rPr lang="en-US" sz="2800" dirty="0">
                  <a:latin typeface="Monaco" charset="0"/>
                  <a:ea typeface="Monaco" charset="0"/>
                  <a:cs typeface="Monaco" charset="0"/>
                </a:rPr>
                <a:t>(</a:t>
              </a:r>
              <a:r>
                <a:rPr lang="en-US" sz="2800" dirty="0">
                  <a:solidFill>
                    <a:srgbClr val="0070C0"/>
                  </a:solidFill>
                  <a:latin typeface="Monaco" charset="0"/>
                  <a:ea typeface="Monaco" charset="0"/>
                  <a:cs typeface="Monaco" charset="0"/>
                </a:rPr>
                <a:t>1, 2, 3, 4, 5</a:t>
              </a:r>
              <a:r>
                <a:rPr lang="en-US" sz="2800" dirty="0">
                  <a:latin typeface="Monaco" charset="0"/>
                  <a:ea typeface="Monaco" charset="0"/>
                  <a:cs typeface="Monaco" charset="0"/>
                </a:rPr>
                <a:t>)</a:t>
              </a:r>
            </a:p>
          </p:txBody>
        </p:sp>
      </p:grpSp>
      <p:grpSp>
        <p:nvGrpSpPr>
          <p:cNvPr id="10" name="Group 9">
            <a:extLst>
              <a:ext uri="{FF2B5EF4-FFF2-40B4-BE49-F238E27FC236}">
                <a16:creationId xmlns:a16="http://schemas.microsoft.com/office/drawing/2014/main" id="{5E3AF664-BB29-254B-B0C8-C5A501424915}"/>
              </a:ext>
            </a:extLst>
          </p:cNvPr>
          <p:cNvGrpSpPr/>
          <p:nvPr/>
        </p:nvGrpSpPr>
        <p:grpSpPr>
          <a:xfrm>
            <a:off x="4807936" y="1951319"/>
            <a:ext cx="2365216" cy="1692771"/>
            <a:chOff x="1322364" y="4528478"/>
            <a:chExt cx="1503814" cy="1301318"/>
          </a:xfrm>
        </p:grpSpPr>
        <p:sp>
          <p:nvSpPr>
            <p:cNvPr id="11" name="Rounded Rectangular Callout 10">
              <a:extLst>
                <a:ext uri="{FF2B5EF4-FFF2-40B4-BE49-F238E27FC236}">
                  <a16:creationId xmlns:a16="http://schemas.microsoft.com/office/drawing/2014/main" id="{696E7DF4-FE7A-B34B-9646-E0BC36F53EA2}"/>
                </a:ext>
              </a:extLst>
            </p:cNvPr>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4274435-2057-C240-A16B-866071E785EF}"/>
                </a:ext>
              </a:extLst>
            </p:cNvPr>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13" name="Group 12">
            <a:extLst>
              <a:ext uri="{FF2B5EF4-FFF2-40B4-BE49-F238E27FC236}">
                <a16:creationId xmlns:a16="http://schemas.microsoft.com/office/drawing/2014/main" id="{65FD2BA9-6E19-584C-BF7A-350E0A6EE1F1}"/>
              </a:ext>
            </a:extLst>
          </p:cNvPr>
          <p:cNvGrpSpPr/>
          <p:nvPr/>
        </p:nvGrpSpPr>
        <p:grpSpPr>
          <a:xfrm>
            <a:off x="7352227" y="1920542"/>
            <a:ext cx="2365216" cy="1692772"/>
            <a:chOff x="1322364" y="4528478"/>
            <a:chExt cx="1503814" cy="1301319"/>
          </a:xfrm>
        </p:grpSpPr>
        <p:sp>
          <p:nvSpPr>
            <p:cNvPr id="14" name="Rounded Rectangular Callout 13">
              <a:extLst>
                <a:ext uri="{FF2B5EF4-FFF2-40B4-BE49-F238E27FC236}">
                  <a16:creationId xmlns:a16="http://schemas.microsoft.com/office/drawing/2014/main" id="{5233DFC5-DA82-5543-AD77-E75822673264}"/>
                </a:ext>
              </a:extLst>
            </p:cNvPr>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DB742E9-4E1D-7A4B-9FC3-D71914EA39D8}"/>
                </a:ext>
              </a:extLst>
            </p:cNvPr>
            <p:cNvSpPr txBox="1"/>
            <p:nvPr/>
          </p:nvSpPr>
          <p:spPr>
            <a:xfrm>
              <a:off x="1322364" y="4528478"/>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arguments</a:t>
              </a:r>
            </a:p>
            <a:p>
              <a:pPr algn="ctr"/>
              <a:r>
                <a:rPr lang="en-US" sz="2800" dirty="0">
                  <a:solidFill>
                    <a:schemeClr val="bg1"/>
                  </a:solidFill>
                </a:rPr>
                <a:t>(input)</a:t>
              </a:r>
            </a:p>
            <a:p>
              <a:pPr algn="ctr"/>
              <a:endParaRPr lang="en-US" dirty="0">
                <a:solidFill>
                  <a:schemeClr val="bg1"/>
                </a:solidFill>
              </a:endParaRPr>
            </a:p>
          </p:txBody>
        </p:sp>
      </p:grpSp>
      <p:grpSp>
        <p:nvGrpSpPr>
          <p:cNvPr id="16" name="Group 15">
            <a:extLst>
              <a:ext uri="{FF2B5EF4-FFF2-40B4-BE49-F238E27FC236}">
                <a16:creationId xmlns:a16="http://schemas.microsoft.com/office/drawing/2014/main" id="{34CEE4D5-D7DA-DD42-AF71-2C3BA4529938}"/>
              </a:ext>
            </a:extLst>
          </p:cNvPr>
          <p:cNvGrpSpPr/>
          <p:nvPr/>
        </p:nvGrpSpPr>
        <p:grpSpPr>
          <a:xfrm>
            <a:off x="2131018" y="1920542"/>
            <a:ext cx="2365216" cy="1754326"/>
            <a:chOff x="1968398" y="1876487"/>
            <a:chExt cx="2365216" cy="1754326"/>
          </a:xfrm>
        </p:grpSpPr>
        <p:sp>
          <p:nvSpPr>
            <p:cNvPr id="17" name="Rounded Rectangular Callout 16">
              <a:extLst>
                <a:ext uri="{FF2B5EF4-FFF2-40B4-BE49-F238E27FC236}">
                  <a16:creationId xmlns:a16="http://schemas.microsoft.com/office/drawing/2014/main" id="{7656F25B-FA34-C944-A0AC-D0D9735D606F}"/>
                </a:ext>
              </a:extLst>
            </p:cNvPr>
            <p:cNvSpPr/>
            <p:nvPr/>
          </p:nvSpPr>
          <p:spPr>
            <a:xfrm>
              <a:off x="1968398" y="2135413"/>
              <a:ext cx="2365216" cy="1246649"/>
            </a:xfrm>
            <a:prstGeom prst="wedgeRoundRectCallout">
              <a:avLst>
                <a:gd name="adj1" fmla="val 1102"/>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F7456EF-A0BB-1949-9D11-02084390B845}"/>
                </a:ext>
              </a:extLst>
            </p:cNvPr>
            <p:cNvSpPr txBox="1"/>
            <p:nvPr/>
          </p:nvSpPr>
          <p:spPr>
            <a:xfrm>
              <a:off x="1968398" y="1876487"/>
              <a:ext cx="2365216" cy="1754326"/>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object</a:t>
              </a:r>
            </a:p>
            <a:p>
              <a:pPr algn="ctr"/>
              <a:r>
                <a:rPr lang="en-US" sz="2800" dirty="0">
                  <a:solidFill>
                    <a:schemeClr val="bg1"/>
                  </a:solidFill>
                </a:rPr>
                <a:t>(stores output)</a:t>
              </a:r>
              <a:endParaRPr lang="en-US" dirty="0">
                <a:solidFill>
                  <a:schemeClr val="bg1"/>
                </a:solidFill>
              </a:endParaRPr>
            </a:p>
            <a:p>
              <a:pPr algn="ctr"/>
              <a:endParaRPr lang="en-US" dirty="0">
                <a:solidFill>
                  <a:schemeClr val="bg1"/>
                </a:solidFill>
              </a:endParaRPr>
            </a:p>
          </p:txBody>
        </p:sp>
      </p:grpSp>
    </p:spTree>
    <p:extLst>
      <p:ext uri="{BB962C8B-B14F-4D97-AF65-F5344CB8AC3E}">
        <p14:creationId xmlns:p14="http://schemas.microsoft.com/office/powerpoint/2010/main" val="4186823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80091-261A-A744-9325-2EE9358A8C33}"/>
              </a:ext>
            </a:extLst>
          </p:cNvPr>
          <p:cNvSpPr>
            <a:spLocks noGrp="1"/>
          </p:cNvSpPr>
          <p:nvPr>
            <p:ph type="title"/>
          </p:nvPr>
        </p:nvSpPr>
        <p:spPr/>
        <p:txBody>
          <a:bodyPr/>
          <a:lstStyle/>
          <a:p>
            <a:r>
              <a:rPr lang="en-US" dirty="0"/>
              <a:t>Common functions: simple statistics</a:t>
            </a:r>
          </a:p>
        </p:txBody>
      </p:sp>
      <p:pic>
        <p:nvPicPr>
          <p:cNvPr id="5" name="Picture 4">
            <a:extLst>
              <a:ext uri="{FF2B5EF4-FFF2-40B4-BE49-F238E27FC236}">
                <a16:creationId xmlns:a16="http://schemas.microsoft.com/office/drawing/2014/main" id="{AC71368C-88D2-8543-B6D6-EF679697EFC7}"/>
              </a:ext>
            </a:extLst>
          </p:cNvPr>
          <p:cNvPicPr>
            <a:picLocks noChangeAspect="1"/>
          </p:cNvPicPr>
          <p:nvPr/>
        </p:nvPicPr>
        <p:blipFill>
          <a:blip r:embed="rId2"/>
          <a:stretch>
            <a:fillRect/>
          </a:stretch>
        </p:blipFill>
        <p:spPr>
          <a:xfrm>
            <a:off x="638629" y="2461695"/>
            <a:ext cx="6586921" cy="3540470"/>
          </a:xfrm>
          <a:prstGeom prst="rect">
            <a:avLst/>
          </a:prstGeom>
        </p:spPr>
      </p:pic>
      <p:pic>
        <p:nvPicPr>
          <p:cNvPr id="7" name="Picture 6">
            <a:extLst>
              <a:ext uri="{FF2B5EF4-FFF2-40B4-BE49-F238E27FC236}">
                <a16:creationId xmlns:a16="http://schemas.microsoft.com/office/drawing/2014/main" id="{4466A61C-630D-EC4D-A277-B9569DB8A6F4}"/>
              </a:ext>
            </a:extLst>
          </p:cNvPr>
          <p:cNvPicPr>
            <a:picLocks noChangeAspect="1"/>
          </p:cNvPicPr>
          <p:nvPr/>
        </p:nvPicPr>
        <p:blipFill>
          <a:blip r:embed="rId3"/>
          <a:stretch>
            <a:fillRect/>
          </a:stretch>
        </p:blipFill>
        <p:spPr>
          <a:xfrm>
            <a:off x="5240563" y="2461695"/>
            <a:ext cx="6633175" cy="3540470"/>
          </a:xfrm>
          <a:prstGeom prst="rect">
            <a:avLst/>
          </a:prstGeom>
        </p:spPr>
      </p:pic>
    </p:spTree>
    <p:extLst>
      <p:ext uri="{BB962C8B-B14F-4D97-AF65-F5344CB8AC3E}">
        <p14:creationId xmlns:p14="http://schemas.microsoft.com/office/powerpoint/2010/main" val="11816617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423DC-810C-BC46-B29A-40841D731096}"/>
              </a:ext>
            </a:extLst>
          </p:cNvPr>
          <p:cNvSpPr>
            <a:spLocks noGrp="1"/>
          </p:cNvSpPr>
          <p:nvPr>
            <p:ph type="title"/>
          </p:nvPr>
        </p:nvSpPr>
        <p:spPr/>
        <p:txBody>
          <a:bodyPr/>
          <a:lstStyle/>
          <a:p>
            <a:r>
              <a:rPr lang="en-US" dirty="0"/>
              <a:t>How do I find out more about functions?</a:t>
            </a:r>
          </a:p>
        </p:txBody>
      </p:sp>
      <p:sp>
        <p:nvSpPr>
          <p:cNvPr id="4" name="Content Placeholder 2">
            <a:extLst>
              <a:ext uri="{FF2B5EF4-FFF2-40B4-BE49-F238E27FC236}">
                <a16:creationId xmlns:a16="http://schemas.microsoft.com/office/drawing/2014/main" id="{BE4A0995-790B-BA40-A9F1-AAFDA43FBB49}"/>
              </a:ext>
            </a:extLst>
          </p:cNvPr>
          <p:cNvSpPr txBox="1">
            <a:spLocks/>
          </p:cNvSpPr>
          <p:nvPr/>
        </p:nvSpPr>
        <p:spPr>
          <a:xfrm>
            <a:off x="1024128" y="2286000"/>
            <a:ext cx="9948672"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endParaRPr lang="en-US" sz="2800" dirty="0"/>
          </a:p>
        </p:txBody>
      </p:sp>
      <p:sp>
        <p:nvSpPr>
          <p:cNvPr id="6" name="Content Placeholder 2">
            <a:extLst>
              <a:ext uri="{FF2B5EF4-FFF2-40B4-BE49-F238E27FC236}">
                <a16:creationId xmlns:a16="http://schemas.microsoft.com/office/drawing/2014/main" id="{C20FD25A-BC5D-3A46-A500-900AC74F13F2}"/>
              </a:ext>
            </a:extLst>
          </p:cNvPr>
          <p:cNvSpPr txBox="1">
            <a:spLocks/>
          </p:cNvSpPr>
          <p:nvPr/>
        </p:nvSpPr>
        <p:spPr>
          <a:xfrm>
            <a:off x="909828" y="4704849"/>
            <a:ext cx="9948672" cy="2662645"/>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Work Aids (RStudio Cheat Sheets:  https://</a:t>
            </a:r>
            <a:r>
              <a:rPr lang="en-US" sz="3200" dirty="0" err="1"/>
              <a:t>www.rstudio.com</a:t>
            </a:r>
            <a:r>
              <a:rPr lang="en-US" sz="3200" dirty="0"/>
              <a:t>/resources/</a:t>
            </a:r>
            <a:r>
              <a:rPr lang="en-US" sz="3200" dirty="0" err="1"/>
              <a:t>cheatsheets</a:t>
            </a:r>
            <a:r>
              <a:rPr lang="en-US" sz="3200" dirty="0"/>
              <a:t>/)</a:t>
            </a:r>
          </a:p>
          <a:p>
            <a:pPr>
              <a:buFont typeface="Arial" panose="020B0604020202020204" pitchFamily="34" charset="0"/>
              <a:buChar char="•"/>
            </a:pPr>
            <a:r>
              <a:rPr lang="en-US" sz="3200" dirty="0"/>
              <a:t>A Good Book (R for Data Science: </a:t>
            </a:r>
            <a:r>
              <a:rPr lang="en-US" sz="3200" dirty="0">
                <a:hlinkClick r:id="rId3"/>
              </a:rPr>
              <a:t>http://r4ds.had.co.nz/</a:t>
            </a:r>
            <a:r>
              <a:rPr lang="en-US" sz="3200" dirty="0"/>
              <a:t>)</a:t>
            </a:r>
          </a:p>
          <a:p>
            <a:pPr>
              <a:buFont typeface="Arial" panose="020B0604020202020204" pitchFamily="34" charset="0"/>
              <a:buChar char="•"/>
            </a:pPr>
            <a:r>
              <a:rPr lang="en-US" sz="3200" dirty="0"/>
              <a:t>The Internet (Stack Overflow: https://</a:t>
            </a:r>
            <a:r>
              <a:rPr lang="en-US" sz="3200" dirty="0" err="1"/>
              <a:t>stackoverflow.com</a:t>
            </a:r>
            <a:r>
              <a:rPr lang="en-US" sz="3200" dirty="0"/>
              <a:t>/)</a:t>
            </a:r>
          </a:p>
          <a:p>
            <a:pPr>
              <a:buFont typeface="Arial" panose="020B0604020202020204" pitchFamily="34" charset="0"/>
              <a:buChar char="•"/>
            </a:pPr>
            <a:endParaRPr lang="en-US" sz="3200" dirty="0"/>
          </a:p>
          <a:p>
            <a:pPr>
              <a:buFont typeface="Arial" panose="020B0604020202020204" pitchFamily="34" charset="0"/>
              <a:buChar char="•"/>
            </a:pPr>
            <a:endParaRPr lang="en-US" sz="2800" dirty="0"/>
          </a:p>
        </p:txBody>
      </p:sp>
      <p:sp>
        <p:nvSpPr>
          <p:cNvPr id="3" name="Slide Number Placeholder 2">
            <a:extLst>
              <a:ext uri="{FF2B5EF4-FFF2-40B4-BE49-F238E27FC236}">
                <a16:creationId xmlns:a16="http://schemas.microsoft.com/office/drawing/2014/main" id="{DFFCBDF8-9B3E-3A43-9A76-8CAB397CE468}"/>
              </a:ext>
            </a:extLst>
          </p:cNvPr>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32</a:t>
            </a:fld>
            <a:endParaRPr lang="en-US">
              <a:solidFill>
                <a:prstClr val="black">
                  <a:lumMod val="95000"/>
                  <a:lumOff val="5000"/>
                </a:prstClr>
              </a:solidFill>
            </a:endParaRPr>
          </a:p>
        </p:txBody>
      </p:sp>
      <p:pic>
        <p:nvPicPr>
          <p:cNvPr id="7" name="Picture 6">
            <a:extLst>
              <a:ext uri="{FF2B5EF4-FFF2-40B4-BE49-F238E27FC236}">
                <a16:creationId xmlns:a16="http://schemas.microsoft.com/office/drawing/2014/main" id="{08470A6D-6AD2-1F44-8815-BE06F71D17CE}"/>
              </a:ext>
            </a:extLst>
          </p:cNvPr>
          <p:cNvPicPr>
            <a:picLocks noChangeAspect="1"/>
          </p:cNvPicPr>
          <p:nvPr/>
        </p:nvPicPr>
        <p:blipFill>
          <a:blip r:embed="rId4"/>
          <a:stretch>
            <a:fillRect/>
          </a:stretch>
        </p:blipFill>
        <p:spPr>
          <a:xfrm>
            <a:off x="2547910" y="1663560"/>
            <a:ext cx="6672508" cy="3041289"/>
          </a:xfrm>
          <a:prstGeom prst="rect">
            <a:avLst/>
          </a:prstGeom>
        </p:spPr>
      </p:pic>
    </p:spTree>
    <p:extLst>
      <p:ext uri="{BB962C8B-B14F-4D97-AF65-F5344CB8AC3E}">
        <p14:creationId xmlns:p14="http://schemas.microsoft.com/office/powerpoint/2010/main" val="36358072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Importing Data</a:t>
            </a:r>
          </a:p>
        </p:txBody>
      </p:sp>
    </p:spTree>
    <p:extLst>
      <p:ext uri="{BB962C8B-B14F-4D97-AF65-F5344CB8AC3E}">
        <p14:creationId xmlns:p14="http://schemas.microsoft.com/office/powerpoint/2010/main" val="1804400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9FB760-B370-434A-BDC7-3BB975B82E7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2000109"/>
            <a:ext cx="12192000" cy="4488559"/>
          </a:xfrm>
          <a:prstGeom prst="rect">
            <a:avLst/>
          </a:prstGeom>
        </p:spPr>
      </p:pic>
      <p:sp>
        <p:nvSpPr>
          <p:cNvPr id="6" name="TextBox 5">
            <a:extLst>
              <a:ext uri="{FF2B5EF4-FFF2-40B4-BE49-F238E27FC236}">
                <a16:creationId xmlns:a16="http://schemas.microsoft.com/office/drawing/2014/main" id="{983989C4-EC14-9944-AA13-435E7CAF2ACB}"/>
              </a:ext>
            </a:extLst>
          </p:cNvPr>
          <p:cNvSpPr txBox="1"/>
          <p:nvPr/>
        </p:nvSpPr>
        <p:spPr>
          <a:xfrm>
            <a:off x="0" y="6488668"/>
            <a:ext cx="6818811" cy="369332"/>
          </a:xfrm>
          <a:prstGeom prst="rect">
            <a:avLst/>
          </a:prstGeom>
          <a:noFill/>
        </p:spPr>
        <p:txBody>
          <a:bodyPr wrap="square" rtlCol="0">
            <a:spAutoFit/>
          </a:bodyPr>
          <a:lstStyle/>
          <a:p>
            <a:r>
              <a:rPr lang="en-US" dirty="0"/>
              <a:t>From </a:t>
            </a:r>
            <a:r>
              <a:rPr lang="en-US" i="1" dirty="0"/>
              <a:t>R for Data Science</a:t>
            </a:r>
            <a:r>
              <a:rPr lang="en-US" dirty="0"/>
              <a:t> (https://r4ds.had.co.nz/</a:t>
            </a:r>
            <a:r>
              <a:rPr lang="en-US" dirty="0" err="1"/>
              <a:t>introduction.html</a:t>
            </a:r>
            <a:r>
              <a:rPr lang="en-US" dirty="0"/>
              <a:t>)</a:t>
            </a:r>
          </a:p>
        </p:txBody>
      </p:sp>
      <p:sp>
        <p:nvSpPr>
          <p:cNvPr id="7" name="object 10">
            <a:extLst>
              <a:ext uri="{FF2B5EF4-FFF2-40B4-BE49-F238E27FC236}">
                <a16:creationId xmlns:a16="http://schemas.microsoft.com/office/drawing/2014/main" id="{856B8654-628A-B24C-8BB0-39E6F5212A24}"/>
              </a:ext>
            </a:extLst>
          </p:cNvPr>
          <p:cNvSpPr txBox="1"/>
          <p:nvPr/>
        </p:nvSpPr>
        <p:spPr>
          <a:xfrm>
            <a:off x="-1" y="682728"/>
            <a:ext cx="12192001"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a:latin typeface="Tw Cen MT" panose="020B0602020104020603" pitchFamily="34" charset="77"/>
                <a:cs typeface="Helvetica Neue"/>
              </a:rPr>
              <a:t>The Data Analysis Pipeline</a:t>
            </a:r>
            <a:endParaRPr sz="4400" dirty="0">
              <a:latin typeface="Tw Cen MT" panose="020B0602020104020603" pitchFamily="34" charset="77"/>
              <a:cs typeface="Helvetica Neue"/>
            </a:endParaRPr>
          </a:p>
        </p:txBody>
      </p:sp>
      <p:sp>
        <p:nvSpPr>
          <p:cNvPr id="8" name="Rectangle 7">
            <a:extLst>
              <a:ext uri="{FF2B5EF4-FFF2-40B4-BE49-F238E27FC236}">
                <a16:creationId xmlns:a16="http://schemas.microsoft.com/office/drawing/2014/main" id="{33CEA39C-04B8-C449-A1F5-D85D0CDDDD3A}"/>
              </a:ext>
            </a:extLst>
          </p:cNvPr>
          <p:cNvSpPr/>
          <p:nvPr/>
        </p:nvSpPr>
        <p:spPr>
          <a:xfrm>
            <a:off x="257560" y="3812362"/>
            <a:ext cx="1454281" cy="641544"/>
          </a:xfrm>
          <a:prstGeom prst="rect">
            <a:avLst/>
          </a:prstGeom>
          <a:solidFill>
            <a:srgbClr val="FFC00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36459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2914649" y="1447800"/>
            <a:ext cx="6362700" cy="5410200"/>
            <a:chOff x="2914649" y="1447800"/>
            <a:chExt cx="6362700" cy="5410200"/>
          </a:xfrm>
        </p:grpSpPr>
        <p:pic>
          <p:nvPicPr>
            <p:cNvPr id="2" name="Picture 1"/>
            <p:cNvPicPr>
              <a:picLocks noChangeAspect="1"/>
            </p:cNvPicPr>
            <p:nvPr/>
          </p:nvPicPr>
          <p:blipFill>
            <a:blip r:embed="rId3"/>
            <a:stretch>
              <a:fillRect/>
            </a:stretch>
          </p:blipFill>
          <p:spPr>
            <a:xfrm>
              <a:off x="2914649" y="1447800"/>
              <a:ext cx="6362700" cy="5410200"/>
            </a:xfrm>
            <a:prstGeom prst="rect">
              <a:avLst/>
            </a:prstGeom>
          </p:spPr>
        </p:pic>
        <p:sp>
          <p:nvSpPr>
            <p:cNvPr id="25" name="Rectangle 24"/>
            <p:cNvSpPr/>
            <p:nvPr/>
          </p:nvSpPr>
          <p:spPr>
            <a:xfrm>
              <a:off x="4431323" y="2150347"/>
              <a:ext cx="1135464" cy="276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518220" y="2453472"/>
              <a:ext cx="1867318" cy="276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5658897" y="2759947"/>
              <a:ext cx="2198914" cy="276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6146241" y="3066421"/>
              <a:ext cx="1832149" cy="276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p:cNvPicPr>
            <a:picLocks noChangeAspect="1"/>
          </p:cNvPicPr>
          <p:nvPr/>
        </p:nvPicPr>
        <p:blipFill>
          <a:blip r:embed="rId4"/>
          <a:stretch>
            <a:fillRect/>
          </a:stretch>
        </p:blipFill>
        <p:spPr>
          <a:xfrm>
            <a:off x="5559813" y="427278"/>
            <a:ext cx="1011410" cy="1020522"/>
          </a:xfrm>
          <a:prstGeom prst="rect">
            <a:avLst/>
          </a:prstGeom>
        </p:spPr>
      </p:pic>
      <p:sp>
        <p:nvSpPr>
          <p:cNvPr id="5" name="TextBox 4"/>
          <p:cNvSpPr txBox="1"/>
          <p:nvPr/>
        </p:nvSpPr>
        <p:spPr>
          <a:xfrm>
            <a:off x="5721624" y="665191"/>
            <a:ext cx="687793" cy="523220"/>
          </a:xfrm>
          <a:prstGeom prst="rect">
            <a:avLst/>
          </a:prstGeom>
          <a:noFill/>
        </p:spPr>
        <p:txBody>
          <a:bodyPr wrap="square" rtlCol="0">
            <a:spAutoFit/>
          </a:bodyPr>
          <a:lstStyle/>
          <a:p>
            <a:pPr algn="ctr"/>
            <a:r>
              <a:rPr lang="en-US" sz="2800" dirty="0">
                <a:solidFill>
                  <a:schemeClr val="tx1">
                    <a:lumMod val="65000"/>
                    <a:lumOff val="35000"/>
                  </a:schemeClr>
                </a:solidFill>
              </a:rPr>
              <a:t>csv</a:t>
            </a:r>
            <a:endParaRPr lang="en-US" sz="4000" dirty="0">
              <a:solidFill>
                <a:schemeClr val="tx1">
                  <a:lumMod val="65000"/>
                  <a:lumOff val="35000"/>
                </a:schemeClr>
              </a:solidFill>
            </a:endParaRPr>
          </a:p>
        </p:txBody>
      </p:sp>
      <p:pic>
        <p:nvPicPr>
          <p:cNvPr id="17" name="Picture 16"/>
          <p:cNvPicPr>
            <a:picLocks noChangeAspect="1"/>
          </p:cNvPicPr>
          <p:nvPr/>
        </p:nvPicPr>
        <p:blipFill>
          <a:blip r:embed="rId5"/>
          <a:stretch>
            <a:fillRect/>
          </a:stretch>
        </p:blipFill>
        <p:spPr>
          <a:xfrm>
            <a:off x="4411272" y="2140575"/>
            <a:ext cx="609600" cy="317500"/>
          </a:xfrm>
          <a:prstGeom prst="rect">
            <a:avLst/>
          </a:prstGeom>
        </p:spPr>
      </p:pic>
      <p:pic>
        <p:nvPicPr>
          <p:cNvPr id="18" name="Picture 17"/>
          <p:cNvPicPr>
            <a:picLocks noChangeAspect="1"/>
          </p:cNvPicPr>
          <p:nvPr/>
        </p:nvPicPr>
        <p:blipFill>
          <a:blip r:embed="rId6"/>
          <a:stretch>
            <a:fillRect/>
          </a:stretch>
        </p:blipFill>
        <p:spPr>
          <a:xfrm>
            <a:off x="5018790" y="2148694"/>
            <a:ext cx="533400" cy="292100"/>
          </a:xfrm>
          <a:prstGeom prst="rect">
            <a:avLst/>
          </a:prstGeom>
        </p:spPr>
      </p:pic>
      <p:pic>
        <p:nvPicPr>
          <p:cNvPr id="19" name="Picture 18"/>
          <p:cNvPicPr>
            <a:picLocks noChangeAspect="1"/>
          </p:cNvPicPr>
          <p:nvPr/>
        </p:nvPicPr>
        <p:blipFill>
          <a:blip r:embed="rId7"/>
          <a:stretch>
            <a:fillRect/>
          </a:stretch>
        </p:blipFill>
        <p:spPr>
          <a:xfrm>
            <a:off x="5493753" y="2433387"/>
            <a:ext cx="965200" cy="317500"/>
          </a:xfrm>
          <a:prstGeom prst="rect">
            <a:avLst/>
          </a:prstGeom>
        </p:spPr>
      </p:pic>
      <p:pic>
        <p:nvPicPr>
          <p:cNvPr id="20" name="Picture 19"/>
          <p:cNvPicPr>
            <a:picLocks noChangeAspect="1"/>
          </p:cNvPicPr>
          <p:nvPr/>
        </p:nvPicPr>
        <p:blipFill>
          <a:blip r:embed="rId8"/>
          <a:stretch>
            <a:fillRect/>
          </a:stretch>
        </p:blipFill>
        <p:spPr>
          <a:xfrm>
            <a:off x="6414837" y="2441408"/>
            <a:ext cx="990600" cy="292100"/>
          </a:xfrm>
          <a:prstGeom prst="rect">
            <a:avLst/>
          </a:prstGeom>
        </p:spPr>
      </p:pic>
      <p:pic>
        <p:nvPicPr>
          <p:cNvPr id="21" name="Picture 20"/>
          <p:cNvPicPr>
            <a:picLocks noChangeAspect="1"/>
          </p:cNvPicPr>
          <p:nvPr/>
        </p:nvPicPr>
        <p:blipFill>
          <a:blip r:embed="rId9"/>
          <a:stretch>
            <a:fillRect/>
          </a:stretch>
        </p:blipFill>
        <p:spPr>
          <a:xfrm>
            <a:off x="5662194" y="2743869"/>
            <a:ext cx="914400" cy="304800"/>
          </a:xfrm>
          <a:prstGeom prst="rect">
            <a:avLst/>
          </a:prstGeom>
        </p:spPr>
      </p:pic>
      <p:pic>
        <p:nvPicPr>
          <p:cNvPr id="22" name="Picture 21"/>
          <p:cNvPicPr>
            <a:picLocks noChangeAspect="1"/>
          </p:cNvPicPr>
          <p:nvPr/>
        </p:nvPicPr>
        <p:blipFill>
          <a:blip r:embed="rId10"/>
          <a:stretch>
            <a:fillRect/>
          </a:stretch>
        </p:blipFill>
        <p:spPr>
          <a:xfrm>
            <a:off x="6562558" y="2750385"/>
            <a:ext cx="1295400" cy="304800"/>
          </a:xfrm>
          <a:prstGeom prst="rect">
            <a:avLst/>
          </a:prstGeom>
        </p:spPr>
      </p:pic>
      <p:pic>
        <p:nvPicPr>
          <p:cNvPr id="23" name="Picture 22"/>
          <p:cNvPicPr>
            <a:picLocks noChangeAspect="1"/>
          </p:cNvPicPr>
          <p:nvPr/>
        </p:nvPicPr>
        <p:blipFill>
          <a:blip r:embed="rId11"/>
          <a:stretch>
            <a:fillRect/>
          </a:stretch>
        </p:blipFill>
        <p:spPr>
          <a:xfrm>
            <a:off x="6111373" y="3073066"/>
            <a:ext cx="914400" cy="292100"/>
          </a:xfrm>
          <a:prstGeom prst="rect">
            <a:avLst/>
          </a:prstGeom>
        </p:spPr>
      </p:pic>
      <p:pic>
        <p:nvPicPr>
          <p:cNvPr id="24" name="Picture 23"/>
          <p:cNvPicPr>
            <a:picLocks noChangeAspect="1"/>
          </p:cNvPicPr>
          <p:nvPr/>
        </p:nvPicPr>
        <p:blipFill>
          <a:blip r:embed="rId12"/>
          <a:stretch>
            <a:fillRect/>
          </a:stretch>
        </p:blipFill>
        <p:spPr>
          <a:xfrm>
            <a:off x="7013408" y="3051008"/>
            <a:ext cx="977900" cy="342900"/>
          </a:xfrm>
          <a:prstGeom prst="rect">
            <a:avLst/>
          </a:prstGeom>
        </p:spPr>
      </p:pic>
      <p:sp>
        <p:nvSpPr>
          <p:cNvPr id="34" name="Rounded Rectangular Callout 33"/>
          <p:cNvSpPr/>
          <p:nvPr/>
        </p:nvSpPr>
        <p:spPr>
          <a:xfrm>
            <a:off x="9179046" y="2129441"/>
            <a:ext cx="1955868" cy="1246648"/>
          </a:xfrm>
          <a:prstGeom prst="wedgeRoundRectCallout">
            <a:avLst>
              <a:gd name="adj1" fmla="val -91991"/>
              <a:gd name="adj2" fmla="val 319"/>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5" name="TextBox 34"/>
          <p:cNvSpPr txBox="1"/>
          <p:nvPr/>
        </p:nvSpPr>
        <p:spPr>
          <a:xfrm>
            <a:off x="9179046" y="1993621"/>
            <a:ext cx="1955868"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rectangular structure</a:t>
            </a:r>
          </a:p>
          <a:p>
            <a:pPr algn="ctr"/>
            <a:endParaRPr lang="en-US" dirty="0">
              <a:solidFill>
                <a:schemeClr val="bg1"/>
              </a:solidFill>
            </a:endParaRPr>
          </a:p>
        </p:txBody>
      </p:sp>
      <p:sp>
        <p:nvSpPr>
          <p:cNvPr id="37" name="Rounded Rectangular Callout 36"/>
          <p:cNvSpPr/>
          <p:nvPr/>
        </p:nvSpPr>
        <p:spPr>
          <a:xfrm>
            <a:off x="1280266" y="308075"/>
            <a:ext cx="1955868" cy="1246648"/>
          </a:xfrm>
          <a:prstGeom prst="wedgeRoundRectCallout">
            <a:avLst>
              <a:gd name="adj1" fmla="val 69359"/>
              <a:gd name="adj2" fmla="val 87085"/>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8" name="TextBox 37"/>
          <p:cNvSpPr txBox="1"/>
          <p:nvPr/>
        </p:nvSpPr>
        <p:spPr>
          <a:xfrm>
            <a:off x="1280266" y="172255"/>
            <a:ext cx="1955868"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plain text (“flat”) file</a:t>
            </a:r>
          </a:p>
          <a:p>
            <a:pPr algn="ctr"/>
            <a:endParaRPr lang="en-US" dirty="0">
              <a:solidFill>
                <a:schemeClr val="bg1"/>
              </a:solidFill>
            </a:endParaRPr>
          </a:p>
        </p:txBody>
      </p:sp>
      <p:sp>
        <p:nvSpPr>
          <p:cNvPr id="39" name="Rounded Rectangular Callout 38"/>
          <p:cNvSpPr/>
          <p:nvPr/>
        </p:nvSpPr>
        <p:spPr>
          <a:xfrm>
            <a:off x="1302568" y="2616378"/>
            <a:ext cx="1955868" cy="1246648"/>
          </a:xfrm>
          <a:prstGeom prst="wedgeRoundRectCallout">
            <a:avLst>
              <a:gd name="adj1" fmla="val 73921"/>
              <a:gd name="adj2" fmla="val -76608"/>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0" name="TextBox 39"/>
          <p:cNvSpPr txBox="1"/>
          <p:nvPr/>
        </p:nvSpPr>
        <p:spPr>
          <a:xfrm>
            <a:off x="1302568" y="2696001"/>
            <a:ext cx="1955868" cy="1077218"/>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header row</a:t>
            </a:r>
          </a:p>
          <a:p>
            <a:pPr algn="ctr"/>
            <a:endParaRPr lang="en-US" dirty="0">
              <a:solidFill>
                <a:schemeClr val="bg1"/>
              </a:solidFill>
            </a:endParaRPr>
          </a:p>
        </p:txBody>
      </p:sp>
    </p:spTree>
    <p:extLst>
      <p:ext uri="{BB962C8B-B14F-4D97-AF65-F5344CB8AC3E}">
        <p14:creationId xmlns:p14="http://schemas.microsoft.com/office/powerpoint/2010/main" val="204178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42" presetClass="path" presetSubtype="0" accel="50000" decel="50000" fill="hold" nodeType="withEffect">
                                  <p:stCondLst>
                                    <p:cond delay="0"/>
                                  </p:stCondLst>
                                  <p:childTnLst>
                                    <p:animMotion origin="layout" path="M 1.04167E-6 4.81481E-6 L 0.13724 -0.00024 " pathEditMode="relative" rAng="0" ptsTypes="AA">
                                      <p:cBhvr>
                                        <p:cTn id="16" dur="2000" fill="hold"/>
                                        <p:tgtEl>
                                          <p:spTgt spid="17"/>
                                        </p:tgtEl>
                                        <p:attrNameLst>
                                          <p:attrName>ppt_x</p:attrName>
                                          <p:attrName>ppt_y</p:attrName>
                                        </p:attrNameLst>
                                      </p:cBhvr>
                                      <p:rCtr x="6862" y="-23"/>
                                    </p:animMotion>
                                  </p:childTnLst>
                                </p:cTn>
                              </p:par>
                              <p:par>
                                <p:cTn id="17" presetID="42" presetClass="path" presetSubtype="0" accel="50000" decel="50000" fill="hold" nodeType="withEffect">
                                  <p:stCondLst>
                                    <p:cond delay="0"/>
                                  </p:stCondLst>
                                  <p:childTnLst>
                                    <p:animMotion origin="layout" path="M -3.54167E-6 -2.22222E-6 L 0.16289 -0.00069 " pathEditMode="relative" rAng="0" ptsTypes="AA">
                                      <p:cBhvr>
                                        <p:cTn id="18" dur="2000" fill="hold"/>
                                        <p:tgtEl>
                                          <p:spTgt spid="18"/>
                                        </p:tgtEl>
                                        <p:attrNameLst>
                                          <p:attrName>ppt_x</p:attrName>
                                          <p:attrName>ppt_y</p:attrName>
                                        </p:attrNameLst>
                                      </p:cBhvr>
                                      <p:rCtr x="8138" y="-46"/>
                                    </p:animMotion>
                                  </p:childTnLst>
                                </p:cTn>
                              </p:par>
                              <p:par>
                                <p:cTn id="19" presetID="42" presetClass="path" presetSubtype="0" accel="50000" decel="50000" fill="hold" nodeType="withEffect">
                                  <p:stCondLst>
                                    <p:cond delay="0"/>
                                  </p:stCondLst>
                                  <p:childTnLst>
                                    <p:animMotion origin="layout" path="M -4.375E-6 7.40741E-7 L 0.04974 -0.00046 " pathEditMode="relative" rAng="0" ptsTypes="AA">
                                      <p:cBhvr>
                                        <p:cTn id="20" dur="2000" fill="hold"/>
                                        <p:tgtEl>
                                          <p:spTgt spid="19"/>
                                        </p:tgtEl>
                                        <p:attrNameLst>
                                          <p:attrName>ppt_x</p:attrName>
                                          <p:attrName>ppt_y</p:attrName>
                                        </p:attrNameLst>
                                      </p:cBhvr>
                                      <p:rCtr x="2487" y="-23"/>
                                    </p:animMotion>
                                  </p:childTnLst>
                                </p:cTn>
                              </p:par>
                              <p:par>
                                <p:cTn id="21" presetID="42" presetClass="path" presetSubtype="0" accel="50000" decel="50000" fill="hold" nodeType="withEffect">
                                  <p:stCondLst>
                                    <p:cond delay="0"/>
                                  </p:stCondLst>
                                  <p:childTnLst>
                                    <p:animMotion origin="layout" path="M 3.125E-6 -4.81481E-6 L 0.05039 -0.00023 " pathEditMode="relative" rAng="0" ptsTypes="AA">
                                      <p:cBhvr>
                                        <p:cTn id="22" dur="2000" fill="hold"/>
                                        <p:tgtEl>
                                          <p:spTgt spid="20"/>
                                        </p:tgtEl>
                                        <p:attrNameLst>
                                          <p:attrName>ppt_x</p:attrName>
                                          <p:attrName>ppt_y</p:attrName>
                                        </p:attrNameLst>
                                      </p:cBhvr>
                                      <p:rCtr x="2513" y="-23"/>
                                    </p:animMotion>
                                  </p:childTnLst>
                                </p:cTn>
                              </p:par>
                              <p:par>
                                <p:cTn id="23" presetID="42" presetClass="path" presetSubtype="0" accel="50000" decel="50000" fill="hold" nodeType="withEffect">
                                  <p:stCondLst>
                                    <p:cond delay="0"/>
                                  </p:stCondLst>
                                  <p:childTnLst>
                                    <p:animMotion origin="layout" path="M -3.125E-6 -2.22222E-6 L 0.03672 -2.22222E-6 " pathEditMode="relative" rAng="0" ptsTypes="AA">
                                      <p:cBhvr>
                                        <p:cTn id="24" dur="2000" fill="hold"/>
                                        <p:tgtEl>
                                          <p:spTgt spid="21"/>
                                        </p:tgtEl>
                                        <p:attrNameLst>
                                          <p:attrName>ppt_x</p:attrName>
                                          <p:attrName>ppt_y</p:attrName>
                                        </p:attrNameLst>
                                      </p:cBhvr>
                                      <p:rCtr x="1836" y="0"/>
                                    </p:animMotion>
                                  </p:childTnLst>
                                </p:cTn>
                              </p:par>
                              <p:par>
                                <p:cTn id="25" presetID="42" presetClass="path" presetSubtype="0" accel="50000" decel="50000" fill="hold" nodeType="withEffect">
                                  <p:stCondLst>
                                    <p:cond delay="0"/>
                                  </p:stCondLst>
                                  <p:childTnLst>
                                    <p:animMotion origin="layout" path="M 3.75E-6 3.7037E-7 L 0.03789 0.00023 " pathEditMode="relative" rAng="0" ptsTypes="AA">
                                      <p:cBhvr>
                                        <p:cTn id="26" dur="2000" fill="hold"/>
                                        <p:tgtEl>
                                          <p:spTgt spid="22"/>
                                        </p:tgtEl>
                                        <p:attrNameLst>
                                          <p:attrName>ppt_x</p:attrName>
                                          <p:attrName>ppt_y</p:attrName>
                                        </p:attrNameLst>
                                      </p:cBhvr>
                                      <p:rCtr x="1888" y="0"/>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37" grpId="0" animBg="1"/>
      <p:bldP spid="38" grpId="0"/>
      <p:bldP spid="39" grpId="0" animBg="1"/>
      <p:bldP spid="4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88828" y="2286000"/>
            <a:ext cx="7283635" cy="4022725"/>
          </a:xfrm>
        </p:spPr>
        <p:txBody>
          <a:bodyPr>
            <a:noAutofit/>
          </a:bodyPr>
          <a:lstStyle/>
          <a:p>
            <a:pPr>
              <a:buFont typeface="Arial" charset="0"/>
              <a:buChar char="•"/>
            </a:pPr>
            <a:r>
              <a:rPr lang="en-US" sz="3600" dirty="0"/>
              <a:t> A consistent way to organize data</a:t>
            </a:r>
          </a:p>
          <a:p>
            <a:pPr>
              <a:buFont typeface="Arial" charset="0"/>
              <a:buChar char="•"/>
            </a:pPr>
            <a:r>
              <a:rPr lang="en-US" sz="3600" dirty="0"/>
              <a:t> Human readable, concise, consistent code </a:t>
            </a:r>
          </a:p>
          <a:p>
            <a:pPr>
              <a:buFont typeface="Arial" charset="0"/>
              <a:buChar char="•"/>
            </a:pPr>
            <a:r>
              <a:rPr lang="en-US" sz="3600" dirty="0"/>
              <a:t> Build pipelines from atomic data analysis steps</a:t>
            </a:r>
          </a:p>
        </p:txBody>
      </p:sp>
      <p:pic>
        <p:nvPicPr>
          <p:cNvPr id="9" name="Picture 8"/>
          <p:cNvPicPr>
            <a:picLocks noChangeAspect="1"/>
          </p:cNvPicPr>
          <p:nvPr/>
        </p:nvPicPr>
        <p:blipFill>
          <a:blip r:embed="rId3"/>
          <a:stretch>
            <a:fillRect/>
          </a:stretch>
        </p:blipFill>
        <p:spPr>
          <a:xfrm>
            <a:off x="8537797" y="2165349"/>
            <a:ext cx="3044604" cy="3044604"/>
          </a:xfrm>
          <a:prstGeom prst="rect">
            <a:avLst/>
          </a:prstGeom>
        </p:spPr>
      </p:pic>
      <p:sp>
        <p:nvSpPr>
          <p:cNvPr id="6" name="object 10">
            <a:extLst>
              <a:ext uri="{FF2B5EF4-FFF2-40B4-BE49-F238E27FC236}">
                <a16:creationId xmlns:a16="http://schemas.microsoft.com/office/drawing/2014/main" id="{B01BE7F9-B159-C54F-B284-E84321FC6776}"/>
              </a:ext>
            </a:extLst>
          </p:cNvPr>
          <p:cNvSpPr txBox="1"/>
          <p:nvPr/>
        </p:nvSpPr>
        <p:spPr>
          <a:xfrm>
            <a:off x="-1" y="682728"/>
            <a:ext cx="12192001"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err="1">
                <a:latin typeface="Tw Cen MT" panose="020B0602020104020603" pitchFamily="34" charset="77"/>
                <a:cs typeface="Helvetica Neue"/>
              </a:rPr>
              <a:t>Tidyverse</a:t>
            </a:r>
            <a:r>
              <a:rPr lang="en-US" sz="4400" spc="-5" dirty="0">
                <a:latin typeface="Tw Cen MT" panose="020B0602020104020603" pitchFamily="34" charset="77"/>
                <a:cs typeface="Helvetica Neue"/>
              </a:rPr>
              <a:t>: R Packages for Data Science</a:t>
            </a:r>
            <a:endParaRPr sz="4400" dirty="0">
              <a:latin typeface="Tw Cen MT" panose="020B0602020104020603" pitchFamily="34" charset="77"/>
              <a:cs typeface="Helvetica Neue"/>
            </a:endParaRPr>
          </a:p>
        </p:txBody>
      </p:sp>
    </p:spTree>
    <p:extLst>
      <p:ext uri="{BB962C8B-B14F-4D97-AF65-F5344CB8AC3E}">
        <p14:creationId xmlns:p14="http://schemas.microsoft.com/office/powerpoint/2010/main" val="7301143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0411D806-6B45-A445-82B7-9B828BEE1AAD}"/>
              </a:ext>
            </a:extLst>
          </p:cNvPr>
          <p:cNvGrpSpPr/>
          <p:nvPr/>
        </p:nvGrpSpPr>
        <p:grpSpPr>
          <a:xfrm>
            <a:off x="1347178" y="2226171"/>
            <a:ext cx="2016954" cy="3460569"/>
            <a:chOff x="902677" y="1946031"/>
            <a:chExt cx="2356175" cy="4042585"/>
          </a:xfrm>
        </p:grpSpPr>
        <p:pic>
          <p:nvPicPr>
            <p:cNvPr id="4" name="Picture 3"/>
            <p:cNvPicPr>
              <a:picLocks noChangeAspect="1"/>
            </p:cNvPicPr>
            <p:nvPr/>
          </p:nvPicPr>
          <p:blipFill>
            <a:blip r:embed="rId3"/>
            <a:stretch>
              <a:fillRect/>
            </a:stretch>
          </p:blipFill>
          <p:spPr>
            <a:xfrm>
              <a:off x="1024128" y="2084832"/>
              <a:ext cx="2234724" cy="3903784"/>
            </a:xfrm>
            <a:prstGeom prst="rect">
              <a:avLst/>
            </a:prstGeom>
          </p:spPr>
        </p:pic>
        <p:sp>
          <p:nvSpPr>
            <p:cNvPr id="8" name="Rounded Rectangle 7"/>
            <p:cNvSpPr/>
            <p:nvPr/>
          </p:nvSpPr>
          <p:spPr>
            <a:xfrm>
              <a:off x="902677" y="1946031"/>
              <a:ext cx="2356175" cy="4042585"/>
            </a:xfrm>
            <a:prstGeom prst="roundRect">
              <a:avLst/>
            </a:prstGeom>
            <a:no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C84DA4D8-945D-3042-B84A-6F788403D6BF}"/>
              </a:ext>
            </a:extLst>
          </p:cNvPr>
          <p:cNvSpPr/>
          <p:nvPr/>
        </p:nvSpPr>
        <p:spPr>
          <a:xfrm>
            <a:off x="930310" y="1518285"/>
            <a:ext cx="2954655" cy="707886"/>
          </a:xfrm>
          <a:prstGeom prst="rect">
            <a:avLst/>
          </a:prstGeom>
        </p:spPr>
        <p:txBody>
          <a:bodyPr wrap="none">
            <a:spAutoFit/>
          </a:bodyPr>
          <a:lstStyle/>
          <a:p>
            <a:r>
              <a:rPr lang="en-US" sz="4000" dirty="0" err="1">
                <a:solidFill>
                  <a:schemeClr val="accent2"/>
                </a:solidFill>
                <a:latin typeface="Monaco" charset="0"/>
              </a:rPr>
              <a:t>tidyverse</a:t>
            </a:r>
            <a:endParaRPr lang="en-US" sz="4000" dirty="0"/>
          </a:p>
        </p:txBody>
      </p:sp>
      <p:grpSp>
        <p:nvGrpSpPr>
          <p:cNvPr id="13" name="Group 12">
            <a:extLst>
              <a:ext uri="{FF2B5EF4-FFF2-40B4-BE49-F238E27FC236}">
                <a16:creationId xmlns:a16="http://schemas.microsoft.com/office/drawing/2014/main" id="{22361FBF-EB79-3F46-BACB-3089EDBAC882}"/>
              </a:ext>
            </a:extLst>
          </p:cNvPr>
          <p:cNvGrpSpPr/>
          <p:nvPr/>
        </p:nvGrpSpPr>
        <p:grpSpPr>
          <a:xfrm>
            <a:off x="6481064" y="4483753"/>
            <a:ext cx="3801284" cy="1506122"/>
            <a:chOff x="6474148" y="4609386"/>
            <a:chExt cx="3801284" cy="1506122"/>
          </a:xfrm>
        </p:grpSpPr>
        <p:pic>
          <p:nvPicPr>
            <p:cNvPr id="7" name="Picture 6"/>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6481064" y="5261356"/>
              <a:ext cx="3794368" cy="854152"/>
            </a:xfrm>
            <a:prstGeom prst="rect">
              <a:avLst/>
            </a:prstGeom>
          </p:spPr>
        </p:pic>
        <p:sp>
          <p:nvSpPr>
            <p:cNvPr id="11" name="Rectangle 10">
              <a:extLst>
                <a:ext uri="{FF2B5EF4-FFF2-40B4-BE49-F238E27FC236}">
                  <a16:creationId xmlns:a16="http://schemas.microsoft.com/office/drawing/2014/main" id="{4A4B71F9-7E78-2546-8172-B22B639BF2ED}"/>
                </a:ext>
              </a:extLst>
            </p:cNvPr>
            <p:cNvSpPr/>
            <p:nvPr/>
          </p:nvSpPr>
          <p:spPr>
            <a:xfrm>
              <a:off x="6474148" y="4609386"/>
              <a:ext cx="3702622" cy="553998"/>
            </a:xfrm>
            <a:prstGeom prst="rect">
              <a:avLst/>
            </a:prstGeom>
            <a:solidFill>
              <a:schemeClr val="bg1">
                <a:lumMod val="95000"/>
              </a:schemeClr>
            </a:solidFill>
            <a:ln>
              <a:solidFill>
                <a:schemeClr val="bg1">
                  <a:lumMod val="65000"/>
                </a:schemeClr>
              </a:solidFill>
            </a:ln>
          </p:spPr>
          <p:txBody>
            <a:bodyPr wrap="square" tIns="91440" bIns="91440">
              <a:spAutoFit/>
            </a:bodyPr>
            <a:lstStyle/>
            <a:p>
              <a:r>
                <a:rPr lang="en-US" sz="2400" b="1" dirty="0">
                  <a:solidFill>
                    <a:schemeClr val="accent5"/>
                  </a:solidFill>
                  <a:latin typeface="Monaco" charset="0"/>
                </a:rPr>
                <a:t>library</a:t>
              </a:r>
              <a:r>
                <a:rPr lang="en-US" sz="2400" dirty="0">
                  <a:solidFill>
                    <a:schemeClr val="accent2"/>
                  </a:solidFill>
                  <a:latin typeface="Monaco" charset="0"/>
                </a:rPr>
                <a:t>(</a:t>
              </a:r>
              <a:r>
                <a:rPr lang="en-US" sz="2400" dirty="0" err="1">
                  <a:solidFill>
                    <a:schemeClr val="accent2"/>
                  </a:solidFill>
                  <a:latin typeface="Monaco" charset="0"/>
                </a:rPr>
                <a:t>tidyverse</a:t>
              </a:r>
              <a:r>
                <a:rPr lang="en-US" sz="2400" dirty="0">
                  <a:solidFill>
                    <a:schemeClr val="accent2"/>
                  </a:solidFill>
                  <a:latin typeface="Monaco" charset="0"/>
                </a:rPr>
                <a:t>)</a:t>
              </a:r>
              <a:endParaRPr lang="en-US" sz="2400" dirty="0"/>
            </a:p>
          </p:txBody>
        </p:sp>
      </p:grpSp>
      <p:sp>
        <p:nvSpPr>
          <p:cNvPr id="14" name="object 10">
            <a:extLst>
              <a:ext uri="{FF2B5EF4-FFF2-40B4-BE49-F238E27FC236}">
                <a16:creationId xmlns:a16="http://schemas.microsoft.com/office/drawing/2014/main" id="{E5FAB22D-71A4-B94E-BB91-42BA3BED5C13}"/>
              </a:ext>
            </a:extLst>
          </p:cNvPr>
          <p:cNvSpPr txBox="1"/>
          <p:nvPr/>
        </p:nvSpPr>
        <p:spPr>
          <a:xfrm>
            <a:off x="-1" y="682728"/>
            <a:ext cx="12192001"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a:latin typeface="Tw Cen MT" panose="020B0602020104020603" pitchFamily="34" charset="77"/>
                <a:cs typeface="Helvetica Neue"/>
              </a:rPr>
              <a:t>Installing and loading R packages</a:t>
            </a:r>
            <a:endParaRPr sz="4400" dirty="0">
              <a:latin typeface="Tw Cen MT" panose="020B0602020104020603" pitchFamily="34" charset="77"/>
              <a:cs typeface="Helvetica Neue"/>
            </a:endParaRPr>
          </a:p>
        </p:txBody>
      </p:sp>
      <p:grpSp>
        <p:nvGrpSpPr>
          <p:cNvPr id="12" name="Group 11">
            <a:extLst>
              <a:ext uri="{FF2B5EF4-FFF2-40B4-BE49-F238E27FC236}">
                <a16:creationId xmlns:a16="http://schemas.microsoft.com/office/drawing/2014/main" id="{DA8C6147-664D-0747-A0C8-DC1C74DCCBDF}"/>
              </a:ext>
            </a:extLst>
          </p:cNvPr>
          <p:cNvGrpSpPr/>
          <p:nvPr/>
        </p:nvGrpSpPr>
        <p:grpSpPr>
          <a:xfrm>
            <a:off x="5573580" y="2340117"/>
            <a:ext cx="5609336" cy="1482853"/>
            <a:chOff x="5573580" y="2172192"/>
            <a:chExt cx="5609336" cy="1482853"/>
          </a:xfrm>
        </p:grpSpPr>
        <p:sp>
          <p:nvSpPr>
            <p:cNvPr id="10" name="Rectangle 9">
              <a:extLst>
                <a:ext uri="{FF2B5EF4-FFF2-40B4-BE49-F238E27FC236}">
                  <a16:creationId xmlns:a16="http://schemas.microsoft.com/office/drawing/2014/main" id="{DF26BD25-555C-EF46-BF32-60CEEFE1EEA6}"/>
                </a:ext>
              </a:extLst>
            </p:cNvPr>
            <p:cNvSpPr/>
            <p:nvPr/>
          </p:nvSpPr>
          <p:spPr>
            <a:xfrm>
              <a:off x="5573580" y="2172192"/>
              <a:ext cx="5609336" cy="553998"/>
            </a:xfrm>
            <a:prstGeom prst="rect">
              <a:avLst/>
            </a:prstGeom>
            <a:solidFill>
              <a:schemeClr val="bg1">
                <a:lumMod val="95000"/>
              </a:schemeClr>
            </a:solidFill>
            <a:ln>
              <a:solidFill>
                <a:schemeClr val="bg1">
                  <a:lumMod val="65000"/>
                </a:schemeClr>
              </a:solidFill>
            </a:ln>
          </p:spPr>
          <p:txBody>
            <a:bodyPr wrap="square" tIns="91440" bIns="91440">
              <a:spAutoFit/>
            </a:bodyPr>
            <a:lstStyle/>
            <a:p>
              <a:r>
                <a:rPr lang="en-US" sz="2400" b="1" dirty="0" err="1">
                  <a:solidFill>
                    <a:schemeClr val="accent5"/>
                  </a:solidFill>
                  <a:latin typeface="Monaco" charset="0"/>
                </a:rPr>
                <a:t>install.packages</a:t>
              </a:r>
              <a:r>
                <a:rPr lang="en-US" sz="2400" dirty="0">
                  <a:solidFill>
                    <a:schemeClr val="accent2"/>
                  </a:solidFill>
                  <a:latin typeface="Monaco" charset="0"/>
                </a:rPr>
                <a:t>("</a:t>
              </a:r>
              <a:r>
                <a:rPr lang="en-US" sz="2400" dirty="0" err="1">
                  <a:solidFill>
                    <a:schemeClr val="accent2"/>
                  </a:solidFill>
                  <a:latin typeface="Monaco" charset="0"/>
                </a:rPr>
                <a:t>tidyverse</a:t>
              </a:r>
              <a:r>
                <a:rPr lang="en-US" sz="2400" dirty="0">
                  <a:solidFill>
                    <a:schemeClr val="accent2"/>
                  </a:solidFill>
                  <a:latin typeface="Monaco" charset="0"/>
                </a:rPr>
                <a:t>")</a:t>
              </a:r>
              <a:endParaRPr lang="en-US" sz="2400" dirty="0"/>
            </a:p>
          </p:txBody>
        </p:sp>
        <p:pic>
          <p:nvPicPr>
            <p:cNvPr id="6" name="Picture 5"/>
            <p:cNvPicPr>
              <a:picLocks noChangeAspect="1"/>
            </p:cNvPicPr>
            <p:nvPr/>
          </p:nvPicPr>
          <p:blipFill rotWithShape="1">
            <a:blip r:embed="rId5">
              <a:extLst>
                <a:ext uri="{28A0092B-C50C-407E-A947-70E740481C1C}">
                  <a14:useLocalDpi xmlns:a14="http://schemas.microsoft.com/office/drawing/2010/main"/>
                </a:ext>
              </a:extLst>
            </a:blip>
            <a:srcRect/>
            <a:stretch/>
          </p:blipFill>
          <p:spPr>
            <a:xfrm>
              <a:off x="6481064" y="2807622"/>
              <a:ext cx="3899876" cy="847423"/>
            </a:xfrm>
            <a:prstGeom prst="rect">
              <a:avLst/>
            </a:prstGeom>
          </p:spPr>
        </p:pic>
      </p:grpSp>
      <p:sp>
        <p:nvSpPr>
          <p:cNvPr id="2" name="TextBox 1">
            <a:extLst>
              <a:ext uri="{FF2B5EF4-FFF2-40B4-BE49-F238E27FC236}">
                <a16:creationId xmlns:a16="http://schemas.microsoft.com/office/drawing/2014/main" id="{401D925E-A7D4-E7CB-ECB6-67C41A97CC41}"/>
              </a:ext>
            </a:extLst>
          </p:cNvPr>
          <p:cNvSpPr txBox="1"/>
          <p:nvPr/>
        </p:nvSpPr>
        <p:spPr>
          <a:xfrm>
            <a:off x="694063" y="5989875"/>
            <a:ext cx="10576192" cy="954107"/>
          </a:xfrm>
          <a:prstGeom prst="rect">
            <a:avLst/>
          </a:prstGeom>
          <a:noFill/>
        </p:spPr>
        <p:txBody>
          <a:bodyPr wrap="square" rtlCol="0">
            <a:spAutoFit/>
          </a:bodyPr>
          <a:lstStyle/>
          <a:p>
            <a:pPr algn="ctr"/>
            <a:r>
              <a:rPr lang="en-US" sz="2800" b="1" dirty="0"/>
              <a:t>Note</a:t>
            </a:r>
            <a:r>
              <a:rPr lang="en-US" sz="2800" dirty="0"/>
              <a:t>: you will have to reinstall packages when you upgrade to a new version of the R language (not a new version of RStudio, though)</a:t>
            </a:r>
          </a:p>
        </p:txBody>
      </p:sp>
    </p:spTree>
    <p:extLst>
      <p:ext uri="{BB962C8B-B14F-4D97-AF65-F5344CB8AC3E}">
        <p14:creationId xmlns:p14="http://schemas.microsoft.com/office/powerpoint/2010/main" val="23620956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06F7984-0FFA-BD77-579C-0F27E88A9E5B}"/>
              </a:ext>
            </a:extLst>
          </p:cNvPr>
          <p:cNvPicPr>
            <a:picLocks noChangeAspect="1"/>
          </p:cNvPicPr>
          <p:nvPr/>
        </p:nvPicPr>
        <p:blipFill>
          <a:blip r:embed="rId3"/>
          <a:stretch>
            <a:fillRect/>
          </a:stretch>
        </p:blipFill>
        <p:spPr>
          <a:xfrm>
            <a:off x="1024128" y="1885089"/>
            <a:ext cx="4829761" cy="4972911"/>
          </a:xfrm>
          <a:prstGeom prst="rect">
            <a:avLst/>
          </a:prstGeom>
        </p:spPr>
      </p:pic>
      <p:sp>
        <p:nvSpPr>
          <p:cNvPr id="2" name="Title 1">
            <a:extLst>
              <a:ext uri="{FF2B5EF4-FFF2-40B4-BE49-F238E27FC236}">
                <a16:creationId xmlns:a16="http://schemas.microsoft.com/office/drawing/2014/main" id="{FDA62C7E-AE49-512F-C1BB-C28A86D06E3A}"/>
              </a:ext>
            </a:extLst>
          </p:cNvPr>
          <p:cNvSpPr>
            <a:spLocks noGrp="1"/>
          </p:cNvSpPr>
          <p:nvPr>
            <p:ph type="title"/>
          </p:nvPr>
        </p:nvSpPr>
        <p:spPr/>
        <p:txBody>
          <a:bodyPr/>
          <a:lstStyle/>
          <a:p>
            <a:r>
              <a:rPr lang="en-US" dirty="0"/>
              <a:t>Installing a Package</a:t>
            </a:r>
          </a:p>
        </p:txBody>
      </p:sp>
      <p:sp>
        <p:nvSpPr>
          <p:cNvPr id="3" name="Text Placeholder 2">
            <a:extLst>
              <a:ext uri="{FF2B5EF4-FFF2-40B4-BE49-F238E27FC236}">
                <a16:creationId xmlns:a16="http://schemas.microsoft.com/office/drawing/2014/main" id="{C94C28BE-5736-1695-881A-82113FF62FD8}"/>
              </a:ext>
            </a:extLst>
          </p:cNvPr>
          <p:cNvSpPr>
            <a:spLocks noGrp="1"/>
          </p:cNvSpPr>
          <p:nvPr>
            <p:ph idx="1"/>
          </p:nvPr>
        </p:nvSpPr>
        <p:spPr>
          <a:xfrm>
            <a:off x="6777318" y="2286000"/>
            <a:ext cx="5414682" cy="4023360"/>
          </a:xfrm>
        </p:spPr>
        <p:txBody>
          <a:bodyPr>
            <a:normAutofit/>
          </a:bodyPr>
          <a:lstStyle/>
          <a:p>
            <a:pPr marL="0" indent="0">
              <a:buNone/>
            </a:pPr>
            <a:r>
              <a:rPr lang="en-US" dirty="0"/>
              <a:t>If you followed the </a:t>
            </a:r>
            <a:r>
              <a:rPr lang="en-US" dirty="0" err="1"/>
              <a:t>precourse</a:t>
            </a:r>
            <a:r>
              <a:rPr lang="en-US" dirty="0"/>
              <a:t> instructions you have already installed the </a:t>
            </a:r>
            <a:r>
              <a:rPr lang="en-US" dirty="0" err="1"/>
              <a:t>tidyverse</a:t>
            </a:r>
            <a:r>
              <a:rPr lang="en-US" dirty="0"/>
              <a:t> package. If not, install the </a:t>
            </a:r>
            <a:r>
              <a:rPr lang="en-US" dirty="0" err="1"/>
              <a:t>tidyverse</a:t>
            </a:r>
            <a:r>
              <a:rPr lang="en-US" dirty="0"/>
              <a:t> package now. </a:t>
            </a:r>
          </a:p>
          <a:p>
            <a:pPr marL="0" indent="0">
              <a:buNone/>
            </a:pPr>
            <a:r>
              <a:rPr lang="en-US" dirty="0"/>
              <a:t>Install the “janitor” package using the </a:t>
            </a:r>
            <a:r>
              <a:rPr lang="en-US" dirty="0" err="1">
                <a:solidFill>
                  <a:schemeClr val="accent1"/>
                </a:solidFill>
              </a:rPr>
              <a:t>install.packages</a:t>
            </a:r>
            <a:r>
              <a:rPr lang="en-US" dirty="0">
                <a:solidFill>
                  <a:schemeClr val="accent1"/>
                </a:solidFill>
              </a:rPr>
              <a:t>() </a:t>
            </a:r>
            <a:r>
              <a:rPr lang="en-US" dirty="0"/>
              <a:t>function in the </a:t>
            </a:r>
            <a:r>
              <a:rPr lang="en-US" dirty="0">
                <a:solidFill>
                  <a:schemeClr val="accent1"/>
                </a:solidFill>
              </a:rPr>
              <a:t>Console</a:t>
            </a:r>
            <a:r>
              <a:rPr lang="en-US" dirty="0"/>
              <a:t>. </a:t>
            </a:r>
          </a:p>
        </p:txBody>
      </p:sp>
      <p:cxnSp>
        <p:nvCxnSpPr>
          <p:cNvPr id="6" name="Straight Arrow Connector 5">
            <a:extLst>
              <a:ext uri="{FF2B5EF4-FFF2-40B4-BE49-F238E27FC236}">
                <a16:creationId xmlns:a16="http://schemas.microsoft.com/office/drawing/2014/main" id="{26CBEA0C-72E8-BF58-8FB1-716AE1EC5EDF}"/>
              </a:ext>
            </a:extLst>
          </p:cNvPr>
          <p:cNvCxnSpPr>
            <a:cxnSpLocks/>
          </p:cNvCxnSpPr>
          <p:nvPr/>
        </p:nvCxnSpPr>
        <p:spPr>
          <a:xfrm flipH="1" flipV="1">
            <a:off x="2237339" y="5334837"/>
            <a:ext cx="588811" cy="50402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D7EC77D-222C-FAAC-AA63-792CBC92D024}"/>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29027800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Dataframes</a:t>
            </a:r>
            <a:r>
              <a:rPr lang="en-US" dirty="0"/>
              <a:t>:  Beyond the Vector</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768550" y="2286000"/>
            <a:ext cx="7175741" cy="4023360"/>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 </a:t>
            </a:r>
            <a:r>
              <a:rPr lang="en-US" sz="3200" dirty="0" err="1"/>
              <a:t>Dataframe</a:t>
            </a:r>
            <a:r>
              <a:rPr lang="en-US" sz="3200" dirty="0"/>
              <a:t> is the term for a type of table that aligns with the “tidy data” model</a:t>
            </a:r>
          </a:p>
          <a:p>
            <a:pPr>
              <a:buFont typeface="Arial" panose="020B0604020202020204" pitchFamily="34" charset="0"/>
              <a:buChar char="•"/>
            </a:pPr>
            <a:r>
              <a:rPr lang="en-US" sz="3200" dirty="0"/>
              <a:t> </a:t>
            </a:r>
            <a:r>
              <a:rPr lang="en-US" sz="3200" dirty="0" err="1"/>
              <a:t>Dataframes</a:t>
            </a:r>
            <a:r>
              <a:rPr lang="en-US" sz="3200" dirty="0"/>
              <a:t> are composed of:</a:t>
            </a:r>
          </a:p>
          <a:p>
            <a:pPr marL="630936" lvl="1" indent="-457200">
              <a:buFont typeface="Arial" panose="020B0604020202020204" pitchFamily="34" charset="0"/>
              <a:buChar char="•"/>
            </a:pPr>
            <a:r>
              <a:rPr lang="en-US" sz="3200" dirty="0"/>
              <a:t>Columns (Variables)</a:t>
            </a:r>
          </a:p>
          <a:p>
            <a:pPr marL="630936" lvl="1" indent="-457200">
              <a:buFont typeface="Arial" panose="020B0604020202020204" pitchFamily="34" charset="0"/>
              <a:buChar char="•"/>
            </a:pPr>
            <a:r>
              <a:rPr lang="en-US" sz="3200" dirty="0"/>
              <a:t>Rows (Observations)</a:t>
            </a:r>
          </a:p>
          <a:p>
            <a:pPr>
              <a:buFont typeface="Arial" panose="020B0604020202020204" pitchFamily="34" charset="0"/>
              <a:buChar char="•"/>
            </a:pPr>
            <a:r>
              <a:rPr lang="en-US" sz="3200" dirty="0"/>
              <a:t> </a:t>
            </a:r>
            <a:r>
              <a:rPr lang="en-US" sz="3200" dirty="0" err="1"/>
              <a:t>Dataframes</a:t>
            </a:r>
            <a:r>
              <a:rPr lang="en-US" sz="3200" dirty="0"/>
              <a:t> are objects and can be acted on like other objects</a:t>
            </a:r>
          </a:p>
        </p:txBody>
      </p:sp>
      <p:pic>
        <p:nvPicPr>
          <p:cNvPr id="4" name="Picture 3">
            <a:extLst>
              <a:ext uri="{FF2B5EF4-FFF2-40B4-BE49-F238E27FC236}">
                <a16:creationId xmlns:a16="http://schemas.microsoft.com/office/drawing/2014/main" id="{E354E249-8A78-924E-9BA9-C21DFFC4055D}"/>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8268560" y="2084832"/>
            <a:ext cx="2862828" cy="1679292"/>
          </a:xfrm>
          <a:prstGeom prst="rect">
            <a:avLst/>
          </a:prstGeom>
        </p:spPr>
      </p:pic>
      <p:pic>
        <p:nvPicPr>
          <p:cNvPr id="6" name="Picture 5">
            <a:extLst>
              <a:ext uri="{FF2B5EF4-FFF2-40B4-BE49-F238E27FC236}">
                <a16:creationId xmlns:a16="http://schemas.microsoft.com/office/drawing/2014/main" id="{94E1C80C-58E1-4D43-B562-EBC82F399BB0}"/>
              </a:ext>
            </a:extLst>
          </p:cNvPr>
          <p:cNvPicPr>
            <a:picLocks noChangeAspect="1"/>
          </p:cNvPicPr>
          <p:nvPr/>
        </p:nvPicPr>
        <p:blipFill>
          <a:blip r:embed="rId4"/>
          <a:stretch>
            <a:fillRect/>
          </a:stretch>
        </p:blipFill>
        <p:spPr>
          <a:xfrm>
            <a:off x="8268560" y="5220292"/>
            <a:ext cx="1011410" cy="1020522"/>
          </a:xfrm>
          <a:prstGeom prst="rect">
            <a:avLst/>
          </a:prstGeom>
        </p:spPr>
      </p:pic>
      <p:sp>
        <p:nvSpPr>
          <p:cNvPr id="7" name="TextBox 6">
            <a:extLst>
              <a:ext uri="{FF2B5EF4-FFF2-40B4-BE49-F238E27FC236}">
                <a16:creationId xmlns:a16="http://schemas.microsoft.com/office/drawing/2014/main" id="{8F950BB4-3D5E-6F4C-A24B-4F671D338AD9}"/>
              </a:ext>
            </a:extLst>
          </p:cNvPr>
          <p:cNvSpPr txBox="1"/>
          <p:nvPr/>
        </p:nvSpPr>
        <p:spPr>
          <a:xfrm>
            <a:off x="8430371" y="5458205"/>
            <a:ext cx="687793" cy="523220"/>
          </a:xfrm>
          <a:prstGeom prst="rect">
            <a:avLst/>
          </a:prstGeom>
          <a:noFill/>
        </p:spPr>
        <p:txBody>
          <a:bodyPr wrap="square" rtlCol="0">
            <a:spAutoFit/>
          </a:bodyPr>
          <a:lstStyle/>
          <a:p>
            <a:pPr algn="ctr"/>
            <a:r>
              <a:rPr lang="en-US" sz="2800" dirty="0">
                <a:solidFill>
                  <a:schemeClr val="tx1">
                    <a:lumMod val="65000"/>
                    <a:lumOff val="35000"/>
                  </a:schemeClr>
                </a:solidFill>
              </a:rPr>
              <a:t>csv</a:t>
            </a:r>
            <a:endParaRPr lang="en-US" sz="4000" dirty="0">
              <a:solidFill>
                <a:schemeClr val="tx1">
                  <a:lumMod val="65000"/>
                  <a:lumOff val="35000"/>
                </a:schemeClr>
              </a:solidFill>
            </a:endParaRPr>
          </a:p>
        </p:txBody>
      </p:sp>
      <p:pic>
        <p:nvPicPr>
          <p:cNvPr id="8" name="Picture 7">
            <a:extLst>
              <a:ext uri="{FF2B5EF4-FFF2-40B4-BE49-F238E27FC236}">
                <a16:creationId xmlns:a16="http://schemas.microsoft.com/office/drawing/2014/main" id="{F3A1BD95-F106-6E4E-A7C4-36D8957B0FF9}"/>
              </a:ext>
            </a:extLst>
          </p:cNvPr>
          <p:cNvPicPr>
            <a:picLocks noChangeAspect="1"/>
          </p:cNvPicPr>
          <p:nvPr/>
        </p:nvPicPr>
        <p:blipFill>
          <a:blip r:embed="rId4"/>
          <a:stretch>
            <a:fillRect/>
          </a:stretch>
        </p:blipFill>
        <p:spPr>
          <a:xfrm>
            <a:off x="9279970" y="5220292"/>
            <a:ext cx="1011410" cy="1020522"/>
          </a:xfrm>
          <a:prstGeom prst="rect">
            <a:avLst/>
          </a:prstGeom>
        </p:spPr>
      </p:pic>
      <p:sp>
        <p:nvSpPr>
          <p:cNvPr id="9" name="TextBox 8">
            <a:extLst>
              <a:ext uri="{FF2B5EF4-FFF2-40B4-BE49-F238E27FC236}">
                <a16:creationId xmlns:a16="http://schemas.microsoft.com/office/drawing/2014/main" id="{54FF7CB4-7544-AA40-AF2C-E3AC98FBC70F}"/>
              </a:ext>
            </a:extLst>
          </p:cNvPr>
          <p:cNvSpPr txBox="1"/>
          <p:nvPr/>
        </p:nvSpPr>
        <p:spPr>
          <a:xfrm>
            <a:off x="9441781" y="5458205"/>
            <a:ext cx="687793" cy="523220"/>
          </a:xfrm>
          <a:prstGeom prst="rect">
            <a:avLst/>
          </a:prstGeom>
          <a:noFill/>
        </p:spPr>
        <p:txBody>
          <a:bodyPr wrap="square" rtlCol="0">
            <a:spAutoFit/>
          </a:bodyPr>
          <a:lstStyle/>
          <a:p>
            <a:pPr algn="ctr"/>
            <a:r>
              <a:rPr lang="en-US" sz="2800" dirty="0" err="1">
                <a:solidFill>
                  <a:schemeClr val="tx1">
                    <a:lumMod val="65000"/>
                    <a:lumOff val="35000"/>
                  </a:schemeClr>
                </a:solidFill>
              </a:rPr>
              <a:t>xls</a:t>
            </a:r>
            <a:endParaRPr lang="en-US" sz="4000" dirty="0">
              <a:solidFill>
                <a:schemeClr val="tx1">
                  <a:lumMod val="65000"/>
                  <a:lumOff val="35000"/>
                </a:schemeClr>
              </a:solidFill>
            </a:endParaRPr>
          </a:p>
        </p:txBody>
      </p:sp>
      <p:pic>
        <p:nvPicPr>
          <p:cNvPr id="10" name="Picture 9">
            <a:extLst>
              <a:ext uri="{FF2B5EF4-FFF2-40B4-BE49-F238E27FC236}">
                <a16:creationId xmlns:a16="http://schemas.microsoft.com/office/drawing/2014/main" id="{3AB9BEEA-D585-2B46-A2E2-C5F566E53990}"/>
              </a:ext>
            </a:extLst>
          </p:cNvPr>
          <p:cNvPicPr>
            <a:picLocks noChangeAspect="1"/>
          </p:cNvPicPr>
          <p:nvPr/>
        </p:nvPicPr>
        <p:blipFill>
          <a:blip r:embed="rId5"/>
          <a:stretch>
            <a:fillRect/>
          </a:stretch>
        </p:blipFill>
        <p:spPr>
          <a:xfrm>
            <a:off x="10129574" y="4983247"/>
            <a:ext cx="1293876" cy="1567231"/>
          </a:xfrm>
          <a:prstGeom prst="rect">
            <a:avLst/>
          </a:prstGeom>
        </p:spPr>
      </p:pic>
      <p:sp>
        <p:nvSpPr>
          <p:cNvPr id="11" name="TextBox 10">
            <a:extLst>
              <a:ext uri="{FF2B5EF4-FFF2-40B4-BE49-F238E27FC236}">
                <a16:creationId xmlns:a16="http://schemas.microsoft.com/office/drawing/2014/main" id="{BCF5A865-EB32-9C45-9261-304A612198DC}"/>
              </a:ext>
            </a:extLst>
          </p:cNvPr>
          <p:cNvSpPr txBox="1"/>
          <p:nvPr/>
        </p:nvSpPr>
        <p:spPr>
          <a:xfrm>
            <a:off x="10447603" y="5512921"/>
            <a:ext cx="687793" cy="523220"/>
          </a:xfrm>
          <a:prstGeom prst="rect">
            <a:avLst/>
          </a:prstGeom>
          <a:noFill/>
        </p:spPr>
        <p:txBody>
          <a:bodyPr wrap="square" rtlCol="0">
            <a:spAutoFit/>
          </a:bodyPr>
          <a:lstStyle/>
          <a:p>
            <a:pPr algn="ctr"/>
            <a:r>
              <a:rPr lang="en-US" sz="2800" dirty="0" err="1">
                <a:solidFill>
                  <a:schemeClr val="bg1">
                    <a:lumMod val="85000"/>
                  </a:schemeClr>
                </a:solidFill>
              </a:rPr>
              <a:t>db</a:t>
            </a:r>
            <a:endParaRPr lang="en-US" sz="4000" dirty="0">
              <a:solidFill>
                <a:schemeClr val="bg1">
                  <a:lumMod val="85000"/>
                </a:schemeClr>
              </a:solidFill>
            </a:endParaRPr>
          </a:p>
        </p:txBody>
      </p:sp>
      <p:pic>
        <p:nvPicPr>
          <p:cNvPr id="12" name="Picture 11">
            <a:extLst>
              <a:ext uri="{FF2B5EF4-FFF2-40B4-BE49-F238E27FC236}">
                <a16:creationId xmlns:a16="http://schemas.microsoft.com/office/drawing/2014/main" id="{01421A35-659A-1547-9603-0368D6F2AC4C}"/>
              </a:ext>
            </a:extLst>
          </p:cNvPr>
          <p:cNvPicPr>
            <a:picLocks noChangeAspect="1"/>
          </p:cNvPicPr>
          <p:nvPr/>
        </p:nvPicPr>
        <p:blipFill rotWithShape="1">
          <a:blip r:embed="rId6">
            <a:extLst>
              <a:ext uri="{28A0092B-C50C-407E-A947-70E740481C1C}">
                <a14:useLocalDpi xmlns:a14="http://schemas.microsoft.com/office/drawing/2010/main"/>
              </a:ext>
            </a:extLst>
          </a:blip>
          <a:srcRect t="18681"/>
          <a:stretch/>
        </p:blipFill>
        <p:spPr>
          <a:xfrm flipV="1">
            <a:off x="8389220" y="3844559"/>
            <a:ext cx="728944" cy="1138688"/>
          </a:xfrm>
          <a:prstGeom prst="rect">
            <a:avLst/>
          </a:prstGeom>
        </p:spPr>
      </p:pic>
      <p:pic>
        <p:nvPicPr>
          <p:cNvPr id="15" name="Picture 14">
            <a:extLst>
              <a:ext uri="{FF2B5EF4-FFF2-40B4-BE49-F238E27FC236}">
                <a16:creationId xmlns:a16="http://schemas.microsoft.com/office/drawing/2014/main" id="{8B723F3D-CC95-9F43-9EFE-7B806EB263E6}"/>
              </a:ext>
            </a:extLst>
          </p:cNvPr>
          <p:cNvPicPr>
            <a:picLocks noChangeAspect="1"/>
          </p:cNvPicPr>
          <p:nvPr/>
        </p:nvPicPr>
        <p:blipFill rotWithShape="1">
          <a:blip r:embed="rId6">
            <a:extLst>
              <a:ext uri="{28A0092B-C50C-407E-A947-70E740481C1C}">
                <a14:useLocalDpi xmlns:a14="http://schemas.microsoft.com/office/drawing/2010/main"/>
              </a:ext>
            </a:extLst>
          </a:blip>
          <a:srcRect t="18681"/>
          <a:stretch/>
        </p:blipFill>
        <p:spPr>
          <a:xfrm flipV="1">
            <a:off x="9400630" y="3844559"/>
            <a:ext cx="728944" cy="1138688"/>
          </a:xfrm>
          <a:prstGeom prst="rect">
            <a:avLst/>
          </a:prstGeom>
        </p:spPr>
      </p:pic>
      <p:pic>
        <p:nvPicPr>
          <p:cNvPr id="16" name="Picture 15">
            <a:extLst>
              <a:ext uri="{FF2B5EF4-FFF2-40B4-BE49-F238E27FC236}">
                <a16:creationId xmlns:a16="http://schemas.microsoft.com/office/drawing/2014/main" id="{47CAEF1A-DFB9-F84C-A119-B13AB1BEA922}"/>
              </a:ext>
            </a:extLst>
          </p:cNvPr>
          <p:cNvPicPr>
            <a:picLocks noChangeAspect="1"/>
          </p:cNvPicPr>
          <p:nvPr/>
        </p:nvPicPr>
        <p:blipFill rotWithShape="1">
          <a:blip r:embed="rId6">
            <a:extLst>
              <a:ext uri="{28A0092B-C50C-407E-A947-70E740481C1C}">
                <a14:useLocalDpi xmlns:a14="http://schemas.microsoft.com/office/drawing/2010/main"/>
              </a:ext>
            </a:extLst>
          </a:blip>
          <a:srcRect t="18681"/>
          <a:stretch/>
        </p:blipFill>
        <p:spPr>
          <a:xfrm flipV="1">
            <a:off x="10412040" y="3838614"/>
            <a:ext cx="728944" cy="1138688"/>
          </a:xfrm>
          <a:prstGeom prst="rect">
            <a:avLst/>
          </a:prstGeom>
        </p:spPr>
      </p:pic>
    </p:spTree>
    <p:extLst>
      <p:ext uri="{BB962C8B-B14F-4D97-AF65-F5344CB8AC3E}">
        <p14:creationId xmlns:p14="http://schemas.microsoft.com/office/powerpoint/2010/main" val="564515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p:cNvGrpSpPr/>
          <p:nvPr/>
        </p:nvGrpSpPr>
        <p:grpSpPr>
          <a:xfrm>
            <a:off x="1968398" y="3507699"/>
            <a:ext cx="8090002" cy="655320"/>
            <a:chOff x="2080825" y="3162925"/>
            <a:chExt cx="8090002" cy="655320"/>
          </a:xfrm>
        </p:grpSpPr>
        <p:sp>
          <p:nvSpPr>
            <p:cNvPr id="7" name="Rectangle 6"/>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080825" y="3235065"/>
              <a:ext cx="8090002" cy="523220"/>
            </a:xfrm>
            <a:prstGeom prst="rect">
              <a:avLst/>
            </a:prstGeom>
            <a:noFill/>
          </p:spPr>
          <p:txBody>
            <a:bodyPr wrap="square" rtlCol="0">
              <a:spAutoFit/>
            </a:bodyPr>
            <a:lstStyle/>
            <a:p>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sp>
        <p:nvSpPr>
          <p:cNvPr id="13" name="Rectangle 12"/>
          <p:cNvSpPr/>
          <p:nvPr/>
        </p:nvSpPr>
        <p:spPr>
          <a:xfrm>
            <a:off x="3931458" y="740977"/>
            <a:ext cx="3871573" cy="830997"/>
          </a:xfrm>
          <a:prstGeom prst="rect">
            <a:avLst/>
          </a:prstGeom>
        </p:spPr>
        <p:txBody>
          <a:bodyPr wrap="none">
            <a:spAutoFit/>
          </a:bodyPr>
          <a:lstStyle/>
          <a:p>
            <a:r>
              <a:rPr lang="en-US" sz="4800" dirty="0" err="1">
                <a:latin typeface="Monaco" charset="0"/>
                <a:ea typeface="Monaco" charset="0"/>
                <a:cs typeface="Monaco" charset="0"/>
              </a:rPr>
              <a:t>read_csv</a:t>
            </a:r>
            <a:r>
              <a:rPr lang="en-US" sz="4800" dirty="0">
                <a:latin typeface="Monaco" charset="0"/>
                <a:ea typeface="Monaco" charset="0"/>
                <a:cs typeface="Monaco" charset="0"/>
              </a:rPr>
              <a:t>()</a:t>
            </a:r>
            <a:endParaRPr lang="en-US" sz="4800" dirty="0"/>
          </a:p>
        </p:txBody>
      </p:sp>
      <p:grpSp>
        <p:nvGrpSpPr>
          <p:cNvPr id="21" name="Group 20"/>
          <p:cNvGrpSpPr/>
          <p:nvPr/>
        </p:nvGrpSpPr>
        <p:grpSpPr>
          <a:xfrm>
            <a:off x="1878374" y="4723160"/>
            <a:ext cx="7294115" cy="1679292"/>
            <a:chOff x="1919035" y="4333415"/>
            <a:chExt cx="7294115" cy="1679292"/>
          </a:xfrm>
        </p:grpSpPr>
        <p:grpSp>
          <p:nvGrpSpPr>
            <p:cNvPr id="20" name="Group 19"/>
            <p:cNvGrpSpPr/>
            <p:nvPr/>
          </p:nvGrpSpPr>
          <p:grpSpPr>
            <a:xfrm>
              <a:off x="8201740" y="4722760"/>
              <a:ext cx="1011410" cy="1020522"/>
              <a:chOff x="8201740" y="4722760"/>
              <a:chExt cx="1011410" cy="1020522"/>
            </a:xfrm>
          </p:grpSpPr>
          <p:pic>
            <p:nvPicPr>
              <p:cNvPr id="14" name="Picture 13"/>
              <p:cNvPicPr>
                <a:picLocks noChangeAspect="1"/>
              </p:cNvPicPr>
              <p:nvPr/>
            </p:nvPicPr>
            <p:blipFill>
              <a:blip r:embed="rId3"/>
              <a:stretch>
                <a:fillRect/>
              </a:stretch>
            </p:blipFill>
            <p:spPr>
              <a:xfrm>
                <a:off x="8201740" y="4722760"/>
                <a:ext cx="1011410" cy="1020522"/>
              </a:xfrm>
              <a:prstGeom prst="rect">
                <a:avLst/>
              </a:prstGeom>
            </p:spPr>
          </p:pic>
          <p:sp>
            <p:nvSpPr>
              <p:cNvPr id="15" name="TextBox 14"/>
              <p:cNvSpPr txBox="1"/>
              <p:nvPr/>
            </p:nvSpPr>
            <p:spPr>
              <a:xfrm>
                <a:off x="8348561" y="4938830"/>
                <a:ext cx="687793" cy="523220"/>
              </a:xfrm>
              <a:prstGeom prst="rect">
                <a:avLst/>
              </a:prstGeom>
              <a:noFill/>
            </p:spPr>
            <p:txBody>
              <a:bodyPr wrap="square" rtlCol="0">
                <a:spAutoFit/>
              </a:bodyPr>
              <a:lstStyle/>
              <a:p>
                <a:pPr algn="ctr"/>
                <a:r>
                  <a:rPr lang="en-US" sz="2800" dirty="0">
                    <a:solidFill>
                      <a:schemeClr val="tx1">
                        <a:lumMod val="65000"/>
                        <a:lumOff val="35000"/>
                      </a:schemeClr>
                    </a:solidFill>
                  </a:rPr>
                  <a:t>csv</a:t>
                </a:r>
                <a:endParaRPr lang="en-US" sz="4000" dirty="0">
                  <a:solidFill>
                    <a:schemeClr val="tx1">
                      <a:lumMod val="65000"/>
                      <a:lumOff val="35000"/>
                    </a:schemeClr>
                  </a:solidFill>
                </a:endParaRPr>
              </a:p>
            </p:txBody>
          </p:sp>
        </p:grpSp>
        <p:pic>
          <p:nvPicPr>
            <p:cNvPr id="16" name="Picture 15"/>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1919035" y="4333415"/>
              <a:ext cx="2862828" cy="1679292"/>
            </a:xfrm>
            <a:prstGeom prst="rect">
              <a:avLst/>
            </a:prstGeom>
          </p:spPr>
        </p:pic>
        <p:pic>
          <p:nvPicPr>
            <p:cNvPr id="17" name="Picture 16"/>
            <p:cNvPicPr>
              <a:picLocks noChangeAspect="1"/>
            </p:cNvPicPr>
            <p:nvPr/>
          </p:nvPicPr>
          <p:blipFill rotWithShape="1">
            <a:blip r:embed="rId5">
              <a:extLst>
                <a:ext uri="{28A0092B-C50C-407E-A947-70E740481C1C}">
                  <a14:useLocalDpi xmlns:a14="http://schemas.microsoft.com/office/drawing/2010/main"/>
                </a:ext>
              </a:extLst>
            </a:blip>
            <a:srcRect l="-14832" t="-12825"/>
            <a:stretch/>
          </p:blipFill>
          <p:spPr>
            <a:xfrm rot="16200000" flipV="1">
              <a:off x="6242964" y="3676983"/>
              <a:ext cx="851328" cy="3221309"/>
            </a:xfrm>
            <a:prstGeom prst="rect">
              <a:avLst/>
            </a:prstGeom>
          </p:spPr>
        </p:pic>
      </p:grpSp>
      <p:pic>
        <p:nvPicPr>
          <p:cNvPr id="30" name="Picture 29"/>
          <p:cNvPicPr>
            <a:picLocks noChangeAspect="1"/>
          </p:cNvPicPr>
          <p:nvPr/>
        </p:nvPicPr>
        <p:blipFill>
          <a:blip r:embed="rId6"/>
          <a:stretch>
            <a:fillRect/>
          </a:stretch>
        </p:blipFill>
        <p:spPr>
          <a:xfrm>
            <a:off x="10939224" y="5629924"/>
            <a:ext cx="867049" cy="1006205"/>
          </a:xfrm>
          <a:prstGeom prst="rect">
            <a:avLst/>
          </a:prstGeom>
        </p:spPr>
      </p:pic>
    </p:spTree>
    <p:extLst>
      <p:ext uri="{BB962C8B-B14F-4D97-AF65-F5344CB8AC3E}">
        <p14:creationId xmlns:p14="http://schemas.microsoft.com/office/powerpoint/2010/main" val="26621701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968398" y="3507699"/>
            <a:ext cx="8090002" cy="655320"/>
            <a:chOff x="2080825" y="3162925"/>
            <a:chExt cx="8090002" cy="655320"/>
          </a:xfrm>
        </p:grpSpPr>
        <p:sp>
          <p:nvSpPr>
            <p:cNvPr id="4" name="Rectangle 3"/>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080825" y="3235065"/>
              <a:ext cx="8090002" cy="523220"/>
            </a:xfrm>
            <a:prstGeom prst="rect">
              <a:avLst/>
            </a:prstGeom>
            <a:noFill/>
          </p:spPr>
          <p:txBody>
            <a:bodyPr wrap="square" rtlCol="0">
              <a:spAutoFit/>
            </a:bodyPr>
            <a:lstStyle/>
            <a:p>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grpSp>
        <p:nvGrpSpPr>
          <p:cNvPr id="6" name="Group 5"/>
          <p:cNvGrpSpPr/>
          <p:nvPr/>
        </p:nvGrpSpPr>
        <p:grpSpPr>
          <a:xfrm>
            <a:off x="5226053" y="1907267"/>
            <a:ext cx="2365216" cy="1692772"/>
            <a:chOff x="1322364" y="4528477"/>
            <a:chExt cx="1503814" cy="1301318"/>
          </a:xfrm>
        </p:grpSpPr>
        <p:sp>
          <p:nvSpPr>
            <p:cNvPr id="7" name="Rounded Rectangular Callout 6"/>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p:cNvSpPr txBox="1"/>
            <p:nvPr/>
          </p:nvSpPr>
          <p:spPr>
            <a:xfrm>
              <a:off x="1322364" y="4528477"/>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spTree>
    <p:extLst>
      <p:ext uri="{BB962C8B-B14F-4D97-AF65-F5344CB8AC3E}">
        <p14:creationId xmlns:p14="http://schemas.microsoft.com/office/powerpoint/2010/main" val="37211776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968398" y="3507699"/>
            <a:ext cx="8090002" cy="655320"/>
            <a:chOff x="2080825" y="3162925"/>
            <a:chExt cx="8090002" cy="655320"/>
          </a:xfrm>
        </p:grpSpPr>
        <p:sp>
          <p:nvSpPr>
            <p:cNvPr id="4" name="Rectangle 3"/>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080825" y="3235065"/>
              <a:ext cx="8090002" cy="523220"/>
            </a:xfrm>
            <a:prstGeom prst="rect">
              <a:avLst/>
            </a:prstGeom>
            <a:noFill/>
          </p:spPr>
          <p:txBody>
            <a:bodyPr wrap="square" rtlCol="0">
              <a:spAutoFit/>
            </a:bodyPr>
            <a:lstStyle/>
            <a:p>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grpSp>
        <p:nvGrpSpPr>
          <p:cNvPr id="6" name="Group 5"/>
          <p:cNvGrpSpPr/>
          <p:nvPr/>
        </p:nvGrpSpPr>
        <p:grpSpPr>
          <a:xfrm>
            <a:off x="5226053" y="1907265"/>
            <a:ext cx="2365216" cy="1692771"/>
            <a:chOff x="1322364" y="4528478"/>
            <a:chExt cx="1503814" cy="1301318"/>
          </a:xfrm>
        </p:grpSpPr>
        <p:sp>
          <p:nvSpPr>
            <p:cNvPr id="7" name="Rounded Rectangular Callout 6"/>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9" name="Group 8"/>
          <p:cNvGrpSpPr/>
          <p:nvPr/>
        </p:nvGrpSpPr>
        <p:grpSpPr>
          <a:xfrm>
            <a:off x="7871281" y="1907266"/>
            <a:ext cx="2365216" cy="1692772"/>
            <a:chOff x="1322364" y="4528479"/>
            <a:chExt cx="1503814" cy="1301319"/>
          </a:xfrm>
        </p:grpSpPr>
        <p:sp>
          <p:nvSpPr>
            <p:cNvPr id="10" name="Rounded Rectangular Callout 9"/>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p:cNvSpPr txBox="1"/>
            <p:nvPr/>
          </p:nvSpPr>
          <p:spPr>
            <a:xfrm>
              <a:off x="1322364" y="4528479"/>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a:t>
              </a:r>
            </a:p>
            <a:p>
              <a:pPr algn="ctr"/>
              <a:r>
                <a:rPr lang="en-US" sz="2800" dirty="0">
                  <a:solidFill>
                    <a:schemeClr val="bg1"/>
                  </a:solidFill>
                </a:rPr>
                <a:t>(input)</a:t>
              </a:r>
            </a:p>
            <a:p>
              <a:pPr algn="ctr"/>
              <a:endParaRPr lang="en-US" dirty="0">
                <a:solidFill>
                  <a:schemeClr val="bg1"/>
                </a:solidFill>
              </a:endParaRPr>
            </a:p>
          </p:txBody>
        </p:sp>
      </p:grpSp>
    </p:spTree>
    <p:extLst>
      <p:ext uri="{BB962C8B-B14F-4D97-AF65-F5344CB8AC3E}">
        <p14:creationId xmlns:p14="http://schemas.microsoft.com/office/powerpoint/2010/main" val="33331042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968398" y="3507699"/>
            <a:ext cx="8090002" cy="655320"/>
            <a:chOff x="2080825" y="3162925"/>
            <a:chExt cx="8090002" cy="655320"/>
          </a:xfrm>
        </p:grpSpPr>
        <p:sp>
          <p:nvSpPr>
            <p:cNvPr id="4" name="Rectangle 3"/>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080825" y="3235065"/>
              <a:ext cx="8090002" cy="523220"/>
            </a:xfrm>
            <a:prstGeom prst="rect">
              <a:avLst/>
            </a:prstGeom>
            <a:noFill/>
          </p:spPr>
          <p:txBody>
            <a:bodyPr wrap="square" rtlCol="0">
              <a:spAutoFit/>
            </a:bodyPr>
            <a:lstStyle/>
            <a:p>
              <a:r>
                <a:rPr lang="en-US" sz="2800" dirty="0">
                  <a:solidFill>
                    <a:srgbClr val="0070C0"/>
                  </a:solidFill>
                  <a:latin typeface="Monaco" charset="0"/>
                  <a:ea typeface="Monaco" charset="0"/>
                  <a:cs typeface="Monaco" charset="0"/>
                </a:rPr>
                <a:t> </a:t>
              </a:r>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grpSp>
        <p:nvGrpSpPr>
          <p:cNvPr id="6" name="Group 5"/>
          <p:cNvGrpSpPr/>
          <p:nvPr/>
        </p:nvGrpSpPr>
        <p:grpSpPr>
          <a:xfrm>
            <a:off x="5226053" y="1907265"/>
            <a:ext cx="2365216" cy="1692771"/>
            <a:chOff x="1322364" y="4528478"/>
            <a:chExt cx="1503814" cy="1301318"/>
          </a:xfrm>
        </p:grpSpPr>
        <p:sp>
          <p:nvSpPr>
            <p:cNvPr id="7" name="Rounded Rectangular Callout 6"/>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9" name="Group 8"/>
          <p:cNvGrpSpPr/>
          <p:nvPr/>
        </p:nvGrpSpPr>
        <p:grpSpPr>
          <a:xfrm>
            <a:off x="7871281" y="1907264"/>
            <a:ext cx="2365216" cy="1692772"/>
            <a:chOff x="1322364" y="4528478"/>
            <a:chExt cx="1503814" cy="1301319"/>
          </a:xfrm>
        </p:grpSpPr>
        <p:sp>
          <p:nvSpPr>
            <p:cNvPr id="10" name="Rounded Rectangular Callout 9"/>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p:cNvSpPr txBox="1"/>
            <p:nvPr/>
          </p:nvSpPr>
          <p:spPr>
            <a:xfrm>
              <a:off x="1322364" y="4528478"/>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a:t>
              </a:r>
            </a:p>
            <a:p>
              <a:pPr algn="ctr"/>
              <a:r>
                <a:rPr lang="en-US" sz="2800" dirty="0">
                  <a:solidFill>
                    <a:schemeClr val="bg1"/>
                  </a:solidFill>
                </a:rPr>
                <a:t>(input)</a:t>
              </a:r>
            </a:p>
            <a:p>
              <a:pPr algn="ctr"/>
              <a:endParaRPr lang="en-US" dirty="0">
                <a:solidFill>
                  <a:schemeClr val="bg1"/>
                </a:solidFill>
              </a:endParaRPr>
            </a:p>
          </p:txBody>
        </p:sp>
      </p:grpSp>
      <p:grpSp>
        <p:nvGrpSpPr>
          <p:cNvPr id="12" name="Group 11"/>
          <p:cNvGrpSpPr/>
          <p:nvPr/>
        </p:nvGrpSpPr>
        <p:grpSpPr>
          <a:xfrm>
            <a:off x="1968398" y="1876487"/>
            <a:ext cx="2365216" cy="1754326"/>
            <a:chOff x="1968398" y="1876487"/>
            <a:chExt cx="2365216" cy="1754326"/>
          </a:xfrm>
        </p:grpSpPr>
        <p:sp>
          <p:nvSpPr>
            <p:cNvPr id="16" name="Rounded Rectangular Callout 15"/>
            <p:cNvSpPr/>
            <p:nvPr/>
          </p:nvSpPr>
          <p:spPr>
            <a:xfrm>
              <a:off x="1968398" y="2135413"/>
              <a:ext cx="2365216" cy="1246649"/>
            </a:xfrm>
            <a:prstGeom prst="wedgeRoundRectCallout">
              <a:avLst>
                <a:gd name="adj1" fmla="val 1102"/>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TextBox 16"/>
            <p:cNvSpPr txBox="1"/>
            <p:nvPr/>
          </p:nvSpPr>
          <p:spPr>
            <a:xfrm>
              <a:off x="1968398" y="1876487"/>
              <a:ext cx="2365216" cy="1754326"/>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object</a:t>
              </a:r>
            </a:p>
            <a:p>
              <a:pPr algn="ctr"/>
              <a:r>
                <a:rPr lang="en-US" sz="2800" dirty="0">
                  <a:solidFill>
                    <a:schemeClr val="bg1"/>
                  </a:solidFill>
                </a:rPr>
                <a:t>(stores output)</a:t>
              </a:r>
              <a:endParaRPr lang="en-US" dirty="0">
                <a:solidFill>
                  <a:schemeClr val="bg1"/>
                </a:solidFill>
              </a:endParaRPr>
            </a:p>
            <a:p>
              <a:pPr algn="ctr"/>
              <a:endParaRPr lang="en-US" dirty="0">
                <a:solidFill>
                  <a:schemeClr val="bg1"/>
                </a:solidFill>
              </a:endParaRPr>
            </a:p>
          </p:txBody>
        </p:sp>
      </p:grpSp>
    </p:spTree>
    <p:extLst>
      <p:ext uri="{BB962C8B-B14F-4D97-AF65-F5344CB8AC3E}">
        <p14:creationId xmlns:p14="http://schemas.microsoft.com/office/powerpoint/2010/main" val="32275340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968398" y="3507699"/>
            <a:ext cx="8090002" cy="655320"/>
            <a:chOff x="2080825" y="3162925"/>
            <a:chExt cx="8090002" cy="655320"/>
          </a:xfrm>
        </p:grpSpPr>
        <p:sp>
          <p:nvSpPr>
            <p:cNvPr id="4" name="Rectangle 3"/>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080825" y="3235065"/>
              <a:ext cx="8090002" cy="523220"/>
            </a:xfrm>
            <a:prstGeom prst="rect">
              <a:avLst/>
            </a:prstGeom>
            <a:noFill/>
          </p:spPr>
          <p:txBody>
            <a:bodyPr wrap="square" rtlCol="0">
              <a:spAutoFit/>
            </a:bodyPr>
            <a:lstStyle/>
            <a:p>
              <a:r>
                <a:rPr lang="en-US" sz="2800" dirty="0">
                  <a:solidFill>
                    <a:srgbClr val="0070C0"/>
                  </a:solidFill>
                  <a:latin typeface="Monaco" charset="0"/>
                  <a:ea typeface="Monaco" charset="0"/>
                  <a:cs typeface="Monaco" charset="0"/>
                </a:rPr>
                <a:t> </a:t>
              </a:r>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grpSp>
        <p:nvGrpSpPr>
          <p:cNvPr id="6" name="Group 5"/>
          <p:cNvGrpSpPr/>
          <p:nvPr/>
        </p:nvGrpSpPr>
        <p:grpSpPr>
          <a:xfrm>
            <a:off x="5226053" y="1907265"/>
            <a:ext cx="2365216" cy="1692771"/>
            <a:chOff x="1322364" y="4528478"/>
            <a:chExt cx="1503814" cy="1301318"/>
          </a:xfrm>
        </p:grpSpPr>
        <p:sp>
          <p:nvSpPr>
            <p:cNvPr id="7" name="Rounded Rectangular Callout 6"/>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9" name="Group 8"/>
          <p:cNvGrpSpPr/>
          <p:nvPr/>
        </p:nvGrpSpPr>
        <p:grpSpPr>
          <a:xfrm>
            <a:off x="7871281" y="1907264"/>
            <a:ext cx="2365216" cy="1692772"/>
            <a:chOff x="1322364" y="4528478"/>
            <a:chExt cx="1503814" cy="1301319"/>
          </a:xfrm>
        </p:grpSpPr>
        <p:sp>
          <p:nvSpPr>
            <p:cNvPr id="10" name="Rounded Rectangular Callout 9"/>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p:cNvSpPr txBox="1"/>
            <p:nvPr/>
          </p:nvSpPr>
          <p:spPr>
            <a:xfrm>
              <a:off x="1322364" y="4528478"/>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a:t>
              </a:r>
            </a:p>
            <a:p>
              <a:pPr algn="ctr"/>
              <a:r>
                <a:rPr lang="en-US" sz="2800" dirty="0">
                  <a:solidFill>
                    <a:schemeClr val="bg1"/>
                  </a:solidFill>
                </a:rPr>
                <a:t>(input)</a:t>
              </a:r>
            </a:p>
            <a:p>
              <a:pPr algn="ctr"/>
              <a:endParaRPr lang="en-US" dirty="0">
                <a:solidFill>
                  <a:schemeClr val="bg1"/>
                </a:solidFill>
              </a:endParaRPr>
            </a:p>
          </p:txBody>
        </p:sp>
      </p:grpSp>
      <p:sp>
        <p:nvSpPr>
          <p:cNvPr id="13" name="Rounded Rectangular Callout 12"/>
          <p:cNvSpPr/>
          <p:nvPr/>
        </p:nvSpPr>
        <p:spPr>
          <a:xfrm>
            <a:off x="1968398" y="4435786"/>
            <a:ext cx="6041571" cy="1246648"/>
          </a:xfrm>
          <a:prstGeom prst="wedgeRoundRectCallout">
            <a:avLst>
              <a:gd name="adj1" fmla="val -1739"/>
              <a:gd name="adj2" fmla="val -87600"/>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TextBox 13"/>
          <p:cNvSpPr txBox="1"/>
          <p:nvPr/>
        </p:nvSpPr>
        <p:spPr>
          <a:xfrm>
            <a:off x="1968398" y="4279549"/>
            <a:ext cx="6041571" cy="1508105"/>
          </a:xfrm>
          <a:prstGeom prst="rect">
            <a:avLst/>
          </a:prstGeom>
          <a:noFill/>
        </p:spPr>
        <p:txBody>
          <a:bodyPr wrap="square" rtlCol="0" anchor="ctr">
            <a:spAutoFit/>
          </a:bodyPr>
          <a:lstStyle/>
          <a:p>
            <a:pPr algn="ctr"/>
            <a:endParaRPr lang="en-US" sz="1200" dirty="0">
              <a:solidFill>
                <a:schemeClr val="bg1"/>
              </a:solidFill>
            </a:endParaRPr>
          </a:p>
          <a:p>
            <a:pPr algn="ctr"/>
            <a:r>
              <a:rPr lang="en-US" sz="4000" dirty="0">
                <a:solidFill>
                  <a:schemeClr val="bg1"/>
                </a:solidFill>
              </a:rPr>
              <a:t>assignment operator</a:t>
            </a:r>
          </a:p>
          <a:p>
            <a:pPr algn="ctr"/>
            <a:r>
              <a:rPr lang="en-US" sz="2800" dirty="0">
                <a:solidFill>
                  <a:schemeClr val="bg1"/>
                </a:solidFill>
              </a:rPr>
              <a:t>(“gets”)</a:t>
            </a:r>
            <a:endParaRPr lang="en-US" dirty="0">
              <a:solidFill>
                <a:schemeClr val="bg1"/>
              </a:solidFill>
            </a:endParaRPr>
          </a:p>
          <a:p>
            <a:pPr algn="ctr"/>
            <a:endParaRPr lang="en-US" sz="1200" dirty="0">
              <a:solidFill>
                <a:schemeClr val="bg1"/>
              </a:solidFill>
            </a:endParaRPr>
          </a:p>
        </p:txBody>
      </p:sp>
      <p:grpSp>
        <p:nvGrpSpPr>
          <p:cNvPr id="12" name="Group 11"/>
          <p:cNvGrpSpPr/>
          <p:nvPr/>
        </p:nvGrpSpPr>
        <p:grpSpPr>
          <a:xfrm>
            <a:off x="1968398" y="1876487"/>
            <a:ext cx="2365216" cy="1754326"/>
            <a:chOff x="1968398" y="1876487"/>
            <a:chExt cx="2365216" cy="1754326"/>
          </a:xfrm>
        </p:grpSpPr>
        <p:sp>
          <p:nvSpPr>
            <p:cNvPr id="16" name="Rounded Rectangular Callout 15"/>
            <p:cNvSpPr/>
            <p:nvPr/>
          </p:nvSpPr>
          <p:spPr>
            <a:xfrm>
              <a:off x="1968398" y="2135413"/>
              <a:ext cx="2365216" cy="1246649"/>
            </a:xfrm>
            <a:prstGeom prst="wedgeRoundRectCallout">
              <a:avLst>
                <a:gd name="adj1" fmla="val 1102"/>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TextBox 16"/>
            <p:cNvSpPr txBox="1"/>
            <p:nvPr/>
          </p:nvSpPr>
          <p:spPr>
            <a:xfrm>
              <a:off x="1968398" y="1876487"/>
              <a:ext cx="2365216" cy="1754326"/>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object</a:t>
              </a:r>
            </a:p>
            <a:p>
              <a:pPr algn="ctr"/>
              <a:r>
                <a:rPr lang="en-US" sz="2800" dirty="0">
                  <a:solidFill>
                    <a:schemeClr val="bg1"/>
                  </a:solidFill>
                </a:rPr>
                <a:t>(stores output)</a:t>
              </a:r>
              <a:endParaRPr lang="en-US" dirty="0">
                <a:solidFill>
                  <a:schemeClr val="bg1"/>
                </a:solidFill>
              </a:endParaRPr>
            </a:p>
            <a:p>
              <a:pPr algn="ctr"/>
              <a:endParaRPr lang="en-US" dirty="0">
                <a:solidFill>
                  <a:schemeClr val="bg1"/>
                </a:solidFill>
              </a:endParaRPr>
            </a:p>
          </p:txBody>
        </p:sp>
      </p:grpSp>
    </p:spTree>
    <p:extLst>
      <p:ext uri="{BB962C8B-B14F-4D97-AF65-F5344CB8AC3E}">
        <p14:creationId xmlns:p14="http://schemas.microsoft.com/office/powerpoint/2010/main" val="23030818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p:cNvGrpSpPr/>
          <p:nvPr/>
        </p:nvGrpSpPr>
        <p:grpSpPr>
          <a:xfrm>
            <a:off x="2678103" y="3569461"/>
            <a:ext cx="7950819" cy="655320"/>
            <a:chOff x="3420610" y="3224687"/>
            <a:chExt cx="6236956" cy="655320"/>
          </a:xfrm>
        </p:grpSpPr>
        <p:sp>
          <p:nvSpPr>
            <p:cNvPr id="7" name="Rectangle 6"/>
            <p:cNvSpPr/>
            <p:nvPr/>
          </p:nvSpPr>
          <p:spPr>
            <a:xfrm>
              <a:off x="3420610" y="3224687"/>
              <a:ext cx="6236956"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3420610" y="3311015"/>
              <a:ext cx="6010947" cy="523220"/>
            </a:xfrm>
            <a:prstGeom prst="rect">
              <a:avLst/>
            </a:prstGeom>
            <a:noFill/>
          </p:spPr>
          <p:txBody>
            <a:bodyPr wrap="square" rtlCol="0">
              <a:spAutoFit/>
            </a:bodyPr>
            <a:lstStyle/>
            <a:p>
              <a:r>
                <a:rPr lang="en-US" sz="2800" dirty="0">
                  <a:solidFill>
                    <a:srgbClr val="0070C0"/>
                  </a:solidFill>
                  <a:latin typeface="Monaco" charset="0"/>
                  <a:ea typeface="Monaco" charset="0"/>
                  <a:cs typeface="Monaco" charset="0"/>
                </a:rPr>
                <a:t>chem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dirty="0">
                  <a:solidFill>
                    <a:srgbClr val="0070C0"/>
                  </a:solidFill>
                  <a:latin typeface="Monaco" charset="0"/>
                  <a:ea typeface="Monaco" charset="0"/>
                  <a:cs typeface="Monaco" charset="0"/>
                </a:rPr>
                <a:t>"</a:t>
              </a:r>
              <a:r>
                <a:rPr lang="en-US" sz="2800" dirty="0" err="1">
                  <a:solidFill>
                    <a:srgbClr val="0070C0"/>
                  </a:solidFill>
                  <a:latin typeface="Monaco" charset="0"/>
                  <a:ea typeface="Monaco" charset="0"/>
                  <a:cs typeface="Monaco" charset="0"/>
                </a:rPr>
                <a:t>chem_data.csv</a:t>
              </a:r>
              <a:r>
                <a:rPr lang="en-US" sz="2800" dirty="0">
                  <a:solidFill>
                    <a:srgbClr val="0070C0"/>
                  </a:solidFill>
                  <a:latin typeface="Monaco" charset="0"/>
                  <a:ea typeface="Monaco" charset="0"/>
                  <a:cs typeface="Monaco" charset="0"/>
                </a:rPr>
                <a:t>"</a:t>
              </a:r>
              <a:r>
                <a:rPr lang="en-US" sz="2800" dirty="0">
                  <a:latin typeface="Monaco" charset="0"/>
                  <a:ea typeface="Monaco" charset="0"/>
                  <a:cs typeface="Monaco" charset="0"/>
                </a:rPr>
                <a:t>)</a:t>
              </a:r>
            </a:p>
          </p:txBody>
        </p:sp>
      </p:grpSp>
      <p:sp>
        <p:nvSpPr>
          <p:cNvPr id="13" name="Rectangle 12"/>
          <p:cNvSpPr/>
          <p:nvPr/>
        </p:nvSpPr>
        <p:spPr>
          <a:xfrm>
            <a:off x="3931458" y="740977"/>
            <a:ext cx="3871573" cy="830997"/>
          </a:xfrm>
          <a:prstGeom prst="rect">
            <a:avLst/>
          </a:prstGeom>
        </p:spPr>
        <p:txBody>
          <a:bodyPr wrap="none">
            <a:spAutoFit/>
          </a:bodyPr>
          <a:lstStyle/>
          <a:p>
            <a:r>
              <a:rPr lang="en-US" sz="4800" dirty="0" err="1">
                <a:latin typeface="Monaco" charset="0"/>
                <a:ea typeface="Monaco" charset="0"/>
                <a:cs typeface="Monaco" charset="0"/>
              </a:rPr>
              <a:t>read_csv</a:t>
            </a:r>
            <a:r>
              <a:rPr lang="en-US" sz="4800" dirty="0">
                <a:latin typeface="Monaco" charset="0"/>
                <a:ea typeface="Monaco" charset="0"/>
                <a:cs typeface="Monaco" charset="0"/>
              </a:rPr>
              <a:t>()</a:t>
            </a:r>
            <a:endParaRPr lang="en-US" sz="4800" dirty="0"/>
          </a:p>
        </p:txBody>
      </p:sp>
      <p:grpSp>
        <p:nvGrpSpPr>
          <p:cNvPr id="21" name="Group 20"/>
          <p:cNvGrpSpPr/>
          <p:nvPr/>
        </p:nvGrpSpPr>
        <p:grpSpPr>
          <a:xfrm>
            <a:off x="1844084" y="4723160"/>
            <a:ext cx="7156955" cy="1679292"/>
            <a:chOff x="1919035" y="4333415"/>
            <a:chExt cx="7156955" cy="1679292"/>
          </a:xfrm>
        </p:grpSpPr>
        <p:grpSp>
          <p:nvGrpSpPr>
            <p:cNvPr id="20" name="Group 19"/>
            <p:cNvGrpSpPr/>
            <p:nvPr/>
          </p:nvGrpSpPr>
          <p:grpSpPr>
            <a:xfrm>
              <a:off x="8064580" y="4722760"/>
              <a:ext cx="1011410" cy="1020522"/>
              <a:chOff x="8064580" y="4722760"/>
              <a:chExt cx="1011410" cy="1020522"/>
            </a:xfrm>
          </p:grpSpPr>
          <p:pic>
            <p:nvPicPr>
              <p:cNvPr id="14" name="Picture 13"/>
              <p:cNvPicPr>
                <a:picLocks noChangeAspect="1"/>
              </p:cNvPicPr>
              <p:nvPr/>
            </p:nvPicPr>
            <p:blipFill>
              <a:blip r:embed="rId3"/>
              <a:stretch>
                <a:fillRect/>
              </a:stretch>
            </p:blipFill>
            <p:spPr>
              <a:xfrm>
                <a:off x="8064580" y="4722760"/>
                <a:ext cx="1011410" cy="1020522"/>
              </a:xfrm>
              <a:prstGeom prst="rect">
                <a:avLst/>
              </a:prstGeom>
            </p:spPr>
          </p:pic>
          <p:sp>
            <p:nvSpPr>
              <p:cNvPr id="15" name="TextBox 14"/>
              <p:cNvSpPr txBox="1"/>
              <p:nvPr/>
            </p:nvSpPr>
            <p:spPr>
              <a:xfrm>
                <a:off x="8211401" y="4938830"/>
                <a:ext cx="687793" cy="523220"/>
              </a:xfrm>
              <a:prstGeom prst="rect">
                <a:avLst/>
              </a:prstGeom>
              <a:noFill/>
            </p:spPr>
            <p:txBody>
              <a:bodyPr wrap="square" rtlCol="0">
                <a:spAutoFit/>
              </a:bodyPr>
              <a:lstStyle/>
              <a:p>
                <a:pPr algn="ctr"/>
                <a:r>
                  <a:rPr lang="en-US" sz="2800" dirty="0">
                    <a:solidFill>
                      <a:schemeClr val="tx1">
                        <a:lumMod val="65000"/>
                        <a:lumOff val="35000"/>
                      </a:schemeClr>
                    </a:solidFill>
                  </a:rPr>
                  <a:t>csv</a:t>
                </a:r>
                <a:endParaRPr lang="en-US" sz="4000" dirty="0">
                  <a:solidFill>
                    <a:schemeClr val="tx1">
                      <a:lumMod val="65000"/>
                      <a:lumOff val="35000"/>
                    </a:schemeClr>
                  </a:solidFill>
                </a:endParaRPr>
              </a:p>
            </p:txBody>
          </p:sp>
        </p:grpSp>
        <p:pic>
          <p:nvPicPr>
            <p:cNvPr id="16" name="Picture 15"/>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1919035" y="4333415"/>
              <a:ext cx="2862828" cy="1679292"/>
            </a:xfrm>
            <a:prstGeom prst="rect">
              <a:avLst/>
            </a:prstGeom>
          </p:spPr>
        </p:pic>
        <p:pic>
          <p:nvPicPr>
            <p:cNvPr id="17" name="Picture 16"/>
            <p:cNvPicPr>
              <a:picLocks noChangeAspect="1"/>
            </p:cNvPicPr>
            <p:nvPr/>
          </p:nvPicPr>
          <p:blipFill rotWithShape="1">
            <a:blip r:embed="rId5">
              <a:extLst>
                <a:ext uri="{28A0092B-C50C-407E-A947-70E740481C1C}">
                  <a14:useLocalDpi xmlns:a14="http://schemas.microsoft.com/office/drawing/2010/main"/>
                </a:ext>
              </a:extLst>
            </a:blip>
            <a:srcRect l="-14832" t="-12825"/>
            <a:stretch/>
          </p:blipFill>
          <p:spPr>
            <a:xfrm rot="16200000" flipV="1">
              <a:off x="6128664" y="3676983"/>
              <a:ext cx="851328" cy="3221309"/>
            </a:xfrm>
            <a:prstGeom prst="rect">
              <a:avLst/>
            </a:prstGeom>
          </p:spPr>
        </p:pic>
      </p:grpSp>
      <p:grpSp>
        <p:nvGrpSpPr>
          <p:cNvPr id="34" name="Group 33"/>
          <p:cNvGrpSpPr/>
          <p:nvPr/>
        </p:nvGrpSpPr>
        <p:grpSpPr>
          <a:xfrm>
            <a:off x="2101853" y="1893260"/>
            <a:ext cx="7561101" cy="1508107"/>
            <a:chOff x="2101853" y="1893260"/>
            <a:chExt cx="7561101" cy="1508107"/>
          </a:xfrm>
        </p:grpSpPr>
        <p:sp>
          <p:nvSpPr>
            <p:cNvPr id="35" name="Rounded Rectangular Callout 34"/>
            <p:cNvSpPr/>
            <p:nvPr/>
          </p:nvSpPr>
          <p:spPr>
            <a:xfrm>
              <a:off x="2101853" y="2029080"/>
              <a:ext cx="2365216" cy="1246648"/>
            </a:xfrm>
            <a:prstGeom prst="wedgeRoundRectCallout">
              <a:avLst>
                <a:gd name="adj1" fmla="val -6901"/>
                <a:gd name="adj2" fmla="val 8082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6" name="TextBox 35"/>
            <p:cNvSpPr txBox="1"/>
            <p:nvPr/>
          </p:nvSpPr>
          <p:spPr>
            <a:xfrm>
              <a:off x="2101853" y="1893262"/>
              <a:ext cx="2365216"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data frame to read data into</a:t>
              </a:r>
            </a:p>
            <a:p>
              <a:pPr algn="ctr"/>
              <a:endParaRPr lang="en-US" dirty="0">
                <a:solidFill>
                  <a:schemeClr val="bg1"/>
                </a:solidFill>
              </a:endParaRPr>
            </a:p>
          </p:txBody>
        </p:sp>
        <p:sp>
          <p:nvSpPr>
            <p:cNvPr id="37" name="Rounded Rectangular Callout 36"/>
            <p:cNvSpPr/>
            <p:nvPr/>
          </p:nvSpPr>
          <p:spPr>
            <a:xfrm>
              <a:off x="7707086" y="2029080"/>
              <a:ext cx="1955868" cy="1246648"/>
            </a:xfrm>
            <a:prstGeom prst="wedgeRoundRectCallout">
              <a:avLst>
                <a:gd name="adj1" fmla="val -7610"/>
                <a:gd name="adj2" fmla="val 8082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8" name="TextBox 37"/>
            <p:cNvSpPr txBox="1"/>
            <p:nvPr/>
          </p:nvSpPr>
          <p:spPr>
            <a:xfrm>
              <a:off x="7707086" y="1893260"/>
              <a:ext cx="1955868"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name of </a:t>
              </a:r>
            </a:p>
            <a:p>
              <a:pPr algn="ctr"/>
              <a:r>
                <a:rPr lang="en-US" sz="2800" dirty="0">
                  <a:solidFill>
                    <a:schemeClr val="bg1"/>
                  </a:solidFill>
                </a:rPr>
                <a:t>CSV file</a:t>
              </a:r>
            </a:p>
            <a:p>
              <a:pPr algn="ctr"/>
              <a:endParaRPr lang="en-US" dirty="0">
                <a:solidFill>
                  <a:schemeClr val="bg1"/>
                </a:solidFill>
              </a:endParaRPr>
            </a:p>
          </p:txBody>
        </p:sp>
      </p:grpSp>
      <p:sp>
        <p:nvSpPr>
          <p:cNvPr id="2" name="Rectangle 1">
            <a:extLst>
              <a:ext uri="{FF2B5EF4-FFF2-40B4-BE49-F238E27FC236}">
                <a16:creationId xmlns:a16="http://schemas.microsoft.com/office/drawing/2014/main" id="{547DA6CC-6F0B-D443-ADEB-B3F275BC74B0}"/>
              </a:ext>
            </a:extLst>
          </p:cNvPr>
          <p:cNvSpPr/>
          <p:nvPr/>
        </p:nvSpPr>
        <p:spPr>
          <a:xfrm>
            <a:off x="2101853" y="4572151"/>
            <a:ext cx="2365216" cy="369332"/>
          </a:xfrm>
          <a:prstGeom prst="rect">
            <a:avLst/>
          </a:prstGeom>
        </p:spPr>
        <p:txBody>
          <a:bodyPr wrap="square">
            <a:spAutoFit/>
          </a:bodyPr>
          <a:lstStyle/>
          <a:p>
            <a:pPr algn="ctr"/>
            <a:r>
              <a:rPr lang="en-US" dirty="0">
                <a:solidFill>
                  <a:srgbClr val="0070C0"/>
                </a:solidFill>
                <a:latin typeface="Monaco" charset="0"/>
                <a:ea typeface="Monaco" charset="0"/>
                <a:cs typeface="Monaco" charset="0"/>
              </a:rPr>
              <a:t>chem</a:t>
            </a:r>
            <a:endParaRPr lang="en-US" dirty="0"/>
          </a:p>
        </p:txBody>
      </p:sp>
      <p:sp>
        <p:nvSpPr>
          <p:cNvPr id="3" name="Rectangle 2">
            <a:extLst>
              <a:ext uri="{FF2B5EF4-FFF2-40B4-BE49-F238E27FC236}">
                <a16:creationId xmlns:a16="http://schemas.microsoft.com/office/drawing/2014/main" id="{053F46B6-D1E8-3F43-BD69-19558C2E937E}"/>
              </a:ext>
            </a:extLst>
          </p:cNvPr>
          <p:cNvSpPr/>
          <p:nvPr/>
        </p:nvSpPr>
        <p:spPr>
          <a:xfrm>
            <a:off x="7485090" y="4553583"/>
            <a:ext cx="1976823" cy="369332"/>
          </a:xfrm>
          <a:prstGeom prst="rect">
            <a:avLst/>
          </a:prstGeom>
        </p:spPr>
        <p:txBody>
          <a:bodyPr wrap="none">
            <a:spAutoFit/>
          </a:bodyPr>
          <a:lstStyle/>
          <a:p>
            <a:r>
              <a:rPr lang="en-US" dirty="0" err="1">
                <a:solidFill>
                  <a:srgbClr val="0070C0"/>
                </a:solidFill>
                <a:latin typeface="Monaco" charset="0"/>
              </a:rPr>
              <a:t>chem_data.csv</a:t>
            </a:r>
            <a:endParaRPr lang="en-US" dirty="0"/>
          </a:p>
        </p:txBody>
      </p:sp>
    </p:spTree>
    <p:extLst>
      <p:ext uri="{BB962C8B-B14F-4D97-AF65-F5344CB8AC3E}">
        <p14:creationId xmlns:p14="http://schemas.microsoft.com/office/powerpoint/2010/main" val="24338842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1DCF1-108C-D951-FE0A-977226EC8C37}"/>
              </a:ext>
            </a:extLst>
          </p:cNvPr>
          <p:cNvSpPr>
            <a:spLocks noGrp="1"/>
          </p:cNvSpPr>
          <p:nvPr>
            <p:ph type="title"/>
          </p:nvPr>
        </p:nvSpPr>
        <p:spPr/>
        <p:txBody>
          <a:bodyPr/>
          <a:lstStyle/>
          <a:p>
            <a:r>
              <a:rPr lang="en-US" dirty="0"/>
              <a:t>Best Practice: Data Analysis Should be Separated from Raw Data</a:t>
            </a:r>
          </a:p>
        </p:txBody>
      </p:sp>
      <p:sp>
        <p:nvSpPr>
          <p:cNvPr id="3" name="Content Placeholder 2">
            <a:extLst>
              <a:ext uri="{FF2B5EF4-FFF2-40B4-BE49-F238E27FC236}">
                <a16:creationId xmlns:a16="http://schemas.microsoft.com/office/drawing/2014/main" id="{D4C49C99-0D70-5FAF-449E-0FFC2A7CFF2B}"/>
              </a:ext>
            </a:extLst>
          </p:cNvPr>
          <p:cNvSpPr>
            <a:spLocks noGrp="1"/>
          </p:cNvSpPr>
          <p:nvPr>
            <p:ph idx="1"/>
          </p:nvPr>
        </p:nvSpPr>
        <p:spPr/>
        <p:txBody>
          <a:bodyPr>
            <a:normAutofit/>
          </a:bodyPr>
          <a:lstStyle/>
          <a:p>
            <a:pPr>
              <a:buFont typeface="Arial" panose="020B0604020202020204" pitchFamily="34" charset="0"/>
              <a:buChar char="•"/>
            </a:pPr>
            <a:r>
              <a:rPr lang="en-US" sz="3200" dirty="0"/>
              <a:t> No matter how you choose to analyze your data you should always create a new file for your analysis</a:t>
            </a:r>
          </a:p>
          <a:p>
            <a:pPr>
              <a:buFont typeface="Arial" panose="020B0604020202020204" pitchFamily="34" charset="0"/>
              <a:buChar char="•"/>
            </a:pPr>
            <a:r>
              <a:rPr lang="en-US" sz="3200" dirty="0"/>
              <a:t> Why?</a:t>
            </a:r>
          </a:p>
          <a:p>
            <a:pPr lvl="1">
              <a:buFont typeface="Arial" panose="020B0604020202020204" pitchFamily="34" charset="0"/>
              <a:buChar char="•"/>
            </a:pPr>
            <a:r>
              <a:rPr lang="en-US" sz="2800" dirty="0"/>
              <a:t> Traceability: it is more difficult to identify mistakes in an analysis if you can’t look back at what you originally received</a:t>
            </a:r>
          </a:p>
          <a:p>
            <a:pPr lvl="1">
              <a:buFont typeface="Arial" panose="020B0604020202020204" pitchFamily="34" charset="0"/>
              <a:buChar char="•"/>
            </a:pPr>
            <a:r>
              <a:rPr lang="en-US" sz="2800" dirty="0"/>
              <a:t> Mistakes: if you overwrite an important cell or field you may not be able to identify the mistake and may not be able to fix it without re-requesting the data</a:t>
            </a:r>
          </a:p>
        </p:txBody>
      </p:sp>
    </p:spTree>
    <p:extLst>
      <p:ext uri="{BB962C8B-B14F-4D97-AF65-F5344CB8AC3E}">
        <p14:creationId xmlns:p14="http://schemas.microsoft.com/office/powerpoint/2010/main" val="30296760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3D769-BD4A-A3E4-818E-C493314F2626}"/>
              </a:ext>
            </a:extLst>
          </p:cNvPr>
          <p:cNvSpPr>
            <a:spLocks noGrp="1"/>
          </p:cNvSpPr>
          <p:nvPr>
            <p:ph type="title"/>
          </p:nvPr>
        </p:nvSpPr>
        <p:spPr/>
        <p:txBody>
          <a:bodyPr/>
          <a:lstStyle/>
          <a:p>
            <a:r>
              <a:rPr lang="en-US" dirty="0"/>
              <a:t>How do you separate your analysis from raw data?</a:t>
            </a:r>
          </a:p>
        </p:txBody>
      </p:sp>
      <p:sp>
        <p:nvSpPr>
          <p:cNvPr id="3" name="Content Placeholder 2">
            <a:extLst>
              <a:ext uri="{FF2B5EF4-FFF2-40B4-BE49-F238E27FC236}">
                <a16:creationId xmlns:a16="http://schemas.microsoft.com/office/drawing/2014/main" id="{1A6174D5-7BDB-93FB-53E6-B83D1DC82427}"/>
              </a:ext>
            </a:extLst>
          </p:cNvPr>
          <p:cNvSpPr>
            <a:spLocks noGrp="1"/>
          </p:cNvSpPr>
          <p:nvPr>
            <p:ph idx="1"/>
          </p:nvPr>
        </p:nvSpPr>
        <p:spPr/>
        <p:txBody>
          <a:bodyPr>
            <a:normAutofit lnSpcReduction="10000"/>
          </a:bodyPr>
          <a:lstStyle/>
          <a:p>
            <a:pPr>
              <a:buFont typeface="Arial" panose="020B0604020202020204" pitchFamily="34" charset="0"/>
              <a:buChar char="•"/>
            </a:pPr>
            <a:r>
              <a:rPr lang="en-US" sz="3200" dirty="0"/>
              <a:t> In Excel: use “Save As…” immediately after you receive your data</a:t>
            </a:r>
          </a:p>
          <a:p>
            <a:pPr>
              <a:buFont typeface="Arial" panose="020B0604020202020204" pitchFamily="34" charset="0"/>
              <a:buChar char="•"/>
            </a:pPr>
            <a:r>
              <a:rPr lang="en-US" sz="3200" dirty="0"/>
              <a:t> In R or other programming languages, reading a file in generally does not change the original file</a:t>
            </a:r>
          </a:p>
          <a:p>
            <a:pPr lvl="1"/>
            <a:r>
              <a:rPr lang="en-US" sz="2800" dirty="0"/>
              <a:t> This can help enforce good practices</a:t>
            </a:r>
          </a:p>
          <a:p>
            <a:pPr lvl="1"/>
            <a:r>
              <a:rPr lang="en-US" sz="2800" dirty="0"/>
              <a:t> If you need to create an output file, you can use a write to file function (later this lesson)</a:t>
            </a:r>
          </a:p>
          <a:p>
            <a:pPr>
              <a:buFont typeface="Arial" panose="020B0604020202020204" pitchFamily="34" charset="0"/>
              <a:buChar char="•"/>
            </a:pPr>
            <a:r>
              <a:rPr lang="en-US" sz="3200" dirty="0"/>
              <a:t> Name your output/analysis file with a name that you’ll be able to recognize a year from now</a:t>
            </a:r>
          </a:p>
          <a:p>
            <a:endParaRPr lang="en-US" dirty="0"/>
          </a:p>
        </p:txBody>
      </p:sp>
    </p:spTree>
    <p:extLst>
      <p:ext uri="{BB962C8B-B14F-4D97-AF65-F5344CB8AC3E}">
        <p14:creationId xmlns:p14="http://schemas.microsoft.com/office/powerpoint/2010/main" val="5319157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24C05-E0F4-2485-2E23-BC8CCA7AEEFA}"/>
              </a:ext>
            </a:extLst>
          </p:cNvPr>
          <p:cNvSpPr>
            <a:spLocks noGrp="1"/>
          </p:cNvSpPr>
          <p:nvPr>
            <p:ph type="title"/>
          </p:nvPr>
        </p:nvSpPr>
        <p:spPr/>
        <p:txBody>
          <a:bodyPr/>
          <a:lstStyle/>
          <a:p>
            <a:r>
              <a:rPr lang="en-US" dirty="0"/>
              <a:t>Best Practice: Always Inspect your Raw Data</a:t>
            </a:r>
          </a:p>
        </p:txBody>
      </p:sp>
      <p:sp>
        <p:nvSpPr>
          <p:cNvPr id="3" name="Content Placeholder 2">
            <a:extLst>
              <a:ext uri="{FF2B5EF4-FFF2-40B4-BE49-F238E27FC236}">
                <a16:creationId xmlns:a16="http://schemas.microsoft.com/office/drawing/2014/main" id="{5D39509D-9E6E-4870-A33B-1013FA4031D4}"/>
              </a:ext>
            </a:extLst>
          </p:cNvPr>
          <p:cNvSpPr>
            <a:spLocks noGrp="1"/>
          </p:cNvSpPr>
          <p:nvPr>
            <p:ph idx="1"/>
          </p:nvPr>
        </p:nvSpPr>
        <p:spPr/>
        <p:txBody>
          <a:bodyPr/>
          <a:lstStyle/>
          <a:p>
            <a:r>
              <a:rPr lang="en-US" sz="3200" dirty="0"/>
              <a:t> Before diving into a data analysis, lay eyes on the data set</a:t>
            </a:r>
          </a:p>
          <a:p>
            <a:pPr lvl="1"/>
            <a:r>
              <a:rPr lang="en-US" dirty="0"/>
              <a:t> </a:t>
            </a:r>
            <a:r>
              <a:rPr lang="en-US" sz="2800" dirty="0"/>
              <a:t>Can open the file in Excel</a:t>
            </a:r>
          </a:p>
          <a:p>
            <a:pPr lvl="1"/>
            <a:r>
              <a:rPr lang="en-US" sz="2800" dirty="0"/>
              <a:t> Programming language development environment may also allow you to look at the raw data – e.g. </a:t>
            </a:r>
            <a:r>
              <a:rPr lang="en-US" sz="2800" dirty="0" err="1"/>
              <a:t>Rstudio</a:t>
            </a:r>
            <a:endParaRPr lang="en-US" sz="2800" dirty="0"/>
          </a:p>
          <a:p>
            <a:r>
              <a:rPr lang="en-US" sz="3200" dirty="0"/>
              <a:t> Understand the meaning of rows and columns: tidy data</a:t>
            </a:r>
          </a:p>
        </p:txBody>
      </p:sp>
    </p:spTree>
    <p:extLst>
      <p:ext uri="{BB962C8B-B14F-4D97-AF65-F5344CB8AC3E}">
        <p14:creationId xmlns:p14="http://schemas.microsoft.com/office/powerpoint/2010/main" val="14024177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AA3D-CC1E-C74E-A634-995E791A2433}"/>
              </a:ext>
            </a:extLst>
          </p:cNvPr>
          <p:cNvSpPr>
            <a:spLocks noGrp="1"/>
          </p:cNvSpPr>
          <p:nvPr>
            <p:ph type="title"/>
          </p:nvPr>
        </p:nvSpPr>
        <p:spPr/>
        <p:txBody>
          <a:bodyPr/>
          <a:lstStyle/>
          <a:p>
            <a:r>
              <a:rPr lang="en-US" dirty="0"/>
              <a:t>Importing and Inspecting a </a:t>
            </a:r>
            <a:br>
              <a:rPr lang="en-US" dirty="0"/>
            </a:br>
            <a:r>
              <a:rPr lang="en-US" dirty="0"/>
              <a:t>Data Frame</a:t>
            </a:r>
          </a:p>
        </p:txBody>
      </p:sp>
      <p:sp>
        <p:nvSpPr>
          <p:cNvPr id="3" name="Content Placeholder 2">
            <a:extLst>
              <a:ext uri="{FF2B5EF4-FFF2-40B4-BE49-F238E27FC236}">
                <a16:creationId xmlns:a16="http://schemas.microsoft.com/office/drawing/2014/main" id="{3F7C0554-57B7-74A3-F6D5-D6C4A12467F4}"/>
              </a:ext>
            </a:extLst>
          </p:cNvPr>
          <p:cNvSpPr>
            <a:spLocks noGrp="1"/>
          </p:cNvSpPr>
          <p:nvPr>
            <p:ph idx="1"/>
          </p:nvPr>
        </p:nvSpPr>
        <p:spPr/>
        <p:txBody>
          <a:bodyPr/>
          <a:lstStyle/>
          <a:p>
            <a:pPr marL="0" indent="0">
              <a:buNone/>
            </a:pPr>
            <a:r>
              <a:rPr lang="en-US" dirty="0"/>
              <a:t>Open the Quarto file in the </a:t>
            </a:r>
            <a:r>
              <a:rPr lang="en-US" i="1" dirty="0"/>
              <a:t>exercises</a:t>
            </a:r>
            <a:r>
              <a:rPr lang="en-US" dirty="0"/>
              <a:t> folder: </a:t>
            </a:r>
          </a:p>
          <a:p>
            <a:pPr marL="0" indent="0">
              <a:buNone/>
            </a:pPr>
            <a:r>
              <a:rPr lang="en-US" dirty="0">
                <a:solidFill>
                  <a:srgbClr val="0070C0"/>
                </a:solidFill>
                <a:latin typeface="Monaco" charset="0"/>
                <a:ea typeface="Monaco" charset="0"/>
                <a:cs typeface="Monaco" charset="0"/>
              </a:rPr>
              <a:t>Module 02 </a:t>
            </a:r>
            <a:r>
              <a:rPr lang="en-US" dirty="0" err="1">
                <a:solidFill>
                  <a:srgbClr val="0070C0"/>
                </a:solidFill>
                <a:latin typeface="Monaco" charset="0"/>
                <a:ea typeface="Monaco" charset="0"/>
                <a:cs typeface="Monaco" charset="0"/>
              </a:rPr>
              <a:t>Exercises</a:t>
            </a:r>
            <a:r>
              <a:rPr lang="en-US" err="1">
                <a:solidFill>
                  <a:srgbClr val="0070C0"/>
                </a:solidFill>
                <a:latin typeface="Monaco" charset="0"/>
                <a:ea typeface="Monaco" charset="0"/>
                <a:cs typeface="Monaco" charset="0"/>
              </a:rPr>
              <a:t>.</a:t>
            </a:r>
            <a:r>
              <a:rPr lang="en-US">
                <a:solidFill>
                  <a:srgbClr val="0070C0"/>
                </a:solidFill>
                <a:latin typeface="Monaco" charset="0"/>
                <a:ea typeface="Monaco" charset="0"/>
                <a:cs typeface="Monaco" charset="0"/>
              </a:rPr>
              <a:t>qmd</a:t>
            </a:r>
            <a:endParaRPr lang="en-US" dirty="0"/>
          </a:p>
          <a:p>
            <a:pPr marL="0" indent="0">
              <a:buFont typeface="Tw Cen MT" panose="020B0602020104020603" pitchFamily="34" charset="0"/>
              <a:buNone/>
            </a:pPr>
            <a:r>
              <a:rPr lang="en-US" dirty="0"/>
              <a:t>In the Editor pane, follow the instructions in the first 2 sections to complete the exercise. Stop when you see “Stop Here”.</a:t>
            </a:r>
          </a:p>
          <a:p>
            <a:endParaRPr lang="en-US" dirty="0"/>
          </a:p>
        </p:txBody>
      </p:sp>
      <p:sp>
        <p:nvSpPr>
          <p:cNvPr id="5" name="TextBox 4">
            <a:extLst>
              <a:ext uri="{FF2B5EF4-FFF2-40B4-BE49-F238E27FC236}">
                <a16:creationId xmlns:a16="http://schemas.microsoft.com/office/drawing/2014/main" id="{8DD66F6C-A562-2386-5B80-4BB4A7DE9AAA}"/>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39297082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with medium confidence">
            <a:extLst>
              <a:ext uri="{FF2B5EF4-FFF2-40B4-BE49-F238E27FC236}">
                <a16:creationId xmlns:a16="http://schemas.microsoft.com/office/drawing/2014/main" id="{539D8E7A-E5C2-54BE-7E33-77DF35822513}"/>
              </a:ext>
            </a:extLst>
          </p:cNvPr>
          <p:cNvPicPr>
            <a:picLocks noChangeAspect="1"/>
          </p:cNvPicPr>
          <p:nvPr/>
        </p:nvPicPr>
        <p:blipFill>
          <a:blip r:embed="rId2"/>
          <a:stretch>
            <a:fillRect/>
          </a:stretch>
        </p:blipFill>
        <p:spPr>
          <a:xfrm>
            <a:off x="566425" y="0"/>
            <a:ext cx="11059149" cy="6858000"/>
          </a:xfrm>
          <a:prstGeom prst="rect">
            <a:avLst/>
          </a:prstGeom>
        </p:spPr>
      </p:pic>
      <p:cxnSp>
        <p:nvCxnSpPr>
          <p:cNvPr id="5" name="Straight Arrow Connector 4">
            <a:extLst>
              <a:ext uri="{FF2B5EF4-FFF2-40B4-BE49-F238E27FC236}">
                <a16:creationId xmlns:a16="http://schemas.microsoft.com/office/drawing/2014/main" id="{12A4429F-70D5-3020-BEF6-7F46EFC8D83B}"/>
              </a:ext>
            </a:extLst>
          </p:cNvPr>
          <p:cNvCxnSpPr>
            <a:cxnSpLocks/>
          </p:cNvCxnSpPr>
          <p:nvPr/>
        </p:nvCxnSpPr>
        <p:spPr>
          <a:xfrm flipH="1" flipV="1">
            <a:off x="7089522" y="1337083"/>
            <a:ext cx="566057" cy="3810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D72737D-4EF2-C6B7-913E-C75BEBA76B32}"/>
              </a:ext>
            </a:extLst>
          </p:cNvPr>
          <p:cNvSpPr txBox="1"/>
          <p:nvPr/>
        </p:nvSpPr>
        <p:spPr>
          <a:xfrm>
            <a:off x="7699629" y="1527583"/>
            <a:ext cx="3940628" cy="461665"/>
          </a:xfrm>
          <a:prstGeom prst="rect">
            <a:avLst/>
          </a:prstGeom>
          <a:noFill/>
        </p:spPr>
        <p:txBody>
          <a:bodyPr wrap="square" rtlCol="0">
            <a:spAutoFit/>
          </a:bodyPr>
          <a:lstStyle/>
          <a:p>
            <a:r>
              <a:rPr lang="en-US" sz="2400" dirty="0"/>
              <a:t>Click on object in Environment</a:t>
            </a:r>
          </a:p>
        </p:txBody>
      </p:sp>
      <p:cxnSp>
        <p:nvCxnSpPr>
          <p:cNvPr id="8" name="Straight Arrow Connector 7">
            <a:extLst>
              <a:ext uri="{FF2B5EF4-FFF2-40B4-BE49-F238E27FC236}">
                <a16:creationId xmlns:a16="http://schemas.microsoft.com/office/drawing/2014/main" id="{5159FBE4-0C55-9B66-3EA2-20FE31655833}"/>
              </a:ext>
            </a:extLst>
          </p:cNvPr>
          <p:cNvCxnSpPr>
            <a:cxnSpLocks/>
          </p:cNvCxnSpPr>
          <p:nvPr/>
        </p:nvCxnSpPr>
        <p:spPr>
          <a:xfrm flipH="1">
            <a:off x="2149929" y="579863"/>
            <a:ext cx="292188" cy="29447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9C1DEA7-CDE0-17C0-B847-8DD1D32E5ACF}"/>
              </a:ext>
            </a:extLst>
          </p:cNvPr>
          <p:cNvSpPr txBox="1"/>
          <p:nvPr/>
        </p:nvSpPr>
        <p:spPr>
          <a:xfrm>
            <a:off x="2442117" y="283824"/>
            <a:ext cx="4463142" cy="461665"/>
          </a:xfrm>
          <a:prstGeom prst="rect">
            <a:avLst/>
          </a:prstGeom>
          <a:noFill/>
        </p:spPr>
        <p:txBody>
          <a:bodyPr wrap="square" rtlCol="0">
            <a:spAutoFit/>
          </a:bodyPr>
          <a:lstStyle/>
          <a:p>
            <a:r>
              <a:rPr lang="en-US" sz="2400" dirty="0"/>
              <a:t>Can sort by clicking on variable</a:t>
            </a:r>
          </a:p>
        </p:txBody>
      </p:sp>
      <p:sp>
        <p:nvSpPr>
          <p:cNvPr id="12" name="Oval 11">
            <a:extLst>
              <a:ext uri="{FF2B5EF4-FFF2-40B4-BE49-F238E27FC236}">
                <a16:creationId xmlns:a16="http://schemas.microsoft.com/office/drawing/2014/main" id="{845C41E8-19A6-D295-D33F-1D94238F3B18}"/>
              </a:ext>
            </a:extLst>
          </p:cNvPr>
          <p:cNvSpPr/>
          <p:nvPr/>
        </p:nvSpPr>
        <p:spPr>
          <a:xfrm>
            <a:off x="272143" y="6340929"/>
            <a:ext cx="1676400" cy="424543"/>
          </a:xfrm>
          <a:prstGeom prst="ellipse">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0EE9A07-008A-77BE-B92D-9F6315115CE0}"/>
              </a:ext>
            </a:extLst>
          </p:cNvPr>
          <p:cNvSpPr txBox="1"/>
          <p:nvPr/>
        </p:nvSpPr>
        <p:spPr>
          <a:xfrm>
            <a:off x="1948543" y="6340929"/>
            <a:ext cx="4463142" cy="461665"/>
          </a:xfrm>
          <a:prstGeom prst="rect">
            <a:avLst/>
          </a:prstGeom>
          <a:noFill/>
        </p:spPr>
        <p:txBody>
          <a:bodyPr wrap="square" rtlCol="0">
            <a:spAutoFit/>
          </a:bodyPr>
          <a:lstStyle/>
          <a:p>
            <a:r>
              <a:rPr lang="en-US" sz="2400" dirty="0"/>
              <a:t>Can open up viewer from console</a:t>
            </a:r>
          </a:p>
        </p:txBody>
      </p:sp>
    </p:spTree>
    <p:extLst>
      <p:ext uri="{BB962C8B-B14F-4D97-AF65-F5344CB8AC3E}">
        <p14:creationId xmlns:p14="http://schemas.microsoft.com/office/powerpoint/2010/main" val="24793822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9895C609-6379-0ABA-3132-5B2A109D5C70}"/>
              </a:ext>
            </a:extLst>
          </p:cNvPr>
          <p:cNvPicPr>
            <a:picLocks noChangeAspect="1"/>
          </p:cNvPicPr>
          <p:nvPr/>
        </p:nvPicPr>
        <p:blipFill>
          <a:blip r:embed="rId2"/>
          <a:stretch>
            <a:fillRect/>
          </a:stretch>
        </p:blipFill>
        <p:spPr>
          <a:xfrm>
            <a:off x="1241728" y="0"/>
            <a:ext cx="9519108" cy="6724185"/>
          </a:xfrm>
          <a:prstGeom prst="rect">
            <a:avLst/>
          </a:prstGeom>
        </p:spPr>
      </p:pic>
      <p:cxnSp>
        <p:nvCxnSpPr>
          <p:cNvPr id="4" name="Straight Arrow Connector 3">
            <a:extLst>
              <a:ext uri="{FF2B5EF4-FFF2-40B4-BE49-F238E27FC236}">
                <a16:creationId xmlns:a16="http://schemas.microsoft.com/office/drawing/2014/main" id="{0040B11C-3F9C-E94D-9B0E-46A91593FE0A}"/>
              </a:ext>
            </a:extLst>
          </p:cNvPr>
          <p:cNvCxnSpPr>
            <a:cxnSpLocks/>
            <a:stCxn id="5" idx="1"/>
          </p:cNvCxnSpPr>
          <p:nvPr/>
        </p:nvCxnSpPr>
        <p:spPr>
          <a:xfrm flipH="1">
            <a:off x="2895600" y="626741"/>
            <a:ext cx="1458088" cy="36139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7F9DD9D-50D8-335D-B2AE-F515ED404AE6}"/>
              </a:ext>
            </a:extLst>
          </p:cNvPr>
          <p:cNvSpPr txBox="1"/>
          <p:nvPr/>
        </p:nvSpPr>
        <p:spPr>
          <a:xfrm>
            <a:off x="4353688" y="395908"/>
            <a:ext cx="4463142" cy="461665"/>
          </a:xfrm>
          <a:prstGeom prst="rect">
            <a:avLst/>
          </a:prstGeom>
          <a:noFill/>
        </p:spPr>
        <p:txBody>
          <a:bodyPr wrap="square" rtlCol="0">
            <a:spAutoFit/>
          </a:bodyPr>
          <a:lstStyle/>
          <a:p>
            <a:r>
              <a:rPr lang="en-US" sz="2400" dirty="0"/>
              <a:t>Filter can search variables</a:t>
            </a:r>
          </a:p>
        </p:txBody>
      </p:sp>
      <p:cxnSp>
        <p:nvCxnSpPr>
          <p:cNvPr id="6" name="Straight Arrow Connector 5">
            <a:extLst>
              <a:ext uri="{FF2B5EF4-FFF2-40B4-BE49-F238E27FC236}">
                <a16:creationId xmlns:a16="http://schemas.microsoft.com/office/drawing/2014/main" id="{026578AD-F3BA-C08F-0336-5A641278F2BE}"/>
              </a:ext>
            </a:extLst>
          </p:cNvPr>
          <p:cNvCxnSpPr>
            <a:cxnSpLocks/>
          </p:cNvCxnSpPr>
          <p:nvPr/>
        </p:nvCxnSpPr>
        <p:spPr>
          <a:xfrm>
            <a:off x="7672039" y="807439"/>
            <a:ext cx="322658" cy="49155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551F0AF-C7FD-E883-1DB9-8DB0DE00C0B5}"/>
              </a:ext>
            </a:extLst>
          </p:cNvPr>
          <p:cNvCxnSpPr>
            <a:cxnSpLocks/>
          </p:cNvCxnSpPr>
          <p:nvPr/>
        </p:nvCxnSpPr>
        <p:spPr>
          <a:xfrm flipH="1" flipV="1">
            <a:off x="2694215" y="5719680"/>
            <a:ext cx="402770" cy="41163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6F4E252-50B8-5D30-17A1-296E958A4A2B}"/>
              </a:ext>
            </a:extLst>
          </p:cNvPr>
          <p:cNvSpPr txBox="1"/>
          <p:nvPr/>
        </p:nvSpPr>
        <p:spPr>
          <a:xfrm>
            <a:off x="3208897" y="5900479"/>
            <a:ext cx="4463142" cy="461665"/>
          </a:xfrm>
          <a:prstGeom prst="rect">
            <a:avLst/>
          </a:prstGeom>
          <a:noFill/>
        </p:spPr>
        <p:txBody>
          <a:bodyPr wrap="square" rtlCol="0">
            <a:spAutoFit/>
          </a:bodyPr>
          <a:lstStyle/>
          <a:p>
            <a:r>
              <a:rPr lang="en-US" sz="2400" dirty="0"/>
              <a:t>Shows rows meeting criteria</a:t>
            </a:r>
          </a:p>
        </p:txBody>
      </p:sp>
    </p:spTree>
    <p:extLst>
      <p:ext uri="{BB962C8B-B14F-4D97-AF65-F5344CB8AC3E}">
        <p14:creationId xmlns:p14="http://schemas.microsoft.com/office/powerpoint/2010/main" val="35038598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24C05-E0F4-2485-2E23-BC8CCA7AEEFA}"/>
              </a:ext>
            </a:extLst>
          </p:cNvPr>
          <p:cNvSpPr>
            <a:spLocks noGrp="1"/>
          </p:cNvSpPr>
          <p:nvPr>
            <p:ph type="title"/>
          </p:nvPr>
        </p:nvSpPr>
        <p:spPr/>
        <p:txBody>
          <a:bodyPr/>
          <a:lstStyle/>
          <a:p>
            <a:r>
              <a:rPr lang="en-US" dirty="0"/>
              <a:t>Best Practice: Always Inspect your Raw Data</a:t>
            </a:r>
          </a:p>
        </p:txBody>
      </p:sp>
      <p:sp>
        <p:nvSpPr>
          <p:cNvPr id="3" name="Content Placeholder 2">
            <a:extLst>
              <a:ext uri="{FF2B5EF4-FFF2-40B4-BE49-F238E27FC236}">
                <a16:creationId xmlns:a16="http://schemas.microsoft.com/office/drawing/2014/main" id="{5D39509D-9E6E-4870-A33B-1013FA4031D4}"/>
              </a:ext>
            </a:extLst>
          </p:cNvPr>
          <p:cNvSpPr>
            <a:spLocks noGrp="1"/>
          </p:cNvSpPr>
          <p:nvPr>
            <p:ph idx="1"/>
          </p:nvPr>
        </p:nvSpPr>
        <p:spPr>
          <a:xfrm>
            <a:off x="1024128" y="2286000"/>
            <a:ext cx="9720073" cy="4572000"/>
          </a:xfrm>
        </p:spPr>
        <p:txBody>
          <a:bodyPr>
            <a:normAutofit/>
          </a:bodyPr>
          <a:lstStyle/>
          <a:p>
            <a:r>
              <a:rPr lang="en-US" sz="3200" dirty="0"/>
              <a:t> Inspect for any missing data</a:t>
            </a:r>
          </a:p>
          <a:p>
            <a:pPr lvl="1"/>
            <a:r>
              <a:rPr lang="en-US" sz="2800" dirty="0"/>
              <a:t> How is missing data represented? Blanks, NULLs (SQL), NAs (R), -1?</a:t>
            </a:r>
          </a:p>
          <a:p>
            <a:pPr lvl="1"/>
            <a:r>
              <a:rPr lang="en-US" sz="2800" dirty="0"/>
              <a:t> Programming languages provide functions that perform a summary of the data set</a:t>
            </a:r>
          </a:p>
          <a:p>
            <a:r>
              <a:rPr lang="en-US" sz="3200" dirty="0"/>
              <a:t> If applicable, sort data column by column</a:t>
            </a:r>
          </a:p>
          <a:p>
            <a:pPr lvl="1"/>
            <a:r>
              <a:rPr lang="en-US" sz="2800" dirty="0"/>
              <a:t> Most helpful if each column = specific field or data element </a:t>
            </a:r>
          </a:p>
          <a:p>
            <a:pPr lvl="1"/>
            <a:r>
              <a:rPr lang="en-US" sz="2800" dirty="0"/>
              <a:t> Helpful to see the “lowest” and “highest” values by column</a:t>
            </a:r>
          </a:p>
          <a:p>
            <a:pPr lvl="1"/>
            <a:r>
              <a:rPr lang="en-US" sz="2800" dirty="0"/>
              <a:t> </a:t>
            </a:r>
            <a:r>
              <a:rPr lang="en-US" sz="2800" i="1" dirty="0"/>
              <a:t>Can identify unexpected data types </a:t>
            </a:r>
          </a:p>
        </p:txBody>
      </p:sp>
    </p:spTree>
    <p:extLst>
      <p:ext uri="{BB962C8B-B14F-4D97-AF65-F5344CB8AC3E}">
        <p14:creationId xmlns:p14="http://schemas.microsoft.com/office/powerpoint/2010/main" val="5488939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3D8B-FFF9-BD23-A009-D95340BD7DAD}"/>
              </a:ext>
            </a:extLst>
          </p:cNvPr>
          <p:cNvSpPr>
            <a:spLocks noGrp="1"/>
          </p:cNvSpPr>
          <p:nvPr>
            <p:ph type="title"/>
          </p:nvPr>
        </p:nvSpPr>
        <p:spPr/>
        <p:txBody>
          <a:bodyPr/>
          <a:lstStyle/>
          <a:p>
            <a:r>
              <a:rPr lang="en-US" dirty="0"/>
              <a:t>Display and calculation behavior depends on the data type of a variable</a:t>
            </a:r>
          </a:p>
        </p:txBody>
      </p:sp>
      <p:pic>
        <p:nvPicPr>
          <p:cNvPr id="5" name="Content Placeholder 4" descr="A screenshot of a computer&#10;&#10;Description automatically generated">
            <a:extLst>
              <a:ext uri="{FF2B5EF4-FFF2-40B4-BE49-F238E27FC236}">
                <a16:creationId xmlns:a16="http://schemas.microsoft.com/office/drawing/2014/main" id="{278AE65A-683E-7964-FA2E-6AC701FD483E}"/>
              </a:ext>
            </a:extLst>
          </p:cNvPr>
          <p:cNvPicPr>
            <a:picLocks noGrp="1" noChangeAspect="1"/>
          </p:cNvPicPr>
          <p:nvPr>
            <p:ph idx="1"/>
          </p:nvPr>
        </p:nvPicPr>
        <p:blipFill>
          <a:blip r:embed="rId2"/>
          <a:stretch>
            <a:fillRect/>
          </a:stretch>
        </p:blipFill>
        <p:spPr>
          <a:xfrm>
            <a:off x="594912" y="1914918"/>
            <a:ext cx="7773828" cy="4943082"/>
          </a:xfrm>
        </p:spPr>
      </p:pic>
      <p:cxnSp>
        <p:nvCxnSpPr>
          <p:cNvPr id="6" name="Straight Arrow Connector 5">
            <a:extLst>
              <a:ext uri="{FF2B5EF4-FFF2-40B4-BE49-F238E27FC236}">
                <a16:creationId xmlns:a16="http://schemas.microsoft.com/office/drawing/2014/main" id="{B915F7A3-756C-557F-72A0-6E8B07F13109}"/>
              </a:ext>
            </a:extLst>
          </p:cNvPr>
          <p:cNvCxnSpPr>
            <a:cxnSpLocks/>
          </p:cNvCxnSpPr>
          <p:nvPr/>
        </p:nvCxnSpPr>
        <p:spPr>
          <a:xfrm flipV="1">
            <a:off x="1553378" y="3429000"/>
            <a:ext cx="490842" cy="46078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52B953D-5284-B6A9-3F3C-DF1FB7713609}"/>
              </a:ext>
            </a:extLst>
          </p:cNvPr>
          <p:cNvSpPr txBox="1"/>
          <p:nvPr/>
        </p:nvSpPr>
        <p:spPr>
          <a:xfrm>
            <a:off x="-198304" y="3889783"/>
            <a:ext cx="1751682" cy="646331"/>
          </a:xfrm>
          <a:prstGeom prst="rect">
            <a:avLst/>
          </a:prstGeom>
          <a:noFill/>
        </p:spPr>
        <p:txBody>
          <a:bodyPr wrap="square" rtlCol="0">
            <a:spAutoFit/>
          </a:bodyPr>
          <a:lstStyle/>
          <a:p>
            <a:pPr algn="r"/>
            <a:r>
              <a:rPr lang="en-US" dirty="0"/>
              <a:t>Press button to see details</a:t>
            </a:r>
          </a:p>
        </p:txBody>
      </p:sp>
      <p:sp>
        <p:nvSpPr>
          <p:cNvPr id="9" name="TextBox 8">
            <a:extLst>
              <a:ext uri="{FF2B5EF4-FFF2-40B4-BE49-F238E27FC236}">
                <a16:creationId xmlns:a16="http://schemas.microsoft.com/office/drawing/2014/main" id="{A136B86B-688A-01DE-664F-C706A227331F}"/>
              </a:ext>
            </a:extLst>
          </p:cNvPr>
          <p:cNvSpPr txBox="1"/>
          <p:nvPr/>
        </p:nvSpPr>
        <p:spPr>
          <a:xfrm>
            <a:off x="8368740" y="2320122"/>
            <a:ext cx="3823259" cy="4154984"/>
          </a:xfrm>
          <a:prstGeom prst="rect">
            <a:avLst/>
          </a:prstGeom>
          <a:noFill/>
        </p:spPr>
        <p:txBody>
          <a:bodyPr wrap="square" rtlCol="0">
            <a:spAutoFit/>
          </a:bodyPr>
          <a:lstStyle/>
          <a:p>
            <a:r>
              <a:rPr lang="en-US" sz="2400" dirty="0"/>
              <a:t>Recall common data types:</a:t>
            </a:r>
          </a:p>
          <a:p>
            <a:pPr marL="342900" indent="-342900">
              <a:buFont typeface="Arial" panose="020B0604020202020204" pitchFamily="34" charset="0"/>
              <a:buChar char="•"/>
            </a:pPr>
            <a:r>
              <a:rPr lang="en-US" sz="2400" dirty="0"/>
              <a:t>num = numeric</a:t>
            </a:r>
          </a:p>
          <a:p>
            <a:pPr marL="800100" lvl="1" indent="-342900">
              <a:buFont typeface="Arial" panose="020B0604020202020204" pitchFamily="34" charset="0"/>
              <a:buChar char="•"/>
            </a:pPr>
            <a:r>
              <a:rPr lang="en-US" sz="2400" dirty="0"/>
              <a:t>integer</a:t>
            </a:r>
          </a:p>
          <a:p>
            <a:pPr marL="800100" lvl="1" indent="-342900">
              <a:buFont typeface="Arial" panose="020B0604020202020204" pitchFamily="34" charset="0"/>
              <a:buChar char="•"/>
            </a:pPr>
            <a:r>
              <a:rPr lang="en-US" sz="2400" dirty="0"/>
              <a:t>double (to represent decimals)</a:t>
            </a:r>
          </a:p>
          <a:p>
            <a:pPr marL="342900" indent="-342900">
              <a:buFont typeface="Arial" panose="020B0604020202020204" pitchFamily="34" charset="0"/>
              <a:buChar char="•"/>
            </a:pPr>
            <a:r>
              <a:rPr lang="en-US" sz="2400" dirty="0"/>
              <a:t>chr = character string</a:t>
            </a:r>
          </a:p>
          <a:p>
            <a:pPr marL="342900" indent="-342900">
              <a:buFont typeface="Arial" panose="020B0604020202020204" pitchFamily="34" charset="0"/>
              <a:buChar char="•"/>
            </a:pPr>
            <a:r>
              <a:rPr lang="en-US" sz="2400" dirty="0"/>
              <a:t>factor = categorical variable (i.e. M, F, U)</a:t>
            </a:r>
          </a:p>
          <a:p>
            <a:pPr marL="342900" indent="-342900">
              <a:buFont typeface="Arial" panose="020B0604020202020204" pitchFamily="34" charset="0"/>
              <a:buChar char="•"/>
            </a:pPr>
            <a:r>
              <a:rPr lang="en-US" sz="2400" dirty="0" err="1"/>
              <a:t>POSIXct</a:t>
            </a:r>
            <a:r>
              <a:rPr lang="en-US" sz="2400" dirty="0"/>
              <a:t> = date &amp; time format</a:t>
            </a:r>
          </a:p>
          <a:p>
            <a:pPr marL="342900" indent="-342900">
              <a:buFont typeface="Arial" panose="020B0604020202020204" pitchFamily="34" charset="0"/>
              <a:buChar char="•"/>
            </a:pPr>
            <a:r>
              <a:rPr lang="en-US" sz="2400" dirty="0"/>
              <a:t>logical = TRUE or FALSE</a:t>
            </a:r>
          </a:p>
        </p:txBody>
      </p:sp>
    </p:spTree>
    <p:extLst>
      <p:ext uri="{BB962C8B-B14F-4D97-AF65-F5344CB8AC3E}">
        <p14:creationId xmlns:p14="http://schemas.microsoft.com/office/powerpoint/2010/main" val="24498921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3D8B-FFF9-BD23-A009-D95340BD7DAD}"/>
              </a:ext>
            </a:extLst>
          </p:cNvPr>
          <p:cNvSpPr>
            <a:spLocks noGrp="1"/>
          </p:cNvSpPr>
          <p:nvPr>
            <p:ph type="title"/>
          </p:nvPr>
        </p:nvSpPr>
        <p:spPr/>
        <p:txBody>
          <a:bodyPr/>
          <a:lstStyle/>
          <a:p>
            <a:r>
              <a:rPr lang="en-US" dirty="0"/>
              <a:t>Which variables should be converted to a different data type?</a:t>
            </a:r>
          </a:p>
        </p:txBody>
      </p:sp>
      <p:pic>
        <p:nvPicPr>
          <p:cNvPr id="5" name="Content Placeholder 4" descr="A screenshot of a computer&#10;&#10;Description automatically generated">
            <a:extLst>
              <a:ext uri="{FF2B5EF4-FFF2-40B4-BE49-F238E27FC236}">
                <a16:creationId xmlns:a16="http://schemas.microsoft.com/office/drawing/2014/main" id="{278AE65A-683E-7964-FA2E-6AC701FD483E}"/>
              </a:ext>
            </a:extLst>
          </p:cNvPr>
          <p:cNvPicPr>
            <a:picLocks noGrp="1" noChangeAspect="1"/>
          </p:cNvPicPr>
          <p:nvPr>
            <p:ph idx="1"/>
          </p:nvPr>
        </p:nvPicPr>
        <p:blipFill>
          <a:blip r:embed="rId2"/>
          <a:stretch>
            <a:fillRect/>
          </a:stretch>
        </p:blipFill>
        <p:spPr>
          <a:xfrm>
            <a:off x="594912" y="1914918"/>
            <a:ext cx="7773828" cy="4943082"/>
          </a:xfrm>
        </p:spPr>
      </p:pic>
      <p:sp>
        <p:nvSpPr>
          <p:cNvPr id="9" name="TextBox 8">
            <a:extLst>
              <a:ext uri="{FF2B5EF4-FFF2-40B4-BE49-F238E27FC236}">
                <a16:creationId xmlns:a16="http://schemas.microsoft.com/office/drawing/2014/main" id="{A136B86B-688A-01DE-664F-C706A227331F}"/>
              </a:ext>
            </a:extLst>
          </p:cNvPr>
          <p:cNvSpPr txBox="1"/>
          <p:nvPr/>
        </p:nvSpPr>
        <p:spPr>
          <a:xfrm>
            <a:off x="8368740" y="2320122"/>
            <a:ext cx="3823259" cy="3785652"/>
          </a:xfrm>
          <a:prstGeom prst="rect">
            <a:avLst/>
          </a:prstGeom>
          <a:noFill/>
        </p:spPr>
        <p:txBody>
          <a:bodyPr wrap="square" rtlCol="0">
            <a:spAutoFit/>
          </a:bodyPr>
          <a:lstStyle/>
          <a:p>
            <a:r>
              <a:rPr lang="en-US" sz="2400" dirty="0"/>
              <a:t>Common data types:</a:t>
            </a:r>
          </a:p>
          <a:p>
            <a:pPr marL="342900" indent="-342900">
              <a:buFont typeface="Arial" panose="020B0604020202020204" pitchFamily="34" charset="0"/>
              <a:buChar char="•"/>
            </a:pPr>
            <a:r>
              <a:rPr lang="en-US" sz="2400" dirty="0"/>
              <a:t>num = numeric (there are subtypes based on precision, i.e. decimals)</a:t>
            </a:r>
          </a:p>
          <a:p>
            <a:pPr marL="342900" indent="-342900">
              <a:buFont typeface="Arial" panose="020B0604020202020204" pitchFamily="34" charset="0"/>
              <a:buChar char="•"/>
            </a:pPr>
            <a:r>
              <a:rPr lang="en-US" sz="2400" dirty="0"/>
              <a:t>chr = character</a:t>
            </a:r>
          </a:p>
          <a:p>
            <a:pPr marL="342900" indent="-342900">
              <a:buFont typeface="Arial" panose="020B0604020202020204" pitchFamily="34" charset="0"/>
              <a:buChar char="•"/>
            </a:pPr>
            <a:r>
              <a:rPr lang="en-US" sz="2400" dirty="0"/>
              <a:t>Factor = categorical variable (i.e. M, F, U)</a:t>
            </a:r>
          </a:p>
          <a:p>
            <a:pPr marL="342900" indent="-342900">
              <a:buFont typeface="Arial" panose="020B0604020202020204" pitchFamily="34" charset="0"/>
              <a:buChar char="•"/>
            </a:pPr>
            <a:r>
              <a:rPr lang="en-US" sz="2400" dirty="0" err="1"/>
              <a:t>POSIXct</a:t>
            </a:r>
            <a:r>
              <a:rPr lang="en-US" sz="2400" dirty="0"/>
              <a:t> = date &amp; time format</a:t>
            </a:r>
          </a:p>
          <a:p>
            <a:pPr marL="342900" indent="-342900">
              <a:buFont typeface="Arial" panose="020B0604020202020204" pitchFamily="34" charset="0"/>
              <a:buChar char="•"/>
            </a:pPr>
            <a:r>
              <a:rPr lang="en-US" sz="2400" dirty="0"/>
              <a:t>Logical = TRUE or FALSE</a:t>
            </a:r>
          </a:p>
        </p:txBody>
      </p:sp>
    </p:spTree>
    <p:extLst>
      <p:ext uri="{BB962C8B-B14F-4D97-AF65-F5344CB8AC3E}">
        <p14:creationId xmlns:p14="http://schemas.microsoft.com/office/powerpoint/2010/main" val="5721587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AA3D-CC1E-C74E-A634-995E791A2433}"/>
              </a:ext>
            </a:extLst>
          </p:cNvPr>
          <p:cNvSpPr>
            <a:spLocks noGrp="1"/>
          </p:cNvSpPr>
          <p:nvPr>
            <p:ph type="title"/>
          </p:nvPr>
        </p:nvSpPr>
        <p:spPr/>
        <p:txBody>
          <a:bodyPr/>
          <a:lstStyle/>
          <a:p>
            <a:r>
              <a:rPr lang="en-US" dirty="0"/>
              <a:t>Modifying Data Types</a:t>
            </a:r>
          </a:p>
        </p:txBody>
      </p:sp>
      <p:sp>
        <p:nvSpPr>
          <p:cNvPr id="3" name="Content Placeholder 2">
            <a:extLst>
              <a:ext uri="{FF2B5EF4-FFF2-40B4-BE49-F238E27FC236}">
                <a16:creationId xmlns:a16="http://schemas.microsoft.com/office/drawing/2014/main" id="{03A179A4-0F0E-7880-1517-4604E7CE493D}"/>
              </a:ext>
            </a:extLst>
          </p:cNvPr>
          <p:cNvSpPr>
            <a:spLocks noGrp="1"/>
          </p:cNvSpPr>
          <p:nvPr>
            <p:ph idx="1"/>
          </p:nvPr>
        </p:nvSpPr>
        <p:spPr/>
        <p:txBody>
          <a:bodyPr/>
          <a:lstStyle/>
          <a:p>
            <a:pPr marL="0" indent="0">
              <a:buNone/>
            </a:pPr>
            <a:r>
              <a:rPr lang="en-US" dirty="0"/>
              <a:t>Pick up where you left off in </a:t>
            </a:r>
            <a:r>
              <a:rPr lang="en-US" dirty="0">
                <a:solidFill>
                  <a:srgbClr val="0070C0"/>
                </a:solidFill>
                <a:latin typeface="Monaco" charset="0"/>
                <a:ea typeface="Monaco" charset="0"/>
                <a:cs typeface="Monaco" charset="0"/>
              </a:rPr>
              <a:t>Module 02 </a:t>
            </a:r>
            <a:r>
              <a:rPr lang="en-US" dirty="0" err="1">
                <a:solidFill>
                  <a:srgbClr val="0070C0"/>
                </a:solidFill>
                <a:latin typeface="Monaco" charset="0"/>
                <a:ea typeface="Monaco" charset="0"/>
                <a:cs typeface="Monaco" charset="0"/>
              </a:rPr>
              <a:t>Exercises.qmd</a:t>
            </a:r>
            <a:r>
              <a:rPr lang="en-US" dirty="0"/>
              <a:t> and work through the </a:t>
            </a:r>
            <a:r>
              <a:rPr lang="en-US" dirty="0">
                <a:solidFill>
                  <a:schemeClr val="accent1"/>
                </a:solidFill>
              </a:rPr>
              <a:t>Modifying Data Types</a:t>
            </a:r>
            <a:r>
              <a:rPr lang="en-US" dirty="0"/>
              <a:t> section.</a:t>
            </a:r>
          </a:p>
          <a:p>
            <a:pPr marL="0" indent="0">
              <a:buFont typeface="Tw Cen MT" panose="020B0602020104020603" pitchFamily="34" charset="0"/>
              <a:buNone/>
            </a:pPr>
            <a:r>
              <a:rPr lang="en-US" dirty="0"/>
              <a:t>In the Editor pane, follow the instructions to complete the exercise. Stop when you see “Stop Here”.</a:t>
            </a:r>
          </a:p>
          <a:p>
            <a:endParaRPr lang="en-US" dirty="0"/>
          </a:p>
        </p:txBody>
      </p:sp>
      <p:sp>
        <p:nvSpPr>
          <p:cNvPr id="5" name="TextBox 4">
            <a:extLst>
              <a:ext uri="{FF2B5EF4-FFF2-40B4-BE49-F238E27FC236}">
                <a16:creationId xmlns:a16="http://schemas.microsoft.com/office/drawing/2014/main" id="{298DD8EC-B183-9C9F-8691-24909BE1E127}"/>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41496825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72B9A-E6AC-AD2E-B542-BEA9378F85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CA252E-247E-C932-BB33-F57C284A0AD3}"/>
              </a:ext>
            </a:extLst>
          </p:cNvPr>
          <p:cNvSpPr>
            <a:spLocks noGrp="1"/>
          </p:cNvSpPr>
          <p:nvPr>
            <p:ph type="title"/>
          </p:nvPr>
        </p:nvSpPr>
        <p:spPr>
          <a:xfrm>
            <a:off x="502443" y="2752468"/>
            <a:ext cx="11187112" cy="1463040"/>
          </a:xfrm>
        </p:spPr>
        <p:txBody>
          <a:bodyPr/>
          <a:lstStyle/>
          <a:p>
            <a:r>
              <a:rPr lang="en-US" dirty="0">
                <a:latin typeface="+mn-lt"/>
              </a:rPr>
              <a:t>Validating Data</a:t>
            </a:r>
          </a:p>
        </p:txBody>
      </p:sp>
    </p:spTree>
    <p:extLst>
      <p:ext uri="{BB962C8B-B14F-4D97-AF65-F5344CB8AC3E}">
        <p14:creationId xmlns:p14="http://schemas.microsoft.com/office/powerpoint/2010/main" val="11590417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E2125-3DE9-0839-CAEC-BD2ED3BEF66F}"/>
              </a:ext>
            </a:extLst>
          </p:cNvPr>
          <p:cNvSpPr>
            <a:spLocks noGrp="1"/>
          </p:cNvSpPr>
          <p:nvPr>
            <p:ph type="title"/>
          </p:nvPr>
        </p:nvSpPr>
        <p:spPr/>
        <p:txBody>
          <a:bodyPr/>
          <a:lstStyle/>
          <a:p>
            <a:r>
              <a:rPr lang="en-US" dirty="0"/>
              <a:t>Data quality</a:t>
            </a:r>
          </a:p>
        </p:txBody>
      </p:sp>
      <p:graphicFrame>
        <p:nvGraphicFramePr>
          <p:cNvPr id="4" name="Table 4">
            <a:extLst>
              <a:ext uri="{FF2B5EF4-FFF2-40B4-BE49-F238E27FC236}">
                <a16:creationId xmlns:a16="http://schemas.microsoft.com/office/drawing/2014/main" id="{BE05CE93-14E2-4611-C3C7-1C5963692D0A}"/>
              </a:ext>
            </a:extLst>
          </p:cNvPr>
          <p:cNvGraphicFramePr>
            <a:graphicFrameLocks noGrp="1"/>
          </p:cNvGraphicFramePr>
          <p:nvPr>
            <p:ph idx="1"/>
          </p:nvPr>
        </p:nvGraphicFramePr>
        <p:xfrm>
          <a:off x="838200" y="1900009"/>
          <a:ext cx="10515600" cy="4242520"/>
        </p:xfrm>
        <a:graphic>
          <a:graphicData uri="http://schemas.openxmlformats.org/drawingml/2006/table">
            <a:tbl>
              <a:tblPr firstCol="1" bandRow="1">
                <a:tableStyleId>{5C22544A-7EE6-4342-B048-85BDC9FD1C3A}</a:tableStyleId>
              </a:tblPr>
              <a:tblGrid>
                <a:gridCol w="2882246">
                  <a:extLst>
                    <a:ext uri="{9D8B030D-6E8A-4147-A177-3AD203B41FA5}">
                      <a16:colId xmlns:a16="http://schemas.microsoft.com/office/drawing/2014/main" val="4146429391"/>
                    </a:ext>
                  </a:extLst>
                </a:gridCol>
                <a:gridCol w="7633354">
                  <a:extLst>
                    <a:ext uri="{9D8B030D-6E8A-4147-A177-3AD203B41FA5}">
                      <a16:colId xmlns:a16="http://schemas.microsoft.com/office/drawing/2014/main" val="2555825690"/>
                    </a:ext>
                  </a:extLst>
                </a:gridCol>
              </a:tblGrid>
              <a:tr h="848504">
                <a:tc>
                  <a:txBody>
                    <a:bodyPr/>
                    <a:lstStyle/>
                    <a:p>
                      <a:r>
                        <a:rPr lang="en-US" sz="2800" dirty="0"/>
                        <a:t> Completeness</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present and available?</a:t>
                      </a:r>
                    </a:p>
                  </a:txBody>
                  <a:tcPr anchor="ctr">
                    <a:solidFill>
                      <a:schemeClr val="accent5">
                        <a:lumMod val="60000"/>
                        <a:lumOff val="40000"/>
                      </a:schemeClr>
                    </a:solidFill>
                  </a:tcPr>
                </a:tc>
                <a:extLst>
                  <a:ext uri="{0D108BD9-81ED-4DB2-BD59-A6C34878D82A}">
                    <a16:rowId xmlns:a16="http://schemas.microsoft.com/office/drawing/2014/main" val="2870412862"/>
                  </a:ext>
                </a:extLst>
              </a:tr>
              <a:tr h="848504">
                <a:tc>
                  <a:txBody>
                    <a:bodyPr/>
                    <a:lstStyle/>
                    <a:p>
                      <a:r>
                        <a:rPr lang="en-US" sz="2800" dirty="0"/>
                        <a:t> Correctness</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true?</a:t>
                      </a:r>
                    </a:p>
                  </a:txBody>
                  <a:tcPr anchor="ctr">
                    <a:solidFill>
                      <a:schemeClr val="accent5">
                        <a:lumMod val="20000"/>
                        <a:lumOff val="80000"/>
                      </a:schemeClr>
                    </a:solidFill>
                  </a:tcPr>
                </a:tc>
                <a:extLst>
                  <a:ext uri="{0D108BD9-81ED-4DB2-BD59-A6C34878D82A}">
                    <a16:rowId xmlns:a16="http://schemas.microsoft.com/office/drawing/2014/main" val="1377506436"/>
                  </a:ext>
                </a:extLst>
              </a:tr>
              <a:tr h="848504">
                <a:tc>
                  <a:txBody>
                    <a:bodyPr/>
                    <a:lstStyle/>
                    <a:p>
                      <a:r>
                        <a:rPr lang="en-US" sz="2800" dirty="0"/>
                        <a:t> Concordance</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there agreement and consistency between data elements?</a:t>
                      </a:r>
                    </a:p>
                  </a:txBody>
                  <a:tcPr anchor="ctr">
                    <a:solidFill>
                      <a:schemeClr val="accent5">
                        <a:lumMod val="60000"/>
                        <a:lumOff val="40000"/>
                      </a:schemeClr>
                    </a:solidFill>
                  </a:tcPr>
                </a:tc>
                <a:extLst>
                  <a:ext uri="{0D108BD9-81ED-4DB2-BD59-A6C34878D82A}">
                    <a16:rowId xmlns:a16="http://schemas.microsoft.com/office/drawing/2014/main" val="2943288984"/>
                  </a:ext>
                </a:extLst>
              </a:tr>
              <a:tr h="848504">
                <a:tc>
                  <a:txBody>
                    <a:bodyPr/>
                    <a:lstStyle/>
                    <a:p>
                      <a:r>
                        <a:rPr lang="en-US" sz="2800" dirty="0"/>
                        <a:t> Plausibility</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Does data make sense in the clinical context?</a:t>
                      </a:r>
                    </a:p>
                  </a:txBody>
                  <a:tcPr anchor="ctr">
                    <a:solidFill>
                      <a:schemeClr val="accent5">
                        <a:lumMod val="20000"/>
                        <a:lumOff val="80000"/>
                      </a:schemeClr>
                    </a:solidFill>
                  </a:tcPr>
                </a:tc>
                <a:extLst>
                  <a:ext uri="{0D108BD9-81ED-4DB2-BD59-A6C34878D82A}">
                    <a16:rowId xmlns:a16="http://schemas.microsoft.com/office/drawing/2014/main" val="509695638"/>
                  </a:ext>
                </a:extLst>
              </a:tr>
              <a:tr h="848504">
                <a:tc>
                  <a:txBody>
                    <a:bodyPr/>
                    <a:lstStyle/>
                    <a:p>
                      <a:r>
                        <a:rPr lang="en-US" sz="2800" dirty="0"/>
                        <a:t> Currency</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a relevant representation at a defined point in time?</a:t>
                      </a:r>
                    </a:p>
                  </a:txBody>
                  <a:tcPr anchor="ctr">
                    <a:solidFill>
                      <a:schemeClr val="accent5">
                        <a:lumMod val="60000"/>
                        <a:lumOff val="40000"/>
                      </a:schemeClr>
                    </a:solidFill>
                  </a:tcPr>
                </a:tc>
                <a:extLst>
                  <a:ext uri="{0D108BD9-81ED-4DB2-BD59-A6C34878D82A}">
                    <a16:rowId xmlns:a16="http://schemas.microsoft.com/office/drawing/2014/main" val="1710205910"/>
                  </a:ext>
                </a:extLst>
              </a:tr>
            </a:tbl>
          </a:graphicData>
        </a:graphic>
      </p:graphicFrame>
      <p:sp>
        <p:nvSpPr>
          <p:cNvPr id="5" name="TextBox 4">
            <a:extLst>
              <a:ext uri="{FF2B5EF4-FFF2-40B4-BE49-F238E27FC236}">
                <a16:creationId xmlns:a16="http://schemas.microsoft.com/office/drawing/2014/main" id="{F4D84D07-93CF-CBB0-1A0B-391E09CADCDB}"/>
              </a:ext>
            </a:extLst>
          </p:cNvPr>
          <p:cNvSpPr txBox="1"/>
          <p:nvPr/>
        </p:nvSpPr>
        <p:spPr>
          <a:xfrm>
            <a:off x="4444861" y="6240531"/>
            <a:ext cx="7184571" cy="461665"/>
          </a:xfrm>
          <a:prstGeom prst="rect">
            <a:avLst/>
          </a:prstGeom>
          <a:noFill/>
        </p:spPr>
        <p:txBody>
          <a:bodyPr wrap="square" rtlCol="0">
            <a:spAutoFit/>
          </a:bodyPr>
          <a:lstStyle/>
          <a:p>
            <a:r>
              <a:rPr lang="en-US" sz="1200" dirty="0"/>
              <a:t>Weiskopf NG, Weng C. Methods and dimensions of electronic health record data quality assessment: enabling reuse for clinical research. J Am Med Inform Assoc. 2013;20(1):144-151. doi:10.1136/amiajnl-2011-000681</a:t>
            </a:r>
          </a:p>
        </p:txBody>
      </p:sp>
      <p:sp>
        <p:nvSpPr>
          <p:cNvPr id="3" name="TextBox 2">
            <a:extLst>
              <a:ext uri="{FF2B5EF4-FFF2-40B4-BE49-F238E27FC236}">
                <a16:creationId xmlns:a16="http://schemas.microsoft.com/office/drawing/2014/main" id="{42788303-4941-9354-78B5-44E13023409A}"/>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8113783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51b620d7a5_0_1"/>
          <p:cNvSpPr txBox="1">
            <a:spLocks noGrp="1"/>
          </p:cNvSpPr>
          <p:nvPr>
            <p:ph type="body" idx="1"/>
          </p:nvPr>
        </p:nvSpPr>
        <p:spPr>
          <a:xfrm>
            <a:off x="254192" y="1570754"/>
            <a:ext cx="8041669" cy="4319700"/>
          </a:xfrm>
          <a:prstGeom prst="rect">
            <a:avLst/>
          </a:prstGeom>
          <a:noFill/>
          <a:ln>
            <a:noFill/>
          </a:ln>
        </p:spPr>
        <p:txBody>
          <a:bodyPr spcFirstLastPara="1" wrap="square" lIns="91425" tIns="45700" rIns="91425" bIns="45700" anchor="t" anchorCtr="0">
            <a:normAutofit/>
          </a:bodyPr>
          <a:lstStyle/>
          <a:p>
            <a:pPr marL="457200" lvl="0" indent="-342900" algn="l" rtl="0">
              <a:lnSpc>
                <a:spcPct val="122222"/>
              </a:lnSpc>
              <a:spcBef>
                <a:spcPts val="1000"/>
              </a:spcBef>
              <a:spcAft>
                <a:spcPts val="0"/>
              </a:spcAft>
              <a:buClr>
                <a:schemeClr val="accent1"/>
              </a:buClr>
              <a:buSzPts val="1800"/>
              <a:buChar char="●"/>
            </a:pPr>
            <a:r>
              <a:rPr lang="en-US" sz="2400" dirty="0"/>
              <a:t>Data Completeness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Clinical, Laboratory, Billing, and Logistics data all in one place</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Structure</a:t>
            </a:r>
            <a:endParaRPr sz="2400" dirty="0"/>
          </a:p>
          <a:p>
            <a:pPr marL="914400" lvl="1" indent="-342900" algn="l" rtl="0">
              <a:lnSpc>
                <a:spcPct val="122222"/>
              </a:lnSpc>
              <a:spcBef>
                <a:spcPts val="0"/>
              </a:spcBef>
              <a:spcAft>
                <a:spcPts val="0"/>
              </a:spcAft>
              <a:buClr>
                <a:schemeClr val="accent1"/>
              </a:buClr>
              <a:buSzPts val="1800"/>
              <a:buChar char="○"/>
            </a:pPr>
            <a:r>
              <a:rPr lang="en-US" sz="2400" dirty="0"/>
              <a:t>Discrete</a:t>
            </a:r>
            <a:endParaRPr sz="2400" dirty="0"/>
          </a:p>
          <a:p>
            <a:pPr marL="914400" lvl="1" indent="-342900" algn="l" rtl="0">
              <a:lnSpc>
                <a:spcPct val="122222"/>
              </a:lnSpc>
              <a:spcBef>
                <a:spcPts val="0"/>
              </a:spcBef>
              <a:spcAft>
                <a:spcPts val="0"/>
              </a:spcAft>
              <a:buClr>
                <a:schemeClr val="accent1"/>
              </a:buClr>
              <a:buSzPts val="1800"/>
              <a:buChar char="○"/>
            </a:pPr>
            <a:r>
              <a:rPr lang="en-US" sz="2400" dirty="0"/>
              <a:t>Standardized</a:t>
            </a:r>
            <a:endParaRPr sz="2400" dirty="0"/>
          </a:p>
          <a:p>
            <a:pPr marL="914400" lvl="1" indent="-342900" algn="l" rtl="0">
              <a:lnSpc>
                <a:spcPct val="122222"/>
              </a:lnSpc>
              <a:spcBef>
                <a:spcPts val="0"/>
              </a:spcBef>
              <a:spcAft>
                <a:spcPts val="0"/>
              </a:spcAft>
              <a:buClr>
                <a:schemeClr val="accent1"/>
              </a:buClr>
              <a:buSzPts val="1800"/>
              <a:buChar char="○"/>
            </a:pPr>
            <a:r>
              <a:rPr lang="en-US" sz="2400" dirty="0"/>
              <a:t>Tabular</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Timeliness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Access to what you need within hours to days</a:t>
            </a:r>
            <a:endParaRPr sz="2400" dirty="0"/>
          </a:p>
        </p:txBody>
      </p:sp>
      <p:sp>
        <p:nvSpPr>
          <p:cNvPr id="156" name="Google Shape;156;g351b620d7a5_0_1"/>
          <p:cNvSpPr txBox="1">
            <a:spLocks noGrp="1"/>
          </p:cNvSpPr>
          <p:nvPr>
            <p:ph type="title"/>
          </p:nvPr>
        </p:nvSpPr>
        <p:spPr>
          <a:xfrm>
            <a:off x="838200" y="842204"/>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Ideal World Data</a:t>
            </a:r>
            <a:endParaRPr dirty="0"/>
          </a:p>
        </p:txBody>
      </p:sp>
      <p:pic>
        <p:nvPicPr>
          <p:cNvPr id="158" name="Google Shape;158;g351b620d7a5_0_1"/>
          <p:cNvPicPr preferRelativeResize="0"/>
          <p:nvPr/>
        </p:nvPicPr>
        <p:blipFill rotWithShape="1">
          <a:blip r:embed="rId3">
            <a:alphaModFix/>
          </a:blip>
          <a:srcRect/>
          <a:stretch/>
        </p:blipFill>
        <p:spPr>
          <a:xfrm>
            <a:off x="5883966" y="2906325"/>
            <a:ext cx="6053842" cy="2203175"/>
          </a:xfrm>
          <a:prstGeom prst="rect">
            <a:avLst/>
          </a:prstGeom>
          <a:noFill/>
          <a:ln w="9525" cap="flat" cmpd="sng">
            <a:solidFill>
              <a:schemeClr val="accent6"/>
            </a:solidFill>
            <a:prstDash val="solid"/>
            <a:round/>
            <a:headEnd type="none" w="sm" len="sm"/>
            <a:tailEnd type="none" w="sm" len="sm"/>
          </a:ln>
          <a:effectLst>
            <a:outerShdw blurRad="50800" dist="38100" dir="2700000" algn="tl" rotWithShape="0">
              <a:srgbClr val="000000">
                <a:alpha val="40000"/>
              </a:srgbClr>
            </a:outerShdw>
          </a:effectLst>
        </p:spPr>
      </p:pic>
      <p:sp>
        <p:nvSpPr>
          <p:cNvPr id="159" name="Google Shape;159;g351b620d7a5_0_1"/>
          <p:cNvSpPr txBox="1"/>
          <p:nvPr/>
        </p:nvSpPr>
        <p:spPr>
          <a:xfrm>
            <a:off x="8604443" y="5315331"/>
            <a:ext cx="1110240" cy="36929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b="0" i="0" u="none" strike="noStrike" cap="none" dirty="0">
                <a:solidFill>
                  <a:schemeClr val="dk1"/>
                </a:solidFill>
                <a:latin typeface="Arial"/>
                <a:ea typeface="Arial"/>
                <a:cs typeface="Arial"/>
                <a:sym typeface="Arial"/>
              </a:rPr>
              <a:t>Ideal</a:t>
            </a:r>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51b620d7a5_0_10"/>
          <p:cNvSpPr txBox="1">
            <a:spLocks noGrp="1"/>
          </p:cNvSpPr>
          <p:nvPr>
            <p:ph type="body" idx="1"/>
          </p:nvPr>
        </p:nvSpPr>
        <p:spPr>
          <a:xfrm>
            <a:off x="679173" y="2155104"/>
            <a:ext cx="10068340" cy="4319700"/>
          </a:xfrm>
          <a:prstGeom prst="rect">
            <a:avLst/>
          </a:prstGeom>
          <a:noFill/>
          <a:ln>
            <a:noFill/>
          </a:ln>
        </p:spPr>
        <p:txBody>
          <a:bodyPr spcFirstLastPara="1" wrap="square" lIns="91425" tIns="45700" rIns="91425" bIns="45700" anchor="t" anchorCtr="0">
            <a:noAutofit/>
          </a:bodyPr>
          <a:lstStyle/>
          <a:p>
            <a:pPr marL="457200" lvl="0" indent="-342900" algn="l" rtl="0">
              <a:lnSpc>
                <a:spcPct val="122222"/>
              </a:lnSpc>
              <a:spcBef>
                <a:spcPts val="1000"/>
              </a:spcBef>
              <a:spcAft>
                <a:spcPts val="0"/>
              </a:spcAft>
              <a:buClr>
                <a:schemeClr val="accent1"/>
              </a:buClr>
              <a:buSzPts val="1800"/>
              <a:buChar char="●"/>
            </a:pPr>
            <a:r>
              <a:rPr lang="en-US" sz="2400" dirty="0"/>
              <a:t>Data Completeness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Fragmented</a:t>
            </a:r>
            <a:endParaRPr sz="2400" dirty="0"/>
          </a:p>
          <a:p>
            <a:pPr marL="1371600" lvl="2" indent="-342900" algn="l" rtl="0">
              <a:lnSpc>
                <a:spcPct val="122222"/>
              </a:lnSpc>
              <a:spcBef>
                <a:spcPts val="0"/>
              </a:spcBef>
              <a:spcAft>
                <a:spcPts val="0"/>
              </a:spcAft>
              <a:buClr>
                <a:schemeClr val="accent1"/>
              </a:buClr>
              <a:buSzPts val="1800"/>
              <a:buChar char="■"/>
            </a:pPr>
            <a:r>
              <a:rPr lang="en-US" sz="2400" dirty="0"/>
              <a:t>Multiple computer systems are often used depending on the need</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Structure</a:t>
            </a:r>
            <a:endParaRPr sz="2400" dirty="0"/>
          </a:p>
          <a:p>
            <a:pPr marL="914400" lvl="1" indent="-342900" algn="l" rtl="0">
              <a:lnSpc>
                <a:spcPct val="122222"/>
              </a:lnSpc>
              <a:spcBef>
                <a:spcPts val="0"/>
              </a:spcBef>
              <a:spcAft>
                <a:spcPts val="0"/>
              </a:spcAft>
              <a:buClr>
                <a:schemeClr val="accent1"/>
              </a:buClr>
              <a:buSzPts val="1800"/>
              <a:buChar char="○"/>
            </a:pPr>
            <a:r>
              <a:rPr lang="en-US" sz="2400" dirty="0"/>
              <a:t>Some discrete and tabular</a:t>
            </a:r>
            <a:endParaRPr sz="2400" dirty="0"/>
          </a:p>
          <a:p>
            <a:pPr marL="914400" lvl="1" indent="-342900" algn="l" rtl="0">
              <a:lnSpc>
                <a:spcPct val="122222"/>
              </a:lnSpc>
              <a:spcBef>
                <a:spcPts val="0"/>
              </a:spcBef>
              <a:spcAft>
                <a:spcPts val="0"/>
              </a:spcAft>
              <a:buClr>
                <a:schemeClr val="accent1"/>
              </a:buClr>
              <a:buSzPts val="1800"/>
              <a:buChar char="○"/>
            </a:pPr>
            <a:r>
              <a:rPr lang="en-US" sz="2400" dirty="0"/>
              <a:t>Free text common as well</a:t>
            </a:r>
            <a:endParaRPr sz="2400" dirty="0"/>
          </a:p>
          <a:p>
            <a:pPr marL="1371600" lvl="2" indent="-342900" algn="l" rtl="0">
              <a:lnSpc>
                <a:spcPct val="122222"/>
              </a:lnSpc>
              <a:spcBef>
                <a:spcPts val="0"/>
              </a:spcBef>
              <a:spcAft>
                <a:spcPts val="0"/>
              </a:spcAft>
              <a:buClr>
                <a:schemeClr val="accent1"/>
              </a:buClr>
              <a:buSzPts val="1800"/>
              <a:buChar char="■"/>
            </a:pPr>
            <a:r>
              <a:rPr lang="en-US" sz="2400" dirty="0"/>
              <a:t>Miscellaneous tests, comments, interpretations, clinical notes……….</a:t>
            </a:r>
            <a:endParaRPr sz="2400" dirty="0"/>
          </a:p>
          <a:p>
            <a:pPr marL="457200" lvl="0" indent="-342900" algn="l" rtl="0">
              <a:lnSpc>
                <a:spcPct val="122222"/>
              </a:lnSpc>
              <a:spcBef>
                <a:spcPts val="0"/>
              </a:spcBef>
              <a:spcAft>
                <a:spcPts val="0"/>
              </a:spcAft>
              <a:buClr>
                <a:schemeClr val="accent1"/>
              </a:buClr>
              <a:buSzPts val="1800"/>
              <a:buChar char="●"/>
            </a:pPr>
            <a:r>
              <a:rPr lang="en-US" sz="2400" dirty="0"/>
              <a:t>Data Timeliness</a:t>
            </a:r>
            <a:endParaRPr sz="2400" dirty="0"/>
          </a:p>
          <a:p>
            <a:pPr marL="914400" lvl="1" indent="-342900" algn="l" rtl="0">
              <a:lnSpc>
                <a:spcPct val="122222"/>
              </a:lnSpc>
              <a:spcBef>
                <a:spcPts val="0"/>
              </a:spcBef>
              <a:spcAft>
                <a:spcPts val="0"/>
              </a:spcAft>
              <a:buClr>
                <a:schemeClr val="accent1"/>
              </a:buClr>
              <a:buSzPts val="1800"/>
              <a:buChar char="○"/>
            </a:pPr>
            <a:r>
              <a:rPr lang="en-US" sz="2400" dirty="0"/>
              <a:t>Stretched for dedicated health information technology resources</a:t>
            </a:r>
            <a:endParaRPr sz="2400" dirty="0"/>
          </a:p>
          <a:p>
            <a:pPr marL="914400" lvl="1" indent="-342900" algn="l" rtl="0">
              <a:lnSpc>
                <a:spcPct val="122222"/>
              </a:lnSpc>
              <a:spcBef>
                <a:spcPts val="0"/>
              </a:spcBef>
              <a:spcAft>
                <a:spcPts val="0"/>
              </a:spcAft>
              <a:buClr>
                <a:schemeClr val="accent1"/>
              </a:buClr>
              <a:buSzPts val="1800"/>
              <a:buChar char="○"/>
            </a:pPr>
            <a:r>
              <a:rPr lang="en-US" sz="2400" dirty="0"/>
              <a:t>Large amounts of data can be often difficult to access</a:t>
            </a:r>
            <a:endParaRPr sz="2400" dirty="0"/>
          </a:p>
        </p:txBody>
      </p:sp>
      <p:sp>
        <p:nvSpPr>
          <p:cNvPr id="166" name="Google Shape;166;g351b620d7a5_0_10"/>
          <p:cNvSpPr txBox="1">
            <a:spLocks noGrp="1"/>
          </p:cNvSpPr>
          <p:nvPr>
            <p:ph type="title"/>
          </p:nvPr>
        </p:nvSpPr>
        <p:spPr>
          <a:xfrm>
            <a:off x="838200" y="7989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Real World</a:t>
            </a:r>
            <a:endParaRPr dirty="0"/>
          </a:p>
        </p:txBody>
      </p:sp>
      <p:pic>
        <p:nvPicPr>
          <p:cNvPr id="168" name="Google Shape;168;g351b620d7a5_0_10"/>
          <p:cNvPicPr preferRelativeResize="0"/>
          <p:nvPr/>
        </p:nvPicPr>
        <p:blipFill rotWithShape="1">
          <a:blip r:embed="rId3">
            <a:alphaModFix/>
          </a:blip>
          <a:srcRect/>
          <a:stretch/>
        </p:blipFill>
        <p:spPr>
          <a:xfrm>
            <a:off x="6559826" y="230834"/>
            <a:ext cx="5351152" cy="2154557"/>
          </a:xfrm>
          <a:prstGeom prst="rect">
            <a:avLst/>
          </a:prstGeom>
          <a:noFill/>
          <a:ln w="9525" cap="flat" cmpd="sng">
            <a:solidFill>
              <a:schemeClr val="accent6"/>
            </a:solidFill>
            <a:prstDash val="solid"/>
            <a:round/>
            <a:headEnd type="none" w="sm" len="sm"/>
            <a:tailEnd type="none" w="sm" len="sm"/>
          </a:ln>
          <a:effectLst>
            <a:outerShdw blurRad="50800" dist="38100" dir="2700000" algn="tl" rotWithShape="0">
              <a:srgbClr val="000000">
                <a:alpha val="40000"/>
              </a:srgbClr>
            </a:outerShdw>
          </a:effectLst>
        </p:spPr>
      </p:pic>
      <p:sp>
        <p:nvSpPr>
          <p:cNvPr id="169" name="Google Shape;169;g351b620d7a5_0_10"/>
          <p:cNvSpPr txBox="1"/>
          <p:nvPr/>
        </p:nvSpPr>
        <p:spPr>
          <a:xfrm>
            <a:off x="8868955" y="2566192"/>
            <a:ext cx="1295462" cy="400069"/>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none" strike="noStrike" cap="none" dirty="0">
                <a:solidFill>
                  <a:schemeClr val="dk1"/>
                </a:solidFill>
                <a:latin typeface="Arial"/>
                <a:ea typeface="Arial"/>
                <a:cs typeface="Arial"/>
                <a:sym typeface="Arial"/>
              </a:rPr>
              <a:t>Reality</a:t>
            </a:r>
            <a:endParaRPr sz="2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g34dd2eacf5a_1_35"/>
          <p:cNvSpPr txBox="1">
            <a:spLocks noGrp="1"/>
          </p:cNvSpPr>
          <p:nvPr>
            <p:ph type="body" idx="1"/>
          </p:nvPr>
        </p:nvSpPr>
        <p:spPr>
          <a:xfrm>
            <a:off x="838201" y="1825625"/>
            <a:ext cx="5675400" cy="3937800"/>
          </a:xfrm>
          <a:prstGeom prst="rect">
            <a:avLst/>
          </a:prstGeom>
          <a:noFill/>
          <a:ln>
            <a:noFill/>
          </a:ln>
        </p:spPr>
        <p:txBody>
          <a:bodyPr spcFirstLastPara="1" wrap="square" lIns="91425" tIns="45700" rIns="91425" bIns="45700" anchor="t" anchorCtr="0">
            <a:normAutofit/>
          </a:bodyPr>
          <a:lstStyle/>
          <a:p>
            <a:pPr marL="457200" lvl="0" indent="-342900" algn="l" rtl="0">
              <a:lnSpc>
                <a:spcPct val="122222"/>
              </a:lnSpc>
              <a:spcBef>
                <a:spcPts val="1000"/>
              </a:spcBef>
              <a:spcAft>
                <a:spcPts val="0"/>
              </a:spcAft>
              <a:buClr>
                <a:schemeClr val="accent1"/>
              </a:buClr>
              <a:buSzPts val="1800"/>
              <a:buChar char="●"/>
            </a:pPr>
            <a:r>
              <a:rPr lang="en-US" sz="2400" dirty="0"/>
              <a:t>Manual processes</a:t>
            </a:r>
            <a:endParaRPr sz="2400" dirty="0"/>
          </a:p>
          <a:p>
            <a:pPr marL="914400" lvl="1" indent="-342900" algn="l" rtl="0">
              <a:lnSpc>
                <a:spcPct val="122222"/>
              </a:lnSpc>
              <a:spcBef>
                <a:spcPts val="0"/>
              </a:spcBef>
              <a:spcAft>
                <a:spcPts val="0"/>
              </a:spcAft>
              <a:buSzPts val="1800"/>
              <a:buChar char="○"/>
            </a:pPr>
            <a:r>
              <a:rPr lang="en-US" sz="2400" dirty="0"/>
              <a:t>Result entry</a:t>
            </a:r>
            <a:endParaRPr sz="2400" dirty="0"/>
          </a:p>
          <a:p>
            <a:pPr marL="914400" lvl="1" indent="-342900" algn="l" rtl="0">
              <a:lnSpc>
                <a:spcPct val="122222"/>
              </a:lnSpc>
              <a:spcBef>
                <a:spcPts val="0"/>
              </a:spcBef>
              <a:spcAft>
                <a:spcPts val="0"/>
              </a:spcAft>
              <a:buSzPts val="1800"/>
              <a:buChar char="○"/>
            </a:pPr>
            <a:r>
              <a:rPr lang="en-US" sz="2400" dirty="0"/>
              <a:t>Process errors</a:t>
            </a:r>
            <a:endParaRPr sz="2400" dirty="0"/>
          </a:p>
          <a:p>
            <a:pPr marL="457200" lvl="0" indent="-342900" algn="l" rtl="0">
              <a:lnSpc>
                <a:spcPct val="122222"/>
              </a:lnSpc>
              <a:spcBef>
                <a:spcPts val="0"/>
              </a:spcBef>
              <a:spcAft>
                <a:spcPts val="0"/>
              </a:spcAft>
              <a:buClr>
                <a:schemeClr val="accent1"/>
              </a:buClr>
              <a:buSzPts val="1800"/>
              <a:buChar char="●"/>
            </a:pPr>
            <a:r>
              <a:rPr lang="en-US" sz="2400" dirty="0"/>
              <a:t>Analytical Errors</a:t>
            </a:r>
            <a:endParaRPr sz="2400" dirty="0"/>
          </a:p>
          <a:p>
            <a:pPr marL="457200" lvl="0" indent="-342900" algn="l" rtl="0">
              <a:lnSpc>
                <a:spcPct val="122222"/>
              </a:lnSpc>
              <a:spcBef>
                <a:spcPts val="0"/>
              </a:spcBef>
              <a:spcAft>
                <a:spcPts val="0"/>
              </a:spcAft>
              <a:buClr>
                <a:schemeClr val="accent1"/>
              </a:buClr>
              <a:buSzPts val="1800"/>
              <a:buChar char="●"/>
            </a:pPr>
            <a:r>
              <a:rPr lang="en-US" sz="2400" dirty="0"/>
              <a:t>Systemic Reporting Errors</a:t>
            </a:r>
            <a:endParaRPr sz="2400" dirty="0"/>
          </a:p>
          <a:p>
            <a:pPr marL="914400" lvl="1" indent="-342900" algn="l" rtl="0">
              <a:lnSpc>
                <a:spcPct val="122222"/>
              </a:lnSpc>
              <a:spcBef>
                <a:spcPts val="0"/>
              </a:spcBef>
              <a:spcAft>
                <a:spcPts val="0"/>
              </a:spcAft>
              <a:buSzPts val="1800"/>
              <a:buChar char="○"/>
            </a:pPr>
            <a:r>
              <a:rPr lang="en-US" sz="2400" dirty="0"/>
              <a:t>Incorrect formatting from laboratory information system</a:t>
            </a:r>
            <a:endParaRPr sz="2400" dirty="0"/>
          </a:p>
        </p:txBody>
      </p:sp>
      <p:sp>
        <p:nvSpPr>
          <p:cNvPr id="257" name="Google Shape;257;g34dd2eacf5a_1_35"/>
          <p:cNvSpPr txBox="1">
            <a:spLocks noGrp="1"/>
          </p:cNvSpPr>
          <p:nvPr>
            <p:ph type="title"/>
          </p:nvPr>
        </p:nvSpPr>
        <p:spPr>
          <a:xfrm>
            <a:off x="838200" y="792628"/>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Common Sources of Errors</a:t>
            </a:r>
            <a:endParaRPr dirty="0"/>
          </a:p>
        </p:txBody>
      </p:sp>
      <p:pic>
        <p:nvPicPr>
          <p:cNvPr id="259" name="Google Shape;259;g34dd2eacf5a_1_35" descr="Hand typing on keyboard"/>
          <p:cNvPicPr preferRelativeResize="0">
            <a:picLocks noGrp="1"/>
          </p:cNvPicPr>
          <p:nvPr>
            <p:ph type="pic" idx="2"/>
          </p:nvPr>
        </p:nvPicPr>
        <p:blipFill rotWithShape="1">
          <a:blip r:embed="rId3" cstate="screen">
            <a:alphaModFix/>
            <a:extLst>
              <a:ext uri="{28A0092B-C50C-407E-A947-70E740481C1C}">
                <a14:useLocalDpi xmlns:a14="http://schemas.microsoft.com/office/drawing/2010/main"/>
              </a:ext>
            </a:extLst>
          </a:blip>
          <a:srcRect/>
          <a:stretch/>
        </p:blipFill>
        <p:spPr>
          <a:xfrm flipH="1">
            <a:off x="6816725" y="1839913"/>
            <a:ext cx="4537075" cy="39370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g3543cd6436a_0_0"/>
          <p:cNvSpPr txBox="1">
            <a:spLocks noGrp="1"/>
          </p:cNvSpPr>
          <p:nvPr>
            <p:ph type="body" idx="1"/>
          </p:nvPr>
        </p:nvSpPr>
        <p:spPr>
          <a:xfrm>
            <a:off x="838200" y="1696552"/>
            <a:ext cx="10515600" cy="4667249"/>
          </a:xfrm>
          <a:prstGeom prst="rect">
            <a:avLst/>
          </a:prstGeom>
          <a:noFill/>
          <a:ln>
            <a:noFill/>
          </a:ln>
        </p:spPr>
        <p:txBody>
          <a:bodyPr spcFirstLastPara="1" wrap="square" lIns="91425" tIns="45700" rIns="91425" bIns="45700" anchor="t" anchorCtr="0">
            <a:noAutofit/>
          </a:bodyPr>
          <a:lstStyle/>
          <a:p>
            <a:pPr marL="457200" lvl="0" indent="-342900" algn="l" rtl="0">
              <a:lnSpc>
                <a:spcPct val="122222"/>
              </a:lnSpc>
              <a:spcBef>
                <a:spcPts val="1000"/>
              </a:spcBef>
              <a:spcAft>
                <a:spcPts val="0"/>
              </a:spcAft>
              <a:buClr>
                <a:schemeClr val="accent1"/>
              </a:buClr>
              <a:buSzPts val="1800"/>
              <a:buChar char="●"/>
            </a:pPr>
            <a:r>
              <a:rPr lang="en-US" sz="2400" dirty="0"/>
              <a:t>Many other data best practices are discouraged because they can cause difficulties or errors within the data set:</a:t>
            </a:r>
            <a:endParaRPr sz="2400" dirty="0"/>
          </a:p>
          <a:p>
            <a:pPr marL="914400" lvl="1" indent="-342900" algn="l" rtl="0">
              <a:lnSpc>
                <a:spcPct val="122222"/>
              </a:lnSpc>
              <a:spcBef>
                <a:spcPts val="1000"/>
              </a:spcBef>
              <a:spcAft>
                <a:spcPts val="0"/>
              </a:spcAft>
              <a:buClr>
                <a:schemeClr val="accent1"/>
              </a:buClr>
              <a:buSzPts val="1800"/>
              <a:buChar char="●"/>
            </a:pPr>
            <a:r>
              <a:rPr lang="en-US" sz="2400" dirty="0"/>
              <a:t>Naming inconsistencies</a:t>
            </a:r>
            <a:endParaRPr sz="2400" dirty="0"/>
          </a:p>
          <a:p>
            <a:pPr marL="1371600" lvl="2" indent="-342900" algn="l" rtl="0">
              <a:lnSpc>
                <a:spcPct val="122222"/>
              </a:lnSpc>
              <a:spcBef>
                <a:spcPts val="0"/>
              </a:spcBef>
              <a:spcAft>
                <a:spcPts val="0"/>
              </a:spcAft>
              <a:buClr>
                <a:schemeClr val="accent1"/>
              </a:buClr>
              <a:buSzPts val="1800"/>
              <a:buChar char="○"/>
            </a:pPr>
            <a:r>
              <a:rPr lang="en-US" sz="2400" dirty="0"/>
              <a:t>Merging data from multiple sites with different names can cause errors</a:t>
            </a:r>
            <a:endParaRPr sz="2400" dirty="0"/>
          </a:p>
          <a:p>
            <a:pPr marL="914400" lvl="1" indent="-342900" algn="l" rtl="0">
              <a:lnSpc>
                <a:spcPct val="122222"/>
              </a:lnSpc>
              <a:spcBef>
                <a:spcPts val="0"/>
              </a:spcBef>
              <a:spcAft>
                <a:spcPts val="0"/>
              </a:spcAft>
              <a:buClr>
                <a:schemeClr val="accent1"/>
              </a:buClr>
              <a:buSzPts val="1800"/>
              <a:buChar char="●"/>
            </a:pPr>
            <a:r>
              <a:rPr lang="en-US" sz="2400" dirty="0"/>
              <a:t>Strange formats</a:t>
            </a:r>
            <a:endParaRPr sz="2400" dirty="0"/>
          </a:p>
          <a:p>
            <a:pPr marL="1371600" lvl="2" indent="-342900" algn="l" rtl="0">
              <a:lnSpc>
                <a:spcPct val="122222"/>
              </a:lnSpc>
              <a:spcBef>
                <a:spcPts val="0"/>
              </a:spcBef>
              <a:spcAft>
                <a:spcPts val="0"/>
              </a:spcAft>
              <a:buClr>
                <a:schemeClr val="accent1"/>
              </a:buClr>
              <a:buSzPts val="1800"/>
              <a:buChar char="○"/>
            </a:pPr>
            <a:r>
              <a:rPr lang="en-US" sz="2400" dirty="0"/>
              <a:t>Inclusion of spaces, mixed cases, and special characters can all make your data “disappear” when reading it into or formatting within statistical software</a:t>
            </a:r>
            <a:endParaRPr sz="2400" dirty="0"/>
          </a:p>
          <a:p>
            <a:pPr marL="914400" lvl="1" indent="-342900" algn="l" rtl="0">
              <a:lnSpc>
                <a:spcPct val="122222"/>
              </a:lnSpc>
              <a:spcBef>
                <a:spcPts val="0"/>
              </a:spcBef>
              <a:spcAft>
                <a:spcPts val="0"/>
              </a:spcAft>
              <a:buClr>
                <a:schemeClr val="accent1"/>
              </a:buClr>
              <a:buSzPts val="1800"/>
              <a:buChar char="●"/>
            </a:pPr>
            <a:r>
              <a:rPr lang="en-US" sz="2400" dirty="0"/>
              <a:t>Inconsistencies with data entry</a:t>
            </a:r>
            <a:endParaRPr sz="2400" dirty="0"/>
          </a:p>
          <a:p>
            <a:pPr marL="1371600" lvl="2" indent="-342900" algn="l" rtl="0">
              <a:lnSpc>
                <a:spcPct val="122222"/>
              </a:lnSpc>
              <a:spcBef>
                <a:spcPts val="0"/>
              </a:spcBef>
              <a:spcAft>
                <a:spcPts val="0"/>
              </a:spcAft>
              <a:buClr>
                <a:schemeClr val="accent1"/>
              </a:buClr>
              <a:buSzPts val="1800"/>
              <a:buChar char="○"/>
            </a:pPr>
            <a:r>
              <a:rPr lang="en-US" sz="2400" dirty="0"/>
              <a:t>Manual entry can lead to errors in data aggregation when not carefully controlled</a:t>
            </a:r>
            <a:endParaRPr sz="2400" dirty="0"/>
          </a:p>
        </p:txBody>
      </p:sp>
      <p:sp>
        <p:nvSpPr>
          <p:cNvPr id="266" name="Google Shape;266;g3543cd6436a_0_0"/>
          <p:cNvSpPr txBox="1">
            <a:spLocks noGrp="1"/>
          </p:cNvSpPr>
          <p:nvPr>
            <p:ph type="title"/>
          </p:nvPr>
        </p:nvSpPr>
        <p:spPr>
          <a:xfrm>
            <a:off x="838200" y="828952"/>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Other “Issues” With Data</a:t>
            </a:r>
            <a:endParaRPr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3543cd6436a_0_21"/>
          <p:cNvSpPr txBox="1">
            <a:spLocks noGrp="1"/>
          </p:cNvSpPr>
          <p:nvPr>
            <p:ph type="body" idx="1"/>
          </p:nvPr>
        </p:nvSpPr>
        <p:spPr>
          <a:xfrm>
            <a:off x="838200" y="2555074"/>
            <a:ext cx="10515600" cy="3937800"/>
          </a:xfrm>
          <a:prstGeom prst="rect">
            <a:avLst/>
          </a:prstGeom>
          <a:noFill/>
          <a:ln>
            <a:noFill/>
          </a:ln>
        </p:spPr>
        <p:txBody>
          <a:bodyPr spcFirstLastPara="1" wrap="square" lIns="91425" tIns="45700" rIns="91425" bIns="45700" anchor="t" anchorCtr="0">
            <a:normAutofit/>
          </a:bodyPr>
          <a:lstStyle/>
          <a:p>
            <a:pPr marL="457200" lvl="0" indent="-342900" algn="l" rtl="0">
              <a:lnSpc>
                <a:spcPct val="122222"/>
              </a:lnSpc>
              <a:spcBef>
                <a:spcPts val="1000"/>
              </a:spcBef>
              <a:spcAft>
                <a:spcPts val="0"/>
              </a:spcAft>
              <a:buClr>
                <a:schemeClr val="accent1"/>
              </a:buClr>
              <a:buSzPts val="1800"/>
              <a:buChar char="●"/>
            </a:pPr>
            <a:r>
              <a:rPr lang="en-US" sz="2400" dirty="0"/>
              <a:t>Laboratory tests have local differences in how they are named and reported</a:t>
            </a:r>
            <a:endParaRPr sz="2400" dirty="0"/>
          </a:p>
          <a:p>
            <a:pPr marL="457200" lvl="0" indent="-342900" algn="l" rtl="0">
              <a:lnSpc>
                <a:spcPct val="122222"/>
              </a:lnSpc>
              <a:spcBef>
                <a:spcPts val="0"/>
              </a:spcBef>
              <a:spcAft>
                <a:spcPts val="0"/>
              </a:spcAft>
              <a:buClr>
                <a:schemeClr val="accent1"/>
              </a:buClr>
              <a:buSzPts val="1800"/>
              <a:buChar char="●"/>
            </a:pPr>
            <a:r>
              <a:rPr lang="en-US" sz="2400" dirty="0"/>
              <a:t>These differences must be considered when constructing your dataset</a:t>
            </a:r>
            <a:endParaRPr sz="2400" dirty="0"/>
          </a:p>
          <a:p>
            <a:pPr marL="457200" lvl="0" indent="-342900" algn="l" rtl="0">
              <a:lnSpc>
                <a:spcPct val="122222"/>
              </a:lnSpc>
              <a:spcBef>
                <a:spcPts val="0"/>
              </a:spcBef>
              <a:spcAft>
                <a:spcPts val="0"/>
              </a:spcAft>
              <a:buClr>
                <a:schemeClr val="accent1"/>
              </a:buClr>
              <a:buSzPts val="1800"/>
              <a:buChar char="●"/>
            </a:pPr>
            <a:r>
              <a:rPr lang="en-US" sz="2400" dirty="0"/>
              <a:t>Examples include:</a:t>
            </a:r>
            <a:endParaRPr sz="2400" dirty="0"/>
          </a:p>
          <a:p>
            <a:pPr marL="914400" lvl="1" indent="-342900" algn="l" rtl="0">
              <a:lnSpc>
                <a:spcPct val="122222"/>
              </a:lnSpc>
              <a:spcBef>
                <a:spcPts val="0"/>
              </a:spcBef>
              <a:spcAft>
                <a:spcPts val="0"/>
              </a:spcAft>
              <a:buClr>
                <a:schemeClr val="accent1"/>
              </a:buClr>
              <a:buSzPts val="1800"/>
              <a:buChar char="○"/>
            </a:pPr>
            <a:r>
              <a:rPr lang="en-US" sz="2400" dirty="0"/>
              <a:t>Different units → T3 commonly reported as either ng/ml and ng/dl</a:t>
            </a:r>
            <a:endParaRPr sz="2400" dirty="0"/>
          </a:p>
          <a:p>
            <a:pPr marL="914400" lvl="1" indent="-342900" algn="l" rtl="0">
              <a:lnSpc>
                <a:spcPct val="122222"/>
              </a:lnSpc>
              <a:spcBef>
                <a:spcPts val="0"/>
              </a:spcBef>
              <a:spcAft>
                <a:spcPts val="0"/>
              </a:spcAft>
              <a:buClr>
                <a:schemeClr val="accent1"/>
              </a:buClr>
              <a:buSzPts val="1800"/>
              <a:buChar char="○"/>
            </a:pPr>
            <a:r>
              <a:rPr lang="en-US" sz="2400" dirty="0"/>
              <a:t>Different names → Urine albumin vs. Microalbumin</a:t>
            </a:r>
            <a:endParaRPr sz="2400" dirty="0"/>
          </a:p>
          <a:p>
            <a:pPr marL="914400" lvl="1" indent="-342900" algn="l" rtl="0">
              <a:lnSpc>
                <a:spcPct val="122222"/>
              </a:lnSpc>
              <a:spcBef>
                <a:spcPts val="0"/>
              </a:spcBef>
              <a:spcAft>
                <a:spcPts val="0"/>
              </a:spcAft>
              <a:buClr>
                <a:schemeClr val="accent1"/>
              </a:buClr>
              <a:buSzPts val="1800"/>
              <a:buChar char="○"/>
            </a:pPr>
            <a:r>
              <a:rPr lang="en-US" sz="2400" dirty="0"/>
              <a:t>Different metadata → Potassium specimen type combined vs. not combined</a:t>
            </a:r>
            <a:endParaRPr sz="2400" dirty="0"/>
          </a:p>
        </p:txBody>
      </p:sp>
      <p:sp>
        <p:nvSpPr>
          <p:cNvPr id="274" name="Google Shape;274;g3543cd6436a_0_21"/>
          <p:cNvSpPr txBox="1">
            <a:spLocks noGrp="1"/>
          </p:cNvSpPr>
          <p:nvPr>
            <p:ph type="title"/>
          </p:nvPr>
        </p:nvSpPr>
        <p:spPr>
          <a:xfrm>
            <a:off x="838200" y="895213"/>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Reporting Inconsistencies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BB754-7FDE-E8A9-14F2-754058B17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0E78E8-895B-BC72-E3BE-69A8A4F16F86}"/>
              </a:ext>
            </a:extLst>
          </p:cNvPr>
          <p:cNvSpPr>
            <a:spLocks noGrp="1"/>
          </p:cNvSpPr>
          <p:nvPr>
            <p:ph type="title"/>
          </p:nvPr>
        </p:nvSpPr>
        <p:spPr/>
        <p:txBody>
          <a:bodyPr/>
          <a:lstStyle/>
          <a:p>
            <a:r>
              <a:rPr lang="en-US" dirty="0"/>
              <a:t>Data Validation</a:t>
            </a:r>
          </a:p>
        </p:txBody>
      </p:sp>
      <p:sp>
        <p:nvSpPr>
          <p:cNvPr id="3" name="Content Placeholder 2">
            <a:extLst>
              <a:ext uri="{FF2B5EF4-FFF2-40B4-BE49-F238E27FC236}">
                <a16:creationId xmlns:a16="http://schemas.microsoft.com/office/drawing/2014/main" id="{CC23F495-5929-BBE6-B7CD-67C04087970C}"/>
              </a:ext>
            </a:extLst>
          </p:cNvPr>
          <p:cNvSpPr>
            <a:spLocks noGrp="1"/>
          </p:cNvSpPr>
          <p:nvPr>
            <p:ph idx="1"/>
          </p:nvPr>
        </p:nvSpPr>
        <p:spPr/>
        <p:txBody>
          <a:bodyPr/>
          <a:lstStyle/>
          <a:p>
            <a:pPr marL="0" indent="0">
              <a:buNone/>
            </a:pPr>
            <a:r>
              <a:rPr lang="en-US" dirty="0"/>
              <a:t>Pick up where you left off in </a:t>
            </a:r>
            <a:r>
              <a:rPr lang="en-US" dirty="0">
                <a:solidFill>
                  <a:srgbClr val="0070C0"/>
                </a:solidFill>
                <a:latin typeface="Monaco" charset="0"/>
                <a:ea typeface="Monaco" charset="0"/>
                <a:cs typeface="Monaco" charset="0"/>
              </a:rPr>
              <a:t>Module 02 Exercises</a:t>
            </a:r>
            <a:r>
              <a:rPr lang="en-US" dirty="0"/>
              <a:t> and work through the </a:t>
            </a:r>
            <a:r>
              <a:rPr lang="en-US" dirty="0">
                <a:solidFill>
                  <a:schemeClr val="accent1"/>
                </a:solidFill>
              </a:rPr>
              <a:t>Data Validation</a:t>
            </a:r>
            <a:r>
              <a:rPr lang="en-US" dirty="0"/>
              <a:t> section.</a:t>
            </a:r>
          </a:p>
          <a:p>
            <a:pPr marL="0" indent="0">
              <a:buFont typeface="Tw Cen MT" panose="020B0602020104020603" pitchFamily="34" charset="0"/>
              <a:buNone/>
            </a:pPr>
            <a:r>
              <a:rPr lang="en-US" dirty="0"/>
              <a:t>In the Editor pane, follow the instructions to complete the exercise. Stop when you see “Stop Here”.</a:t>
            </a:r>
          </a:p>
          <a:p>
            <a:endParaRPr lang="en-US" dirty="0"/>
          </a:p>
        </p:txBody>
      </p:sp>
      <p:sp>
        <p:nvSpPr>
          <p:cNvPr id="5" name="TextBox 4">
            <a:extLst>
              <a:ext uri="{FF2B5EF4-FFF2-40B4-BE49-F238E27FC236}">
                <a16:creationId xmlns:a16="http://schemas.microsoft.com/office/drawing/2014/main" id="{93217A0B-7143-4176-DEE4-501AAA6866EE}"/>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18890052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89337-5BE4-B21F-4387-8B5E230BB0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C1961D-9433-FC06-CE2A-6741C141858F}"/>
              </a:ext>
            </a:extLst>
          </p:cNvPr>
          <p:cNvSpPr>
            <a:spLocks noGrp="1"/>
          </p:cNvSpPr>
          <p:nvPr>
            <p:ph type="title"/>
          </p:nvPr>
        </p:nvSpPr>
        <p:spPr>
          <a:xfrm>
            <a:off x="502443" y="2752468"/>
            <a:ext cx="11187112" cy="1463040"/>
          </a:xfrm>
        </p:spPr>
        <p:txBody>
          <a:bodyPr/>
          <a:lstStyle/>
          <a:p>
            <a:r>
              <a:rPr lang="en-US" dirty="0">
                <a:latin typeface="+mn-lt"/>
              </a:rPr>
              <a:t>Using AI to Support Analysis</a:t>
            </a:r>
          </a:p>
        </p:txBody>
      </p:sp>
    </p:spTree>
    <p:extLst>
      <p:ext uri="{BB962C8B-B14F-4D97-AF65-F5344CB8AC3E}">
        <p14:creationId xmlns:p14="http://schemas.microsoft.com/office/powerpoint/2010/main" val="16495905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7E7F3D-D85F-7CCF-768B-81E2EA26D086}"/>
              </a:ext>
            </a:extLst>
          </p:cNvPr>
          <p:cNvSpPr>
            <a:spLocks noGrp="1"/>
          </p:cNvSpPr>
          <p:nvPr>
            <p:ph type="title"/>
          </p:nvPr>
        </p:nvSpPr>
        <p:spPr/>
        <p:txBody>
          <a:bodyPr/>
          <a:lstStyle/>
          <a:p>
            <a:r>
              <a:rPr lang="en-US" dirty="0"/>
              <a:t>Learning a language with a universal Translator</a:t>
            </a:r>
          </a:p>
        </p:txBody>
      </p:sp>
      <p:sp>
        <p:nvSpPr>
          <p:cNvPr id="4" name="Content Placeholder 3">
            <a:extLst>
              <a:ext uri="{FF2B5EF4-FFF2-40B4-BE49-F238E27FC236}">
                <a16:creationId xmlns:a16="http://schemas.microsoft.com/office/drawing/2014/main" id="{E6DCC976-5BF9-73DF-B2EF-45697D8B598A}"/>
              </a:ext>
            </a:extLst>
          </p:cNvPr>
          <p:cNvSpPr>
            <a:spLocks noGrp="1"/>
          </p:cNvSpPr>
          <p:nvPr>
            <p:ph idx="1"/>
          </p:nvPr>
        </p:nvSpPr>
        <p:spPr/>
        <p:txBody>
          <a:bodyPr/>
          <a:lstStyle/>
          <a:p>
            <a:r>
              <a:rPr lang="en-US" dirty="0"/>
              <a:t> Learning a programming language is like learning a foreign language: vocabulary + syntax are important</a:t>
            </a:r>
          </a:p>
          <a:p>
            <a:r>
              <a:rPr lang="en-US" dirty="0"/>
              <a:t> At a baseline, generative AI solutions (e.g. ChatGPT, Claude) can serve as a universal translator to translate your intent/goals to the correct syntax and vocabulary</a:t>
            </a:r>
          </a:p>
          <a:p>
            <a:r>
              <a:rPr lang="en-US" dirty="0"/>
              <a:t> Communicating your intent is important BUT computers traditionally have required more explicit instruction</a:t>
            </a:r>
          </a:p>
        </p:txBody>
      </p:sp>
    </p:spTree>
    <p:extLst>
      <p:ext uri="{BB962C8B-B14F-4D97-AF65-F5344CB8AC3E}">
        <p14:creationId xmlns:p14="http://schemas.microsoft.com/office/powerpoint/2010/main" val="19529237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19EF8-183E-BE70-1100-950540E6CC08}"/>
              </a:ext>
            </a:extLst>
          </p:cNvPr>
          <p:cNvSpPr>
            <a:spLocks noGrp="1"/>
          </p:cNvSpPr>
          <p:nvPr>
            <p:ph type="title"/>
          </p:nvPr>
        </p:nvSpPr>
        <p:spPr/>
        <p:txBody>
          <a:bodyPr/>
          <a:lstStyle/>
          <a:p>
            <a:r>
              <a:rPr lang="en-US" dirty="0"/>
              <a:t>Chatbots use the “wisdom” of the internet to support you</a:t>
            </a:r>
          </a:p>
        </p:txBody>
      </p:sp>
      <p:sp>
        <p:nvSpPr>
          <p:cNvPr id="3" name="Content Placeholder 2">
            <a:extLst>
              <a:ext uri="{FF2B5EF4-FFF2-40B4-BE49-F238E27FC236}">
                <a16:creationId xmlns:a16="http://schemas.microsoft.com/office/drawing/2014/main" id="{78C01917-9879-94F2-2749-463ECD2AE507}"/>
              </a:ext>
            </a:extLst>
          </p:cNvPr>
          <p:cNvSpPr>
            <a:spLocks noGrp="1"/>
          </p:cNvSpPr>
          <p:nvPr>
            <p:ph idx="1"/>
          </p:nvPr>
        </p:nvSpPr>
        <p:spPr/>
        <p:txBody>
          <a:bodyPr/>
          <a:lstStyle/>
          <a:p>
            <a:r>
              <a:rPr lang="en-US" dirty="0"/>
              <a:t> Generative AI solutions have been trained on the entire internet</a:t>
            </a:r>
          </a:p>
          <a:p>
            <a:r>
              <a:rPr lang="en-US" dirty="0"/>
              <a:t> Large volumes of code solving real problems for common programming languages (including R and Python) is available</a:t>
            </a:r>
          </a:p>
          <a:p>
            <a:r>
              <a:rPr lang="en-US" dirty="0"/>
              <a:t> Best practices often (but not always) incorporated into available solutions</a:t>
            </a:r>
          </a:p>
        </p:txBody>
      </p:sp>
    </p:spTree>
    <p:extLst>
      <p:ext uri="{BB962C8B-B14F-4D97-AF65-F5344CB8AC3E}">
        <p14:creationId xmlns:p14="http://schemas.microsoft.com/office/powerpoint/2010/main" val="17901691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9CD32-155A-E21A-E21A-456A9FCE48B4}"/>
              </a:ext>
            </a:extLst>
          </p:cNvPr>
          <p:cNvSpPr>
            <a:spLocks noGrp="1"/>
          </p:cNvSpPr>
          <p:nvPr>
            <p:ph type="title"/>
          </p:nvPr>
        </p:nvSpPr>
        <p:spPr/>
        <p:txBody>
          <a:bodyPr/>
          <a:lstStyle/>
          <a:p>
            <a:r>
              <a:rPr lang="en-US" dirty="0"/>
              <a:t>How to Get the Most from </a:t>
            </a:r>
            <a:r>
              <a:rPr lang="en-US" dirty="0" err="1"/>
              <a:t>ChatBots</a:t>
            </a:r>
            <a:r>
              <a:rPr lang="en-US" dirty="0"/>
              <a:t>?</a:t>
            </a:r>
          </a:p>
        </p:txBody>
      </p:sp>
      <p:sp>
        <p:nvSpPr>
          <p:cNvPr id="3" name="Content Placeholder 2">
            <a:extLst>
              <a:ext uri="{FF2B5EF4-FFF2-40B4-BE49-F238E27FC236}">
                <a16:creationId xmlns:a16="http://schemas.microsoft.com/office/drawing/2014/main" id="{39725CB5-58D6-F0D4-DCAA-0EB341D71435}"/>
              </a:ext>
            </a:extLst>
          </p:cNvPr>
          <p:cNvSpPr>
            <a:spLocks noGrp="1"/>
          </p:cNvSpPr>
          <p:nvPr>
            <p:ph idx="1"/>
          </p:nvPr>
        </p:nvSpPr>
        <p:spPr/>
        <p:txBody>
          <a:bodyPr>
            <a:normAutofit fontScale="92500" lnSpcReduction="20000"/>
          </a:bodyPr>
          <a:lstStyle/>
          <a:p>
            <a:r>
              <a:rPr lang="en-US" dirty="0"/>
              <a:t> RISE approach to prompting chatbots can help structure requests</a:t>
            </a:r>
          </a:p>
          <a:p>
            <a:r>
              <a:rPr lang="en-US" dirty="0"/>
              <a:t> Role: assign the model a role to start the prompt</a:t>
            </a:r>
          </a:p>
          <a:p>
            <a:r>
              <a:rPr lang="en-US" dirty="0"/>
              <a:t> Input: specify what the response should (and should not) contain</a:t>
            </a:r>
          </a:p>
          <a:p>
            <a:r>
              <a:rPr lang="en-US" dirty="0"/>
              <a:t> Steps: for complex tasks, explicitly instruct to develop a step by step plan for review</a:t>
            </a:r>
          </a:p>
          <a:p>
            <a:r>
              <a:rPr lang="en-US" dirty="0"/>
              <a:t> Expectations: provide a precise specification of the deliverable</a:t>
            </a:r>
          </a:p>
        </p:txBody>
      </p:sp>
      <p:sp>
        <p:nvSpPr>
          <p:cNvPr id="4" name="TextBox 3">
            <a:extLst>
              <a:ext uri="{FF2B5EF4-FFF2-40B4-BE49-F238E27FC236}">
                <a16:creationId xmlns:a16="http://schemas.microsoft.com/office/drawing/2014/main" id="{F999D958-7E61-75F0-9AF7-7F0998263832}"/>
              </a:ext>
            </a:extLst>
          </p:cNvPr>
          <p:cNvSpPr txBox="1"/>
          <p:nvPr/>
        </p:nvSpPr>
        <p:spPr>
          <a:xfrm>
            <a:off x="0" y="6488668"/>
            <a:ext cx="8686800" cy="369332"/>
          </a:xfrm>
          <a:prstGeom prst="rect">
            <a:avLst/>
          </a:prstGeom>
          <a:noFill/>
        </p:spPr>
        <p:txBody>
          <a:bodyPr wrap="square" rtlCol="0">
            <a:spAutoFit/>
          </a:bodyPr>
          <a:lstStyle/>
          <a:p>
            <a:r>
              <a:rPr lang="en-US" dirty="0"/>
              <a:t>Credit: Nick Spies, https://</a:t>
            </a:r>
            <a:r>
              <a:rPr lang="en-US" dirty="0" err="1"/>
              <a:t>myadlm.org</a:t>
            </a:r>
            <a:r>
              <a:rPr lang="en-US" dirty="0"/>
              <a:t>/</a:t>
            </a:r>
            <a:r>
              <a:rPr lang="en-US" dirty="0" err="1"/>
              <a:t>cln</a:t>
            </a:r>
            <a:r>
              <a:rPr lang="en-US" dirty="0"/>
              <a:t>/articles/2026/</a:t>
            </a:r>
            <a:r>
              <a:rPr lang="en-US" dirty="0" err="1"/>
              <a:t>julyaugust</a:t>
            </a:r>
            <a:r>
              <a:rPr lang="en-US" dirty="0"/>
              <a:t>/optimizing-ai</a:t>
            </a:r>
          </a:p>
        </p:txBody>
      </p:sp>
    </p:spTree>
    <p:extLst>
      <p:ext uri="{BB962C8B-B14F-4D97-AF65-F5344CB8AC3E}">
        <p14:creationId xmlns:p14="http://schemas.microsoft.com/office/powerpoint/2010/main" val="23514095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75742-9EC0-E761-7290-1ED60A3780A6}"/>
              </a:ext>
            </a:extLst>
          </p:cNvPr>
          <p:cNvSpPr>
            <a:spLocks noGrp="1"/>
          </p:cNvSpPr>
          <p:nvPr>
            <p:ph type="title"/>
          </p:nvPr>
        </p:nvSpPr>
        <p:spPr/>
        <p:txBody>
          <a:bodyPr/>
          <a:lstStyle/>
          <a:p>
            <a:r>
              <a:rPr lang="en-US" dirty="0"/>
              <a:t>Example Analysis Prompt</a:t>
            </a:r>
          </a:p>
        </p:txBody>
      </p:sp>
      <p:sp>
        <p:nvSpPr>
          <p:cNvPr id="3" name="Content Placeholder 2">
            <a:extLst>
              <a:ext uri="{FF2B5EF4-FFF2-40B4-BE49-F238E27FC236}">
                <a16:creationId xmlns:a16="http://schemas.microsoft.com/office/drawing/2014/main" id="{E94DB8F8-CAED-347C-8E67-347239D59268}"/>
              </a:ext>
            </a:extLst>
          </p:cNvPr>
          <p:cNvSpPr>
            <a:spLocks noGrp="1"/>
          </p:cNvSpPr>
          <p:nvPr>
            <p:ph idx="1"/>
          </p:nvPr>
        </p:nvSpPr>
        <p:spPr/>
        <p:txBody>
          <a:bodyPr>
            <a:normAutofit/>
          </a:bodyPr>
          <a:lstStyle/>
          <a:p>
            <a:pPr marL="0" indent="0">
              <a:buNone/>
            </a:pPr>
            <a:r>
              <a:rPr lang="en-US" dirty="0"/>
              <a:t>You are a clinical chemistry laboratory director analyzing a data set in R that includes the values of 24 lab tests for 6,481 patients as well as demographic variables and timestamps for sample collection, lab receipt, and result verification. Write R code to import the data and ensure variables are defined as appropriate data types. Use </a:t>
            </a:r>
            <a:r>
              <a:rPr lang="en-US" dirty="0" err="1"/>
              <a:t>tidyverse</a:t>
            </a:r>
            <a:r>
              <a:rPr lang="en-US" dirty="0"/>
              <a:t> functions as well as other purpose-built packages to minimize the amount of code needed.</a:t>
            </a:r>
          </a:p>
        </p:txBody>
      </p:sp>
    </p:spTree>
    <p:extLst>
      <p:ext uri="{BB962C8B-B14F-4D97-AF65-F5344CB8AC3E}">
        <p14:creationId xmlns:p14="http://schemas.microsoft.com/office/powerpoint/2010/main" val="7069920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33713-A037-9E6D-6E14-0EB36E451D73}"/>
              </a:ext>
            </a:extLst>
          </p:cNvPr>
          <p:cNvSpPr>
            <a:spLocks noGrp="1"/>
          </p:cNvSpPr>
          <p:nvPr>
            <p:ph type="title"/>
          </p:nvPr>
        </p:nvSpPr>
        <p:spPr/>
        <p:txBody>
          <a:bodyPr/>
          <a:lstStyle/>
          <a:p>
            <a:r>
              <a:rPr lang="en-US" dirty="0"/>
              <a:t>Sample Code</a:t>
            </a:r>
          </a:p>
        </p:txBody>
      </p:sp>
      <p:sp>
        <p:nvSpPr>
          <p:cNvPr id="4" name="Rectangle 3">
            <a:extLst>
              <a:ext uri="{FF2B5EF4-FFF2-40B4-BE49-F238E27FC236}">
                <a16:creationId xmlns:a16="http://schemas.microsoft.com/office/drawing/2014/main" id="{0926FB13-F04F-63BD-5CFC-3645216FACB3}"/>
              </a:ext>
            </a:extLst>
          </p:cNvPr>
          <p:cNvSpPr/>
          <p:nvPr/>
        </p:nvSpPr>
        <p:spPr>
          <a:xfrm>
            <a:off x="899787" y="2514600"/>
            <a:ext cx="9968754" cy="2810436"/>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err="1">
                <a:solidFill>
                  <a:schemeClr val="tx1"/>
                </a:solidFill>
              </a:rPr>
              <a:t>labs_raw</a:t>
            </a:r>
            <a:r>
              <a:rPr lang="en-US" sz="2400" dirty="0">
                <a:solidFill>
                  <a:schemeClr val="tx1"/>
                </a:solidFill>
              </a:rPr>
              <a:t> &lt;- </a:t>
            </a:r>
            <a:r>
              <a:rPr lang="en-US" sz="2400" dirty="0" err="1">
                <a:solidFill>
                  <a:schemeClr val="tx1"/>
                </a:solidFill>
              </a:rPr>
              <a:t>read_csv</a:t>
            </a:r>
            <a:r>
              <a:rPr lang="en-US" sz="2400" dirty="0">
                <a:solidFill>
                  <a:schemeClr val="tx1"/>
                </a:solidFill>
              </a:rPr>
              <a:t>(</a:t>
            </a:r>
          </a:p>
          <a:p>
            <a:r>
              <a:rPr lang="en-US" sz="2400" dirty="0">
                <a:solidFill>
                  <a:schemeClr val="tx1"/>
                </a:solidFill>
              </a:rPr>
              <a:t>  </a:t>
            </a:r>
            <a:r>
              <a:rPr lang="en-US" sz="2400" dirty="0" err="1">
                <a:solidFill>
                  <a:schemeClr val="tx1"/>
                </a:solidFill>
              </a:rPr>
              <a:t>file_path</a:t>
            </a:r>
            <a:r>
              <a:rPr lang="en-US" sz="2400" dirty="0">
                <a:solidFill>
                  <a:schemeClr val="tx1"/>
                </a:solidFill>
              </a:rPr>
              <a:t>,</a:t>
            </a:r>
          </a:p>
          <a:p>
            <a:r>
              <a:rPr lang="en-US" sz="2400" dirty="0">
                <a:solidFill>
                  <a:schemeClr val="tx1"/>
                </a:solidFill>
              </a:rPr>
              <a:t>  </a:t>
            </a:r>
            <a:r>
              <a:rPr lang="en-US" sz="2400" dirty="0" err="1">
                <a:solidFill>
                  <a:schemeClr val="tx1"/>
                </a:solidFill>
              </a:rPr>
              <a:t>col_types</a:t>
            </a:r>
            <a:r>
              <a:rPr lang="en-US" sz="2400" dirty="0">
                <a:solidFill>
                  <a:schemeClr val="tx1"/>
                </a:solidFill>
              </a:rPr>
              <a:t> = cols(.default = </a:t>
            </a:r>
            <a:r>
              <a:rPr lang="en-US" sz="2400" dirty="0" err="1">
                <a:solidFill>
                  <a:schemeClr val="tx1"/>
                </a:solidFill>
              </a:rPr>
              <a:t>col_character</a:t>
            </a:r>
            <a:r>
              <a:rPr lang="en-US" sz="2400" dirty="0">
                <a:solidFill>
                  <a:schemeClr val="tx1"/>
                </a:solidFill>
              </a:rPr>
              <a:t>()),   # read everything as text first</a:t>
            </a:r>
          </a:p>
          <a:p>
            <a:r>
              <a:rPr lang="en-US" sz="2400" dirty="0">
                <a:solidFill>
                  <a:schemeClr val="tx1"/>
                </a:solidFill>
              </a:rPr>
              <a:t>  </a:t>
            </a:r>
            <a:r>
              <a:rPr lang="en-US" sz="2400" dirty="0" err="1">
                <a:solidFill>
                  <a:schemeClr val="tx1"/>
                </a:solidFill>
              </a:rPr>
              <a:t>na</a:t>
            </a:r>
            <a:r>
              <a:rPr lang="en-US" sz="2400" dirty="0">
                <a:solidFill>
                  <a:schemeClr val="tx1"/>
                </a:solidFill>
              </a:rPr>
              <a:t> = c("", "NA", "N/A", "NULL", "QNS", "Hemolyzed", "Pending")</a:t>
            </a:r>
          </a:p>
          <a:p>
            <a:r>
              <a:rPr lang="en-US" sz="2400" dirty="0">
                <a:solidFill>
                  <a:schemeClr val="tx1"/>
                </a:solidFill>
              </a:rPr>
              <a:t>) |&gt;</a:t>
            </a:r>
          </a:p>
          <a:p>
            <a:r>
              <a:rPr lang="en-US" sz="2400" dirty="0">
                <a:solidFill>
                  <a:schemeClr val="tx1"/>
                </a:solidFill>
              </a:rPr>
              <a:t>  </a:t>
            </a:r>
            <a:r>
              <a:rPr lang="en-US" sz="2400" dirty="0" err="1">
                <a:solidFill>
                  <a:schemeClr val="tx1"/>
                </a:solidFill>
              </a:rPr>
              <a:t>clean_names</a:t>
            </a:r>
            <a:r>
              <a:rPr lang="en-US" sz="2400" dirty="0">
                <a:solidFill>
                  <a:schemeClr val="tx1"/>
                </a:solidFill>
              </a:rPr>
              <a:t>()</a:t>
            </a:r>
          </a:p>
        </p:txBody>
      </p:sp>
    </p:spTree>
    <p:extLst>
      <p:ext uri="{BB962C8B-B14F-4D97-AF65-F5344CB8AC3E}">
        <p14:creationId xmlns:p14="http://schemas.microsoft.com/office/powerpoint/2010/main" val="34146263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6AE49-2FF1-5CCE-3E71-4C9B689CB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D3B1D1-C58D-258B-181A-91CAD1C61407}"/>
              </a:ext>
            </a:extLst>
          </p:cNvPr>
          <p:cNvSpPr>
            <a:spLocks noGrp="1"/>
          </p:cNvSpPr>
          <p:nvPr>
            <p:ph type="title"/>
          </p:nvPr>
        </p:nvSpPr>
        <p:spPr/>
        <p:txBody>
          <a:bodyPr/>
          <a:lstStyle/>
          <a:p>
            <a:r>
              <a:rPr lang="en-US" dirty="0"/>
              <a:t>Prompting AI for Help</a:t>
            </a:r>
          </a:p>
        </p:txBody>
      </p:sp>
      <p:sp>
        <p:nvSpPr>
          <p:cNvPr id="3" name="Content Placeholder 2">
            <a:extLst>
              <a:ext uri="{FF2B5EF4-FFF2-40B4-BE49-F238E27FC236}">
                <a16:creationId xmlns:a16="http://schemas.microsoft.com/office/drawing/2014/main" id="{916B0566-3F76-638E-289D-06F7EF89C52C}"/>
              </a:ext>
            </a:extLst>
          </p:cNvPr>
          <p:cNvSpPr>
            <a:spLocks noGrp="1"/>
          </p:cNvSpPr>
          <p:nvPr>
            <p:ph idx="1"/>
          </p:nvPr>
        </p:nvSpPr>
        <p:spPr/>
        <p:txBody>
          <a:bodyPr/>
          <a:lstStyle/>
          <a:p>
            <a:pPr marL="0" indent="0">
              <a:buNone/>
            </a:pPr>
            <a:r>
              <a:rPr lang="en-US" dirty="0"/>
              <a:t>Pick up where you left off in </a:t>
            </a:r>
            <a:r>
              <a:rPr lang="en-US" dirty="0">
                <a:solidFill>
                  <a:srgbClr val="0070C0"/>
                </a:solidFill>
                <a:latin typeface="Monaco" charset="0"/>
                <a:ea typeface="Monaco" charset="0"/>
                <a:cs typeface="Monaco" charset="0"/>
              </a:rPr>
              <a:t>Module 02 </a:t>
            </a:r>
            <a:r>
              <a:rPr lang="en-US" dirty="0" err="1">
                <a:solidFill>
                  <a:srgbClr val="0070C0"/>
                </a:solidFill>
                <a:latin typeface="Monaco" charset="0"/>
                <a:ea typeface="Monaco" charset="0"/>
                <a:cs typeface="Monaco" charset="0"/>
              </a:rPr>
              <a:t>Exercises.qmd</a:t>
            </a:r>
            <a:r>
              <a:rPr lang="en-US" dirty="0"/>
              <a:t> and work through the </a:t>
            </a:r>
            <a:r>
              <a:rPr lang="en-US" dirty="0">
                <a:solidFill>
                  <a:schemeClr val="accent1"/>
                </a:solidFill>
              </a:rPr>
              <a:t>Prompting AI for Help </a:t>
            </a:r>
            <a:r>
              <a:rPr lang="en-US" dirty="0"/>
              <a:t>section.</a:t>
            </a:r>
          </a:p>
          <a:p>
            <a:pPr marL="0" indent="0">
              <a:buFont typeface="Tw Cen MT" panose="020B0602020104020603" pitchFamily="34" charset="0"/>
              <a:buNone/>
            </a:pPr>
            <a:r>
              <a:rPr lang="en-US" dirty="0"/>
              <a:t>In the Editor pane, follow the instructions to complete the exercise. </a:t>
            </a:r>
          </a:p>
        </p:txBody>
      </p:sp>
      <p:sp>
        <p:nvSpPr>
          <p:cNvPr id="5" name="TextBox 4">
            <a:extLst>
              <a:ext uri="{FF2B5EF4-FFF2-40B4-BE49-F238E27FC236}">
                <a16:creationId xmlns:a16="http://schemas.microsoft.com/office/drawing/2014/main" id="{21BFEDF2-23CF-9901-AC0A-0702F33D672E}"/>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11981357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DE969-66B2-C80D-D464-DC64B8376A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09CD57-082F-CCD5-D962-6E32F860DDAD}"/>
              </a:ext>
            </a:extLst>
          </p:cNvPr>
          <p:cNvSpPr txBox="1"/>
          <p:nvPr/>
        </p:nvSpPr>
        <p:spPr>
          <a:xfrm>
            <a:off x="721251" y="344000"/>
            <a:ext cx="10939550" cy="7193508"/>
          </a:xfrm>
          <a:prstGeom prst="rect">
            <a:avLst/>
          </a:prstGeom>
          <a:noFill/>
        </p:spPr>
        <p:txBody>
          <a:bodyPr wrap="square" rtlCol="0">
            <a:spAutoFit/>
          </a:bodyPr>
          <a:lstStyle/>
          <a:p>
            <a:r>
              <a:rPr lang="en-US" sz="3200" dirty="0"/>
              <a:t>Lesson Goals</a:t>
            </a:r>
          </a:p>
          <a:p>
            <a:pPr marL="342900" marR="0" lvl="0" indent="-342900" rtl="0">
              <a:lnSpc>
                <a:spcPct val="107000"/>
              </a:lnSpc>
              <a:spcBef>
                <a:spcPts val="0"/>
              </a:spcBef>
              <a:spcAft>
                <a:spcPts val="0"/>
              </a:spcAft>
              <a:buFont typeface="+mj-lt"/>
              <a:buAutoNum type="arabicPeriod"/>
            </a:pPr>
            <a:r>
              <a:rPr lang="en-US" sz="3200" kern="100" dirty="0">
                <a:effectLst/>
                <a:ea typeface="Calibri" panose="020F0502020204030204" pitchFamily="34" charset="0"/>
                <a:cs typeface="Arial" panose="020B0604020202020204" pitchFamily="34" charset="0"/>
              </a:rPr>
              <a:t> Incorporate best practices for reproducibility and transparency into data analysis projects</a:t>
            </a:r>
          </a:p>
          <a:p>
            <a:pPr marL="342900" marR="0" lvl="0" indent="-342900" rtl="0">
              <a:lnSpc>
                <a:spcPct val="107000"/>
              </a:lnSpc>
              <a:spcBef>
                <a:spcPts val="0"/>
              </a:spcBef>
              <a:spcAft>
                <a:spcPts val="0"/>
              </a:spcAft>
              <a:buFont typeface="+mj-lt"/>
              <a:buAutoNum type="arabicPeriod"/>
            </a:pPr>
            <a:r>
              <a:rPr lang="en-US" sz="3200" kern="100" dirty="0">
                <a:effectLst/>
                <a:ea typeface="Calibri" panose="020F0502020204030204" pitchFamily="34" charset="0"/>
                <a:cs typeface="Arial" panose="020B0604020202020204" pitchFamily="34" charset="0"/>
              </a:rPr>
              <a:t> Utilize programming and software tools to facilitate efficient, reproducible, and transparent data analytics workflows</a:t>
            </a:r>
          </a:p>
          <a:p>
            <a:pPr marL="342900" indent="-342900">
              <a:lnSpc>
                <a:spcPct val="107000"/>
              </a:lnSpc>
              <a:buFont typeface="+mj-lt"/>
              <a:buAutoNum type="arabicPeriod"/>
            </a:pPr>
            <a:r>
              <a:rPr lang="en-US" sz="3200" kern="100" dirty="0">
                <a:ea typeface="Calibri" panose="020F0502020204030204" pitchFamily="34" charset="0"/>
                <a:cs typeface="Arial" panose="020B0604020202020204" pitchFamily="34" charset="0"/>
              </a:rPr>
              <a:t>Compare and contrast different data types (e.g., numerical, categorical, timestamp, logical) used in data analytics</a:t>
            </a:r>
            <a:endParaRPr lang="en-US" sz="3200" kern="100" dirty="0">
              <a:effectLst/>
              <a:ea typeface="Calibri" panose="020F0502020204030204" pitchFamily="34" charset="0"/>
              <a:cs typeface="Arial" panose="020B0604020202020204" pitchFamily="34" charset="0"/>
            </a:endParaRPr>
          </a:p>
          <a:p>
            <a:pPr marL="514350" indent="-514350">
              <a:buAutoNum type="arabicPeriod"/>
            </a:pPr>
            <a:endParaRPr lang="en-US" sz="3200" dirty="0"/>
          </a:p>
          <a:p>
            <a:r>
              <a:rPr lang="en-US" sz="3200" dirty="0"/>
              <a:t>Lesson Objectives</a:t>
            </a:r>
          </a:p>
          <a:p>
            <a:pPr marL="514350" indent="-514350">
              <a:buAutoNum type="arabicPeriod"/>
            </a:pPr>
            <a:r>
              <a:rPr lang="en-US" sz="3200" dirty="0"/>
              <a:t>Create and modify a Quarto document</a:t>
            </a:r>
          </a:p>
          <a:p>
            <a:pPr marL="514350" indent="-514350">
              <a:buAutoNum type="arabicPeriod"/>
            </a:pPr>
            <a:r>
              <a:rPr lang="en-US" sz="3200" dirty="0"/>
              <a:t>Import data from a file into the R environment</a:t>
            </a:r>
          </a:p>
          <a:p>
            <a:pPr marL="514350" indent="-514350">
              <a:buAutoNum type="arabicPeriod"/>
            </a:pPr>
            <a:r>
              <a:rPr lang="en-US" sz="3200" dirty="0"/>
              <a:t>Inspect the contents of a </a:t>
            </a:r>
            <a:r>
              <a:rPr lang="en-US" sz="3200" dirty="0" err="1"/>
              <a:t>dataframe</a:t>
            </a:r>
            <a:endParaRPr lang="en-US" sz="3200" dirty="0"/>
          </a:p>
          <a:p>
            <a:pPr marL="514350" indent="-514350">
              <a:buAutoNum type="arabicPeriod"/>
            </a:pPr>
            <a:endParaRPr lang="en-US" sz="3200" dirty="0"/>
          </a:p>
          <a:p>
            <a:pPr marL="514350" indent="-514350">
              <a:buAutoNum type="arabicPeriod"/>
            </a:pPr>
            <a:endParaRPr lang="en-US" sz="3200" dirty="0"/>
          </a:p>
        </p:txBody>
      </p:sp>
    </p:spTree>
    <p:extLst>
      <p:ext uri="{BB962C8B-B14F-4D97-AF65-F5344CB8AC3E}">
        <p14:creationId xmlns:p14="http://schemas.microsoft.com/office/powerpoint/2010/main" val="7472293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68323</TotalTime>
  <Words>6046</Words>
  <Application>Microsoft Macintosh PowerPoint</Application>
  <PresentationFormat>Widescreen</PresentationFormat>
  <Paragraphs>632</Paragraphs>
  <Slides>71</Slides>
  <Notes>48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71</vt:i4>
      </vt:variant>
    </vt:vector>
  </HeadingPairs>
  <TitlesOfParts>
    <vt:vector size="78" baseType="lpstr">
      <vt:lpstr>Arial</vt:lpstr>
      <vt:lpstr>Calibri</vt:lpstr>
      <vt:lpstr>Monaco</vt:lpstr>
      <vt:lpstr>Tw Cen MT</vt:lpstr>
      <vt:lpstr>Tw Cen MT Condensed</vt:lpstr>
      <vt:lpstr>Wingdings 3</vt:lpstr>
      <vt:lpstr>Integral</vt:lpstr>
      <vt:lpstr>Introduction to R and RStudio</vt:lpstr>
      <vt:lpstr>PowerPoint Presentation</vt:lpstr>
      <vt:lpstr>PowerPoint Presentation</vt:lpstr>
      <vt:lpstr>PowerPoint Presentation</vt:lpstr>
      <vt:lpstr>Reproducible Data Analysis with Quarto</vt:lpstr>
      <vt:lpstr>PowerPoint Presentation</vt:lpstr>
      <vt:lpstr>PowerPoint Presentation</vt:lpstr>
      <vt:lpstr>PowerPoint Presentation</vt:lpstr>
      <vt:lpstr>PowerPoint Presentation</vt:lpstr>
      <vt:lpstr>My First Quarto</vt:lpstr>
      <vt:lpstr>PowerPoint Presentation</vt:lpstr>
      <vt:lpstr>PowerPoint Presentation</vt:lpstr>
      <vt:lpstr>PowerPoint Presentation</vt:lpstr>
      <vt:lpstr>PowerPoint Presentation</vt:lpstr>
      <vt:lpstr>My First Quarto</vt:lpstr>
      <vt:lpstr>Code chunks</vt:lpstr>
      <vt:lpstr>PowerPoint Presentation</vt:lpstr>
      <vt:lpstr>Adding to a Code Chunk</vt:lpstr>
      <vt:lpstr>The Basics of Coding </vt:lpstr>
      <vt:lpstr>The Basics of Coding:  Calculation</vt:lpstr>
      <vt:lpstr>Common arithmetic operations</vt:lpstr>
      <vt:lpstr>Don’t forget those math rules</vt:lpstr>
      <vt:lpstr>The Basics of Coding:  Functions</vt:lpstr>
      <vt:lpstr>Putting Functions to Work</vt:lpstr>
      <vt:lpstr>The Basics of Coding:  Objects</vt:lpstr>
      <vt:lpstr>Checking the contents of an object</vt:lpstr>
      <vt:lpstr>PowerPoint Presentation</vt:lpstr>
      <vt:lpstr>Bending objects to your will</vt:lpstr>
      <vt:lpstr>Spot the Problems</vt:lpstr>
      <vt:lpstr>Common functions: combine values into a vector</vt:lpstr>
      <vt:lpstr>Common functions: simple statistics</vt:lpstr>
      <vt:lpstr>How do I find out more about functions?</vt:lpstr>
      <vt:lpstr>Importing Data</vt:lpstr>
      <vt:lpstr>PowerPoint Presentation</vt:lpstr>
      <vt:lpstr>PowerPoint Presentation</vt:lpstr>
      <vt:lpstr>PowerPoint Presentation</vt:lpstr>
      <vt:lpstr>PowerPoint Presentation</vt:lpstr>
      <vt:lpstr>Installing a Package</vt:lpstr>
      <vt:lpstr>Dataframes:  Beyond the Vector</vt:lpstr>
      <vt:lpstr>PowerPoint Presentation</vt:lpstr>
      <vt:lpstr>PowerPoint Presentation</vt:lpstr>
      <vt:lpstr>PowerPoint Presentation</vt:lpstr>
      <vt:lpstr>PowerPoint Presentation</vt:lpstr>
      <vt:lpstr>PowerPoint Presentation</vt:lpstr>
      <vt:lpstr>PowerPoint Presentation</vt:lpstr>
      <vt:lpstr>Best Practice: Data Analysis Should be Separated from Raw Data</vt:lpstr>
      <vt:lpstr>How do you separate your analysis from raw data?</vt:lpstr>
      <vt:lpstr>Best Practice: Always Inspect your Raw Data</vt:lpstr>
      <vt:lpstr>Importing and Inspecting a  Data Frame</vt:lpstr>
      <vt:lpstr>PowerPoint Presentation</vt:lpstr>
      <vt:lpstr>PowerPoint Presentation</vt:lpstr>
      <vt:lpstr>Best Practice: Always Inspect your Raw Data</vt:lpstr>
      <vt:lpstr>Display and calculation behavior depends on the data type of a variable</vt:lpstr>
      <vt:lpstr>Which variables should be converted to a different data type?</vt:lpstr>
      <vt:lpstr>Modifying Data Types</vt:lpstr>
      <vt:lpstr>Validating Data</vt:lpstr>
      <vt:lpstr>Data quality</vt:lpstr>
      <vt:lpstr>Ideal World Data</vt:lpstr>
      <vt:lpstr>Real World</vt:lpstr>
      <vt:lpstr>Common Sources of Errors</vt:lpstr>
      <vt:lpstr>Other “Issues” With Data</vt:lpstr>
      <vt:lpstr>Reporting Inconsistencies</vt:lpstr>
      <vt:lpstr>Data Validation</vt:lpstr>
      <vt:lpstr>Using AI to Support Analysis</vt:lpstr>
      <vt:lpstr>Learning a language with a universal Translator</vt:lpstr>
      <vt:lpstr>Chatbots use the “wisdom” of the internet to support you</vt:lpstr>
      <vt:lpstr>How to Get the Most from ChatBots?</vt:lpstr>
      <vt:lpstr>Example Analysis Prompt</vt:lpstr>
      <vt:lpstr>Sample Code</vt:lpstr>
      <vt:lpstr>Prompting AI for Help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Patrick C Mathias</cp:lastModifiedBy>
  <cp:revision>37</cp:revision>
  <dcterms:created xsi:type="dcterms:W3CDTF">2022-06-28T07:45:18Z</dcterms:created>
  <dcterms:modified xsi:type="dcterms:W3CDTF">2026-10-05T03:11:56Z</dcterms:modified>
</cp:coreProperties>
</file>