
<file path=[Content_Types].xml><?xml version="1.0" encoding="utf-8"?>
<Types xmlns="http://schemas.openxmlformats.org/package/2006/content-types">
  <Default Extension="gif" ContentType="image/gif"/>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61"/>
  </p:notesMasterIdLst>
  <p:handoutMasterIdLst>
    <p:handoutMasterId r:id="rId62"/>
  </p:handoutMasterIdLst>
  <p:sldIdLst>
    <p:sldId id="620" r:id="rId2"/>
    <p:sldId id="259" r:id="rId3"/>
    <p:sldId id="260" r:id="rId4"/>
    <p:sldId id="579" r:id="rId5"/>
    <p:sldId id="636" r:id="rId6"/>
    <p:sldId id="258" r:id="rId7"/>
    <p:sldId id="637" r:id="rId8"/>
    <p:sldId id="638" r:id="rId9"/>
    <p:sldId id="261" r:id="rId10"/>
    <p:sldId id="640" r:id="rId11"/>
    <p:sldId id="569" r:id="rId12"/>
    <p:sldId id="571" r:id="rId13"/>
    <p:sldId id="608" r:id="rId14"/>
    <p:sldId id="609" r:id="rId15"/>
    <p:sldId id="610" r:id="rId16"/>
    <p:sldId id="631" r:id="rId17"/>
    <p:sldId id="611" r:id="rId18"/>
    <p:sldId id="623" r:id="rId19"/>
    <p:sldId id="642" r:id="rId20"/>
    <p:sldId id="643" r:id="rId21"/>
    <p:sldId id="645" r:id="rId22"/>
    <p:sldId id="641" r:id="rId23"/>
    <p:sldId id="644" r:id="rId24"/>
    <p:sldId id="302" r:id="rId25"/>
    <p:sldId id="624" r:id="rId26"/>
    <p:sldId id="646" r:id="rId27"/>
    <p:sldId id="647" r:id="rId28"/>
    <p:sldId id="648" r:id="rId29"/>
    <p:sldId id="626" r:id="rId30"/>
    <p:sldId id="627" r:id="rId31"/>
    <p:sldId id="605" r:id="rId32"/>
    <p:sldId id="632" r:id="rId33"/>
    <p:sldId id="612" r:id="rId34"/>
    <p:sldId id="613" r:id="rId35"/>
    <p:sldId id="614" r:id="rId36"/>
    <p:sldId id="615" r:id="rId37"/>
    <p:sldId id="628" r:id="rId38"/>
    <p:sldId id="629" r:id="rId39"/>
    <p:sldId id="630" r:id="rId40"/>
    <p:sldId id="616" r:id="rId41"/>
    <p:sldId id="635" r:id="rId42"/>
    <p:sldId id="649" r:id="rId43"/>
    <p:sldId id="651" r:id="rId44"/>
    <p:sldId id="650" r:id="rId45"/>
    <p:sldId id="274" r:id="rId46"/>
    <p:sldId id="652" r:id="rId47"/>
    <p:sldId id="275" r:id="rId48"/>
    <p:sldId id="276" r:id="rId49"/>
    <p:sldId id="277" r:id="rId50"/>
    <p:sldId id="278" r:id="rId51"/>
    <p:sldId id="279" r:id="rId52"/>
    <p:sldId id="653" r:id="rId53"/>
    <p:sldId id="655" r:id="rId54"/>
    <p:sldId id="657" r:id="rId55"/>
    <p:sldId id="656" r:id="rId56"/>
    <p:sldId id="658" r:id="rId57"/>
    <p:sldId id="659" r:id="rId58"/>
    <p:sldId id="654" r:id="rId59"/>
    <p:sldId id="660"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8DD5"/>
    <a:srgbClr val="92B573"/>
    <a:srgbClr val="75B6E5"/>
    <a:srgbClr val="FF0000"/>
    <a:srgbClr val="8DB4E2"/>
    <a:srgbClr val="D3908F"/>
    <a:srgbClr val="E0524A"/>
    <a:srgbClr val="8DB4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6272C3-4F3F-5B42-A87F-9340FDAEDD5D}" v="3" dt="2025-08-27T22:07:04.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022"/>
    <p:restoredTop sz="76849" autoAdjust="0"/>
  </p:normalViewPr>
  <p:slideViewPr>
    <p:cSldViewPr snapToGrid="0" snapToObjects="1">
      <p:cViewPr varScale="1">
        <p:scale>
          <a:sx n="96" d="100"/>
          <a:sy n="96" d="100"/>
        </p:scale>
        <p:origin x="1896" y="168"/>
      </p:cViewPr>
      <p:guideLst>
        <p:guide orient="horz" pos="2160"/>
        <p:guide pos="3840"/>
      </p:guideLst>
    </p:cSldViewPr>
  </p:slideViewPr>
  <p:notesTextViewPr>
    <p:cViewPr>
      <p:scale>
        <a:sx n="20" d="100"/>
        <a:sy n="20" d="100"/>
      </p:scale>
      <p:origin x="0" y="0"/>
    </p:cViewPr>
  </p:notesTextViewPr>
  <p:notesViewPr>
    <p:cSldViewPr snapToGrid="0" snapToObjects="1">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k C Mathias" userId="1f09a1f0-1fe3-4224-a48c-12494ec224fd" providerId="ADAL" clId="{6CF872E6-B513-5442-AEAA-8E3BB1AFC010}"/>
    <pc:docChg chg="custSel addSld modSld">
      <pc:chgData name="Patrick C Mathias" userId="1f09a1f0-1fe3-4224-a48c-12494ec224fd" providerId="ADAL" clId="{6CF872E6-B513-5442-AEAA-8E3BB1AFC010}" dt="2025-09-19T00:06:47.667" v="29" actId="20577"/>
      <pc:docMkLst>
        <pc:docMk/>
      </pc:docMkLst>
      <pc:sldChg chg="modSp add mod modClrScheme chgLayout">
        <pc:chgData name="Patrick C Mathias" userId="1f09a1f0-1fe3-4224-a48c-12494ec224fd" providerId="ADAL" clId="{6CF872E6-B513-5442-AEAA-8E3BB1AFC010}" dt="2025-08-27T22:07:18.906" v="6" actId="5793"/>
        <pc:sldMkLst>
          <pc:docMk/>
          <pc:sldMk cId="0" sldId="259"/>
        </pc:sldMkLst>
        <pc:spChg chg="mod ord">
          <ac:chgData name="Patrick C Mathias" userId="1f09a1f0-1fe3-4224-a48c-12494ec224fd" providerId="ADAL" clId="{6CF872E6-B513-5442-AEAA-8E3BB1AFC010}" dt="2025-08-27T22:07:09.285" v="2" actId="700"/>
          <ac:spMkLst>
            <pc:docMk/>
            <pc:sldMk cId="0" sldId="259"/>
            <ac:spMk id="2" creationId="{00000000-0000-0000-0000-000000000000}"/>
          </ac:spMkLst>
        </pc:spChg>
        <pc:spChg chg="mod ord">
          <ac:chgData name="Patrick C Mathias" userId="1f09a1f0-1fe3-4224-a48c-12494ec224fd" providerId="ADAL" clId="{6CF872E6-B513-5442-AEAA-8E3BB1AFC010}" dt="2025-08-27T22:07:18.906" v="6" actId="5793"/>
          <ac:spMkLst>
            <pc:docMk/>
            <pc:sldMk cId="0" sldId="259"/>
            <ac:spMk id="3" creationId="{00000000-0000-0000-0000-000000000000}"/>
          </ac:spMkLst>
        </pc:spChg>
      </pc:sldChg>
      <pc:sldChg chg="delSp modSp add mod modClrScheme chgLayout">
        <pc:chgData name="Patrick C Mathias" userId="1f09a1f0-1fe3-4224-a48c-12494ec224fd" providerId="ADAL" clId="{6CF872E6-B513-5442-AEAA-8E3BB1AFC010}" dt="2025-08-27T22:07:45.891" v="20" actId="478"/>
        <pc:sldMkLst>
          <pc:docMk/>
          <pc:sldMk cId="0" sldId="260"/>
        </pc:sldMkLst>
        <pc:spChg chg="mod ord">
          <ac:chgData name="Patrick C Mathias" userId="1f09a1f0-1fe3-4224-a48c-12494ec224fd" providerId="ADAL" clId="{6CF872E6-B513-5442-AEAA-8E3BB1AFC010}" dt="2025-08-27T22:07:09.285" v="2" actId="700"/>
          <ac:spMkLst>
            <pc:docMk/>
            <pc:sldMk cId="0" sldId="260"/>
            <ac:spMk id="2" creationId="{00000000-0000-0000-0000-000000000000}"/>
          </ac:spMkLst>
        </pc:spChg>
        <pc:graphicFrameChg chg="modGraphic">
          <ac:chgData name="Patrick C Mathias" userId="1f09a1f0-1fe3-4224-a48c-12494ec224fd" providerId="ADAL" clId="{6CF872E6-B513-5442-AEAA-8E3BB1AFC010}" dt="2025-08-27T22:07:42.203" v="19" actId="20577"/>
          <ac:graphicFrameMkLst>
            <pc:docMk/>
            <pc:sldMk cId="0" sldId="260"/>
            <ac:graphicFrameMk id="8" creationId="{00000000-0000-0000-0000-000000000000}"/>
          </ac:graphicFrameMkLst>
        </pc:graphicFrameChg>
      </pc:sldChg>
      <pc:sldChg chg="modSp mod">
        <pc:chgData name="Patrick C Mathias" userId="1f09a1f0-1fe3-4224-a48c-12494ec224fd" providerId="ADAL" clId="{6CF872E6-B513-5442-AEAA-8E3BB1AFC010}" dt="2025-09-19T00:06:47.667" v="29" actId="20577"/>
        <pc:sldMkLst>
          <pc:docMk/>
          <pc:sldMk cId="3230755106" sldId="620"/>
        </pc:sldMkLst>
        <pc:spChg chg="mod">
          <ac:chgData name="Patrick C Mathias" userId="1f09a1f0-1fe3-4224-a48c-12494ec224fd" providerId="ADAL" clId="{6CF872E6-B513-5442-AEAA-8E3BB1AFC010}" dt="2025-09-19T00:06:47.667" v="29" actId="20577"/>
          <ac:spMkLst>
            <pc:docMk/>
            <pc:sldMk cId="3230755106" sldId="620"/>
            <ac:spMk id="3" creationId="{5E528306-F437-CD01-B499-1F1D931DC0B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88389790-147C-7748-A8A1-65FAC8A20F72}" type="datetimeFigureOut">
              <a:rPr lang="en-US" smtClean="0"/>
              <a:t>9/19/25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187C3C-3B4A-A94C-9469-5678414FBFB8}" type="slidenum">
              <a:rPr lang="en-US" smtClean="0"/>
              <a:t>‹#›</a:t>
            </a:fld>
            <a:endParaRPr lang="en-US"/>
          </a:p>
        </p:txBody>
      </p:sp>
    </p:spTree>
    <p:extLst>
      <p:ext uri="{BB962C8B-B14F-4D97-AF65-F5344CB8AC3E}">
        <p14:creationId xmlns:p14="http://schemas.microsoft.com/office/powerpoint/2010/main" val="820989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48CB77B6-7185-9642-B594-FCD5D893C7A0}" type="datetimeFigureOut">
              <a:rPr lang="en-US" smtClean="0"/>
              <a:t>9/19/25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193586-FEB5-7C43-8F44-7EFAE4EECA28}" type="slidenum">
              <a:rPr lang="en-US" smtClean="0"/>
              <a:t>‹#›</a:t>
            </a:fld>
            <a:endParaRPr lang="en-US"/>
          </a:p>
        </p:txBody>
      </p:sp>
    </p:spTree>
    <p:extLst>
      <p:ext uri="{BB962C8B-B14F-4D97-AF65-F5344CB8AC3E}">
        <p14:creationId xmlns:p14="http://schemas.microsoft.com/office/powerpoint/2010/main" val="28110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a:t>
            </a:r>
            <a:r>
              <a:rPr lang="en-US" baseline="0" dirty="0"/>
              <a:t> slide must be included in your deck WITHOUT MODIFICATION. You will declare your Relevant Financial Relationships on the following slide.</a:t>
            </a:r>
            <a:endParaRPr lang="en-US" dirty="0"/>
          </a:p>
        </p:txBody>
      </p:sp>
      <p:sp>
        <p:nvSpPr>
          <p:cNvPr id="4" name="Slide Number Placeholder 3"/>
          <p:cNvSpPr>
            <a:spLocks noGrp="1"/>
          </p:cNvSpPr>
          <p:nvPr>
            <p:ph type="sldNum" sz="quarter" idx="10"/>
          </p:nvPr>
        </p:nvSpPr>
        <p:spPr/>
        <p:txBody>
          <a:bodyPr/>
          <a:lstStyle/>
          <a:p>
            <a:fld id="{2F668BBD-EEC3-41C7-863D-9AA48E93ECC2}"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1908121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683fdf0388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683fdf0388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CA"/>
              <a:t>One of the most important and commonly observed distributions in biology is the normal distribution, shown in this figure. A normal distribution has a symmetrical, bell shape. </a:t>
            </a:r>
            <a:endParaRPr/>
          </a:p>
        </p:txBody>
      </p:sp>
      <p:sp>
        <p:nvSpPr>
          <p:cNvPr id="152" name="Google Shape;152;g3683fdf0388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CA"/>
              <a:t>7</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83fdf0388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683fdf0388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3683fdf0388_0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CA"/>
              <a:t>8</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687c4520c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687c4520ce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g3687c4520ce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CA"/>
              <a:t>9</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Once we know how to do basic manipulations of a dataset, we can use this to run common statistical tests.</a:t>
            </a:r>
            <a:endParaRPr lang="en-US" baseline="0" dirty="0"/>
          </a:p>
        </p:txBody>
      </p:sp>
    </p:spTree>
    <p:extLst>
      <p:ext uri="{BB962C8B-B14F-4D97-AF65-F5344CB8AC3E}">
        <p14:creationId xmlns:p14="http://schemas.microsoft.com/office/powerpoint/2010/main" val="1423496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Once we know how to do basic manipulations of a dataset, we can use this to run common statistical tests.</a:t>
            </a:r>
            <a:endParaRPr lang="en-US" baseline="0" dirty="0"/>
          </a:p>
        </p:txBody>
      </p:sp>
    </p:spTree>
    <p:extLst>
      <p:ext uri="{BB962C8B-B14F-4D97-AF65-F5344CB8AC3E}">
        <p14:creationId xmlns:p14="http://schemas.microsoft.com/office/powerpoint/2010/main" val="3652007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ECDED-81AE-8A1F-0975-AE1FA3C7F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42A390-095F-55B2-42CC-D868427DD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B075D-B078-AB9B-22BB-9E17EC6D508C}"/>
              </a:ext>
            </a:extLst>
          </p:cNvPr>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367802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87A0F-E151-CDCE-3D0C-AAD355D86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82F86-F09E-9CAA-F667-2B43C4A75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B7D1C-5AD8-F5B2-10E2-2491F3D8810F}"/>
              </a:ext>
            </a:extLst>
          </p:cNvPr>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680773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41E0B-CAF4-1206-F00A-83A43AD35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B9F2D-4C1B-CBBD-C996-FF0FCE66D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1CCB7-857B-F746-5E82-9DA2B17708BF}"/>
              </a:ext>
            </a:extLst>
          </p:cNvPr>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3659234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A95F9-B771-C078-EA80-0C9464CBC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250AB-A466-FAC1-B13D-92B8FE656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F9DE0-123A-A2C9-2790-FFDD762A9B30}"/>
              </a:ext>
            </a:extLst>
          </p:cNvPr>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124645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2136038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25</a:t>
            </a:fld>
            <a:endParaRPr lang="en-US"/>
          </a:p>
        </p:txBody>
      </p:sp>
    </p:spTree>
    <p:extLst>
      <p:ext uri="{BB962C8B-B14F-4D97-AF65-F5344CB8AC3E}">
        <p14:creationId xmlns:p14="http://schemas.microsoft.com/office/powerpoint/2010/main" val="4250425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B058C-E711-08D3-029E-140EB15BC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60AFA-9139-67AD-16B4-E5034897C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BD48E-48C2-67AA-E03E-099796B16024}"/>
              </a:ext>
            </a:extLst>
          </p:cNvPr>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2344812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58E9E-7DA4-F8A8-3B32-BB46057BF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CB911-5778-D3B8-BEE3-3AEB15733D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16D87-3134-7720-1B37-519292AD137F}"/>
              </a:ext>
            </a:extLst>
          </p:cNvPr>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494076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2932284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1036680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2004115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Once we know how to do basic manipulations of a dataset, we can use this to run common statistical tests.</a:t>
            </a:r>
            <a:endParaRPr lang="en-US" baseline="0" dirty="0"/>
          </a:p>
        </p:txBody>
      </p:sp>
    </p:spTree>
    <p:extLst>
      <p:ext uri="{BB962C8B-B14F-4D97-AF65-F5344CB8AC3E}">
        <p14:creationId xmlns:p14="http://schemas.microsoft.com/office/powerpoint/2010/main" val="2125973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35</a:t>
            </a:fld>
            <a:endParaRPr lang="en-US"/>
          </a:p>
        </p:txBody>
      </p:sp>
    </p:spTree>
    <p:extLst>
      <p:ext uri="{BB962C8B-B14F-4D97-AF65-F5344CB8AC3E}">
        <p14:creationId xmlns:p14="http://schemas.microsoft.com/office/powerpoint/2010/main" val="38417404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226890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10901552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648825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13886055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2572320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692BFB46-F052-D07B-D4E4-1AF60295A4C6}"/>
            </a:ext>
          </a:extLst>
        </p:cNvPr>
        <p:cNvGrpSpPr/>
        <p:nvPr/>
      </p:nvGrpSpPr>
      <p:grpSpPr>
        <a:xfrm>
          <a:off x="0" y="0"/>
          <a:ext cx="0" cy="0"/>
          <a:chOff x="0" y="0"/>
          <a:chExt cx="0" cy="0"/>
        </a:xfrm>
      </p:grpSpPr>
      <p:sp>
        <p:nvSpPr>
          <p:cNvPr id="267" name="Google Shape;267;p8:notes">
            <a:extLst>
              <a:ext uri="{FF2B5EF4-FFF2-40B4-BE49-F238E27FC236}">
                <a16:creationId xmlns:a16="http://schemas.microsoft.com/office/drawing/2014/main" id="{F3368398-2E95-6007-B08B-428957E164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8" name="Google Shape;268;p8:notes">
            <a:extLst>
              <a:ext uri="{FF2B5EF4-FFF2-40B4-BE49-F238E27FC236}">
                <a16:creationId xmlns:a16="http://schemas.microsoft.com/office/drawing/2014/main" id="{4B378F99-EA6B-E315-7F9C-514ACA2774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74022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E865AEB5-6F89-5FC7-74EF-C552BFEF6754}"/>
            </a:ext>
          </a:extLst>
        </p:cNvPr>
        <p:cNvGrpSpPr/>
        <p:nvPr/>
      </p:nvGrpSpPr>
      <p:grpSpPr>
        <a:xfrm>
          <a:off x="0" y="0"/>
          <a:ext cx="0" cy="0"/>
          <a:chOff x="0" y="0"/>
          <a:chExt cx="0" cy="0"/>
        </a:xfrm>
      </p:grpSpPr>
      <p:sp>
        <p:nvSpPr>
          <p:cNvPr id="267" name="Google Shape;267;p8:notes">
            <a:extLst>
              <a:ext uri="{FF2B5EF4-FFF2-40B4-BE49-F238E27FC236}">
                <a16:creationId xmlns:a16="http://schemas.microsoft.com/office/drawing/2014/main" id="{C230C6CE-DEEE-223C-D4D9-95788EBF39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8:notes">
            <a:extLst>
              <a:ext uri="{FF2B5EF4-FFF2-40B4-BE49-F238E27FC236}">
                <a16:creationId xmlns:a16="http://schemas.microsoft.com/office/drawing/2014/main" id="{6FF78DE5-1796-2105-AC84-2737E1CA68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02352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687c4520ce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687c4520ce_0_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g3687c4520ce_0_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CA"/>
              <a:t>45</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CA"/>
              <a:t>Homoscedasticity failure would result in poor predictions, potential wrong conclusions (in hypothesis testing), wide confidence intervals</a:t>
            </a:r>
            <a:endParaRPr/>
          </a:p>
        </p:txBody>
      </p:sp>
      <p:sp>
        <p:nvSpPr>
          <p:cNvPr id="285" name="Google Shape;28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47</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CA" dirty="0" err="1"/>
              <a:t>mcr</a:t>
            </a:r>
            <a:r>
              <a:rPr lang="en-CA" dirty="0"/>
              <a:t> dataset</a:t>
            </a:r>
            <a:endParaRPr dirty="0"/>
          </a:p>
        </p:txBody>
      </p:sp>
      <p:sp>
        <p:nvSpPr>
          <p:cNvPr id="295" name="Google Shape;29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48</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CA"/>
              <a:t>Linearity: visual or stats tests</a:t>
            </a:r>
            <a:endParaRPr/>
          </a:p>
          <a:p>
            <a:pPr marL="0" lvl="0" indent="0" algn="l" rtl="0">
              <a:spcBef>
                <a:spcPts val="0"/>
              </a:spcBef>
              <a:spcAft>
                <a:spcPts val="0"/>
              </a:spcAft>
              <a:buNone/>
            </a:pPr>
            <a:r>
              <a:rPr lang="en-CA"/>
              <a:t>Independence: no repeats on the same sample or patient</a:t>
            </a:r>
            <a:endParaRPr/>
          </a:p>
        </p:txBody>
      </p:sp>
      <p:sp>
        <p:nvSpPr>
          <p:cNvPr id="306" name="Google Shape;30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49</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21" name="Google Shape;3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6d658ecedf_1_1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6d658ecedf_1_1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g36d658ecedf_1_16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CA"/>
              <a:t>51</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8B7C0-8266-45F9-0EC1-A61A1CD78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FC7F31-FA38-F81C-1A89-E78577BBAE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FC1B0-63B8-BF35-9842-F0D338223C15}"/>
              </a:ext>
            </a:extLst>
          </p:cNvPr>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a:extLst>
              <a:ext uri="{FF2B5EF4-FFF2-40B4-BE49-F238E27FC236}">
                <a16:creationId xmlns:a16="http://schemas.microsoft.com/office/drawing/2014/main" id="{05C79000-8427-94DA-55F8-18AD250A96DE}"/>
              </a:ext>
            </a:extLst>
          </p:cNvPr>
          <p:cNvSpPr>
            <a:spLocks noGrp="1"/>
          </p:cNvSpPr>
          <p:nvPr>
            <p:ph type="sldNum" sz="quarter" idx="10"/>
          </p:nvPr>
        </p:nvSpPr>
        <p:spPr/>
        <p:txBody>
          <a:bodyPr/>
          <a:lstStyle/>
          <a:p>
            <a:fld id="{0A193586-FEB5-7C43-8F44-7EFAE4EECA28}" type="slidenum">
              <a:rPr lang="en-US" smtClean="0"/>
              <a:t>58</a:t>
            </a:fld>
            <a:endParaRPr lang="en-US"/>
          </a:p>
        </p:txBody>
      </p:sp>
    </p:spTree>
    <p:extLst>
      <p:ext uri="{BB962C8B-B14F-4D97-AF65-F5344CB8AC3E}">
        <p14:creationId xmlns:p14="http://schemas.microsoft.com/office/powerpoint/2010/main" val="475919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84CD6EC9-350B-7044-B5F0-8DCF21610B34}"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lvl1pPr>
              <a:defRPr sz="1200"/>
            </a:lvl1pPr>
          </a:lstStyle>
          <a:p>
            <a:fld id="{E7EBC154-6848-214C-B925-399887F0DE31}" type="slidenum">
              <a:rPr lang="en-US" smtClean="0">
                <a:solidFill>
                  <a:prstClr val="black">
                    <a:lumMod val="95000"/>
                    <a:lumOff val="5000"/>
                  </a:prstClr>
                </a:solidFill>
              </a:rPr>
              <a:pPr/>
              <a:t>‹#›</a:t>
            </a:fld>
            <a:endParaRPr lang="en-US" dirty="0">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42AE76-ADD2-C54F-A619-039722557B09}"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6EF16A-3B61-9E4F-9E1F-EB5DF7E46F00}"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A15ECA-FE03-EB4F-9287-38F194A60F5A}"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440FEB-939C-6D4F-AA90-A288EC45062B}"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E799EA-DDAD-854E-A05A-18B120B5A289}"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4" name="Footer Placeholder 3"/>
          <p:cNvSpPr>
            <a:spLocks noGrp="1"/>
          </p:cNvSpPr>
          <p:nvPr>
            <p:ph type="ftr" sz="quarter" idx="11"/>
          </p:nvPr>
        </p:nvSpPr>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Your_Turn_10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F81D07-0F0E-C944-8AC9-C81607AC64B5}"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12"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30"/>
            <a:ext cx="2130970" cy="637613"/>
          </a:xfrm>
          <a:prstGeom prst="rect">
            <a:avLst/>
          </a:prstGeom>
          <a:ln w="12700">
            <a:solidFill>
              <a:srgbClr val="A6AAA9"/>
            </a:solidFill>
            <a:miter lim="400000"/>
          </a:ln>
        </p:spPr>
      </p:pic>
      <p:sp>
        <p:nvSpPr>
          <p:cNvPr id="18"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childTnLst>
        </p:cTn>
      </p:par>
    </p:tnLst>
  </p:timing>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3F2FA98B-EA5F-714E-A794-F1873AF6F273}"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7" name="timer_1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21A48A3E-C0E7-224D-8307-E096DE5D56AC}"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7"/>
                                        </p:tgtEl>
                                      </p:cBhvr>
                                    </p:cmd>
                                  </p:childTnLst>
                                </p:cTn>
                              </p:par>
                            </p:childTnLst>
                          </p:cTn>
                        </p:par>
                      </p:childTnLst>
                    </p:cTn>
                  </p:par>
                </p:childTnLst>
              </p:cTn>
              <p:nextCondLst>
                <p:cond evt="onClick" delay="0">
                  <p:tgtEl>
                    <p:spTgt spid="67"/>
                  </p:tgtEl>
                </p:cond>
              </p:nextCondLst>
            </p:seq>
            <p:video>
              <p:cMediaNode vol="80000">
                <p:cTn id="7" fill="hold" display="0">
                  <p:stCondLst>
                    <p:cond delay="indefinite"/>
                  </p:stCondLst>
                </p:cTn>
                <p:tgtEl>
                  <p:spTgt spid="67"/>
                </p:tgtEl>
              </p:cMediaNode>
            </p:video>
          </p:childTnLst>
        </p:cTn>
      </p:par>
    </p:tn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AC7F2C-1188-B142-BB61-171D61203300}"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lvl1pPr>
              <a:defRPr sz="1200"/>
            </a:lvl1pPr>
          </a:lstStyle>
          <a:p>
            <a:fld id="{E7EBC154-6848-214C-B925-399887F0DE31}" type="slidenum">
              <a:rPr lang="en-US" smtClean="0">
                <a:solidFill>
                  <a:prstClr val="black">
                    <a:lumMod val="95000"/>
                    <a:lumOff val="5000"/>
                  </a:prstClr>
                </a:solidFill>
              </a:rPr>
              <a:pPr/>
              <a:t>‹#›</a:t>
            </a:fld>
            <a:endParaRPr lang="en-US" dirty="0">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B80074-8971-E04D-9BC0-BE45F9FDAB75}"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8EB8C1-84C2-8646-8732-51338E926D44}"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dirty="0">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F1DE77-30E9-3F4D-BBA5-9B6AB79190B6}"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3E7EBE-1DB2-E74E-9C44-79AC52ED10C9}"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597825" y="614555"/>
            <a:ext cx="2996437" cy="777536"/>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sz="4420" b="0" i="0">
                <a:solidFill>
                  <a:srgbClr val="00549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145280" y="6377941"/>
            <a:ext cx="3901372" cy="342964"/>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609600" y="6377941"/>
            <a:ext cx="2804134" cy="342964"/>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24838CF-CBF1-4447-82E7-DAC39F50D634}" type="datetime1">
              <a:rPr lang="en-US" smtClean="0"/>
              <a:t>9/19/25</a:t>
            </a:fld>
            <a:endParaRPr/>
          </a:p>
        </p:txBody>
      </p:sp>
      <p:sp>
        <p:nvSpPr>
          <p:cNvPr id="27" name="Google Shape;27;p4"/>
          <p:cNvSpPr txBox="1">
            <a:spLocks noGrp="1"/>
          </p:cNvSpPr>
          <p:nvPr>
            <p:ph type="sldNum" idx="12"/>
          </p:nvPr>
        </p:nvSpPr>
        <p:spPr>
          <a:xfrm>
            <a:off x="8778241" y="6377941"/>
            <a:ext cx="2804134" cy="342964"/>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05448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4"/>
        <p:cNvGrpSpPr/>
        <p:nvPr/>
      </p:nvGrpSpPr>
      <p:grpSpPr>
        <a:xfrm>
          <a:off x="0" y="0"/>
          <a:ext cx="0" cy="0"/>
          <a:chOff x="0" y="0"/>
          <a:chExt cx="0" cy="0"/>
        </a:xfrm>
      </p:grpSpPr>
      <p:pic>
        <p:nvPicPr>
          <p:cNvPr id="35" name="Google Shape;35;p17" descr="Icon&#10;&#10;Description automatically generated with low confidence"/>
          <p:cNvPicPr preferRelativeResize="0"/>
          <p:nvPr/>
        </p:nvPicPr>
        <p:blipFill rotWithShape="1">
          <a:blip r:embed="rId2">
            <a:alphaModFix amt="5000"/>
          </a:blip>
          <a:srcRect l="14325" t="2610" r="19842" b="19936"/>
          <a:stretch/>
        </p:blipFill>
        <p:spPr>
          <a:xfrm>
            <a:off x="6735337" y="646771"/>
            <a:ext cx="5456667" cy="6211232"/>
          </a:xfrm>
          <a:prstGeom prst="rect">
            <a:avLst/>
          </a:prstGeom>
          <a:noFill/>
          <a:ln>
            <a:noFill/>
          </a:ln>
        </p:spPr>
      </p:pic>
      <p:sp>
        <p:nvSpPr>
          <p:cNvPr id="36" name="Google Shape;36;p17"/>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7"/>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000">
                <a:solidFill>
                  <a:srgbClr val="58595B"/>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rgbClr val="58595B"/>
                </a:solidFill>
                <a:latin typeface="Arial"/>
                <a:ea typeface="Arial"/>
                <a:cs typeface="Arial"/>
                <a:sym typeface="Arial"/>
              </a:defRPr>
            </a:lvl1pPr>
            <a:lvl2pPr marL="0" lvl="1" indent="0" algn="r">
              <a:spcBef>
                <a:spcPts val="0"/>
              </a:spcBef>
              <a:buNone/>
              <a:defRPr sz="1000" b="0" i="0" u="none" strike="noStrike" cap="none">
                <a:solidFill>
                  <a:srgbClr val="58595B"/>
                </a:solidFill>
                <a:latin typeface="Arial"/>
                <a:ea typeface="Arial"/>
                <a:cs typeface="Arial"/>
                <a:sym typeface="Arial"/>
              </a:defRPr>
            </a:lvl2pPr>
            <a:lvl3pPr marL="0" lvl="2" indent="0" algn="r">
              <a:spcBef>
                <a:spcPts val="0"/>
              </a:spcBef>
              <a:buNone/>
              <a:defRPr sz="1000" b="0" i="0" u="none" strike="noStrike" cap="none">
                <a:solidFill>
                  <a:srgbClr val="58595B"/>
                </a:solidFill>
                <a:latin typeface="Arial"/>
                <a:ea typeface="Arial"/>
                <a:cs typeface="Arial"/>
                <a:sym typeface="Arial"/>
              </a:defRPr>
            </a:lvl3pPr>
            <a:lvl4pPr marL="0" lvl="3" indent="0" algn="r">
              <a:spcBef>
                <a:spcPts val="0"/>
              </a:spcBef>
              <a:buNone/>
              <a:defRPr sz="1000" b="0" i="0" u="none" strike="noStrike" cap="none">
                <a:solidFill>
                  <a:srgbClr val="58595B"/>
                </a:solidFill>
                <a:latin typeface="Arial"/>
                <a:ea typeface="Arial"/>
                <a:cs typeface="Arial"/>
                <a:sym typeface="Arial"/>
              </a:defRPr>
            </a:lvl4pPr>
            <a:lvl5pPr marL="0" lvl="4" indent="0" algn="r">
              <a:spcBef>
                <a:spcPts val="0"/>
              </a:spcBef>
              <a:buNone/>
              <a:defRPr sz="1000" b="0" i="0" u="none" strike="noStrike" cap="none">
                <a:solidFill>
                  <a:srgbClr val="58595B"/>
                </a:solidFill>
                <a:latin typeface="Arial"/>
                <a:ea typeface="Arial"/>
                <a:cs typeface="Arial"/>
                <a:sym typeface="Arial"/>
              </a:defRPr>
            </a:lvl5pPr>
            <a:lvl6pPr marL="0" lvl="5" indent="0" algn="r">
              <a:spcBef>
                <a:spcPts val="0"/>
              </a:spcBef>
              <a:buNone/>
              <a:defRPr sz="1000" b="0" i="0" u="none" strike="noStrike" cap="none">
                <a:solidFill>
                  <a:srgbClr val="58595B"/>
                </a:solidFill>
                <a:latin typeface="Arial"/>
                <a:ea typeface="Arial"/>
                <a:cs typeface="Arial"/>
                <a:sym typeface="Arial"/>
              </a:defRPr>
            </a:lvl6pPr>
            <a:lvl7pPr marL="0" lvl="6" indent="0" algn="r">
              <a:spcBef>
                <a:spcPts val="0"/>
              </a:spcBef>
              <a:buNone/>
              <a:defRPr sz="1000" b="0" i="0" u="none" strike="noStrike" cap="none">
                <a:solidFill>
                  <a:srgbClr val="58595B"/>
                </a:solidFill>
                <a:latin typeface="Arial"/>
                <a:ea typeface="Arial"/>
                <a:cs typeface="Arial"/>
                <a:sym typeface="Arial"/>
              </a:defRPr>
            </a:lvl7pPr>
            <a:lvl8pPr marL="0" lvl="7" indent="0" algn="r">
              <a:spcBef>
                <a:spcPts val="0"/>
              </a:spcBef>
              <a:buNone/>
              <a:defRPr sz="1000" b="0" i="0" u="none" strike="noStrike" cap="none">
                <a:solidFill>
                  <a:srgbClr val="58595B"/>
                </a:solidFill>
                <a:latin typeface="Arial"/>
                <a:ea typeface="Arial"/>
                <a:cs typeface="Arial"/>
                <a:sym typeface="Arial"/>
              </a:defRPr>
            </a:lvl8pPr>
            <a:lvl9pPr marL="0" lvl="8" indent="0" algn="r">
              <a:spcBef>
                <a:spcPts val="0"/>
              </a:spcBef>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CA"/>
              <a:t>‹#›</a:t>
            </a:fld>
            <a:endParaRPr/>
          </a:p>
        </p:txBody>
      </p:sp>
    </p:spTree>
    <p:extLst>
      <p:ext uri="{BB962C8B-B14F-4D97-AF65-F5344CB8AC3E}">
        <p14:creationId xmlns:p14="http://schemas.microsoft.com/office/powerpoint/2010/main" val="3776133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tandard Content Slide - Blank">
  <p:cSld name="Standard Content Slide - Blank">
    <p:spTree>
      <p:nvGrpSpPr>
        <p:cNvPr id="1" name="Shape 27"/>
        <p:cNvGrpSpPr/>
        <p:nvPr/>
      </p:nvGrpSpPr>
      <p:grpSpPr>
        <a:xfrm>
          <a:off x="0" y="0"/>
          <a:ext cx="0" cy="0"/>
          <a:chOff x="0" y="0"/>
          <a:chExt cx="0" cy="0"/>
        </a:xfrm>
      </p:grpSpPr>
      <p:sp>
        <p:nvSpPr>
          <p:cNvPr id="28" name="Google Shape;28;p16"/>
          <p:cNvSpPr/>
          <p:nvPr/>
        </p:nvSpPr>
        <p:spPr>
          <a:xfrm>
            <a:off x="892352" y="1376412"/>
            <a:ext cx="1311900" cy="215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9" name="Google Shape;29;p16" descr="Icon&#10;&#10;Description automatically generated with low confidence"/>
          <p:cNvPicPr preferRelativeResize="0"/>
          <p:nvPr/>
        </p:nvPicPr>
        <p:blipFill rotWithShape="1">
          <a:blip r:embed="rId2">
            <a:alphaModFix amt="5000"/>
          </a:blip>
          <a:srcRect l="14325" t="2610" r="19842" b="19936"/>
          <a:stretch/>
        </p:blipFill>
        <p:spPr>
          <a:xfrm>
            <a:off x="6735337" y="646771"/>
            <a:ext cx="5456667" cy="6211232"/>
          </a:xfrm>
          <a:prstGeom prst="rect">
            <a:avLst/>
          </a:prstGeom>
          <a:noFill/>
          <a:ln>
            <a:noFill/>
          </a:ln>
        </p:spPr>
      </p:pic>
      <p:sp>
        <p:nvSpPr>
          <p:cNvPr id="30" name="Google Shape;30;p16"/>
          <p:cNvSpPr txBox="1">
            <a:spLocks noGrp="1"/>
          </p:cNvSpPr>
          <p:nvPr>
            <p:ph type="body" idx="1"/>
          </p:nvPr>
        </p:nvSpPr>
        <p:spPr>
          <a:xfrm>
            <a:off x="838200" y="1443789"/>
            <a:ext cx="10515600" cy="4319700"/>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6"/>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6"/>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000">
                <a:solidFill>
                  <a:srgbClr val="58595B"/>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6"/>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rgbClr val="58595B"/>
                </a:solidFill>
                <a:latin typeface="Arial"/>
                <a:ea typeface="Arial"/>
                <a:cs typeface="Arial"/>
                <a:sym typeface="Arial"/>
              </a:defRPr>
            </a:lvl1pPr>
            <a:lvl2pPr marL="0" lvl="1" indent="0" algn="r">
              <a:spcBef>
                <a:spcPts val="0"/>
              </a:spcBef>
              <a:buNone/>
              <a:defRPr sz="1000" b="0" i="0" u="none" strike="noStrike" cap="none">
                <a:solidFill>
                  <a:srgbClr val="58595B"/>
                </a:solidFill>
                <a:latin typeface="Arial"/>
                <a:ea typeface="Arial"/>
                <a:cs typeface="Arial"/>
                <a:sym typeface="Arial"/>
              </a:defRPr>
            </a:lvl2pPr>
            <a:lvl3pPr marL="0" lvl="2" indent="0" algn="r">
              <a:spcBef>
                <a:spcPts val="0"/>
              </a:spcBef>
              <a:buNone/>
              <a:defRPr sz="1000" b="0" i="0" u="none" strike="noStrike" cap="none">
                <a:solidFill>
                  <a:srgbClr val="58595B"/>
                </a:solidFill>
                <a:latin typeface="Arial"/>
                <a:ea typeface="Arial"/>
                <a:cs typeface="Arial"/>
                <a:sym typeface="Arial"/>
              </a:defRPr>
            </a:lvl3pPr>
            <a:lvl4pPr marL="0" lvl="3" indent="0" algn="r">
              <a:spcBef>
                <a:spcPts val="0"/>
              </a:spcBef>
              <a:buNone/>
              <a:defRPr sz="1000" b="0" i="0" u="none" strike="noStrike" cap="none">
                <a:solidFill>
                  <a:srgbClr val="58595B"/>
                </a:solidFill>
                <a:latin typeface="Arial"/>
                <a:ea typeface="Arial"/>
                <a:cs typeface="Arial"/>
                <a:sym typeface="Arial"/>
              </a:defRPr>
            </a:lvl4pPr>
            <a:lvl5pPr marL="0" lvl="4" indent="0" algn="r">
              <a:spcBef>
                <a:spcPts val="0"/>
              </a:spcBef>
              <a:buNone/>
              <a:defRPr sz="1000" b="0" i="0" u="none" strike="noStrike" cap="none">
                <a:solidFill>
                  <a:srgbClr val="58595B"/>
                </a:solidFill>
                <a:latin typeface="Arial"/>
                <a:ea typeface="Arial"/>
                <a:cs typeface="Arial"/>
                <a:sym typeface="Arial"/>
              </a:defRPr>
            </a:lvl5pPr>
            <a:lvl6pPr marL="0" lvl="5" indent="0" algn="r">
              <a:spcBef>
                <a:spcPts val="0"/>
              </a:spcBef>
              <a:buNone/>
              <a:defRPr sz="1000" b="0" i="0" u="none" strike="noStrike" cap="none">
                <a:solidFill>
                  <a:srgbClr val="58595B"/>
                </a:solidFill>
                <a:latin typeface="Arial"/>
                <a:ea typeface="Arial"/>
                <a:cs typeface="Arial"/>
                <a:sym typeface="Arial"/>
              </a:defRPr>
            </a:lvl6pPr>
            <a:lvl7pPr marL="0" lvl="6" indent="0" algn="r">
              <a:spcBef>
                <a:spcPts val="0"/>
              </a:spcBef>
              <a:buNone/>
              <a:defRPr sz="1000" b="0" i="0" u="none" strike="noStrike" cap="none">
                <a:solidFill>
                  <a:srgbClr val="58595B"/>
                </a:solidFill>
                <a:latin typeface="Arial"/>
                <a:ea typeface="Arial"/>
                <a:cs typeface="Arial"/>
                <a:sym typeface="Arial"/>
              </a:defRPr>
            </a:lvl7pPr>
            <a:lvl8pPr marL="0" lvl="7" indent="0" algn="r">
              <a:spcBef>
                <a:spcPts val="0"/>
              </a:spcBef>
              <a:buNone/>
              <a:defRPr sz="1000" b="0" i="0" u="none" strike="noStrike" cap="none">
                <a:solidFill>
                  <a:srgbClr val="58595B"/>
                </a:solidFill>
                <a:latin typeface="Arial"/>
                <a:ea typeface="Arial"/>
                <a:cs typeface="Arial"/>
                <a:sym typeface="Arial"/>
              </a:defRPr>
            </a:lvl8pPr>
            <a:lvl9pPr marL="0" lvl="8" indent="0" algn="r">
              <a:spcBef>
                <a:spcPts val="0"/>
              </a:spcBef>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CA"/>
              <a:t>‹#›</a:t>
            </a:fld>
            <a:endParaRPr/>
          </a:p>
        </p:txBody>
      </p:sp>
    </p:spTree>
    <p:extLst>
      <p:ext uri="{BB962C8B-B14F-4D97-AF65-F5344CB8AC3E}">
        <p14:creationId xmlns:p14="http://schemas.microsoft.com/office/powerpoint/2010/main" val="166601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19A642-2C89-DA4A-A5A6-140F44AFA833}"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solidFill>
                <a:prstClr val="black">
                  <a:lumMod val="95000"/>
                  <a:lumOff val="5000"/>
                </a:prstClr>
              </a:solidFill>
            </a:endParaRP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200">
                <a:solidFill>
                  <a:schemeClr val="tx1">
                    <a:lumMod val="95000"/>
                    <a:lumOff val="5000"/>
                  </a:schemeClr>
                </a:solidFill>
                <a:latin typeface="+mj-lt"/>
              </a:defRPr>
            </a:lvl1pPr>
          </a:lstStyle>
          <a:p>
            <a:fld id="{E7EBC154-6848-214C-B925-399887F0DE31}" type="slidenum">
              <a:rPr lang="en-US" smtClean="0">
                <a:solidFill>
                  <a:prstClr val="black">
                    <a:lumMod val="95000"/>
                    <a:lumOff val="5000"/>
                  </a:prstClr>
                </a:solidFill>
              </a:rPr>
              <a:pPr/>
              <a:t>‹#›</a:t>
            </a:fld>
            <a:endParaRPr lang="en-US" dirty="0">
              <a:solidFill>
                <a:prstClr val="black">
                  <a:lumMod val="95000"/>
                  <a:lumOff val="5000"/>
                </a:prstClr>
              </a:solidFill>
            </a:endParaRP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624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74" r:id="rId9"/>
    <p:sldLayoutId id="2147483675" r:id="rId10"/>
    <p:sldLayoutId id="2147483676" r:id="rId11"/>
    <p:sldLayoutId id="2147483668" r:id="rId12"/>
    <p:sldLayoutId id="2147483669" r:id="rId13"/>
    <p:sldLayoutId id="2147483670" r:id="rId14"/>
    <p:sldLayoutId id="2147483671" r:id="rId15"/>
    <p:sldLayoutId id="2147483672" r:id="rId16"/>
    <p:sldLayoutId id="2147483677" r:id="rId17"/>
    <p:sldLayoutId id="2147483678" r:id="rId18"/>
    <p:sldLayoutId id="2147483679" r:id="rId19"/>
  </p:sldLayoutIdLst>
  <p:hf hdr="0" ftr="0" dt="0"/>
  <p:txStyles>
    <p:titleStyle>
      <a:lvl1pPr algn="l" defTabSz="914400" rtl="0" eaLnBrk="1" latinLnBrk="0" hangingPunct="1">
        <a:lnSpc>
          <a:spcPct val="80000"/>
        </a:lnSpc>
        <a:spcBef>
          <a:spcPct val="0"/>
        </a:spcBef>
        <a:buNone/>
        <a:defRPr sz="5000" kern="1200" cap="none"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7.xml"/><Relationship Id="rId5" Type="http://schemas.openxmlformats.org/officeDocument/2006/relationships/image" Target="../media/image16.sv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C7C40-3EED-4318-41D9-B310A82B60F3}"/>
              </a:ext>
            </a:extLst>
          </p:cNvPr>
          <p:cNvSpPr>
            <a:spLocks noGrp="1"/>
          </p:cNvSpPr>
          <p:nvPr>
            <p:ph type="ctrTitle"/>
          </p:nvPr>
        </p:nvSpPr>
        <p:spPr/>
        <p:txBody>
          <a:bodyPr/>
          <a:lstStyle/>
          <a:p>
            <a:r>
              <a:rPr lang="en-US" b="1" dirty="0"/>
              <a:t>Statistics Fundamentals</a:t>
            </a:r>
          </a:p>
        </p:txBody>
      </p:sp>
      <p:sp>
        <p:nvSpPr>
          <p:cNvPr id="3" name="Subtitle 2">
            <a:extLst>
              <a:ext uri="{FF2B5EF4-FFF2-40B4-BE49-F238E27FC236}">
                <a16:creationId xmlns:a16="http://schemas.microsoft.com/office/drawing/2014/main" id="{5E528306-F437-CD01-B499-1F1D931DC0B3}"/>
              </a:ext>
            </a:extLst>
          </p:cNvPr>
          <p:cNvSpPr>
            <a:spLocks noGrp="1"/>
          </p:cNvSpPr>
          <p:nvPr>
            <p:ph type="subTitle" idx="1"/>
          </p:nvPr>
        </p:nvSpPr>
        <p:spPr/>
        <p:txBody>
          <a:bodyPr>
            <a:normAutofit/>
          </a:bodyPr>
          <a:lstStyle/>
          <a:p>
            <a:r>
              <a:rPr lang="en-US" sz="2800" dirty="0"/>
              <a:t>Patrick Mathias</a:t>
            </a:r>
          </a:p>
        </p:txBody>
      </p:sp>
    </p:spTree>
    <p:extLst>
      <p:ext uri="{BB962C8B-B14F-4D97-AF65-F5344CB8AC3E}">
        <p14:creationId xmlns:p14="http://schemas.microsoft.com/office/powerpoint/2010/main" val="3230755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Disclosure of Relevant Financial Relationships</a:t>
            </a:r>
          </a:p>
        </p:txBody>
      </p:sp>
      <p:sp>
        <p:nvSpPr>
          <p:cNvPr id="3" name="Subtitle 2"/>
          <p:cNvSpPr>
            <a:spLocks noGrp="1"/>
          </p:cNvSpPr>
          <p:nvPr>
            <p:ph idx="1"/>
          </p:nvPr>
        </p:nvSpPr>
        <p:spPr/>
        <p:txBody>
          <a:bodyPr>
            <a:normAutofit/>
          </a:bodyPr>
          <a:lstStyle/>
          <a:p>
            <a:pPr algn="l"/>
            <a:r>
              <a:rPr lang="en-US" sz="1600" dirty="0">
                <a:solidFill>
                  <a:schemeClr val="tx1"/>
                </a:solidFill>
              </a:rPr>
              <a:t>The faculty, committee members, and staff who are in position to control the content of this activity are required to disclose to MSACL and to learners any financial relationships that have occurred within the last 24 months with ineligible companies whose </a:t>
            </a:r>
            <a:r>
              <a:rPr lang="en-US" sz="1600" i="1" dirty="0">
                <a:solidFill>
                  <a:schemeClr val="tx1"/>
                </a:solidFill>
              </a:rPr>
              <a:t>primary business is producing, marketing, selling, re-selling, or distributing healthcare products </a:t>
            </a:r>
            <a:r>
              <a:rPr lang="en-US" sz="1600" b="1" i="1" dirty="0">
                <a:solidFill>
                  <a:schemeClr val="tx1"/>
                </a:solidFill>
              </a:rPr>
              <a:t>used by or on patients</a:t>
            </a:r>
            <a:r>
              <a:rPr lang="en-US" sz="1600" dirty="0">
                <a:solidFill>
                  <a:schemeClr val="tx1"/>
                </a:solidFill>
              </a:rPr>
              <a:t>. MSACL has reviewed the disclosures and mitigated all relevant financial relationships.</a:t>
            </a:r>
          </a:p>
          <a:p>
            <a:pPr algn="l"/>
            <a:endParaRPr lang="en-US" sz="1600" dirty="0">
              <a:solidFill>
                <a:schemeClr val="tx1"/>
              </a:solidFill>
            </a:endParaRPr>
          </a:p>
          <a:p>
            <a:pPr algn="l"/>
            <a:r>
              <a:rPr lang="en-US" sz="1600" dirty="0">
                <a:solidFill>
                  <a:schemeClr val="tx1"/>
                </a:solidFill>
              </a:rPr>
              <a:t>You can view the financial disclosures of any Steering / Scientific Committee Member or Podium Presenters (except for Industry Workshops, which do not qualify for CME credit) on the MSACL website directly underneath the person’s name. Click “Review Relevant Financial Disclosures”.</a:t>
            </a:r>
          </a:p>
          <a:p>
            <a:pPr algn="l"/>
            <a:endParaRPr lang="en-US" sz="1600" dirty="0">
              <a:solidFill>
                <a:schemeClr val="tx1"/>
              </a:solidFill>
            </a:endParaRPr>
          </a:p>
          <a:p>
            <a:pPr algn="l"/>
            <a:r>
              <a:rPr lang="en-US" sz="1600" dirty="0">
                <a:solidFill>
                  <a:schemeClr val="tx1"/>
                </a:solidFill>
              </a:rPr>
              <a:t>MSACL staff associated with the development of content for this activity report no relevant financial relationships.</a:t>
            </a:r>
          </a:p>
          <a:p>
            <a:pPr algn="l"/>
            <a:endParaRPr lang="en-US" sz="1600" dirty="0">
              <a:solidFill>
                <a:schemeClr val="tx1"/>
              </a:solidFill>
            </a:endParaRPr>
          </a:p>
          <a:p>
            <a:pPr marL="0" indent="0" algn="l">
              <a:buNone/>
            </a:pPr>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Relevant Financial Relationships</a:t>
            </a:r>
          </a:p>
        </p:txBody>
      </p:sp>
      <p:graphicFrame>
        <p:nvGraphicFramePr>
          <p:cNvPr id="8" name="Table 7"/>
          <p:cNvGraphicFramePr>
            <a:graphicFrameLocks noGrp="1"/>
          </p:cNvGraphicFramePr>
          <p:nvPr>
            <p:extLst>
              <p:ext uri="{D42A27DB-BD31-4B8C-83A1-F6EECF244321}">
                <p14:modId xmlns:p14="http://schemas.microsoft.com/office/powerpoint/2010/main" val="891382524"/>
              </p:ext>
            </p:extLst>
          </p:nvPr>
        </p:nvGraphicFramePr>
        <p:xfrm>
          <a:off x="1930400" y="3327400"/>
          <a:ext cx="8127999" cy="176106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40267">
                <a:tc>
                  <a:txBody>
                    <a:bodyPr/>
                    <a:lstStyle/>
                    <a:p>
                      <a:r>
                        <a:rPr lang="en-US" sz="1900" dirty="0"/>
                        <a:t>Company</a:t>
                      </a:r>
                    </a:p>
                  </a:txBody>
                  <a:tcPr marL="121920" marR="121920" marT="60960" marB="60960"/>
                </a:tc>
                <a:tc>
                  <a:txBody>
                    <a:bodyPr/>
                    <a:lstStyle/>
                    <a:p>
                      <a:r>
                        <a:rPr lang="en-US" sz="1900" dirty="0"/>
                        <a:t>Relationship</a:t>
                      </a:r>
                    </a:p>
                  </a:txBody>
                  <a:tcPr marL="121920" marR="121920" marT="60960" marB="60960"/>
                </a:tc>
                <a:tc>
                  <a:txBody>
                    <a:bodyPr/>
                    <a:lstStyle/>
                    <a:p>
                      <a:r>
                        <a:rPr lang="en-US" sz="1900" dirty="0"/>
                        <a:t>Ended?</a:t>
                      </a:r>
                    </a:p>
                  </a:txBody>
                  <a:tcPr marL="121920" marR="121920" marT="60960" marB="60960"/>
                </a:tc>
                <a:extLst>
                  <a:ext uri="{0D108BD9-81ED-4DB2-BD59-A6C34878D82A}">
                    <a16:rowId xmlns:a16="http://schemas.microsoft.com/office/drawing/2014/main" val="10000"/>
                  </a:ext>
                </a:extLst>
              </a:tr>
              <a:tr h="440267">
                <a:tc>
                  <a:txBody>
                    <a:bodyPr/>
                    <a:lstStyle/>
                    <a:p>
                      <a:r>
                        <a:rPr lang="en-US" sz="1900" dirty="0"/>
                        <a:t>None</a:t>
                      </a:r>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1"/>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2"/>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626225" y="201578"/>
            <a:ext cx="10939550" cy="5755422"/>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3200" dirty="0"/>
              <a:t> Understand the fundamental statistical concepts used in laboratory medicine, including measures of central tendency, variability, and probability distributions</a:t>
            </a:r>
          </a:p>
          <a:p>
            <a:pPr marL="342900" lvl="0" indent="-342900">
              <a:buFont typeface="+mj-lt"/>
              <a:buAutoNum type="arabicPeriod"/>
            </a:pPr>
            <a:r>
              <a:rPr lang="en-US" sz="3200" dirty="0"/>
              <a:t> Critically evaluate the validity and limitations of basic statistical inference methods (e.g., regression models, hypothesis testing, confidence intervals) in various laboratory scenarios</a:t>
            </a:r>
          </a:p>
          <a:p>
            <a:pPr marL="342900" lvl="0" indent="-342900">
              <a:buFont typeface="+mj-lt"/>
              <a:buAutoNum type="arabicPeriod"/>
            </a:pPr>
            <a:r>
              <a:rPr lang="en-US" sz="3200" dirty="0"/>
              <a:t> Apply statistical principles to real-world laboratory scenarios to improve laboratory quality, interpret results accurately, and make evidence-based decisions.</a:t>
            </a:r>
          </a:p>
        </p:txBody>
      </p:sp>
    </p:spTree>
    <p:extLst>
      <p:ext uri="{BB962C8B-B14F-4D97-AF65-F5344CB8AC3E}">
        <p14:creationId xmlns:p14="http://schemas.microsoft.com/office/powerpoint/2010/main" val="896677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6B40E-C6D6-CEAD-1675-9B45A81B18F2}"/>
              </a:ext>
            </a:extLst>
          </p:cNvPr>
          <p:cNvSpPr>
            <a:spLocks noGrp="1"/>
          </p:cNvSpPr>
          <p:nvPr>
            <p:ph type="title"/>
          </p:nvPr>
        </p:nvSpPr>
        <p:spPr/>
        <p:txBody>
          <a:bodyPr/>
          <a:lstStyle/>
          <a:p>
            <a:r>
              <a:rPr lang="en-US" dirty="0"/>
              <a:t>Concept review</a:t>
            </a:r>
          </a:p>
        </p:txBody>
      </p:sp>
    </p:spTree>
    <p:extLst>
      <p:ext uri="{BB962C8B-B14F-4D97-AF65-F5344CB8AC3E}">
        <p14:creationId xmlns:p14="http://schemas.microsoft.com/office/powerpoint/2010/main" val="337365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
          <p:cNvSpPr txBox="1">
            <a:spLocks noGrp="1"/>
          </p:cNvSpPr>
          <p:nvPr>
            <p:ph type="body" idx="1"/>
          </p:nvPr>
        </p:nvSpPr>
        <p:spPr>
          <a:xfrm>
            <a:off x="838200" y="1628802"/>
            <a:ext cx="10515599" cy="5195177"/>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22222"/>
              </a:lnSpc>
              <a:spcBef>
                <a:spcPts val="0"/>
              </a:spcBef>
              <a:spcAft>
                <a:spcPts val="0"/>
              </a:spcAft>
              <a:buSzPts val="1800"/>
              <a:buNone/>
            </a:pPr>
            <a:r>
              <a:rPr lang="en-CA" b="1" dirty="0"/>
              <a:t>Mean (Average):</a:t>
            </a:r>
            <a:endParaRPr dirty="0"/>
          </a:p>
          <a:p>
            <a:pPr marL="228600" lvl="0" indent="-228600" algn="l" rtl="0">
              <a:lnSpc>
                <a:spcPct val="122222"/>
              </a:lnSpc>
              <a:spcBef>
                <a:spcPts val="1000"/>
              </a:spcBef>
              <a:spcAft>
                <a:spcPts val="0"/>
              </a:spcAft>
              <a:buSzPts val="1800"/>
              <a:buFont typeface="Arial"/>
              <a:buChar char="•"/>
            </a:pPr>
            <a:r>
              <a:rPr lang="en-CA" dirty="0"/>
              <a:t>Sum of all values divided by the number of values</a:t>
            </a:r>
            <a:endParaRPr dirty="0"/>
          </a:p>
          <a:p>
            <a:pPr marL="685800" lvl="1" indent="-228600" algn="l" rtl="0">
              <a:lnSpc>
                <a:spcPct val="122222"/>
              </a:lnSpc>
              <a:spcBef>
                <a:spcPts val="500"/>
              </a:spcBef>
              <a:spcAft>
                <a:spcPts val="0"/>
              </a:spcAft>
              <a:buSzPts val="1800"/>
              <a:buChar char="•"/>
            </a:pPr>
            <a:r>
              <a:rPr lang="en-CA" dirty="0"/>
              <a:t>Sensitive to extreme values (outliers)</a:t>
            </a:r>
            <a:endParaRPr dirty="0"/>
          </a:p>
          <a:p>
            <a:pPr marL="228600" lvl="0" indent="-228600" algn="l" rtl="0">
              <a:lnSpc>
                <a:spcPct val="122222"/>
              </a:lnSpc>
              <a:spcBef>
                <a:spcPts val="1000"/>
              </a:spcBef>
              <a:spcAft>
                <a:spcPts val="0"/>
              </a:spcAft>
              <a:buSzPts val="1800"/>
              <a:buNone/>
            </a:pPr>
            <a:r>
              <a:rPr lang="en-CA" b="1" dirty="0"/>
              <a:t>Median:</a:t>
            </a:r>
            <a:endParaRPr dirty="0"/>
          </a:p>
          <a:p>
            <a:pPr marL="228600" lvl="0" indent="-228600" algn="l" rtl="0">
              <a:lnSpc>
                <a:spcPct val="122222"/>
              </a:lnSpc>
              <a:spcBef>
                <a:spcPts val="1000"/>
              </a:spcBef>
              <a:spcAft>
                <a:spcPts val="0"/>
              </a:spcAft>
              <a:buSzPts val="1800"/>
              <a:buFont typeface="Arial"/>
              <a:buChar char="•"/>
            </a:pPr>
            <a:r>
              <a:rPr lang="en-CA" dirty="0"/>
              <a:t>Middle value when data is ordered</a:t>
            </a:r>
            <a:endParaRPr dirty="0"/>
          </a:p>
          <a:p>
            <a:pPr marL="685800" lvl="1" indent="-228600" algn="l" rtl="0">
              <a:lnSpc>
                <a:spcPct val="122222"/>
              </a:lnSpc>
              <a:spcBef>
                <a:spcPts val="500"/>
              </a:spcBef>
              <a:spcAft>
                <a:spcPts val="0"/>
              </a:spcAft>
              <a:buSzPts val="1800"/>
              <a:buChar char="•"/>
            </a:pPr>
            <a:r>
              <a:rPr lang="en-CA" dirty="0"/>
              <a:t>Less affected by outliers than the mean</a:t>
            </a:r>
            <a:endParaRPr dirty="0"/>
          </a:p>
          <a:p>
            <a:pPr marL="228600" lvl="0" indent="-228600" algn="l" rtl="0">
              <a:lnSpc>
                <a:spcPct val="122222"/>
              </a:lnSpc>
              <a:spcBef>
                <a:spcPts val="1000"/>
              </a:spcBef>
              <a:spcAft>
                <a:spcPts val="0"/>
              </a:spcAft>
              <a:buSzPts val="1800"/>
              <a:buNone/>
            </a:pPr>
            <a:r>
              <a:rPr lang="en-CA" b="1" dirty="0"/>
              <a:t>Standard Deviation (SD):</a:t>
            </a:r>
            <a:endParaRPr dirty="0"/>
          </a:p>
          <a:p>
            <a:pPr marL="228600" lvl="0" indent="-228600" algn="l" rtl="0">
              <a:lnSpc>
                <a:spcPct val="122222"/>
              </a:lnSpc>
              <a:spcBef>
                <a:spcPts val="1000"/>
              </a:spcBef>
              <a:spcAft>
                <a:spcPts val="0"/>
              </a:spcAft>
              <a:buSzPts val="1800"/>
              <a:buFont typeface="Arial"/>
              <a:buChar char="•"/>
            </a:pPr>
            <a:r>
              <a:rPr lang="en-CA" dirty="0"/>
              <a:t>Measures the spread or dispersion of data around the mean</a:t>
            </a:r>
            <a:endParaRPr dirty="0"/>
          </a:p>
          <a:p>
            <a:pPr marL="685800" lvl="1" indent="-228600" algn="l" rtl="0">
              <a:lnSpc>
                <a:spcPct val="122222"/>
              </a:lnSpc>
              <a:spcBef>
                <a:spcPts val="500"/>
              </a:spcBef>
              <a:spcAft>
                <a:spcPts val="0"/>
              </a:spcAft>
              <a:buSzPts val="1800"/>
              <a:buChar char="•"/>
            </a:pPr>
            <a:r>
              <a:rPr lang="en-CA" dirty="0"/>
              <a:t>Higher SD = more variability</a:t>
            </a:r>
            <a:endParaRPr dirty="0"/>
          </a:p>
          <a:p>
            <a:pPr marL="228600" lvl="0" indent="-228600" algn="l" rtl="0">
              <a:lnSpc>
                <a:spcPct val="122222"/>
              </a:lnSpc>
              <a:spcBef>
                <a:spcPts val="1000"/>
              </a:spcBef>
              <a:spcAft>
                <a:spcPts val="0"/>
              </a:spcAft>
              <a:buSzPts val="1800"/>
              <a:buNone/>
            </a:pPr>
            <a:r>
              <a:rPr lang="en-CA" b="1" dirty="0"/>
              <a:t>Z-Score:</a:t>
            </a:r>
            <a:endParaRPr dirty="0"/>
          </a:p>
          <a:p>
            <a:pPr marL="228600" lvl="0" indent="-228600" algn="l" rtl="0">
              <a:lnSpc>
                <a:spcPct val="122222"/>
              </a:lnSpc>
              <a:spcBef>
                <a:spcPts val="1000"/>
              </a:spcBef>
              <a:spcAft>
                <a:spcPts val="0"/>
              </a:spcAft>
              <a:buSzPts val="1800"/>
              <a:buFont typeface="Arial"/>
              <a:buChar char="•"/>
            </a:pPr>
            <a:r>
              <a:rPr lang="en-CA" dirty="0"/>
              <a:t>Standardized value indicating how many SDs a point is from the mean</a:t>
            </a:r>
            <a:endParaRPr dirty="0"/>
          </a:p>
          <a:p>
            <a:pPr marL="685800" lvl="1" indent="-228600" algn="l" rtl="0">
              <a:lnSpc>
                <a:spcPct val="122222"/>
              </a:lnSpc>
              <a:spcBef>
                <a:spcPts val="500"/>
              </a:spcBef>
              <a:spcAft>
                <a:spcPts val="0"/>
              </a:spcAft>
              <a:buSzPts val="1800"/>
              <a:buChar char="•"/>
            </a:pPr>
            <a:r>
              <a:rPr lang="en-CA" dirty="0"/>
              <a:t>Helps compare values across different distributions</a:t>
            </a:r>
            <a:endParaRPr dirty="0"/>
          </a:p>
          <a:p>
            <a:pPr marL="228600" lvl="0" indent="-114300" algn="l" rtl="0">
              <a:lnSpc>
                <a:spcPct val="122222"/>
              </a:lnSpc>
              <a:spcBef>
                <a:spcPts val="1000"/>
              </a:spcBef>
              <a:spcAft>
                <a:spcPts val="0"/>
              </a:spcAft>
              <a:buClr>
                <a:srgbClr val="B01F24"/>
              </a:buClr>
              <a:buSzPts val="1800"/>
              <a:buNone/>
            </a:pPr>
            <a:endParaRPr dirty="0"/>
          </a:p>
        </p:txBody>
      </p:sp>
      <p:sp>
        <p:nvSpPr>
          <p:cNvPr id="135" name="Google Shape;135;p2"/>
          <p:cNvSpPr txBox="1">
            <a:spLocks noGrp="1"/>
          </p:cNvSpPr>
          <p:nvPr>
            <p:ph type="title"/>
          </p:nvPr>
        </p:nvSpPr>
        <p:spPr>
          <a:xfrm>
            <a:off x="838199" y="761178"/>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CA" dirty="0"/>
              <a:t>Summary Statistics</a:t>
            </a:r>
            <a:endParaRPr dirty="0"/>
          </a:p>
        </p:txBody>
      </p:sp>
      <p:pic>
        <p:nvPicPr>
          <p:cNvPr id="138" name="Google Shape;138;p2"/>
          <p:cNvPicPr preferRelativeResize="0"/>
          <p:nvPr/>
        </p:nvPicPr>
        <p:blipFill rotWithShape="1">
          <a:blip r:embed="rId3">
            <a:alphaModFix/>
          </a:blip>
          <a:srcRect/>
          <a:stretch/>
        </p:blipFill>
        <p:spPr>
          <a:xfrm>
            <a:off x="7073014" y="1960968"/>
            <a:ext cx="1752600" cy="977900"/>
          </a:xfrm>
          <a:prstGeom prst="rect">
            <a:avLst/>
          </a:prstGeom>
          <a:noFill/>
          <a:ln>
            <a:noFill/>
          </a:ln>
        </p:spPr>
      </p:pic>
      <p:pic>
        <p:nvPicPr>
          <p:cNvPr id="139" name="Google Shape;139;p2"/>
          <p:cNvPicPr preferRelativeResize="0"/>
          <p:nvPr/>
        </p:nvPicPr>
        <p:blipFill rotWithShape="1">
          <a:blip r:embed="rId4">
            <a:alphaModFix/>
          </a:blip>
          <a:srcRect/>
          <a:stretch/>
        </p:blipFill>
        <p:spPr>
          <a:xfrm>
            <a:off x="7949314" y="4197737"/>
            <a:ext cx="3225800" cy="965200"/>
          </a:xfrm>
          <a:prstGeom prst="rect">
            <a:avLst/>
          </a:prstGeom>
          <a:noFill/>
          <a:ln>
            <a:noFill/>
          </a:ln>
        </p:spPr>
      </p:pic>
      <p:pic>
        <p:nvPicPr>
          <p:cNvPr id="140" name="Google Shape;140;p2"/>
          <p:cNvPicPr preferRelativeResize="0"/>
          <p:nvPr/>
        </p:nvPicPr>
        <p:blipFill rotWithShape="1">
          <a:blip r:embed="rId5">
            <a:alphaModFix/>
          </a:blip>
          <a:srcRect/>
          <a:stretch/>
        </p:blipFill>
        <p:spPr>
          <a:xfrm>
            <a:off x="8692264" y="5669796"/>
            <a:ext cx="1739900" cy="774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3683fdf0388_0_7"/>
          <p:cNvSpPr txBox="1">
            <a:spLocks noGrp="1"/>
          </p:cNvSpPr>
          <p:nvPr>
            <p:ph type="body" idx="1"/>
          </p:nvPr>
        </p:nvSpPr>
        <p:spPr>
          <a:xfrm>
            <a:off x="838200" y="1443789"/>
            <a:ext cx="10515600" cy="43197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CA"/>
              <a:t> </a:t>
            </a:r>
            <a:endParaRPr/>
          </a:p>
          <a:p>
            <a:pPr marL="0" lvl="0" indent="0" algn="l" rtl="0">
              <a:spcBef>
                <a:spcPts val="1000"/>
              </a:spcBef>
              <a:spcAft>
                <a:spcPts val="0"/>
              </a:spcAft>
              <a:buNone/>
            </a:pPr>
            <a:endParaRPr/>
          </a:p>
        </p:txBody>
      </p:sp>
      <p:sp>
        <p:nvSpPr>
          <p:cNvPr id="155" name="Google Shape;155;g3683fdf0388_0_7"/>
          <p:cNvSpPr txBox="1">
            <a:spLocks noGrp="1"/>
          </p:cNvSpPr>
          <p:nvPr>
            <p:ph type="title"/>
          </p:nvPr>
        </p:nvSpPr>
        <p:spPr>
          <a:xfrm>
            <a:off x="838200" y="870584"/>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CA" dirty="0"/>
              <a:t>The Normal Distribution</a:t>
            </a:r>
            <a:endParaRPr dirty="0"/>
          </a:p>
        </p:txBody>
      </p:sp>
      <p:pic>
        <p:nvPicPr>
          <p:cNvPr id="157" name="Google Shape;157;g3683fdf0388_0_7" title="08fig-empirical.png"/>
          <p:cNvPicPr preferRelativeResize="0"/>
          <p:nvPr/>
        </p:nvPicPr>
        <p:blipFill>
          <a:blip r:embed="rId3">
            <a:alphaModFix/>
          </a:blip>
          <a:stretch>
            <a:fillRect/>
          </a:stretch>
        </p:blipFill>
        <p:spPr>
          <a:xfrm>
            <a:off x="2932848" y="2000375"/>
            <a:ext cx="6667500" cy="4114800"/>
          </a:xfrm>
          <a:prstGeom prst="rect">
            <a:avLst/>
          </a:prstGeom>
          <a:noFill/>
          <a:ln>
            <a:noFill/>
          </a:ln>
        </p:spPr>
      </p:pic>
      <p:sp>
        <p:nvSpPr>
          <p:cNvPr id="158" name="Google Shape;158;g3683fdf0388_0_7"/>
          <p:cNvSpPr txBox="1"/>
          <p:nvPr/>
        </p:nvSpPr>
        <p:spPr>
          <a:xfrm>
            <a:off x="4176598" y="6042300"/>
            <a:ext cx="418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CA" sz="1800">
                <a:solidFill>
                  <a:srgbClr val="58595B"/>
                </a:solidFill>
              </a:rPr>
              <a:t>Standard deviations from the mean</a:t>
            </a:r>
            <a:endParaRPr sz="1800">
              <a:solidFill>
                <a:srgbClr val="58595B"/>
              </a:solidFill>
            </a:endParaRPr>
          </a:p>
        </p:txBody>
      </p:sp>
      <p:sp>
        <p:nvSpPr>
          <p:cNvPr id="159" name="Google Shape;159;g3683fdf0388_0_7"/>
          <p:cNvSpPr txBox="1"/>
          <p:nvPr/>
        </p:nvSpPr>
        <p:spPr>
          <a:xfrm>
            <a:off x="1914600" y="6504000"/>
            <a:ext cx="102774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CA" sz="1100" dirty="0" err="1">
                <a:solidFill>
                  <a:srgbClr val="58595B"/>
                </a:solidFill>
              </a:rPr>
              <a:t>ASpiegler</a:t>
            </a:r>
            <a:r>
              <a:rPr lang="en-CA" sz="1100" dirty="0">
                <a:solidFill>
                  <a:srgbClr val="58595B"/>
                </a:solidFill>
              </a:rPr>
              <a:t>, CC BY-SA 4.0 &lt;https://</a:t>
            </a:r>
            <a:r>
              <a:rPr lang="en-CA" sz="1100" dirty="0" err="1">
                <a:solidFill>
                  <a:srgbClr val="58595B"/>
                </a:solidFill>
              </a:rPr>
              <a:t>creativecommons.org</a:t>
            </a:r>
            <a:r>
              <a:rPr lang="en-CA" sz="1100" dirty="0">
                <a:solidFill>
                  <a:srgbClr val="58595B"/>
                </a:solidFill>
              </a:rPr>
              <a:t>/licenses/by-</a:t>
            </a:r>
            <a:r>
              <a:rPr lang="en-CA" sz="1100" dirty="0" err="1">
                <a:solidFill>
                  <a:srgbClr val="58595B"/>
                </a:solidFill>
              </a:rPr>
              <a:t>sa</a:t>
            </a:r>
            <a:r>
              <a:rPr lang="en-CA" sz="1100" dirty="0">
                <a:solidFill>
                  <a:srgbClr val="58595B"/>
                </a:solidFill>
              </a:rPr>
              <a:t>/4.0&gt;, via Wikimedia Commons</a:t>
            </a:r>
            <a:endParaRPr sz="1100" dirty="0">
              <a:solidFill>
                <a:srgbClr val="58595B"/>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683fdf0388_0_16"/>
          <p:cNvSpPr txBox="1">
            <a:spLocks noGrp="1"/>
          </p:cNvSpPr>
          <p:nvPr>
            <p:ph type="body" idx="1"/>
          </p:nvPr>
        </p:nvSpPr>
        <p:spPr>
          <a:xfrm>
            <a:off x="838200" y="2048927"/>
            <a:ext cx="10515600" cy="43197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CA" dirty="0"/>
              <a:t>If a variable can have many possible values, we can plot the observed values as a frequency distribution. This simulated data set shows a right skew in the distribution of values.</a:t>
            </a:r>
            <a:endParaRPr dirty="0"/>
          </a:p>
          <a:p>
            <a:pPr marL="0" lvl="0" indent="0" algn="l" rtl="0">
              <a:spcBef>
                <a:spcPts val="1000"/>
              </a:spcBef>
              <a:spcAft>
                <a:spcPts val="0"/>
              </a:spcAft>
              <a:buNone/>
            </a:pPr>
            <a:endParaRPr dirty="0"/>
          </a:p>
          <a:p>
            <a:pPr marL="0" lvl="0" indent="0" algn="l" rtl="0">
              <a:spcBef>
                <a:spcPts val="1000"/>
              </a:spcBef>
              <a:spcAft>
                <a:spcPts val="0"/>
              </a:spcAft>
              <a:buNone/>
            </a:pPr>
            <a:endParaRPr dirty="0"/>
          </a:p>
        </p:txBody>
      </p:sp>
      <p:sp>
        <p:nvSpPr>
          <p:cNvPr id="147" name="Google Shape;147;g3683fdf0388_0_16"/>
          <p:cNvSpPr txBox="1">
            <a:spLocks noGrp="1"/>
          </p:cNvSpPr>
          <p:nvPr>
            <p:ph type="title"/>
          </p:nvPr>
        </p:nvSpPr>
        <p:spPr>
          <a:xfrm>
            <a:off x="838200" y="748647"/>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CA" dirty="0"/>
              <a:t>Visualizing Distributions</a:t>
            </a:r>
            <a:endParaRPr dirty="0"/>
          </a:p>
        </p:txBody>
      </p:sp>
      <p:pic>
        <p:nvPicPr>
          <p:cNvPr id="3" name="Picture 2" descr="A graph of a number of bars&#10;&#10;AI-generated content may be incorrect.">
            <a:extLst>
              <a:ext uri="{FF2B5EF4-FFF2-40B4-BE49-F238E27FC236}">
                <a16:creationId xmlns:a16="http://schemas.microsoft.com/office/drawing/2014/main" id="{67EF2FB9-5D09-1A7A-48AD-47B5C0F472C5}"/>
              </a:ext>
            </a:extLst>
          </p:cNvPr>
          <p:cNvPicPr>
            <a:picLocks noChangeAspect="1"/>
          </p:cNvPicPr>
          <p:nvPr/>
        </p:nvPicPr>
        <p:blipFill>
          <a:blip r:embed="rId3"/>
          <a:stretch>
            <a:fillRect/>
          </a:stretch>
        </p:blipFill>
        <p:spPr>
          <a:xfrm>
            <a:off x="3333351" y="3272094"/>
            <a:ext cx="5579391" cy="34576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687c4520ce_0_0"/>
          <p:cNvSpPr txBox="1">
            <a:spLocks noGrp="1"/>
          </p:cNvSpPr>
          <p:nvPr>
            <p:ph type="body" idx="1"/>
          </p:nvPr>
        </p:nvSpPr>
        <p:spPr>
          <a:xfrm>
            <a:off x="838200" y="2286508"/>
            <a:ext cx="10515600" cy="43197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CA" dirty="0"/>
              <a:t>Very common distribution in biology and medicine</a:t>
            </a:r>
            <a:endParaRPr dirty="0"/>
          </a:p>
          <a:p>
            <a:pPr marL="0" lvl="0" indent="0" algn="l" rtl="0">
              <a:spcBef>
                <a:spcPts val="1000"/>
              </a:spcBef>
              <a:spcAft>
                <a:spcPts val="0"/>
              </a:spcAft>
              <a:buNone/>
            </a:pPr>
            <a:r>
              <a:rPr lang="en-CA" dirty="0"/>
              <a:t>If a distribution shows skewing to the right, transformation to a normal distribution can often be accomplished by log transformation</a:t>
            </a:r>
            <a:endParaRPr dirty="0"/>
          </a:p>
          <a:p>
            <a:pPr marL="0" lvl="0" indent="0" algn="l" rtl="0">
              <a:spcBef>
                <a:spcPts val="1000"/>
              </a:spcBef>
              <a:spcAft>
                <a:spcPts val="0"/>
              </a:spcAft>
              <a:buNone/>
            </a:pPr>
            <a:r>
              <a:rPr lang="en-CA" dirty="0"/>
              <a:t>The normal distribution is often the basis for establishing reference intervals for lab tests</a:t>
            </a:r>
            <a:endParaRPr dirty="0"/>
          </a:p>
          <a:p>
            <a:pPr marL="0" lvl="0" indent="0" algn="l" rtl="0">
              <a:spcBef>
                <a:spcPts val="1000"/>
              </a:spcBef>
              <a:spcAft>
                <a:spcPts val="0"/>
              </a:spcAft>
              <a:buNone/>
            </a:pPr>
            <a:r>
              <a:rPr lang="en-CA" dirty="0"/>
              <a:t>	central 95% of the distribution is often considered to be the reference interval</a:t>
            </a:r>
            <a:endParaRPr dirty="0"/>
          </a:p>
          <a:p>
            <a:pPr marL="0" lvl="0" indent="0" algn="l" rtl="0">
              <a:spcBef>
                <a:spcPts val="1000"/>
              </a:spcBef>
              <a:spcAft>
                <a:spcPts val="0"/>
              </a:spcAft>
              <a:buNone/>
            </a:pPr>
            <a:r>
              <a:rPr lang="en-CA" dirty="0"/>
              <a:t>The mean +/- 2 standard deviations includes approximately 95% of all observations</a:t>
            </a:r>
            <a:endParaRPr dirty="0"/>
          </a:p>
          <a:p>
            <a:pPr marL="0" lvl="0" indent="0" algn="l" rtl="0">
              <a:spcBef>
                <a:spcPts val="1000"/>
              </a:spcBef>
              <a:spcAft>
                <a:spcPts val="0"/>
              </a:spcAft>
              <a:buNone/>
            </a:pPr>
            <a:r>
              <a:rPr lang="en-CA" dirty="0"/>
              <a:t>The mean +/- 3 standard deviations includes approximately 99.7% of all observations</a:t>
            </a:r>
            <a:endParaRPr dirty="0"/>
          </a:p>
        </p:txBody>
      </p:sp>
      <p:sp>
        <p:nvSpPr>
          <p:cNvPr id="166" name="Google Shape;166;g3687c4520ce_0_0"/>
          <p:cNvSpPr txBox="1">
            <a:spLocks noGrp="1"/>
          </p:cNvSpPr>
          <p:nvPr>
            <p:ph type="title"/>
          </p:nvPr>
        </p:nvSpPr>
        <p:spPr>
          <a:xfrm>
            <a:off x="838200" y="895212"/>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CA"/>
              <a:t>Features of the Normal Distribution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830B62-8B03-FB92-F899-6F1627FF3F08}"/>
              </a:ext>
            </a:extLst>
          </p:cNvPr>
          <p:cNvSpPr>
            <a:spLocks noGrp="1"/>
          </p:cNvSpPr>
          <p:nvPr>
            <p:ph type="title"/>
          </p:nvPr>
        </p:nvSpPr>
        <p:spPr/>
        <p:txBody>
          <a:bodyPr/>
          <a:lstStyle/>
          <a:p>
            <a:r>
              <a:rPr lang="en-US" dirty="0"/>
              <a:t>Exercise 1</a:t>
            </a:r>
          </a:p>
        </p:txBody>
      </p:sp>
      <p:sp>
        <p:nvSpPr>
          <p:cNvPr id="4" name="Text Placeholder 3">
            <a:extLst>
              <a:ext uri="{FF2B5EF4-FFF2-40B4-BE49-F238E27FC236}">
                <a16:creationId xmlns:a16="http://schemas.microsoft.com/office/drawing/2014/main" id="{4D91D273-107D-6C1C-B03D-62B028A6B242}"/>
              </a:ext>
            </a:extLst>
          </p:cNvPr>
          <p:cNvSpPr>
            <a:spLocks noGrp="1"/>
          </p:cNvSpPr>
          <p:nvPr>
            <p:ph type="body" sz="quarter" idx="13"/>
          </p:nvPr>
        </p:nvSpPr>
        <p:spPr/>
        <p:txBody>
          <a:bodyPr/>
          <a:lstStyle/>
          <a:p>
            <a:pPr>
              <a:buFont typeface="Arial" panose="020B0604020202020204" pitchFamily="34" charset="0"/>
              <a:buChar char="•"/>
            </a:pPr>
            <a:r>
              <a:rPr lang="en-US" dirty="0"/>
              <a:t> Open the lesson_3_exercises.pdf file in the exercises folder</a:t>
            </a:r>
          </a:p>
          <a:p>
            <a:pPr>
              <a:buFont typeface="Arial" panose="020B0604020202020204" pitchFamily="34" charset="0"/>
              <a:buChar char="•"/>
            </a:pPr>
            <a:r>
              <a:rPr lang="en-US" dirty="0"/>
              <a:t> Complete exercise 1 as an orientation to the chemistry data set</a:t>
            </a:r>
          </a:p>
        </p:txBody>
      </p:sp>
    </p:spTree>
    <p:extLst>
      <p:ext uri="{BB962C8B-B14F-4D97-AF65-F5344CB8AC3E}">
        <p14:creationId xmlns:p14="http://schemas.microsoft.com/office/powerpoint/2010/main" val="1941628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Statistical tests</a:t>
            </a:r>
          </a:p>
        </p:txBody>
      </p:sp>
    </p:spTree>
    <p:extLst>
      <p:ext uri="{BB962C8B-B14F-4D97-AF65-F5344CB8AC3E}">
        <p14:creationId xmlns:p14="http://schemas.microsoft.com/office/powerpoint/2010/main" val="2581829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a:xfrm>
            <a:off x="1024128" y="534416"/>
            <a:ext cx="9720072" cy="1499616"/>
          </a:xfrm>
        </p:spPr>
        <p:txBody>
          <a:bodyPr/>
          <a:lstStyle/>
          <a:p>
            <a:r>
              <a:rPr lang="en-US" dirty="0"/>
              <a:t>Statistical tests</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a:xfrm>
            <a:off x="1024127" y="1859280"/>
            <a:ext cx="9720073" cy="4683760"/>
          </a:xfrm>
        </p:spPr>
        <p:txBody>
          <a:bodyPr>
            <a:normAutofit fontScale="92500" lnSpcReduction="20000"/>
          </a:bodyPr>
          <a:lstStyle/>
          <a:p>
            <a:r>
              <a:rPr lang="en-US" sz="3200" dirty="0"/>
              <a:t>We are often interested in whether observed values are meaningfully different either between groups, or from a fixed value. To do this we use statistical tests. </a:t>
            </a:r>
          </a:p>
          <a:p>
            <a:endParaRPr lang="en-US" sz="3200" dirty="0"/>
          </a:p>
          <a:p>
            <a:r>
              <a:rPr lang="en-US" sz="3200" dirty="0"/>
              <a:t>There are a wide variety of tests, but most operate in the same way.</a:t>
            </a:r>
          </a:p>
          <a:p>
            <a:r>
              <a:rPr lang="en-US" sz="3200" dirty="0"/>
              <a:t>1) You assume the shape (“distribution”) of the data if there is no effect – this is called the null hypothesis</a:t>
            </a:r>
            <a:br>
              <a:rPr lang="en-US" sz="3200" dirty="0"/>
            </a:br>
            <a:br>
              <a:rPr lang="en-US" sz="3200" dirty="0"/>
            </a:br>
            <a:r>
              <a:rPr lang="en-US" sz="3200" dirty="0"/>
              <a:t>2) Assuming the null hypothesis is true, you estimate the probability of seeing an effect as big as what your data shows by random chance. </a:t>
            </a:r>
          </a:p>
          <a:p>
            <a:endParaRPr lang="en-US" sz="3200" dirty="0"/>
          </a:p>
        </p:txBody>
      </p:sp>
    </p:spTree>
    <p:extLst>
      <p:ext uri="{BB962C8B-B14F-4D97-AF65-F5344CB8AC3E}">
        <p14:creationId xmlns:p14="http://schemas.microsoft.com/office/powerpoint/2010/main" val="2640509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a:xfrm>
            <a:off x="1024128" y="534416"/>
            <a:ext cx="9720072" cy="1499616"/>
          </a:xfrm>
        </p:spPr>
        <p:txBody>
          <a:bodyPr/>
          <a:lstStyle/>
          <a:p>
            <a:r>
              <a:rPr lang="en-US" dirty="0"/>
              <a:t>Statistical tests</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a:xfrm>
            <a:off x="1024127" y="1859280"/>
            <a:ext cx="9720073" cy="4683760"/>
          </a:xfrm>
        </p:spPr>
        <p:txBody>
          <a:bodyPr>
            <a:normAutofit lnSpcReduction="10000"/>
          </a:bodyPr>
          <a:lstStyle/>
          <a:p>
            <a:r>
              <a:rPr lang="en-US" sz="3200" dirty="0"/>
              <a:t>Imagine you have a six-sided die, and roll it 10 times, getting:</a:t>
            </a:r>
            <a:br>
              <a:rPr lang="en-US" sz="3200" dirty="0"/>
            </a:br>
            <a:r>
              <a:rPr lang="en-US" sz="3200" dirty="0"/>
              <a:t>1, 5, 1, 1, 6, 3, 1, 1, 1, 2</a:t>
            </a:r>
            <a:br>
              <a:rPr lang="en-US" sz="3200" dirty="0"/>
            </a:br>
            <a:br>
              <a:rPr lang="en-US" sz="3200" dirty="0"/>
            </a:br>
            <a:r>
              <a:rPr lang="en-US" sz="3200" dirty="0"/>
              <a:t>That’s a lot of 1’s! Maybe the die is loaded… </a:t>
            </a:r>
            <a:br>
              <a:rPr lang="en-US" sz="3200" dirty="0"/>
            </a:br>
            <a:br>
              <a:rPr lang="en-US" sz="3200" dirty="0"/>
            </a:br>
            <a:r>
              <a:rPr lang="en-US" sz="3200" dirty="0"/>
              <a:t>If we wanted to test whether the die is fair, we: </a:t>
            </a:r>
            <a:br>
              <a:rPr lang="en-US" sz="3200" dirty="0"/>
            </a:br>
            <a:r>
              <a:rPr lang="en-US" sz="3200" dirty="0"/>
              <a:t>1) Assume the die is fair – that each outcome is equally likely</a:t>
            </a:r>
          </a:p>
          <a:p>
            <a:r>
              <a:rPr lang="en-US" sz="3200" dirty="0"/>
              <a:t>2) With this assumption, we estimate the probability of getting at least 6x 1’s from 10 rolls. </a:t>
            </a:r>
          </a:p>
          <a:p>
            <a:pPr marL="0" indent="0">
              <a:buNone/>
            </a:pPr>
            <a:endParaRPr lang="en-US" sz="3200" dirty="0"/>
          </a:p>
          <a:p>
            <a:endParaRPr lang="en-US" sz="3200" dirty="0"/>
          </a:p>
          <a:p>
            <a:endParaRPr lang="en-US" sz="3200" dirty="0"/>
          </a:p>
        </p:txBody>
      </p:sp>
    </p:spTree>
    <p:extLst>
      <p:ext uri="{BB962C8B-B14F-4D97-AF65-F5344CB8AC3E}">
        <p14:creationId xmlns:p14="http://schemas.microsoft.com/office/powerpoint/2010/main" val="4212170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a:xfrm>
            <a:off x="1024128" y="534416"/>
            <a:ext cx="9720072" cy="1499616"/>
          </a:xfrm>
        </p:spPr>
        <p:txBody>
          <a:bodyPr/>
          <a:lstStyle/>
          <a:p>
            <a:r>
              <a:rPr lang="en-US" dirty="0"/>
              <a:t>Statistical tests</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a:xfrm>
            <a:off x="1024127" y="1859280"/>
            <a:ext cx="9720073" cy="4683760"/>
          </a:xfrm>
        </p:spPr>
        <p:txBody>
          <a:bodyPr>
            <a:normAutofit fontScale="92500" lnSpcReduction="20000"/>
          </a:bodyPr>
          <a:lstStyle/>
          <a:p>
            <a:r>
              <a:rPr lang="en-US" sz="3200" dirty="0"/>
              <a:t>From a fair die, the probability of rolling at least 6x 1’s in 10 throws is 0.24% (1 in 400). That’s pretty unlikely. This means our initial assumption (‘the die is fair’) is probably wrong!</a:t>
            </a:r>
          </a:p>
          <a:p>
            <a:r>
              <a:rPr lang="en-US" sz="3200" dirty="0"/>
              <a:t>The p-value from a statistical test is the probability of a result as extreme as the data occurring due to chance, given the null hypothesis. This is the 0.24% above. </a:t>
            </a:r>
          </a:p>
          <a:p>
            <a:pPr marL="0" indent="0">
              <a:buNone/>
            </a:pPr>
            <a:r>
              <a:rPr lang="en-US" sz="3200" dirty="0"/>
              <a:t>Often we use the (somewhat arbitrary) threshold of p &lt; 0.05 (5%). </a:t>
            </a:r>
          </a:p>
          <a:p>
            <a:pPr marL="0" indent="0">
              <a:buNone/>
            </a:pPr>
            <a:endParaRPr lang="en-US" sz="3200" dirty="0"/>
          </a:p>
          <a:p>
            <a:pPr marL="0" indent="0">
              <a:buNone/>
            </a:pPr>
            <a:r>
              <a:rPr lang="en-US" sz="3200" dirty="0"/>
              <a:t>Note, the p-value is NOT the probability our hypothesis is correct. </a:t>
            </a:r>
          </a:p>
          <a:p>
            <a:pPr marL="0" indent="0">
              <a:buNone/>
            </a:pPr>
            <a:endParaRPr lang="en-US" sz="3200" dirty="0"/>
          </a:p>
          <a:p>
            <a:endParaRPr lang="en-US" sz="3200" dirty="0"/>
          </a:p>
          <a:p>
            <a:endParaRPr lang="en-US" sz="3200" dirty="0"/>
          </a:p>
        </p:txBody>
      </p:sp>
    </p:spTree>
    <p:extLst>
      <p:ext uri="{BB962C8B-B14F-4D97-AF65-F5344CB8AC3E}">
        <p14:creationId xmlns:p14="http://schemas.microsoft.com/office/powerpoint/2010/main" val="467156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a:xfrm>
            <a:off x="1024128" y="534416"/>
            <a:ext cx="9720072" cy="1499616"/>
          </a:xfrm>
        </p:spPr>
        <p:txBody>
          <a:bodyPr/>
          <a:lstStyle/>
          <a:p>
            <a:r>
              <a:rPr lang="en-US" dirty="0"/>
              <a:t>Statistical tests</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a:xfrm>
            <a:off x="1024127" y="1859280"/>
            <a:ext cx="9720073" cy="4683760"/>
          </a:xfrm>
        </p:spPr>
        <p:txBody>
          <a:bodyPr>
            <a:normAutofit/>
          </a:bodyPr>
          <a:lstStyle/>
          <a:p>
            <a:r>
              <a:rPr lang="en-US" sz="3200" dirty="0"/>
              <a:t>When analyzing data, there are two questions we are often interested in: </a:t>
            </a:r>
          </a:p>
          <a:p>
            <a:r>
              <a:rPr lang="en-US" sz="3200" dirty="0"/>
              <a:t>1) Does a mean differ between two groups?</a:t>
            </a:r>
          </a:p>
          <a:p>
            <a:r>
              <a:rPr lang="en-US" sz="3200" dirty="0"/>
              <a:t>2) Does an event rate differ between two groups?</a:t>
            </a:r>
          </a:p>
          <a:p>
            <a:pPr marL="0" indent="0">
              <a:buNone/>
            </a:pPr>
            <a:endParaRPr lang="en-US" sz="3200" dirty="0"/>
          </a:p>
          <a:p>
            <a:pPr marL="0" indent="0">
              <a:buNone/>
            </a:pPr>
            <a:r>
              <a:rPr lang="en-US" sz="3200" dirty="0"/>
              <a:t>For most datasets these questions can be evaluated with 1) a t-test, and 2) a chi-squared test</a:t>
            </a:r>
          </a:p>
          <a:p>
            <a:pPr marL="0" indent="0">
              <a:buNone/>
            </a:pPr>
            <a:endParaRPr lang="en-US" sz="3200" dirty="0"/>
          </a:p>
          <a:p>
            <a:endParaRPr lang="en-US" sz="3200" dirty="0"/>
          </a:p>
          <a:p>
            <a:endParaRPr lang="en-US" sz="3200" dirty="0"/>
          </a:p>
        </p:txBody>
      </p:sp>
    </p:spTree>
    <p:extLst>
      <p:ext uri="{BB962C8B-B14F-4D97-AF65-F5344CB8AC3E}">
        <p14:creationId xmlns:p14="http://schemas.microsoft.com/office/powerpoint/2010/main" val="3663677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Student’s t-test</a:t>
            </a:r>
          </a:p>
        </p:txBody>
      </p:sp>
    </p:spTree>
    <p:extLst>
      <p:ext uri="{BB962C8B-B14F-4D97-AF65-F5344CB8AC3E}">
        <p14:creationId xmlns:p14="http://schemas.microsoft.com/office/powerpoint/2010/main" val="391597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a:xfrm>
            <a:off x="1024128" y="534416"/>
            <a:ext cx="9720072" cy="1499616"/>
          </a:xfrm>
        </p:spPr>
        <p:txBody>
          <a:bodyPr/>
          <a:lstStyle/>
          <a:p>
            <a:r>
              <a:rPr lang="en-US" dirty="0"/>
              <a:t>Student’s t-test</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a:xfrm>
            <a:off x="1024127" y="1859280"/>
            <a:ext cx="9720073" cy="4683760"/>
          </a:xfrm>
        </p:spPr>
        <p:txBody>
          <a:bodyPr>
            <a:normAutofit fontScale="92500" lnSpcReduction="10000"/>
          </a:bodyPr>
          <a:lstStyle/>
          <a:p>
            <a:r>
              <a:rPr lang="en-US" sz="3200" dirty="0"/>
              <a:t>To test differences in means, we often use a t-test. This test assumes: </a:t>
            </a:r>
          </a:p>
          <a:p>
            <a:r>
              <a:rPr lang="en-US" sz="3200" dirty="0"/>
              <a:t>1) The data points are independent</a:t>
            </a:r>
          </a:p>
          <a:p>
            <a:r>
              <a:rPr lang="en-US" sz="3200" dirty="0"/>
              <a:t>2) The data are normally distributed (bell-curve shaped)</a:t>
            </a:r>
          </a:p>
          <a:p>
            <a:r>
              <a:rPr lang="en-US" sz="3200" dirty="0"/>
              <a:t>3) The variance of the two groups is similar</a:t>
            </a:r>
          </a:p>
          <a:p>
            <a:pPr marL="0" indent="0">
              <a:buNone/>
            </a:pPr>
            <a:br>
              <a:rPr lang="en-US" sz="3200" dirty="0"/>
            </a:br>
            <a:r>
              <a:rPr lang="en-US" sz="3200" dirty="0"/>
              <a:t>There are two types of t-test: </a:t>
            </a:r>
          </a:p>
          <a:p>
            <a:pPr marL="514350" indent="-514350">
              <a:buAutoNum type="arabicParenR"/>
            </a:pPr>
            <a:r>
              <a:rPr lang="en-US" sz="3200" dirty="0"/>
              <a:t>1-sample: Test whether a mean differs from a given value</a:t>
            </a:r>
          </a:p>
          <a:p>
            <a:pPr marL="514350" indent="-514350">
              <a:buAutoNum type="arabicParenR"/>
            </a:pPr>
            <a:r>
              <a:rPr lang="en-US" sz="3200" dirty="0"/>
              <a:t>2-sample: Test whether two groups have different means</a:t>
            </a:r>
          </a:p>
          <a:p>
            <a:endParaRPr lang="en-US" sz="3200" dirty="0"/>
          </a:p>
        </p:txBody>
      </p:sp>
    </p:spTree>
    <p:extLst>
      <p:ext uri="{BB962C8B-B14F-4D97-AF65-F5344CB8AC3E}">
        <p14:creationId xmlns:p14="http://schemas.microsoft.com/office/powerpoint/2010/main" val="2352019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4E780-C58E-08E6-3E60-D3AC512588D7}"/>
              </a:ext>
            </a:extLst>
          </p:cNvPr>
          <p:cNvSpPr>
            <a:spLocks noGrp="1"/>
          </p:cNvSpPr>
          <p:nvPr>
            <p:ph type="title"/>
          </p:nvPr>
        </p:nvSpPr>
        <p:spPr/>
        <p:txBody>
          <a:bodyPr/>
          <a:lstStyle/>
          <a:p>
            <a:r>
              <a:rPr lang="en-US" dirty="0"/>
              <a:t>One-sample t-test</a:t>
            </a:r>
          </a:p>
        </p:txBody>
      </p:sp>
      <p:pic>
        <p:nvPicPr>
          <p:cNvPr id="6" name="Content Placeholder 5" descr="A diagram of a diagram of a number of blue cylinders&#10;&#10;Description automatically generated">
            <a:extLst>
              <a:ext uri="{FF2B5EF4-FFF2-40B4-BE49-F238E27FC236}">
                <a16:creationId xmlns:a16="http://schemas.microsoft.com/office/drawing/2014/main" id="{8DD04A66-BECE-BF77-5001-E50BB60CF5CC}"/>
              </a:ext>
            </a:extLst>
          </p:cNvPr>
          <p:cNvPicPr>
            <a:picLocks noGrp="1" noChangeAspect="1"/>
          </p:cNvPicPr>
          <p:nvPr>
            <p:ph idx="1"/>
          </p:nvPr>
        </p:nvPicPr>
        <p:blipFill>
          <a:blip r:embed="rId2"/>
          <a:stretch>
            <a:fillRect/>
          </a:stretch>
        </p:blipFill>
        <p:spPr>
          <a:xfrm>
            <a:off x="2877556" y="2286000"/>
            <a:ext cx="6013026" cy="4022725"/>
          </a:xfrm>
        </p:spPr>
      </p:pic>
      <p:sp>
        <p:nvSpPr>
          <p:cNvPr id="7" name="TextBox 6">
            <a:extLst>
              <a:ext uri="{FF2B5EF4-FFF2-40B4-BE49-F238E27FC236}">
                <a16:creationId xmlns:a16="http://schemas.microsoft.com/office/drawing/2014/main" id="{603B2CEA-F4A7-9164-20AD-DE08AB1C2EA0}"/>
              </a:ext>
            </a:extLst>
          </p:cNvPr>
          <p:cNvSpPr txBox="1"/>
          <p:nvPr/>
        </p:nvSpPr>
        <p:spPr>
          <a:xfrm>
            <a:off x="0" y="6488668"/>
            <a:ext cx="5433391" cy="369332"/>
          </a:xfrm>
          <a:prstGeom prst="rect">
            <a:avLst/>
          </a:prstGeom>
          <a:noFill/>
        </p:spPr>
        <p:txBody>
          <a:bodyPr wrap="square" rtlCol="0">
            <a:spAutoFit/>
          </a:bodyPr>
          <a:lstStyle/>
          <a:p>
            <a:r>
              <a:rPr lang="en-US" dirty="0"/>
              <a:t>https://</a:t>
            </a:r>
            <a:r>
              <a:rPr lang="en-US" dirty="0" err="1"/>
              <a:t>en.wikipedia.org</a:t>
            </a:r>
            <a:r>
              <a:rPr lang="en-US" dirty="0"/>
              <a:t>/wiki/Student%27s_t-test</a:t>
            </a:r>
          </a:p>
        </p:txBody>
      </p:sp>
    </p:spTree>
    <p:extLst>
      <p:ext uri="{BB962C8B-B14F-4D97-AF65-F5344CB8AC3E}">
        <p14:creationId xmlns:p14="http://schemas.microsoft.com/office/powerpoint/2010/main" val="3046224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1B62E-FCD1-798C-B52D-FBAE9E4B3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41A49-81FC-59EF-2325-A6505C3D5414}"/>
              </a:ext>
            </a:extLst>
          </p:cNvPr>
          <p:cNvSpPr>
            <a:spLocks noGrp="1"/>
          </p:cNvSpPr>
          <p:nvPr>
            <p:ph type="title"/>
          </p:nvPr>
        </p:nvSpPr>
        <p:spPr>
          <a:xfrm>
            <a:off x="1005359" y="937699"/>
            <a:ext cx="5800460" cy="777536"/>
          </a:xfrm>
        </p:spPr>
        <p:txBody>
          <a:bodyPr/>
          <a:lstStyle/>
          <a:p>
            <a:r>
              <a:rPr lang="en-US" sz="4800" dirty="0">
                <a:solidFill>
                  <a:srgbClr val="000000"/>
                </a:solidFill>
              </a:rPr>
              <a:t>One-sample t-test</a:t>
            </a:r>
          </a:p>
        </p:txBody>
      </p:sp>
      <p:sp>
        <p:nvSpPr>
          <p:cNvPr id="7" name="Rectangle 6">
            <a:extLst>
              <a:ext uri="{FF2B5EF4-FFF2-40B4-BE49-F238E27FC236}">
                <a16:creationId xmlns:a16="http://schemas.microsoft.com/office/drawing/2014/main" id="{90ED8148-DB9B-A0C7-7157-D12EE15DB4DC}"/>
              </a:ext>
            </a:extLst>
          </p:cNvPr>
          <p:cNvSpPr/>
          <p:nvPr/>
        </p:nvSpPr>
        <p:spPr>
          <a:xfrm>
            <a:off x="882883" y="2306254"/>
            <a:ext cx="10513988" cy="4031873"/>
          </a:xfrm>
          <a:prstGeom prst="rect">
            <a:avLst/>
          </a:prstGeom>
        </p:spPr>
        <p:txBody>
          <a:bodyPr wrap="square">
            <a:spAutoFit/>
          </a:bodyPr>
          <a:lstStyle/>
          <a:p>
            <a:r>
              <a:rPr lang="en-US" sz="3200" dirty="0">
                <a:latin typeface="Calibri" panose="020F0502020204030204" pitchFamily="34" charset="0"/>
              </a:rPr>
              <a:t>If we wanted to test whether total </a:t>
            </a:r>
            <a:r>
              <a:rPr lang="en-US" sz="3200" b="1" i="1" dirty="0">
                <a:latin typeface="Calibri" panose="020F0502020204030204" pitchFamily="34" charset="0"/>
              </a:rPr>
              <a:t>cholesterol</a:t>
            </a:r>
            <a:r>
              <a:rPr lang="en-US" sz="3200" dirty="0">
                <a:latin typeface="Calibri" panose="020F0502020204030204" pitchFamily="34" charset="0"/>
              </a:rPr>
              <a:t> levels in </a:t>
            </a:r>
            <a:r>
              <a:rPr lang="en-US" sz="3200" b="1" i="1" dirty="0">
                <a:latin typeface="Calibri" panose="020F0502020204030204" pitchFamily="34" charset="0"/>
              </a:rPr>
              <a:t>outpatients</a:t>
            </a:r>
            <a:r>
              <a:rPr lang="en-US" sz="3200" dirty="0">
                <a:latin typeface="Calibri" panose="020F0502020204030204" pitchFamily="34" charset="0"/>
              </a:rPr>
              <a:t> within our chemistry data set were different from the US adult average (~190ng/mL), we’d use a one-sample t-test.</a:t>
            </a:r>
          </a:p>
          <a:p>
            <a:endParaRPr lang="en-US" sz="3200" dirty="0">
              <a:latin typeface="Calibri" panose="020F0502020204030204" pitchFamily="34" charset="0"/>
            </a:endParaRPr>
          </a:p>
          <a:p>
            <a:r>
              <a:rPr lang="en-US" sz="3200" dirty="0">
                <a:latin typeface="Calibri" panose="020F0502020204030204" pitchFamily="34" charset="0"/>
              </a:rPr>
              <a:t>Given our chemistry data set, which includes results for a large number of tests in a broad population, what specific steps do we need to complete to analyze the data set?</a:t>
            </a:r>
          </a:p>
        </p:txBody>
      </p:sp>
    </p:spTree>
    <p:extLst>
      <p:ext uri="{BB962C8B-B14F-4D97-AF65-F5344CB8AC3E}">
        <p14:creationId xmlns:p14="http://schemas.microsoft.com/office/powerpoint/2010/main" val="2004326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47D67-2DE6-4570-B4BB-9D32D17AF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710AC-3F9F-14D4-E70F-5A04E64E234B}"/>
              </a:ext>
            </a:extLst>
          </p:cNvPr>
          <p:cNvSpPr>
            <a:spLocks noGrp="1"/>
          </p:cNvSpPr>
          <p:nvPr>
            <p:ph type="title"/>
          </p:nvPr>
        </p:nvSpPr>
        <p:spPr>
          <a:xfrm>
            <a:off x="1005359" y="937699"/>
            <a:ext cx="5800460" cy="777536"/>
          </a:xfrm>
        </p:spPr>
        <p:txBody>
          <a:bodyPr/>
          <a:lstStyle/>
          <a:p>
            <a:r>
              <a:rPr lang="en-US" sz="4800" dirty="0">
                <a:solidFill>
                  <a:srgbClr val="000000"/>
                </a:solidFill>
              </a:rPr>
              <a:t>One-sample t-test</a:t>
            </a:r>
          </a:p>
        </p:txBody>
      </p:sp>
      <p:sp>
        <p:nvSpPr>
          <p:cNvPr id="7" name="Rectangle 6">
            <a:extLst>
              <a:ext uri="{FF2B5EF4-FFF2-40B4-BE49-F238E27FC236}">
                <a16:creationId xmlns:a16="http://schemas.microsoft.com/office/drawing/2014/main" id="{8F064E72-9194-F4B6-9B11-0B3FC0E24E50}"/>
              </a:ext>
            </a:extLst>
          </p:cNvPr>
          <p:cNvSpPr/>
          <p:nvPr/>
        </p:nvSpPr>
        <p:spPr>
          <a:xfrm>
            <a:off x="882883" y="2306254"/>
            <a:ext cx="10513988" cy="2554545"/>
          </a:xfrm>
          <a:prstGeom prst="rect">
            <a:avLst/>
          </a:prstGeom>
        </p:spPr>
        <p:txBody>
          <a:bodyPr wrap="square">
            <a:spAutoFit/>
          </a:bodyPr>
          <a:lstStyle/>
          <a:p>
            <a:pPr marL="514350" indent="-514350">
              <a:buFont typeface="+mj-lt"/>
              <a:buAutoNum type="arabicPeriod"/>
            </a:pPr>
            <a:r>
              <a:rPr lang="en-US" sz="3200" dirty="0">
                <a:latin typeface="Calibri" panose="020F0502020204030204" pitchFamily="34" charset="0"/>
              </a:rPr>
              <a:t>Create a subset of the broader data set with only cholesterol results</a:t>
            </a:r>
          </a:p>
          <a:p>
            <a:pPr marL="514350" indent="-514350">
              <a:buFont typeface="+mj-lt"/>
              <a:buAutoNum type="arabicPeriod"/>
            </a:pPr>
            <a:r>
              <a:rPr lang="en-US" sz="3200" dirty="0">
                <a:latin typeface="Calibri" panose="020F0502020204030204" pitchFamily="34" charset="0"/>
              </a:rPr>
              <a:t>Further subset the data to include only outpatient results</a:t>
            </a:r>
          </a:p>
          <a:p>
            <a:pPr marL="514350" indent="-514350">
              <a:buFont typeface="+mj-lt"/>
              <a:buAutoNum type="arabicPeriod"/>
            </a:pPr>
            <a:r>
              <a:rPr lang="en-US" sz="3200" dirty="0">
                <a:latin typeface="Calibri" panose="020F0502020204030204" pitchFamily="34" charset="0"/>
              </a:rPr>
              <a:t>Perform a t-test that compares these specific results to a population mean value of 190 ng/mL</a:t>
            </a:r>
          </a:p>
        </p:txBody>
      </p:sp>
    </p:spTree>
    <p:extLst>
      <p:ext uri="{BB962C8B-B14F-4D97-AF65-F5344CB8AC3E}">
        <p14:creationId xmlns:p14="http://schemas.microsoft.com/office/powerpoint/2010/main" val="421085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A7949A-F142-8478-79FB-3FE270AC862B}"/>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21</a:t>
            </a:fld>
            <a:endParaRPr lang="en-US">
              <a:solidFill>
                <a:prstClr val="black">
                  <a:lumMod val="95000"/>
                  <a:lumOff val="5000"/>
                </a:prstClr>
              </a:solidFill>
            </a:endParaRPr>
          </a:p>
        </p:txBody>
      </p:sp>
      <p:sp>
        <p:nvSpPr>
          <p:cNvPr id="3" name="Title 2">
            <a:extLst>
              <a:ext uri="{FF2B5EF4-FFF2-40B4-BE49-F238E27FC236}">
                <a16:creationId xmlns:a16="http://schemas.microsoft.com/office/drawing/2014/main" id="{0DA195F3-34B5-0A00-7C3F-8995BD37D581}"/>
              </a:ext>
            </a:extLst>
          </p:cNvPr>
          <p:cNvSpPr>
            <a:spLocks noGrp="1"/>
          </p:cNvSpPr>
          <p:nvPr>
            <p:ph type="title"/>
          </p:nvPr>
        </p:nvSpPr>
        <p:spPr/>
        <p:txBody>
          <a:bodyPr/>
          <a:lstStyle/>
          <a:p>
            <a:r>
              <a:rPr lang="en-US" dirty="0"/>
              <a:t>Exercise 2</a:t>
            </a:r>
          </a:p>
        </p:txBody>
      </p:sp>
      <p:sp>
        <p:nvSpPr>
          <p:cNvPr id="4" name="Text Placeholder 3">
            <a:extLst>
              <a:ext uri="{FF2B5EF4-FFF2-40B4-BE49-F238E27FC236}">
                <a16:creationId xmlns:a16="http://schemas.microsoft.com/office/drawing/2014/main" id="{7B800BC9-AB16-FD4C-DDE0-8BF96D24F64C}"/>
              </a:ext>
            </a:extLst>
          </p:cNvPr>
          <p:cNvSpPr>
            <a:spLocks noGrp="1"/>
          </p:cNvSpPr>
          <p:nvPr>
            <p:ph type="body" sz="quarter" idx="13"/>
          </p:nvPr>
        </p:nvSpPr>
        <p:spPr/>
        <p:txBody>
          <a:bodyPr/>
          <a:lstStyle/>
          <a:p>
            <a:r>
              <a:rPr lang="en-US" dirty="0"/>
              <a:t>We will complete exercise 2 in the lesson 3 exercises file together</a:t>
            </a:r>
          </a:p>
        </p:txBody>
      </p:sp>
    </p:spTree>
    <p:extLst>
      <p:ext uri="{BB962C8B-B14F-4D97-AF65-F5344CB8AC3E}">
        <p14:creationId xmlns:p14="http://schemas.microsoft.com/office/powerpoint/2010/main" val="1454933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E9896-0176-95CE-109F-7575B2FB1E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B52347-055B-91A1-4100-8EF832758572}"/>
              </a:ext>
            </a:extLst>
          </p:cNvPr>
          <p:cNvSpPr>
            <a:spLocks noGrp="1"/>
          </p:cNvSpPr>
          <p:nvPr>
            <p:ph type="title"/>
          </p:nvPr>
        </p:nvSpPr>
        <p:spPr>
          <a:xfrm>
            <a:off x="1005359" y="937699"/>
            <a:ext cx="5800460" cy="777536"/>
          </a:xfrm>
        </p:spPr>
        <p:txBody>
          <a:bodyPr/>
          <a:lstStyle/>
          <a:p>
            <a:r>
              <a:rPr lang="en-US" sz="4800" dirty="0">
                <a:solidFill>
                  <a:srgbClr val="000000"/>
                </a:solidFill>
              </a:rPr>
              <a:t>One-sample t-test in R</a:t>
            </a:r>
          </a:p>
        </p:txBody>
      </p:sp>
      <p:sp>
        <p:nvSpPr>
          <p:cNvPr id="3" name="Rectangle 2">
            <a:extLst>
              <a:ext uri="{FF2B5EF4-FFF2-40B4-BE49-F238E27FC236}">
                <a16:creationId xmlns:a16="http://schemas.microsoft.com/office/drawing/2014/main" id="{1A2A7FD1-FF5E-A6F4-D565-768B260F01CD}"/>
              </a:ext>
            </a:extLst>
          </p:cNvPr>
          <p:cNvSpPr/>
          <p:nvPr/>
        </p:nvSpPr>
        <p:spPr>
          <a:xfrm>
            <a:off x="159026" y="5944261"/>
            <a:ext cx="11873947" cy="811728"/>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127F035-B78C-AF72-ADEF-A0DFFA856B96}"/>
              </a:ext>
            </a:extLst>
          </p:cNvPr>
          <p:cNvSpPr txBox="1"/>
          <p:nvPr/>
        </p:nvSpPr>
        <p:spPr>
          <a:xfrm>
            <a:off x="190645" y="6114385"/>
            <a:ext cx="12376110"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chol_subset</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test == ‘</a:t>
            </a:r>
            <a:r>
              <a:rPr lang="fr-FR" sz="2000" dirty="0" err="1">
                <a:solidFill>
                  <a:srgbClr val="164F86"/>
                </a:solidFill>
                <a:latin typeface="Monaco" pitchFamily="2" charset="77"/>
                <a:ea typeface="Courier New"/>
                <a:cs typeface="Consolas" panose="020B0609020204030204" pitchFamily="49" charset="0"/>
                <a:sym typeface="Courier New"/>
              </a:rPr>
              <a:t>cholesterol</a:t>
            </a:r>
            <a:r>
              <a:rPr lang="fr-FR"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pat_type</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outpatient</a:t>
            </a:r>
            <a:r>
              <a:rPr lang="fr-FR" sz="2000" dirty="0">
                <a:solidFill>
                  <a:srgbClr val="164F86"/>
                </a:solidFill>
                <a:latin typeface="Monaco" pitchFamily="2" charset="77"/>
                <a:ea typeface="Courier New"/>
                <a:cs typeface="Consolas" panose="020B0609020204030204" pitchFamily="49" charset="0"/>
                <a:sym typeface="Courier New"/>
              </a:rPr>
              <a:t>’)</a:t>
            </a:r>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7" name="Rectangle 6">
            <a:extLst>
              <a:ext uri="{FF2B5EF4-FFF2-40B4-BE49-F238E27FC236}">
                <a16:creationId xmlns:a16="http://schemas.microsoft.com/office/drawing/2014/main" id="{98591D41-66D6-4F81-7FC2-ED4670DA4BDC}"/>
              </a:ext>
            </a:extLst>
          </p:cNvPr>
          <p:cNvSpPr/>
          <p:nvPr/>
        </p:nvSpPr>
        <p:spPr>
          <a:xfrm>
            <a:off x="882882" y="2306254"/>
            <a:ext cx="11018141" cy="3046988"/>
          </a:xfrm>
          <a:prstGeom prst="rect">
            <a:avLst/>
          </a:prstGeom>
        </p:spPr>
        <p:txBody>
          <a:bodyPr wrap="square">
            <a:spAutoFit/>
          </a:bodyPr>
          <a:lstStyle/>
          <a:p>
            <a:r>
              <a:rPr lang="en-US" sz="3200" dirty="0">
                <a:latin typeface="Calibri" panose="020F0502020204030204" pitchFamily="34" charset="0"/>
              </a:rPr>
              <a:t>If we wanted to test whether total cholesterol levels in outpatients within our chemistry data set were different from the US adult average (~190ng/mL), we’d use a 1-sample t-test.</a:t>
            </a:r>
          </a:p>
          <a:p>
            <a:endParaRPr lang="en-US" sz="3200" dirty="0">
              <a:latin typeface="Calibri" panose="020F0502020204030204" pitchFamily="34" charset="0"/>
            </a:endParaRPr>
          </a:p>
          <a:p>
            <a:pPr marL="514350" indent="-514350">
              <a:buAutoNum type="arabicPeriod"/>
            </a:pPr>
            <a:r>
              <a:rPr lang="en-US" sz="3200" b="1" dirty="0">
                <a:latin typeface="Calibri" panose="020F0502020204030204" pitchFamily="34" charset="0"/>
              </a:rPr>
              <a:t>Filter down to the given test and limit to outpatients</a:t>
            </a:r>
          </a:p>
          <a:p>
            <a:pPr marL="514350" indent="-514350">
              <a:buAutoNum type="arabicPeriod"/>
            </a:pPr>
            <a:r>
              <a:rPr lang="en-US" sz="3200" dirty="0">
                <a:latin typeface="Calibri" panose="020F0502020204030204" pitchFamily="34" charset="0"/>
              </a:rPr>
              <a:t>Run the t-test</a:t>
            </a:r>
          </a:p>
        </p:txBody>
      </p:sp>
    </p:spTree>
    <p:extLst>
      <p:ext uri="{BB962C8B-B14F-4D97-AF65-F5344CB8AC3E}">
        <p14:creationId xmlns:p14="http://schemas.microsoft.com/office/powerpoint/2010/main" val="12224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CB425-74E2-5374-E1AE-31BA5C260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BD1F3-8FD2-3011-C97D-0C57ADC1D0C8}"/>
              </a:ext>
            </a:extLst>
          </p:cNvPr>
          <p:cNvSpPr>
            <a:spLocks noGrp="1"/>
          </p:cNvSpPr>
          <p:nvPr>
            <p:ph type="title"/>
          </p:nvPr>
        </p:nvSpPr>
        <p:spPr>
          <a:xfrm>
            <a:off x="1005359" y="937699"/>
            <a:ext cx="5800460" cy="777536"/>
          </a:xfrm>
        </p:spPr>
        <p:txBody>
          <a:bodyPr/>
          <a:lstStyle/>
          <a:p>
            <a:r>
              <a:rPr lang="en-US" sz="4800" dirty="0">
                <a:solidFill>
                  <a:srgbClr val="000000"/>
                </a:solidFill>
              </a:rPr>
              <a:t>One-sample t-test in R</a:t>
            </a:r>
          </a:p>
        </p:txBody>
      </p:sp>
      <p:sp>
        <p:nvSpPr>
          <p:cNvPr id="7" name="Rectangle 6">
            <a:extLst>
              <a:ext uri="{FF2B5EF4-FFF2-40B4-BE49-F238E27FC236}">
                <a16:creationId xmlns:a16="http://schemas.microsoft.com/office/drawing/2014/main" id="{3A94D655-8C59-7395-73F3-B4A526399201}"/>
              </a:ext>
            </a:extLst>
          </p:cNvPr>
          <p:cNvSpPr/>
          <p:nvPr/>
        </p:nvSpPr>
        <p:spPr>
          <a:xfrm>
            <a:off x="882882" y="2306254"/>
            <a:ext cx="11018141" cy="1569660"/>
          </a:xfrm>
          <a:prstGeom prst="rect">
            <a:avLst/>
          </a:prstGeom>
        </p:spPr>
        <p:txBody>
          <a:bodyPr wrap="square">
            <a:spAutoFit/>
          </a:bodyPr>
          <a:lstStyle/>
          <a:p>
            <a:endParaRPr lang="en-US" sz="3200" dirty="0">
              <a:latin typeface="Calibri" panose="020F0502020204030204" pitchFamily="34" charset="0"/>
            </a:endParaRPr>
          </a:p>
          <a:p>
            <a:pPr marL="514350" indent="-514350">
              <a:buAutoNum type="arabicPeriod"/>
            </a:pPr>
            <a:r>
              <a:rPr lang="en-US" sz="3200" dirty="0">
                <a:latin typeface="Calibri" panose="020F0502020204030204" pitchFamily="34" charset="0"/>
              </a:rPr>
              <a:t>Filter down to the given test and limit to outpatients</a:t>
            </a:r>
          </a:p>
          <a:p>
            <a:pPr marL="514350" indent="-514350">
              <a:buAutoNum type="arabicPeriod"/>
            </a:pPr>
            <a:r>
              <a:rPr lang="en-US" sz="3200" b="1" dirty="0">
                <a:latin typeface="Calibri" panose="020F0502020204030204" pitchFamily="34" charset="0"/>
              </a:rPr>
              <a:t>Run the t-test</a:t>
            </a:r>
          </a:p>
        </p:txBody>
      </p:sp>
      <p:sp>
        <p:nvSpPr>
          <p:cNvPr id="4" name="Rectangle 3">
            <a:extLst>
              <a:ext uri="{FF2B5EF4-FFF2-40B4-BE49-F238E27FC236}">
                <a16:creationId xmlns:a16="http://schemas.microsoft.com/office/drawing/2014/main" id="{5D6AC430-62D2-4F6D-FDC3-31C54CF156FA}"/>
              </a:ext>
            </a:extLst>
          </p:cNvPr>
          <p:cNvSpPr/>
          <p:nvPr/>
        </p:nvSpPr>
        <p:spPr>
          <a:xfrm>
            <a:off x="1855305" y="5689475"/>
            <a:ext cx="7574446" cy="784212"/>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CE204F-6343-7FCE-2054-D24FAC842330}"/>
              </a:ext>
            </a:extLst>
          </p:cNvPr>
          <p:cNvSpPr txBox="1"/>
          <p:nvPr/>
        </p:nvSpPr>
        <p:spPr>
          <a:xfrm>
            <a:off x="2015622" y="5870997"/>
            <a:ext cx="7395542"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t_test</a:t>
            </a:r>
            <a:r>
              <a:rPr lang="en-US" sz="2000" dirty="0">
                <a:solidFill>
                  <a:srgbClr val="164F86"/>
                </a:solidFill>
                <a:latin typeface="Monaco" pitchFamily="2" charset="77"/>
                <a:ea typeface="Courier New"/>
                <a:cs typeface="Consolas" panose="020B0609020204030204" pitchFamily="49" charset="0"/>
                <a:sym typeface="Courier New"/>
              </a:rPr>
              <a:t>(</a:t>
            </a:r>
            <a:r>
              <a:rPr lang="en-US" sz="2000" dirty="0" err="1">
                <a:solidFill>
                  <a:srgbClr val="164F86"/>
                </a:solidFill>
                <a:latin typeface="Monaco" pitchFamily="2" charset="77"/>
                <a:ea typeface="Courier New"/>
                <a:cs typeface="Consolas" panose="020B0609020204030204" pitchFamily="49" charset="0"/>
                <a:sym typeface="Courier New"/>
              </a:rPr>
              <a:t>chol_subset</a:t>
            </a:r>
            <a:r>
              <a:rPr lang="en-US" sz="2000" dirty="0">
                <a:solidFill>
                  <a:srgbClr val="164F86"/>
                </a:solidFill>
                <a:latin typeface="Monaco" pitchFamily="2" charset="77"/>
                <a:ea typeface="Courier New"/>
                <a:cs typeface="Consolas" panose="020B0609020204030204" pitchFamily="49" charset="0"/>
                <a:sym typeface="Courier New"/>
              </a:rPr>
              <a:t>, response = value, mu = 190) </a:t>
            </a:r>
          </a:p>
        </p:txBody>
      </p:sp>
      <p:grpSp>
        <p:nvGrpSpPr>
          <p:cNvPr id="8" name="Group 7">
            <a:extLst>
              <a:ext uri="{FF2B5EF4-FFF2-40B4-BE49-F238E27FC236}">
                <a16:creationId xmlns:a16="http://schemas.microsoft.com/office/drawing/2014/main" id="{B5E1E136-EF34-A767-8304-FB3A252EE186}"/>
              </a:ext>
            </a:extLst>
          </p:cNvPr>
          <p:cNvGrpSpPr/>
          <p:nvPr/>
        </p:nvGrpSpPr>
        <p:grpSpPr>
          <a:xfrm>
            <a:off x="2446682" y="4233143"/>
            <a:ext cx="2365216" cy="1246648"/>
            <a:chOff x="896764" y="1732048"/>
            <a:chExt cx="2365216" cy="1246648"/>
          </a:xfrm>
        </p:grpSpPr>
        <p:sp>
          <p:nvSpPr>
            <p:cNvPr id="9" name="Rounded Rectangular Callout 8">
              <a:extLst>
                <a:ext uri="{FF2B5EF4-FFF2-40B4-BE49-F238E27FC236}">
                  <a16:creationId xmlns:a16="http://schemas.microsoft.com/office/drawing/2014/main" id="{DDF74950-B2C8-A89F-2865-07B56E91724B}"/>
                </a:ext>
              </a:extLst>
            </p:cNvPr>
            <p:cNvSpPr/>
            <p:nvPr/>
          </p:nvSpPr>
          <p:spPr>
            <a:xfrm>
              <a:off x="896764" y="1732048"/>
              <a:ext cx="2365216" cy="1246648"/>
            </a:xfrm>
            <a:prstGeom prst="wedgeRoundRectCallout">
              <a:avLst>
                <a:gd name="adj1" fmla="val -6901"/>
                <a:gd name="adj2" fmla="val 80824"/>
                <a:gd name="adj3" fmla="val 16667"/>
              </a:avLst>
            </a:prstGeom>
            <a:solidFill>
              <a:srgbClr val="92D05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5AB680E-2C1D-508B-BE2F-E17C6F8461F5}"/>
                </a:ext>
              </a:extLst>
            </p:cNvPr>
            <p:cNvSpPr txBox="1"/>
            <p:nvPr/>
          </p:nvSpPr>
          <p:spPr>
            <a:xfrm>
              <a:off x="896764" y="1811673"/>
              <a:ext cx="2365216"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err="1">
                  <a:solidFill>
                    <a:schemeClr val="bg1"/>
                  </a:solidFill>
                </a:rPr>
                <a:t>dataframe</a:t>
              </a:r>
              <a:endParaRPr lang="en-US" sz="2800" dirty="0">
                <a:solidFill>
                  <a:schemeClr val="bg1"/>
                </a:solidFill>
                <a:latin typeface="Consolas" panose="020B0609020204030204" pitchFamily="49" charset="0"/>
                <a:ea typeface="Monaco" charset="0"/>
                <a:cs typeface="Consolas" panose="020B0609020204030204" pitchFamily="49" charset="0"/>
              </a:endParaRPr>
            </a:p>
            <a:p>
              <a:pPr algn="ctr"/>
              <a:endParaRPr lang="en-US" dirty="0">
                <a:solidFill>
                  <a:schemeClr val="bg1"/>
                </a:solidFill>
              </a:endParaRPr>
            </a:p>
          </p:txBody>
        </p:sp>
      </p:grpSp>
      <p:grpSp>
        <p:nvGrpSpPr>
          <p:cNvPr id="11" name="Group 10">
            <a:extLst>
              <a:ext uri="{FF2B5EF4-FFF2-40B4-BE49-F238E27FC236}">
                <a16:creationId xmlns:a16="http://schemas.microsoft.com/office/drawing/2014/main" id="{71AF2426-4880-51E1-3F7C-97E06EBFA9C8}"/>
              </a:ext>
            </a:extLst>
          </p:cNvPr>
          <p:cNvGrpSpPr/>
          <p:nvPr/>
        </p:nvGrpSpPr>
        <p:grpSpPr>
          <a:xfrm>
            <a:off x="5078597" y="4165836"/>
            <a:ext cx="2365216" cy="1246648"/>
            <a:chOff x="896764" y="1732048"/>
            <a:chExt cx="2365216" cy="1246648"/>
          </a:xfrm>
        </p:grpSpPr>
        <p:sp>
          <p:nvSpPr>
            <p:cNvPr id="12" name="Rounded Rectangular Callout 11">
              <a:extLst>
                <a:ext uri="{FF2B5EF4-FFF2-40B4-BE49-F238E27FC236}">
                  <a16:creationId xmlns:a16="http://schemas.microsoft.com/office/drawing/2014/main" id="{0DEA08B6-89E9-1DA3-7E44-B3EE0250B822}"/>
                </a:ext>
              </a:extLst>
            </p:cNvPr>
            <p:cNvSpPr/>
            <p:nvPr/>
          </p:nvSpPr>
          <p:spPr>
            <a:xfrm>
              <a:off x="896764" y="1732048"/>
              <a:ext cx="2365216" cy="1246648"/>
            </a:xfrm>
            <a:prstGeom prst="wedgeRoundRectCallout">
              <a:avLst>
                <a:gd name="adj1" fmla="val -24370"/>
                <a:gd name="adj2" fmla="val 86518"/>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908ED3C-B56C-1B2D-281B-2A262D1B6FED}"/>
                </a:ext>
              </a:extLst>
            </p:cNvPr>
            <p:cNvSpPr txBox="1"/>
            <p:nvPr/>
          </p:nvSpPr>
          <p:spPr>
            <a:xfrm>
              <a:off x="896764" y="1811673"/>
              <a:ext cx="2365216"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variable</a:t>
              </a:r>
              <a:endParaRPr lang="en-US" sz="2800" dirty="0">
                <a:solidFill>
                  <a:schemeClr val="bg1"/>
                </a:solidFill>
                <a:latin typeface="Consolas" panose="020B0609020204030204" pitchFamily="49" charset="0"/>
                <a:ea typeface="Monaco" charset="0"/>
                <a:cs typeface="Consolas" panose="020B0609020204030204" pitchFamily="49" charset="0"/>
              </a:endParaRPr>
            </a:p>
            <a:p>
              <a:pPr algn="ctr"/>
              <a:endParaRPr lang="en-US" dirty="0">
                <a:solidFill>
                  <a:schemeClr val="bg1"/>
                </a:solidFill>
              </a:endParaRPr>
            </a:p>
          </p:txBody>
        </p:sp>
      </p:grpSp>
      <p:grpSp>
        <p:nvGrpSpPr>
          <p:cNvPr id="14" name="Group 13">
            <a:extLst>
              <a:ext uri="{FF2B5EF4-FFF2-40B4-BE49-F238E27FC236}">
                <a16:creationId xmlns:a16="http://schemas.microsoft.com/office/drawing/2014/main" id="{31036E9E-DB31-79CF-B645-899511DE73BD}"/>
              </a:ext>
            </a:extLst>
          </p:cNvPr>
          <p:cNvGrpSpPr/>
          <p:nvPr/>
        </p:nvGrpSpPr>
        <p:grpSpPr>
          <a:xfrm>
            <a:off x="8296547" y="4143338"/>
            <a:ext cx="2730760" cy="1246648"/>
            <a:chOff x="896764" y="1732048"/>
            <a:chExt cx="2365216" cy="1246648"/>
          </a:xfrm>
        </p:grpSpPr>
        <p:sp>
          <p:nvSpPr>
            <p:cNvPr id="15" name="Rounded Rectangular Callout 14">
              <a:extLst>
                <a:ext uri="{FF2B5EF4-FFF2-40B4-BE49-F238E27FC236}">
                  <a16:creationId xmlns:a16="http://schemas.microsoft.com/office/drawing/2014/main" id="{8CFAFA49-FC75-A75B-1282-8EA1768ED43F}"/>
                </a:ext>
              </a:extLst>
            </p:cNvPr>
            <p:cNvSpPr/>
            <p:nvPr/>
          </p:nvSpPr>
          <p:spPr>
            <a:xfrm>
              <a:off x="896764" y="1732048"/>
              <a:ext cx="2365216" cy="1246648"/>
            </a:xfrm>
            <a:prstGeom prst="wedgeRoundRectCallout">
              <a:avLst>
                <a:gd name="adj1" fmla="val -36721"/>
                <a:gd name="adj2" fmla="val 94612"/>
                <a:gd name="adj3" fmla="val 16667"/>
              </a:avLst>
            </a:prstGeom>
            <a:solidFill>
              <a:srgbClr val="92D05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7E3B1270-88B0-8F2B-ACDC-9D8191FDBB95}"/>
                </a:ext>
              </a:extLst>
            </p:cNvPr>
            <p:cNvSpPr txBox="1"/>
            <p:nvPr/>
          </p:nvSpPr>
          <p:spPr>
            <a:xfrm>
              <a:off x="896764" y="1811673"/>
              <a:ext cx="2365216"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presumed value</a:t>
              </a:r>
              <a:endParaRPr lang="en-US" sz="2800" dirty="0">
                <a:solidFill>
                  <a:schemeClr val="bg1"/>
                </a:solidFill>
                <a:latin typeface="Consolas" panose="020B0609020204030204" pitchFamily="49" charset="0"/>
                <a:ea typeface="Monaco" charset="0"/>
                <a:cs typeface="Consolas" panose="020B0609020204030204" pitchFamily="49" charset="0"/>
              </a:endParaRPr>
            </a:p>
            <a:p>
              <a:pPr algn="ctr"/>
              <a:endParaRPr lang="en-US" dirty="0">
                <a:solidFill>
                  <a:schemeClr val="bg1"/>
                </a:solidFill>
              </a:endParaRPr>
            </a:p>
          </p:txBody>
        </p:sp>
      </p:grpSp>
    </p:spTree>
    <p:extLst>
      <p:ext uri="{BB962C8B-B14F-4D97-AF65-F5344CB8AC3E}">
        <p14:creationId xmlns:p14="http://schemas.microsoft.com/office/powerpoint/2010/main" val="49492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1377" y="982833"/>
            <a:ext cx="5800460" cy="777536"/>
          </a:xfrm>
        </p:spPr>
        <p:txBody>
          <a:bodyPr/>
          <a:lstStyle/>
          <a:p>
            <a:r>
              <a:rPr lang="en-US" sz="4800" dirty="0">
                <a:solidFill>
                  <a:srgbClr val="000000"/>
                </a:solidFill>
              </a:rPr>
              <a:t>One-sample t-test</a:t>
            </a:r>
          </a:p>
        </p:txBody>
      </p:sp>
      <p:sp>
        <p:nvSpPr>
          <p:cNvPr id="14" name="Rectangle 13">
            <a:extLst>
              <a:ext uri="{FF2B5EF4-FFF2-40B4-BE49-F238E27FC236}">
                <a16:creationId xmlns:a16="http://schemas.microsoft.com/office/drawing/2014/main" id="{8E8417EA-98D0-40BF-B26D-D9453B16E3BD}"/>
              </a:ext>
            </a:extLst>
          </p:cNvPr>
          <p:cNvSpPr/>
          <p:nvPr/>
        </p:nvSpPr>
        <p:spPr>
          <a:xfrm>
            <a:off x="278296" y="2398643"/>
            <a:ext cx="11794433" cy="1391479"/>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E17F181-FB6E-4FB2-9EEF-48A5EFC2EE77}"/>
              </a:ext>
            </a:extLst>
          </p:cNvPr>
          <p:cNvSpPr txBox="1"/>
          <p:nvPr/>
        </p:nvSpPr>
        <p:spPr>
          <a:xfrm>
            <a:off x="2497619" y="3242803"/>
            <a:ext cx="7355786"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t_test</a:t>
            </a:r>
            <a:r>
              <a:rPr lang="en-US" sz="2000" dirty="0">
                <a:solidFill>
                  <a:srgbClr val="164F86"/>
                </a:solidFill>
                <a:latin typeface="Monaco" pitchFamily="2" charset="77"/>
                <a:ea typeface="Courier New"/>
                <a:cs typeface="Consolas" panose="020B0609020204030204" pitchFamily="49" charset="0"/>
                <a:sym typeface="Courier New"/>
              </a:rPr>
              <a:t>(</a:t>
            </a:r>
            <a:r>
              <a:rPr lang="en-US" sz="2000" dirty="0" err="1">
                <a:solidFill>
                  <a:srgbClr val="164F86"/>
                </a:solidFill>
                <a:latin typeface="Monaco" pitchFamily="2" charset="77"/>
                <a:ea typeface="Courier New"/>
                <a:cs typeface="Consolas" panose="020B0609020204030204" pitchFamily="49" charset="0"/>
                <a:sym typeface="Courier New"/>
              </a:rPr>
              <a:t>chol_subset</a:t>
            </a:r>
            <a:r>
              <a:rPr lang="en-US" sz="2000" dirty="0">
                <a:solidFill>
                  <a:srgbClr val="164F86"/>
                </a:solidFill>
                <a:latin typeface="Monaco" pitchFamily="2" charset="77"/>
                <a:ea typeface="Courier New"/>
                <a:cs typeface="Consolas" panose="020B0609020204030204" pitchFamily="49" charset="0"/>
                <a:sym typeface="Courier New"/>
              </a:rPr>
              <a:t>, response = value, mu = 190) </a:t>
            </a:r>
          </a:p>
        </p:txBody>
      </p:sp>
      <p:sp>
        <p:nvSpPr>
          <p:cNvPr id="16" name="TextBox 15">
            <a:extLst>
              <a:ext uri="{FF2B5EF4-FFF2-40B4-BE49-F238E27FC236}">
                <a16:creationId xmlns:a16="http://schemas.microsoft.com/office/drawing/2014/main" id="{A5FDAFCB-1747-47F5-AB0D-B8A169E55188}"/>
              </a:ext>
            </a:extLst>
          </p:cNvPr>
          <p:cNvSpPr txBox="1"/>
          <p:nvPr/>
        </p:nvSpPr>
        <p:spPr>
          <a:xfrm>
            <a:off x="278296" y="2542528"/>
            <a:ext cx="11794433"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chol_subset</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test == ‘</a:t>
            </a:r>
            <a:r>
              <a:rPr lang="fr-FR" sz="2000" dirty="0" err="1">
                <a:solidFill>
                  <a:srgbClr val="164F86"/>
                </a:solidFill>
                <a:latin typeface="Monaco" pitchFamily="2" charset="77"/>
                <a:ea typeface="Courier New"/>
                <a:cs typeface="Consolas" panose="020B0609020204030204" pitchFamily="49" charset="0"/>
                <a:sym typeface="Courier New"/>
              </a:rPr>
              <a:t>cholesterol</a:t>
            </a:r>
            <a:r>
              <a:rPr lang="fr-FR"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pat_type</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outpatient</a:t>
            </a:r>
            <a:r>
              <a:rPr lang="fr-FR" sz="2000" dirty="0">
                <a:solidFill>
                  <a:srgbClr val="164F86"/>
                </a:solidFill>
                <a:latin typeface="Monaco" pitchFamily="2" charset="77"/>
                <a:ea typeface="Courier New"/>
                <a:cs typeface="Consolas" panose="020B0609020204030204" pitchFamily="49" charset="0"/>
                <a:sym typeface="Courier New"/>
              </a:rPr>
              <a:t>’)</a:t>
            </a:r>
            <a:endParaRPr lang="en-US" sz="2000" dirty="0">
              <a:solidFill>
                <a:srgbClr val="164F86"/>
              </a:solidFill>
              <a:latin typeface="Monaco" pitchFamily="2" charset="77"/>
              <a:ea typeface="Courier New"/>
              <a:cs typeface="Consolas" panose="020B0609020204030204" pitchFamily="49" charset="0"/>
              <a:sym typeface="Courier New"/>
            </a:endParaRPr>
          </a:p>
        </p:txBody>
      </p:sp>
      <p:pic>
        <p:nvPicPr>
          <p:cNvPr id="4" name="Picture 3">
            <a:extLst>
              <a:ext uri="{FF2B5EF4-FFF2-40B4-BE49-F238E27FC236}">
                <a16:creationId xmlns:a16="http://schemas.microsoft.com/office/drawing/2014/main" id="{0E212C64-E36D-F444-3ACF-38086469292F}"/>
              </a:ext>
            </a:extLst>
          </p:cNvPr>
          <p:cNvPicPr>
            <a:picLocks noChangeAspect="1"/>
          </p:cNvPicPr>
          <p:nvPr/>
        </p:nvPicPr>
        <p:blipFill>
          <a:blip r:embed="rId3"/>
          <a:stretch>
            <a:fillRect/>
          </a:stretch>
        </p:blipFill>
        <p:spPr>
          <a:xfrm>
            <a:off x="355664" y="4755922"/>
            <a:ext cx="11480671" cy="730477"/>
          </a:xfrm>
          <a:prstGeom prst="rect">
            <a:avLst/>
          </a:prstGeom>
        </p:spPr>
      </p:pic>
      <p:sp>
        <p:nvSpPr>
          <p:cNvPr id="5" name="Oval 4">
            <a:extLst>
              <a:ext uri="{FF2B5EF4-FFF2-40B4-BE49-F238E27FC236}">
                <a16:creationId xmlns:a16="http://schemas.microsoft.com/office/drawing/2014/main" id="{D2CD8F29-AC81-7B6D-E13C-6CE0C5F634D7}"/>
              </a:ext>
            </a:extLst>
          </p:cNvPr>
          <p:cNvSpPr/>
          <p:nvPr/>
        </p:nvSpPr>
        <p:spPr>
          <a:xfrm>
            <a:off x="7381461" y="4598504"/>
            <a:ext cx="1470991" cy="102041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68BB5EE-3C8D-3D3B-C3EE-8509AD7C15EE}"/>
              </a:ext>
            </a:extLst>
          </p:cNvPr>
          <p:cNvSpPr txBox="1"/>
          <p:nvPr/>
        </p:nvSpPr>
        <p:spPr>
          <a:xfrm>
            <a:off x="6911837" y="5643817"/>
            <a:ext cx="2517913" cy="461665"/>
          </a:xfrm>
          <a:prstGeom prst="rect">
            <a:avLst/>
          </a:prstGeom>
          <a:noFill/>
        </p:spPr>
        <p:txBody>
          <a:bodyPr wrap="square" rtlCol="0">
            <a:spAutoFit/>
          </a:bodyPr>
          <a:lstStyle/>
          <a:p>
            <a:pPr algn="ctr"/>
            <a:r>
              <a:rPr lang="en-US" sz="2400" dirty="0"/>
              <a:t>t-statistic</a:t>
            </a:r>
          </a:p>
        </p:txBody>
      </p:sp>
      <p:sp>
        <p:nvSpPr>
          <p:cNvPr id="7" name="AutoShape 2" descr="{\displaystyle t={\frac {{\bar {x}}-\mu _{0}}{s/{\sqrt {n}}}},}">
            <a:extLst>
              <a:ext uri="{FF2B5EF4-FFF2-40B4-BE49-F238E27FC236}">
                <a16:creationId xmlns:a16="http://schemas.microsoft.com/office/drawing/2014/main" id="{BC05CB18-BBE0-C56C-4B98-D5BD9FDB229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4" descr="{\displaystyle t={\frac {{\bar {x}}-\mu _{0}}{s/{\sqrt {n}}}},}">
            <a:extLst>
              <a:ext uri="{FF2B5EF4-FFF2-40B4-BE49-F238E27FC236}">
                <a16:creationId xmlns:a16="http://schemas.microsoft.com/office/drawing/2014/main" id="{F375E147-4C64-1895-A18D-716DF3BC44D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CF1B64E3-FBBA-F11B-B2F3-D6A75EC34E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18016" y="6175810"/>
            <a:ext cx="1105554" cy="552777"/>
          </a:xfrm>
          <a:prstGeom prst="rect">
            <a:avLst/>
          </a:prstGeom>
        </p:spPr>
      </p:pic>
      <p:sp>
        <p:nvSpPr>
          <p:cNvPr id="12" name="Oval 11">
            <a:extLst>
              <a:ext uri="{FF2B5EF4-FFF2-40B4-BE49-F238E27FC236}">
                <a16:creationId xmlns:a16="http://schemas.microsoft.com/office/drawing/2014/main" id="{1D355557-4E9D-4FE9-9DB9-75139642DC5A}"/>
              </a:ext>
            </a:extLst>
          </p:cNvPr>
          <p:cNvSpPr/>
          <p:nvPr/>
        </p:nvSpPr>
        <p:spPr>
          <a:xfrm>
            <a:off x="3458817" y="4623399"/>
            <a:ext cx="1232453" cy="102041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8F88E28-964D-A827-DB0C-D3D5C393239E}"/>
              </a:ext>
            </a:extLst>
          </p:cNvPr>
          <p:cNvSpPr txBox="1"/>
          <p:nvPr/>
        </p:nvSpPr>
        <p:spPr>
          <a:xfrm>
            <a:off x="2816086" y="5643817"/>
            <a:ext cx="2517913" cy="461665"/>
          </a:xfrm>
          <a:prstGeom prst="rect">
            <a:avLst/>
          </a:prstGeom>
          <a:noFill/>
        </p:spPr>
        <p:txBody>
          <a:bodyPr wrap="square" rtlCol="0">
            <a:spAutoFit/>
          </a:bodyPr>
          <a:lstStyle/>
          <a:p>
            <a:pPr algn="ctr"/>
            <a:r>
              <a:rPr lang="en-US" sz="2400" dirty="0"/>
              <a:t>p-value</a:t>
            </a:r>
          </a:p>
        </p:txBody>
      </p:sp>
    </p:spTree>
    <p:extLst>
      <p:ext uri="{BB962C8B-B14F-4D97-AF65-F5344CB8AC3E}">
        <p14:creationId xmlns:p14="http://schemas.microsoft.com/office/powerpoint/2010/main" val="2207685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4E780-C58E-08E6-3E60-D3AC512588D7}"/>
              </a:ext>
            </a:extLst>
          </p:cNvPr>
          <p:cNvSpPr>
            <a:spLocks noGrp="1"/>
          </p:cNvSpPr>
          <p:nvPr>
            <p:ph type="title"/>
          </p:nvPr>
        </p:nvSpPr>
        <p:spPr/>
        <p:txBody>
          <a:bodyPr/>
          <a:lstStyle/>
          <a:p>
            <a:r>
              <a:rPr lang="en-US" dirty="0"/>
              <a:t>2-sample t-test</a:t>
            </a:r>
          </a:p>
        </p:txBody>
      </p:sp>
      <p:sp>
        <p:nvSpPr>
          <p:cNvPr id="7" name="TextBox 6">
            <a:extLst>
              <a:ext uri="{FF2B5EF4-FFF2-40B4-BE49-F238E27FC236}">
                <a16:creationId xmlns:a16="http://schemas.microsoft.com/office/drawing/2014/main" id="{603B2CEA-F4A7-9164-20AD-DE08AB1C2EA0}"/>
              </a:ext>
            </a:extLst>
          </p:cNvPr>
          <p:cNvSpPr txBox="1"/>
          <p:nvPr/>
        </p:nvSpPr>
        <p:spPr>
          <a:xfrm>
            <a:off x="0" y="6488668"/>
            <a:ext cx="5433391" cy="369332"/>
          </a:xfrm>
          <a:prstGeom prst="rect">
            <a:avLst/>
          </a:prstGeom>
          <a:noFill/>
        </p:spPr>
        <p:txBody>
          <a:bodyPr wrap="square" rtlCol="0">
            <a:spAutoFit/>
          </a:bodyPr>
          <a:lstStyle/>
          <a:p>
            <a:r>
              <a:rPr lang="en-US" dirty="0"/>
              <a:t>https://</a:t>
            </a:r>
            <a:r>
              <a:rPr lang="en-US" dirty="0" err="1"/>
              <a:t>en.wikipedia.org</a:t>
            </a:r>
            <a:r>
              <a:rPr lang="en-US" dirty="0"/>
              <a:t>/wiki/Student%27s_t-test</a:t>
            </a:r>
          </a:p>
        </p:txBody>
      </p:sp>
      <p:pic>
        <p:nvPicPr>
          <p:cNvPr id="8" name="Content Placeholder 7" descr="A diagram of a sample test&#10;&#10;Description automatically generated">
            <a:extLst>
              <a:ext uri="{FF2B5EF4-FFF2-40B4-BE49-F238E27FC236}">
                <a16:creationId xmlns:a16="http://schemas.microsoft.com/office/drawing/2014/main" id="{34739956-EAFC-7EA2-B1CE-BAFC8FDC6D97}"/>
              </a:ext>
            </a:extLst>
          </p:cNvPr>
          <p:cNvPicPr>
            <a:picLocks noGrp="1" noChangeAspect="1"/>
          </p:cNvPicPr>
          <p:nvPr>
            <p:ph idx="1"/>
          </p:nvPr>
        </p:nvPicPr>
        <p:blipFill>
          <a:blip r:embed="rId3"/>
          <a:stretch>
            <a:fillRect/>
          </a:stretch>
        </p:blipFill>
        <p:spPr>
          <a:xfrm>
            <a:off x="2574872" y="2286000"/>
            <a:ext cx="6618393" cy="4022725"/>
          </a:xfrm>
        </p:spPr>
      </p:pic>
    </p:spTree>
    <p:extLst>
      <p:ext uri="{BB962C8B-B14F-4D97-AF65-F5344CB8AC3E}">
        <p14:creationId xmlns:p14="http://schemas.microsoft.com/office/powerpoint/2010/main" val="1778459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4C3DD-4829-4CD2-C8D4-2C2C662BA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7759C-1A34-8BAE-D6C0-BE951979F846}"/>
              </a:ext>
            </a:extLst>
          </p:cNvPr>
          <p:cNvSpPr>
            <a:spLocks noGrp="1"/>
          </p:cNvSpPr>
          <p:nvPr>
            <p:ph type="title"/>
          </p:nvPr>
        </p:nvSpPr>
        <p:spPr>
          <a:xfrm>
            <a:off x="1005359" y="937699"/>
            <a:ext cx="5800460" cy="777536"/>
          </a:xfrm>
        </p:spPr>
        <p:txBody>
          <a:bodyPr/>
          <a:lstStyle/>
          <a:p>
            <a:r>
              <a:rPr lang="en-US" sz="4800" dirty="0">
                <a:solidFill>
                  <a:srgbClr val="000000"/>
                </a:solidFill>
              </a:rPr>
              <a:t>Two-sample t-test</a:t>
            </a:r>
          </a:p>
        </p:txBody>
      </p:sp>
      <p:sp>
        <p:nvSpPr>
          <p:cNvPr id="7" name="Rectangle 6">
            <a:extLst>
              <a:ext uri="{FF2B5EF4-FFF2-40B4-BE49-F238E27FC236}">
                <a16:creationId xmlns:a16="http://schemas.microsoft.com/office/drawing/2014/main" id="{3247AD2B-993A-F7ED-A54E-A6991D67B5CF}"/>
              </a:ext>
            </a:extLst>
          </p:cNvPr>
          <p:cNvSpPr/>
          <p:nvPr/>
        </p:nvSpPr>
        <p:spPr>
          <a:xfrm>
            <a:off x="882883" y="2306254"/>
            <a:ext cx="10513988" cy="3539430"/>
          </a:xfrm>
          <a:prstGeom prst="rect">
            <a:avLst/>
          </a:prstGeom>
        </p:spPr>
        <p:txBody>
          <a:bodyPr wrap="square">
            <a:spAutoFit/>
          </a:bodyPr>
          <a:lstStyle/>
          <a:p>
            <a:r>
              <a:rPr lang="en-US" sz="3200" dirty="0">
                <a:latin typeface="Calibri" panose="020F0502020204030204" pitchFamily="34" charset="0"/>
              </a:rPr>
              <a:t>If we wanted to test whether </a:t>
            </a:r>
            <a:r>
              <a:rPr lang="en-US" sz="3200" b="1" i="1" dirty="0">
                <a:latin typeface="Calibri" panose="020F0502020204030204" pitchFamily="34" charset="0"/>
              </a:rPr>
              <a:t>females</a:t>
            </a:r>
            <a:r>
              <a:rPr lang="en-US" sz="3200" dirty="0">
                <a:latin typeface="Calibri" panose="020F0502020204030204" pitchFamily="34" charset="0"/>
              </a:rPr>
              <a:t> had lower total </a:t>
            </a:r>
            <a:r>
              <a:rPr lang="en-US" sz="3200" b="1" i="1" dirty="0">
                <a:latin typeface="Calibri" panose="020F0502020204030204" pitchFamily="34" charset="0"/>
              </a:rPr>
              <a:t>iron</a:t>
            </a:r>
            <a:r>
              <a:rPr lang="en-US" sz="3200" dirty="0">
                <a:latin typeface="Calibri" panose="020F0502020204030204" pitchFamily="34" charset="0"/>
              </a:rPr>
              <a:t> than males within our chemistry data set, we’d use a two-sample t-test.</a:t>
            </a:r>
          </a:p>
          <a:p>
            <a:endParaRPr lang="en-US" sz="3200" dirty="0">
              <a:latin typeface="Calibri" panose="020F0502020204030204" pitchFamily="34" charset="0"/>
            </a:endParaRPr>
          </a:p>
          <a:p>
            <a:r>
              <a:rPr lang="en-US" sz="3200" dirty="0">
                <a:latin typeface="Calibri" panose="020F0502020204030204" pitchFamily="34" charset="0"/>
              </a:rPr>
              <a:t>Given our chemistry data set, which includes results for a large number of tests in a broad population, what specific steps do we need to complete to analyze the data set?</a:t>
            </a:r>
          </a:p>
        </p:txBody>
      </p:sp>
    </p:spTree>
    <p:extLst>
      <p:ext uri="{BB962C8B-B14F-4D97-AF65-F5344CB8AC3E}">
        <p14:creationId xmlns:p14="http://schemas.microsoft.com/office/powerpoint/2010/main" val="2723639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C3068-3300-A6EF-4899-2BAB38307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8A885-EDDB-19DA-3222-C0116FA65F4C}"/>
              </a:ext>
            </a:extLst>
          </p:cNvPr>
          <p:cNvSpPr>
            <a:spLocks noGrp="1"/>
          </p:cNvSpPr>
          <p:nvPr>
            <p:ph type="title"/>
          </p:nvPr>
        </p:nvSpPr>
        <p:spPr>
          <a:xfrm>
            <a:off x="1005359" y="937699"/>
            <a:ext cx="5800460" cy="777536"/>
          </a:xfrm>
        </p:spPr>
        <p:txBody>
          <a:bodyPr/>
          <a:lstStyle/>
          <a:p>
            <a:r>
              <a:rPr lang="en-US" sz="4800" dirty="0">
                <a:solidFill>
                  <a:srgbClr val="000000"/>
                </a:solidFill>
              </a:rPr>
              <a:t>Two-sample t-test</a:t>
            </a:r>
          </a:p>
        </p:txBody>
      </p:sp>
      <p:sp>
        <p:nvSpPr>
          <p:cNvPr id="7" name="Rectangle 6">
            <a:extLst>
              <a:ext uri="{FF2B5EF4-FFF2-40B4-BE49-F238E27FC236}">
                <a16:creationId xmlns:a16="http://schemas.microsoft.com/office/drawing/2014/main" id="{18E9FE53-B9DE-FAEC-B12D-7F5CA6601C19}"/>
              </a:ext>
            </a:extLst>
          </p:cNvPr>
          <p:cNvSpPr/>
          <p:nvPr/>
        </p:nvSpPr>
        <p:spPr>
          <a:xfrm>
            <a:off x="882883" y="2306254"/>
            <a:ext cx="10513988" cy="3046988"/>
          </a:xfrm>
          <a:prstGeom prst="rect">
            <a:avLst/>
          </a:prstGeom>
        </p:spPr>
        <p:txBody>
          <a:bodyPr wrap="square">
            <a:spAutoFit/>
          </a:bodyPr>
          <a:lstStyle/>
          <a:p>
            <a:pPr marL="514350" indent="-514350">
              <a:buFont typeface="+mj-lt"/>
              <a:buAutoNum type="arabicPeriod"/>
            </a:pPr>
            <a:r>
              <a:rPr lang="en-US" sz="3200" dirty="0">
                <a:latin typeface="Calibri" panose="020F0502020204030204" pitchFamily="34" charset="0"/>
              </a:rPr>
              <a:t>Create a subset of the broader data set with only iron results</a:t>
            </a:r>
          </a:p>
          <a:p>
            <a:pPr marL="514350" indent="-514350">
              <a:buFont typeface="+mj-lt"/>
              <a:buAutoNum type="arabicPeriod"/>
            </a:pPr>
            <a:r>
              <a:rPr lang="en-US" sz="3200" dirty="0">
                <a:latin typeface="Calibri" panose="020F0502020204030204" pitchFamily="34" charset="0"/>
              </a:rPr>
              <a:t>Sort the data so female and male results can be easily separated from each other</a:t>
            </a:r>
          </a:p>
          <a:p>
            <a:pPr marL="514350" indent="-514350">
              <a:buFont typeface="+mj-lt"/>
              <a:buAutoNum type="arabicPeriod"/>
            </a:pPr>
            <a:r>
              <a:rPr lang="en-US" sz="3200" dirty="0">
                <a:latin typeface="Calibri" panose="020F0502020204030204" pitchFamily="34" charset="0"/>
              </a:rPr>
              <a:t>Perform a two-sample t-test that compares the data from these two groups</a:t>
            </a:r>
          </a:p>
        </p:txBody>
      </p:sp>
    </p:spTree>
    <p:extLst>
      <p:ext uri="{BB962C8B-B14F-4D97-AF65-F5344CB8AC3E}">
        <p14:creationId xmlns:p14="http://schemas.microsoft.com/office/powerpoint/2010/main" val="1545547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7E2D4-7C45-BCD1-A0D8-7B7CE99DF6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1966A3-70E8-587A-7BF5-50A7C7D951CD}"/>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28</a:t>
            </a:fld>
            <a:endParaRPr lang="en-US">
              <a:solidFill>
                <a:prstClr val="black">
                  <a:lumMod val="95000"/>
                  <a:lumOff val="5000"/>
                </a:prstClr>
              </a:solidFill>
            </a:endParaRPr>
          </a:p>
        </p:txBody>
      </p:sp>
      <p:sp>
        <p:nvSpPr>
          <p:cNvPr id="3" name="Title 2">
            <a:extLst>
              <a:ext uri="{FF2B5EF4-FFF2-40B4-BE49-F238E27FC236}">
                <a16:creationId xmlns:a16="http://schemas.microsoft.com/office/drawing/2014/main" id="{B259642B-5A59-64CE-28A2-B8942C8188AB}"/>
              </a:ext>
            </a:extLst>
          </p:cNvPr>
          <p:cNvSpPr>
            <a:spLocks noGrp="1"/>
          </p:cNvSpPr>
          <p:nvPr>
            <p:ph type="title"/>
          </p:nvPr>
        </p:nvSpPr>
        <p:spPr/>
        <p:txBody>
          <a:bodyPr/>
          <a:lstStyle/>
          <a:p>
            <a:r>
              <a:rPr lang="en-US" dirty="0"/>
              <a:t>Exercise 3</a:t>
            </a:r>
          </a:p>
        </p:txBody>
      </p:sp>
      <p:sp>
        <p:nvSpPr>
          <p:cNvPr id="4" name="Text Placeholder 3">
            <a:extLst>
              <a:ext uri="{FF2B5EF4-FFF2-40B4-BE49-F238E27FC236}">
                <a16:creationId xmlns:a16="http://schemas.microsoft.com/office/drawing/2014/main" id="{10B3C2E5-85EE-F0FC-3972-AE3C021F2A16}"/>
              </a:ext>
            </a:extLst>
          </p:cNvPr>
          <p:cNvSpPr>
            <a:spLocks noGrp="1"/>
          </p:cNvSpPr>
          <p:nvPr>
            <p:ph type="body" sz="quarter" idx="13"/>
          </p:nvPr>
        </p:nvSpPr>
        <p:spPr/>
        <p:txBody>
          <a:bodyPr/>
          <a:lstStyle/>
          <a:p>
            <a:r>
              <a:rPr lang="en-US" dirty="0"/>
              <a:t>Complete exercise 3 in the lesson 3 exercises file on your own, with minor modifications from exercise 2</a:t>
            </a:r>
          </a:p>
        </p:txBody>
      </p:sp>
    </p:spTree>
    <p:extLst>
      <p:ext uri="{BB962C8B-B14F-4D97-AF65-F5344CB8AC3E}">
        <p14:creationId xmlns:p14="http://schemas.microsoft.com/office/powerpoint/2010/main" val="2413305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116" y="999319"/>
            <a:ext cx="5800460" cy="777536"/>
          </a:xfrm>
        </p:spPr>
        <p:txBody>
          <a:bodyPr/>
          <a:lstStyle/>
          <a:p>
            <a:r>
              <a:rPr lang="en-US" sz="4800" dirty="0">
                <a:solidFill>
                  <a:srgbClr val="000000"/>
                </a:solidFill>
              </a:rPr>
              <a:t>Two-sample t-test in R</a:t>
            </a:r>
          </a:p>
        </p:txBody>
      </p:sp>
      <p:sp>
        <p:nvSpPr>
          <p:cNvPr id="3" name="Rectangle 2"/>
          <p:cNvSpPr/>
          <p:nvPr/>
        </p:nvSpPr>
        <p:spPr>
          <a:xfrm>
            <a:off x="159026" y="5252762"/>
            <a:ext cx="11873947" cy="811728"/>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24800" y="5458571"/>
            <a:ext cx="10742398"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iron_subset</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test == ‘</a:t>
            </a:r>
            <a:r>
              <a:rPr lang="fr-FR" sz="2000" dirty="0" err="1">
                <a:solidFill>
                  <a:srgbClr val="164F86"/>
                </a:solidFill>
                <a:latin typeface="Monaco" pitchFamily="2" charset="77"/>
                <a:ea typeface="Courier New"/>
                <a:cs typeface="Consolas" panose="020B0609020204030204" pitchFamily="49" charset="0"/>
                <a:sym typeface="Courier New"/>
              </a:rPr>
              <a:t>iron</a:t>
            </a:r>
            <a:r>
              <a:rPr lang="fr-FR"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pat_type</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outpatient</a:t>
            </a:r>
            <a:r>
              <a:rPr lang="fr-FR" sz="2000" dirty="0">
                <a:solidFill>
                  <a:srgbClr val="164F86"/>
                </a:solidFill>
                <a:latin typeface="Monaco" pitchFamily="2" charset="77"/>
                <a:ea typeface="Courier New"/>
                <a:cs typeface="Consolas" panose="020B0609020204030204" pitchFamily="49" charset="0"/>
                <a:sym typeface="Courier New"/>
              </a:rPr>
              <a:t>’)</a:t>
            </a:r>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7" name="Rectangle 6"/>
          <p:cNvSpPr/>
          <p:nvPr/>
        </p:nvSpPr>
        <p:spPr>
          <a:xfrm>
            <a:off x="896134" y="1991814"/>
            <a:ext cx="11018141" cy="2554545"/>
          </a:xfrm>
          <a:prstGeom prst="rect">
            <a:avLst/>
          </a:prstGeom>
        </p:spPr>
        <p:txBody>
          <a:bodyPr wrap="square">
            <a:spAutoFit/>
          </a:bodyPr>
          <a:lstStyle/>
          <a:p>
            <a:r>
              <a:rPr lang="en-US" sz="3200" dirty="0">
                <a:latin typeface="Calibri" panose="020F0502020204030204" pitchFamily="34" charset="0"/>
              </a:rPr>
              <a:t>If we wanted to know whether women had lower iron levels than men, the steps would be:</a:t>
            </a:r>
          </a:p>
          <a:p>
            <a:endParaRPr lang="en-US" sz="3200" dirty="0">
              <a:latin typeface="Calibri" panose="020F0502020204030204" pitchFamily="34" charset="0"/>
            </a:endParaRPr>
          </a:p>
          <a:p>
            <a:pPr marL="514350" indent="-514350">
              <a:buAutoNum type="arabicPeriod"/>
            </a:pPr>
            <a:r>
              <a:rPr lang="en-US" sz="3200" b="1" dirty="0">
                <a:latin typeface="Calibri" panose="020F0502020204030204" pitchFamily="34" charset="0"/>
              </a:rPr>
              <a:t>Filter down to the given test and cohort</a:t>
            </a:r>
          </a:p>
          <a:p>
            <a:pPr marL="514350" indent="-514350">
              <a:buAutoNum type="arabicPeriod"/>
            </a:pPr>
            <a:r>
              <a:rPr lang="en-US" sz="3200" dirty="0">
                <a:latin typeface="Calibri" panose="020F0502020204030204" pitchFamily="34" charset="0"/>
              </a:rPr>
              <a:t>Run a 2-sided t-test</a:t>
            </a:r>
          </a:p>
        </p:txBody>
      </p:sp>
    </p:spTree>
    <p:extLst>
      <p:ext uri="{BB962C8B-B14F-4D97-AF65-F5344CB8AC3E}">
        <p14:creationId xmlns:p14="http://schemas.microsoft.com/office/powerpoint/2010/main" val="3290553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449" y="942541"/>
            <a:ext cx="5800460" cy="777536"/>
          </a:xfrm>
        </p:spPr>
        <p:txBody>
          <a:bodyPr/>
          <a:lstStyle/>
          <a:p>
            <a:r>
              <a:rPr lang="en-US" sz="4800" dirty="0">
                <a:solidFill>
                  <a:srgbClr val="000000"/>
                </a:solidFill>
              </a:rPr>
              <a:t>Two-sample t-test</a:t>
            </a:r>
          </a:p>
        </p:txBody>
      </p:sp>
      <p:sp>
        <p:nvSpPr>
          <p:cNvPr id="7" name="Rectangle 6"/>
          <p:cNvSpPr/>
          <p:nvPr/>
        </p:nvSpPr>
        <p:spPr>
          <a:xfrm>
            <a:off x="1020449" y="1997068"/>
            <a:ext cx="11018141" cy="1077218"/>
          </a:xfrm>
          <a:prstGeom prst="rect">
            <a:avLst/>
          </a:prstGeom>
        </p:spPr>
        <p:txBody>
          <a:bodyPr wrap="square">
            <a:spAutoFit/>
          </a:bodyPr>
          <a:lstStyle/>
          <a:p>
            <a:pPr marL="514350" indent="-514350">
              <a:buAutoNum type="arabicPeriod"/>
            </a:pPr>
            <a:r>
              <a:rPr lang="en-US" sz="3200" dirty="0">
                <a:latin typeface="Calibri" panose="020F0502020204030204" pitchFamily="34" charset="0"/>
              </a:rPr>
              <a:t>Filter down to the given test and cohort</a:t>
            </a:r>
          </a:p>
          <a:p>
            <a:pPr marL="514350" indent="-514350">
              <a:buAutoNum type="arabicPeriod"/>
            </a:pPr>
            <a:r>
              <a:rPr lang="en-US" sz="3200" b="1" dirty="0">
                <a:latin typeface="Calibri" panose="020F0502020204030204" pitchFamily="34" charset="0"/>
              </a:rPr>
              <a:t>Run a 2-sided t-test</a:t>
            </a:r>
          </a:p>
        </p:txBody>
      </p:sp>
      <p:sp>
        <p:nvSpPr>
          <p:cNvPr id="4" name="Rectangle 3">
            <a:extLst>
              <a:ext uri="{FF2B5EF4-FFF2-40B4-BE49-F238E27FC236}">
                <a16:creationId xmlns:a16="http://schemas.microsoft.com/office/drawing/2014/main" id="{DC9B54ED-22C2-82C0-B24E-B09E084DAB46}"/>
              </a:ext>
            </a:extLst>
          </p:cNvPr>
          <p:cNvSpPr/>
          <p:nvPr/>
        </p:nvSpPr>
        <p:spPr>
          <a:xfrm>
            <a:off x="291548" y="4673785"/>
            <a:ext cx="11622727" cy="1015662"/>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A839ADD-CCA7-4309-9706-9471C3FF63BB}"/>
              </a:ext>
            </a:extLst>
          </p:cNvPr>
          <p:cNvSpPr txBox="1"/>
          <p:nvPr/>
        </p:nvSpPr>
        <p:spPr>
          <a:xfrm>
            <a:off x="794381" y="4871909"/>
            <a:ext cx="10603237" cy="1015663"/>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t_test</a:t>
            </a:r>
            <a:r>
              <a:rPr lang="en-US" sz="2000" dirty="0">
                <a:solidFill>
                  <a:srgbClr val="164F86"/>
                </a:solidFill>
                <a:latin typeface="Monaco" pitchFamily="2" charset="77"/>
                <a:ea typeface="Courier New"/>
                <a:cs typeface="Consolas" panose="020B0609020204030204" pitchFamily="49" charset="0"/>
                <a:sym typeface="Courier New"/>
              </a:rPr>
              <a:t>(</a:t>
            </a:r>
            <a:r>
              <a:rPr lang="en-US" sz="2000" dirty="0" err="1">
                <a:solidFill>
                  <a:srgbClr val="164F86"/>
                </a:solidFill>
                <a:latin typeface="Monaco" pitchFamily="2" charset="77"/>
                <a:ea typeface="Courier New"/>
                <a:cs typeface="Consolas" panose="020B0609020204030204" pitchFamily="49" charset="0"/>
                <a:sym typeface="Courier New"/>
              </a:rPr>
              <a:t>iron_subset</a:t>
            </a:r>
            <a:r>
              <a:rPr lang="en-US" sz="2000" dirty="0">
                <a:solidFill>
                  <a:srgbClr val="164F86"/>
                </a:solidFill>
                <a:latin typeface="Monaco" pitchFamily="2" charset="77"/>
                <a:ea typeface="Courier New"/>
                <a:cs typeface="Consolas" panose="020B0609020204030204" pitchFamily="49" charset="0"/>
                <a:sym typeface="Courier New"/>
              </a:rPr>
              <a:t>, response = value, explanatory = gender, </a:t>
            </a:r>
          </a:p>
          <a:p>
            <a:r>
              <a:rPr lang="en-US" sz="2000" dirty="0">
                <a:solidFill>
                  <a:srgbClr val="164F86"/>
                </a:solidFill>
                <a:latin typeface="Monaco" pitchFamily="2" charset="77"/>
                <a:ea typeface="Courier New"/>
                <a:cs typeface="Consolas" panose="020B0609020204030204" pitchFamily="49" charset="0"/>
                <a:sym typeface="Courier New"/>
              </a:rPr>
              <a:t>order = c(“Male”, “Female”)</a:t>
            </a:r>
          </a:p>
          <a:p>
            <a:endParaRPr lang="en-US" sz="2000" dirty="0">
              <a:solidFill>
                <a:srgbClr val="164F86"/>
              </a:solidFill>
              <a:latin typeface="Monaco" pitchFamily="2" charset="77"/>
              <a:ea typeface="Courier New"/>
              <a:cs typeface="Consolas" panose="020B0609020204030204" pitchFamily="49" charset="0"/>
              <a:sym typeface="Courier New"/>
            </a:endParaRPr>
          </a:p>
        </p:txBody>
      </p:sp>
      <p:grpSp>
        <p:nvGrpSpPr>
          <p:cNvPr id="8" name="Group 7">
            <a:extLst>
              <a:ext uri="{FF2B5EF4-FFF2-40B4-BE49-F238E27FC236}">
                <a16:creationId xmlns:a16="http://schemas.microsoft.com/office/drawing/2014/main" id="{0DB2E13A-8EEC-631A-875E-EA4E9FA3F753}"/>
              </a:ext>
            </a:extLst>
          </p:cNvPr>
          <p:cNvGrpSpPr/>
          <p:nvPr/>
        </p:nvGrpSpPr>
        <p:grpSpPr>
          <a:xfrm>
            <a:off x="1585291" y="3150146"/>
            <a:ext cx="2365216" cy="1246648"/>
            <a:chOff x="896764" y="1732048"/>
            <a:chExt cx="2365216" cy="1246648"/>
          </a:xfrm>
        </p:grpSpPr>
        <p:sp>
          <p:nvSpPr>
            <p:cNvPr id="9" name="Rounded Rectangular Callout 8">
              <a:extLst>
                <a:ext uri="{FF2B5EF4-FFF2-40B4-BE49-F238E27FC236}">
                  <a16:creationId xmlns:a16="http://schemas.microsoft.com/office/drawing/2014/main" id="{060DC857-C69B-11AD-CB9B-7A4D62D495A1}"/>
                </a:ext>
              </a:extLst>
            </p:cNvPr>
            <p:cNvSpPr/>
            <p:nvPr/>
          </p:nvSpPr>
          <p:spPr>
            <a:xfrm>
              <a:off x="896764" y="1732048"/>
              <a:ext cx="2365216" cy="1246648"/>
            </a:xfrm>
            <a:prstGeom prst="wedgeRoundRectCallout">
              <a:avLst>
                <a:gd name="adj1" fmla="val -6901"/>
                <a:gd name="adj2" fmla="val 80824"/>
                <a:gd name="adj3" fmla="val 16667"/>
              </a:avLst>
            </a:prstGeom>
            <a:solidFill>
              <a:srgbClr val="92D05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57F259D-2D0D-AAA7-233A-DEF83C84DA80}"/>
                </a:ext>
              </a:extLst>
            </p:cNvPr>
            <p:cNvSpPr txBox="1"/>
            <p:nvPr/>
          </p:nvSpPr>
          <p:spPr>
            <a:xfrm>
              <a:off x="896764" y="1811673"/>
              <a:ext cx="2365216"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err="1">
                  <a:solidFill>
                    <a:schemeClr val="bg1"/>
                  </a:solidFill>
                </a:rPr>
                <a:t>dataframe</a:t>
              </a:r>
              <a:endParaRPr lang="en-US" sz="2800" dirty="0">
                <a:solidFill>
                  <a:schemeClr val="bg1"/>
                </a:solidFill>
                <a:latin typeface="Consolas" panose="020B0609020204030204" pitchFamily="49" charset="0"/>
                <a:ea typeface="Monaco" charset="0"/>
                <a:cs typeface="Consolas" panose="020B0609020204030204" pitchFamily="49" charset="0"/>
              </a:endParaRPr>
            </a:p>
            <a:p>
              <a:pPr algn="ctr"/>
              <a:endParaRPr lang="en-US" dirty="0">
                <a:solidFill>
                  <a:schemeClr val="bg1"/>
                </a:solidFill>
              </a:endParaRPr>
            </a:p>
          </p:txBody>
        </p:sp>
      </p:grpSp>
      <p:grpSp>
        <p:nvGrpSpPr>
          <p:cNvPr id="11" name="Group 10">
            <a:extLst>
              <a:ext uri="{FF2B5EF4-FFF2-40B4-BE49-F238E27FC236}">
                <a16:creationId xmlns:a16="http://schemas.microsoft.com/office/drawing/2014/main" id="{037B5713-13B9-EF08-F18B-DB0A228DE20A}"/>
              </a:ext>
            </a:extLst>
          </p:cNvPr>
          <p:cNvGrpSpPr/>
          <p:nvPr/>
        </p:nvGrpSpPr>
        <p:grpSpPr>
          <a:xfrm>
            <a:off x="4654527" y="3028273"/>
            <a:ext cx="2365216" cy="1508105"/>
            <a:chOff x="896764" y="1596230"/>
            <a:chExt cx="2365216" cy="1508105"/>
          </a:xfrm>
        </p:grpSpPr>
        <p:sp>
          <p:nvSpPr>
            <p:cNvPr id="12" name="Rounded Rectangular Callout 11">
              <a:extLst>
                <a:ext uri="{FF2B5EF4-FFF2-40B4-BE49-F238E27FC236}">
                  <a16:creationId xmlns:a16="http://schemas.microsoft.com/office/drawing/2014/main" id="{A29FBF35-9C63-1BEE-C9F3-A338DDC59C0A}"/>
                </a:ext>
              </a:extLst>
            </p:cNvPr>
            <p:cNvSpPr/>
            <p:nvPr/>
          </p:nvSpPr>
          <p:spPr>
            <a:xfrm>
              <a:off x="896764" y="1732048"/>
              <a:ext cx="2365216" cy="1246648"/>
            </a:xfrm>
            <a:prstGeom prst="wedgeRoundRectCallout">
              <a:avLst>
                <a:gd name="adj1" fmla="val -24370"/>
                <a:gd name="adj2" fmla="val 86518"/>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0E36C49-623B-57F2-7AD9-1E178C4E1E4C}"/>
                </a:ext>
              </a:extLst>
            </p:cNvPr>
            <p:cNvSpPr txBox="1"/>
            <p:nvPr/>
          </p:nvSpPr>
          <p:spPr>
            <a:xfrm>
              <a:off x="896764" y="1596230"/>
              <a:ext cx="2365216"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outcome variable</a:t>
              </a:r>
              <a:endParaRPr lang="en-US" sz="2800" dirty="0">
                <a:solidFill>
                  <a:schemeClr val="bg1"/>
                </a:solidFill>
                <a:latin typeface="Consolas" panose="020B0609020204030204" pitchFamily="49" charset="0"/>
                <a:ea typeface="Monaco" charset="0"/>
                <a:cs typeface="Consolas" panose="020B0609020204030204" pitchFamily="49" charset="0"/>
              </a:endParaRPr>
            </a:p>
            <a:p>
              <a:pPr algn="ctr"/>
              <a:endParaRPr lang="en-US" dirty="0">
                <a:solidFill>
                  <a:schemeClr val="bg1"/>
                </a:solidFill>
              </a:endParaRPr>
            </a:p>
          </p:txBody>
        </p:sp>
      </p:grpSp>
      <p:grpSp>
        <p:nvGrpSpPr>
          <p:cNvPr id="14" name="Group 13">
            <a:extLst>
              <a:ext uri="{FF2B5EF4-FFF2-40B4-BE49-F238E27FC236}">
                <a16:creationId xmlns:a16="http://schemas.microsoft.com/office/drawing/2014/main" id="{AC0F1FD8-E58D-2A47-8782-F8271BCE2360}"/>
              </a:ext>
            </a:extLst>
          </p:cNvPr>
          <p:cNvGrpSpPr/>
          <p:nvPr/>
        </p:nvGrpSpPr>
        <p:grpSpPr>
          <a:xfrm>
            <a:off x="8296547" y="3127648"/>
            <a:ext cx="2730760" cy="1246648"/>
            <a:chOff x="896764" y="1732048"/>
            <a:chExt cx="2365216" cy="1246648"/>
          </a:xfrm>
        </p:grpSpPr>
        <p:sp>
          <p:nvSpPr>
            <p:cNvPr id="15" name="Rounded Rectangular Callout 14">
              <a:extLst>
                <a:ext uri="{FF2B5EF4-FFF2-40B4-BE49-F238E27FC236}">
                  <a16:creationId xmlns:a16="http://schemas.microsoft.com/office/drawing/2014/main" id="{18BF533B-96E6-774C-F242-DEE385EF22CC}"/>
                </a:ext>
              </a:extLst>
            </p:cNvPr>
            <p:cNvSpPr/>
            <p:nvPr/>
          </p:nvSpPr>
          <p:spPr>
            <a:xfrm>
              <a:off x="896764" y="1732048"/>
              <a:ext cx="2365216" cy="1246648"/>
            </a:xfrm>
            <a:prstGeom prst="wedgeRoundRectCallout">
              <a:avLst>
                <a:gd name="adj1" fmla="val -36721"/>
                <a:gd name="adj2" fmla="val 94612"/>
                <a:gd name="adj3" fmla="val 16667"/>
              </a:avLst>
            </a:prstGeom>
            <a:solidFill>
              <a:srgbClr val="92D05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AABF13DD-E450-BAA8-3113-85CC33659323}"/>
                </a:ext>
              </a:extLst>
            </p:cNvPr>
            <p:cNvSpPr txBox="1"/>
            <p:nvPr/>
          </p:nvSpPr>
          <p:spPr>
            <a:xfrm>
              <a:off x="896764" y="1811673"/>
              <a:ext cx="2365216"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group value</a:t>
              </a:r>
              <a:endParaRPr lang="en-US" sz="2800" dirty="0">
                <a:solidFill>
                  <a:schemeClr val="bg1"/>
                </a:solidFill>
                <a:latin typeface="Consolas" panose="020B0609020204030204" pitchFamily="49" charset="0"/>
                <a:ea typeface="Monaco" charset="0"/>
                <a:cs typeface="Consolas" panose="020B0609020204030204" pitchFamily="49" charset="0"/>
              </a:endParaRPr>
            </a:p>
            <a:p>
              <a:pPr algn="ctr"/>
              <a:endParaRPr lang="en-US" dirty="0">
                <a:solidFill>
                  <a:schemeClr val="bg1"/>
                </a:solidFill>
              </a:endParaRPr>
            </a:p>
          </p:txBody>
        </p:sp>
      </p:grpSp>
      <p:grpSp>
        <p:nvGrpSpPr>
          <p:cNvPr id="17" name="Group 16">
            <a:extLst>
              <a:ext uri="{FF2B5EF4-FFF2-40B4-BE49-F238E27FC236}">
                <a16:creationId xmlns:a16="http://schemas.microsoft.com/office/drawing/2014/main" id="{29FA322C-0B73-B4BF-DB64-B2BD68A423BD}"/>
              </a:ext>
            </a:extLst>
          </p:cNvPr>
          <p:cNvGrpSpPr/>
          <p:nvPr/>
        </p:nvGrpSpPr>
        <p:grpSpPr>
          <a:xfrm>
            <a:off x="1424988" y="5853125"/>
            <a:ext cx="3229539" cy="1015661"/>
            <a:chOff x="896764" y="1732048"/>
            <a:chExt cx="2365216" cy="1246648"/>
          </a:xfrm>
        </p:grpSpPr>
        <p:sp>
          <p:nvSpPr>
            <p:cNvPr id="18" name="Rounded Rectangular Callout 17">
              <a:extLst>
                <a:ext uri="{FF2B5EF4-FFF2-40B4-BE49-F238E27FC236}">
                  <a16:creationId xmlns:a16="http://schemas.microsoft.com/office/drawing/2014/main" id="{F09A89C8-A01D-31AB-0165-09AD78A66B6F}"/>
                </a:ext>
              </a:extLst>
            </p:cNvPr>
            <p:cNvSpPr/>
            <p:nvPr/>
          </p:nvSpPr>
          <p:spPr>
            <a:xfrm>
              <a:off x="896764" y="1732048"/>
              <a:ext cx="2365216" cy="1246648"/>
            </a:xfrm>
            <a:prstGeom prst="wedgeRoundRectCallout">
              <a:avLst>
                <a:gd name="adj1" fmla="val -28669"/>
                <a:gd name="adj2" fmla="val -77666"/>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895833E-0315-58DB-6125-1B2FD380EC4D}"/>
                </a:ext>
              </a:extLst>
            </p:cNvPr>
            <p:cNvSpPr txBox="1"/>
            <p:nvPr/>
          </p:nvSpPr>
          <p:spPr>
            <a:xfrm>
              <a:off x="896764" y="1840287"/>
              <a:ext cx="2365216" cy="1019987"/>
            </a:xfrm>
            <a:prstGeom prst="rect">
              <a:avLst/>
            </a:prstGeom>
            <a:noFill/>
          </p:spPr>
          <p:txBody>
            <a:bodyPr wrap="square" rtlCol="0" anchor="ctr">
              <a:spAutoFit/>
            </a:bodyPr>
            <a:lstStyle/>
            <a:p>
              <a:pPr algn="ctr"/>
              <a:r>
                <a:rPr lang="en-US" sz="2400" dirty="0">
                  <a:solidFill>
                    <a:schemeClr val="bg1"/>
                  </a:solidFill>
                  <a:latin typeface="Consolas" panose="020B0609020204030204" pitchFamily="49" charset="0"/>
                </a:rPr>
                <a:t>male values are the reference</a:t>
              </a:r>
              <a:endParaRPr lang="en-US" dirty="0">
                <a:solidFill>
                  <a:schemeClr val="bg1"/>
                </a:solidFill>
              </a:endParaRPr>
            </a:p>
          </p:txBody>
        </p:sp>
      </p:grpSp>
      <p:sp>
        <p:nvSpPr>
          <p:cNvPr id="20" name="TextBox 19">
            <a:extLst>
              <a:ext uri="{FF2B5EF4-FFF2-40B4-BE49-F238E27FC236}">
                <a16:creationId xmlns:a16="http://schemas.microsoft.com/office/drawing/2014/main" id="{5DCA2C43-6C9A-5E49-8CF9-13CEE037732B}"/>
              </a:ext>
            </a:extLst>
          </p:cNvPr>
          <p:cNvSpPr txBox="1"/>
          <p:nvPr/>
        </p:nvSpPr>
        <p:spPr>
          <a:xfrm>
            <a:off x="4747892" y="5924942"/>
            <a:ext cx="5579165" cy="830997"/>
          </a:xfrm>
          <a:prstGeom prst="rect">
            <a:avLst/>
          </a:prstGeom>
          <a:noFill/>
        </p:spPr>
        <p:txBody>
          <a:bodyPr wrap="square" rtlCol="0">
            <a:spAutoFit/>
          </a:bodyPr>
          <a:lstStyle/>
          <a:p>
            <a:r>
              <a:rPr lang="en-US" sz="2400" dirty="0"/>
              <a:t>For this difference in means calculation, subtract female values from male values</a:t>
            </a:r>
          </a:p>
        </p:txBody>
      </p:sp>
    </p:spTree>
    <p:extLst>
      <p:ext uri="{BB962C8B-B14F-4D97-AF65-F5344CB8AC3E}">
        <p14:creationId xmlns:p14="http://schemas.microsoft.com/office/powerpoint/2010/main" val="79829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B127910-3B99-7C45-8A2B-8938F5BEF75C}"/>
              </a:ext>
            </a:extLst>
          </p:cNvPr>
          <p:cNvPicPr>
            <a:picLocks noChangeAspect="1"/>
          </p:cNvPicPr>
          <p:nvPr/>
        </p:nvPicPr>
        <p:blipFill>
          <a:blip r:embed="rId3"/>
          <a:stretch>
            <a:fillRect/>
          </a:stretch>
        </p:blipFill>
        <p:spPr>
          <a:xfrm>
            <a:off x="0" y="5048943"/>
            <a:ext cx="11955905" cy="797891"/>
          </a:xfrm>
          <a:prstGeom prst="rect">
            <a:avLst/>
          </a:prstGeom>
        </p:spPr>
      </p:pic>
      <p:sp>
        <p:nvSpPr>
          <p:cNvPr id="2" name="Title 1"/>
          <p:cNvSpPr>
            <a:spLocks noGrp="1"/>
          </p:cNvSpPr>
          <p:nvPr>
            <p:ph type="title"/>
          </p:nvPr>
        </p:nvSpPr>
        <p:spPr>
          <a:xfrm>
            <a:off x="3629290" y="507875"/>
            <a:ext cx="5800460" cy="777536"/>
          </a:xfrm>
        </p:spPr>
        <p:txBody>
          <a:bodyPr/>
          <a:lstStyle/>
          <a:p>
            <a:r>
              <a:rPr lang="en-US" sz="4800" dirty="0">
                <a:solidFill>
                  <a:srgbClr val="000000"/>
                </a:solidFill>
              </a:rPr>
              <a:t>2-sample t-test in R</a:t>
            </a:r>
          </a:p>
        </p:txBody>
      </p:sp>
      <p:sp>
        <p:nvSpPr>
          <p:cNvPr id="9" name="Rectangle 8">
            <a:extLst>
              <a:ext uri="{FF2B5EF4-FFF2-40B4-BE49-F238E27FC236}">
                <a16:creationId xmlns:a16="http://schemas.microsoft.com/office/drawing/2014/main" id="{098E51B4-85E1-49DA-875A-F331F8DE45A9}"/>
              </a:ext>
            </a:extLst>
          </p:cNvPr>
          <p:cNvSpPr/>
          <p:nvPr/>
        </p:nvSpPr>
        <p:spPr>
          <a:xfrm>
            <a:off x="480925" y="2122926"/>
            <a:ext cx="11018141" cy="1932239"/>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3C961FA-13CA-4FEC-838D-3411208120A8}"/>
              </a:ext>
            </a:extLst>
          </p:cNvPr>
          <p:cNvSpPr txBox="1"/>
          <p:nvPr/>
        </p:nvSpPr>
        <p:spPr>
          <a:xfrm>
            <a:off x="599161" y="3001206"/>
            <a:ext cx="10401334" cy="707886"/>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t_test</a:t>
            </a:r>
            <a:r>
              <a:rPr lang="en-US" sz="2000" dirty="0">
                <a:solidFill>
                  <a:srgbClr val="164F86"/>
                </a:solidFill>
                <a:latin typeface="Monaco" pitchFamily="2" charset="77"/>
                <a:ea typeface="Courier New"/>
                <a:cs typeface="Consolas" panose="020B0609020204030204" pitchFamily="49" charset="0"/>
                <a:sym typeface="Courier New"/>
              </a:rPr>
              <a:t>(</a:t>
            </a:r>
            <a:r>
              <a:rPr lang="en-US" sz="2000" dirty="0" err="1">
                <a:solidFill>
                  <a:srgbClr val="164F86"/>
                </a:solidFill>
                <a:latin typeface="Monaco" pitchFamily="2" charset="77"/>
                <a:ea typeface="Courier New"/>
                <a:cs typeface="Consolas" panose="020B0609020204030204" pitchFamily="49" charset="0"/>
                <a:sym typeface="Courier New"/>
              </a:rPr>
              <a:t>iron_subset</a:t>
            </a:r>
            <a:r>
              <a:rPr lang="en-US" sz="2000" dirty="0">
                <a:solidFill>
                  <a:srgbClr val="164F86"/>
                </a:solidFill>
                <a:latin typeface="Monaco" pitchFamily="2" charset="77"/>
                <a:ea typeface="Courier New"/>
                <a:cs typeface="Consolas" panose="020B0609020204030204" pitchFamily="49" charset="0"/>
                <a:sym typeface="Courier New"/>
              </a:rPr>
              <a:t>, response = value, explanatory = gender, </a:t>
            </a:r>
          </a:p>
          <a:p>
            <a:r>
              <a:rPr lang="en-US" sz="2000" dirty="0">
                <a:solidFill>
                  <a:srgbClr val="164F86"/>
                </a:solidFill>
                <a:latin typeface="Monaco" pitchFamily="2" charset="77"/>
                <a:ea typeface="Courier New"/>
                <a:cs typeface="Consolas" panose="020B0609020204030204" pitchFamily="49" charset="0"/>
                <a:sym typeface="Courier New"/>
              </a:rPr>
              <a:t>order = c(“Male”, “Female”)</a:t>
            </a:r>
          </a:p>
        </p:txBody>
      </p:sp>
      <p:sp>
        <p:nvSpPr>
          <p:cNvPr id="11" name="TextBox 10">
            <a:extLst>
              <a:ext uri="{FF2B5EF4-FFF2-40B4-BE49-F238E27FC236}">
                <a16:creationId xmlns:a16="http://schemas.microsoft.com/office/drawing/2014/main" id="{A3A773B2-A0A9-4AE0-9978-062F8784AD83}"/>
              </a:ext>
            </a:extLst>
          </p:cNvPr>
          <p:cNvSpPr txBox="1"/>
          <p:nvPr/>
        </p:nvSpPr>
        <p:spPr>
          <a:xfrm>
            <a:off x="599161" y="2362011"/>
            <a:ext cx="10781667"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iron_subset</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test == ‘</a:t>
            </a:r>
            <a:r>
              <a:rPr lang="fr-FR" sz="2000" dirty="0" err="1">
                <a:solidFill>
                  <a:srgbClr val="164F86"/>
                </a:solidFill>
                <a:latin typeface="Monaco" pitchFamily="2" charset="77"/>
                <a:ea typeface="Courier New"/>
                <a:cs typeface="Consolas" panose="020B0609020204030204" pitchFamily="49" charset="0"/>
                <a:sym typeface="Courier New"/>
              </a:rPr>
              <a:t>iron</a:t>
            </a:r>
            <a:r>
              <a:rPr lang="fr-FR"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pat_type</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outpatient</a:t>
            </a:r>
            <a:r>
              <a:rPr lang="fr-FR" sz="2000" dirty="0">
                <a:solidFill>
                  <a:srgbClr val="164F86"/>
                </a:solidFill>
                <a:latin typeface="Monaco" pitchFamily="2" charset="77"/>
                <a:ea typeface="Courier New"/>
                <a:cs typeface="Consolas" panose="020B0609020204030204" pitchFamily="49" charset="0"/>
                <a:sym typeface="Courier New"/>
              </a:rPr>
              <a:t>’)</a:t>
            </a:r>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5" name="Oval 4">
            <a:extLst>
              <a:ext uri="{FF2B5EF4-FFF2-40B4-BE49-F238E27FC236}">
                <a16:creationId xmlns:a16="http://schemas.microsoft.com/office/drawing/2014/main" id="{83F706DC-238A-FA21-58E3-20BFE23C40C7}"/>
              </a:ext>
            </a:extLst>
          </p:cNvPr>
          <p:cNvSpPr/>
          <p:nvPr/>
        </p:nvSpPr>
        <p:spPr>
          <a:xfrm>
            <a:off x="7328452" y="5048942"/>
            <a:ext cx="1470991" cy="79789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8DEDB84-F932-292E-6F23-395613F94353}"/>
              </a:ext>
            </a:extLst>
          </p:cNvPr>
          <p:cNvSpPr/>
          <p:nvPr/>
        </p:nvSpPr>
        <p:spPr>
          <a:xfrm>
            <a:off x="3230188" y="5048943"/>
            <a:ext cx="1470991" cy="76599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4159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Chi-squared test</a:t>
            </a:r>
          </a:p>
        </p:txBody>
      </p:sp>
    </p:spTree>
    <p:extLst>
      <p:ext uri="{BB962C8B-B14F-4D97-AF65-F5344CB8AC3E}">
        <p14:creationId xmlns:p14="http://schemas.microsoft.com/office/powerpoint/2010/main" val="2704055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a:xfrm>
            <a:off x="1024128" y="534416"/>
            <a:ext cx="9720072" cy="1499616"/>
          </a:xfrm>
        </p:spPr>
        <p:txBody>
          <a:bodyPr/>
          <a:lstStyle/>
          <a:p>
            <a:r>
              <a:rPr lang="en-US" dirty="0"/>
              <a:t>Chi-squared test</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a:xfrm>
            <a:off x="1024127" y="1859280"/>
            <a:ext cx="9720073" cy="4683760"/>
          </a:xfrm>
        </p:spPr>
        <p:txBody>
          <a:bodyPr>
            <a:normAutofit/>
          </a:bodyPr>
          <a:lstStyle/>
          <a:p>
            <a:r>
              <a:rPr lang="en-US" sz="3200" dirty="0"/>
              <a:t>To test for differences in event rates, we often use a chi-squared test. This test assumes: </a:t>
            </a:r>
          </a:p>
          <a:p>
            <a:r>
              <a:rPr lang="en-US" sz="3200" dirty="0"/>
              <a:t>1) The data points are independent</a:t>
            </a:r>
          </a:p>
          <a:p>
            <a:r>
              <a:rPr lang="en-US" sz="3200" dirty="0"/>
              <a:t>2) We expect at least 5 occurrences of each event for each sub-group</a:t>
            </a:r>
          </a:p>
          <a:p>
            <a:pPr marL="0" indent="0">
              <a:buNone/>
            </a:pPr>
            <a:br>
              <a:rPr lang="en-US" sz="3200" dirty="0"/>
            </a:br>
            <a:r>
              <a:rPr lang="en-US" sz="3200" dirty="0"/>
              <a:t>The most common type of chi-squared tests whether event rates are similar for multiple groups. There are other variants for different scenarios. </a:t>
            </a:r>
          </a:p>
          <a:p>
            <a:endParaRPr lang="en-US" sz="3200" dirty="0"/>
          </a:p>
        </p:txBody>
      </p:sp>
    </p:spTree>
    <p:extLst>
      <p:ext uri="{BB962C8B-B14F-4D97-AF65-F5344CB8AC3E}">
        <p14:creationId xmlns:p14="http://schemas.microsoft.com/office/powerpoint/2010/main" val="1644054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a:xfrm>
            <a:off x="1024128" y="534416"/>
            <a:ext cx="9720072" cy="1499616"/>
          </a:xfrm>
        </p:spPr>
        <p:txBody>
          <a:bodyPr/>
          <a:lstStyle/>
          <a:p>
            <a:r>
              <a:rPr lang="en-US" dirty="0"/>
              <a:t>Chi-squared test</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a:xfrm>
            <a:off x="1024127" y="1859280"/>
            <a:ext cx="9720073" cy="4683760"/>
          </a:xfrm>
        </p:spPr>
        <p:txBody>
          <a:bodyPr>
            <a:normAutofit lnSpcReduction="10000"/>
          </a:bodyPr>
          <a:lstStyle/>
          <a:p>
            <a:r>
              <a:rPr lang="en-US" sz="3200" dirty="0"/>
              <a:t>Lets say we want to know if two clinics order a test at the same rate. We have the following data: </a:t>
            </a:r>
          </a:p>
          <a:p>
            <a:endParaRPr lang="en-US" sz="3200" dirty="0"/>
          </a:p>
          <a:p>
            <a:endParaRPr lang="en-US" sz="3200" dirty="0"/>
          </a:p>
          <a:p>
            <a:endParaRPr lang="en-US" sz="3200" dirty="0"/>
          </a:p>
          <a:p>
            <a:br>
              <a:rPr lang="en-US" sz="3200" dirty="0"/>
            </a:br>
            <a:r>
              <a:rPr lang="en-US" sz="3200" dirty="0"/>
              <a:t>To evaluate this, we need to know what the average rate of ordering is: </a:t>
            </a:r>
            <a:br>
              <a:rPr lang="en-US" sz="3200" dirty="0"/>
            </a:br>
            <a:r>
              <a:rPr lang="en-US" sz="3200" dirty="0"/>
              <a:t>avg rate = (51 + 81)/(103 + 209 + 51 + 81) = 29.7%</a:t>
            </a:r>
          </a:p>
        </p:txBody>
      </p:sp>
      <p:graphicFrame>
        <p:nvGraphicFramePr>
          <p:cNvPr id="4" name="Table 4">
            <a:extLst>
              <a:ext uri="{FF2B5EF4-FFF2-40B4-BE49-F238E27FC236}">
                <a16:creationId xmlns:a16="http://schemas.microsoft.com/office/drawing/2014/main" id="{059EA5C5-9ABB-4A32-B6D5-CAEBE2BF35EC}"/>
              </a:ext>
            </a:extLst>
          </p:cNvPr>
          <p:cNvGraphicFramePr>
            <a:graphicFrameLocks noGrp="1"/>
          </p:cNvGraphicFramePr>
          <p:nvPr>
            <p:extLst>
              <p:ext uri="{D42A27DB-BD31-4B8C-83A1-F6EECF244321}">
                <p14:modId xmlns:p14="http://schemas.microsoft.com/office/powerpoint/2010/main" val="1102109881"/>
              </p:ext>
            </p:extLst>
          </p:nvPr>
        </p:nvGraphicFramePr>
        <p:xfrm>
          <a:off x="2372361" y="3013452"/>
          <a:ext cx="5755641" cy="1647954"/>
        </p:xfrm>
        <a:graphic>
          <a:graphicData uri="http://schemas.openxmlformats.org/drawingml/2006/table">
            <a:tbl>
              <a:tblPr firstRow="1" bandRow="1">
                <a:tableStyleId>{5C22544A-7EE6-4342-B048-85BDC9FD1C3A}</a:tableStyleId>
              </a:tblPr>
              <a:tblGrid>
                <a:gridCol w="1918547">
                  <a:extLst>
                    <a:ext uri="{9D8B030D-6E8A-4147-A177-3AD203B41FA5}">
                      <a16:colId xmlns:a16="http://schemas.microsoft.com/office/drawing/2014/main" val="1457878097"/>
                    </a:ext>
                  </a:extLst>
                </a:gridCol>
                <a:gridCol w="1918547">
                  <a:extLst>
                    <a:ext uri="{9D8B030D-6E8A-4147-A177-3AD203B41FA5}">
                      <a16:colId xmlns:a16="http://schemas.microsoft.com/office/drawing/2014/main" val="525565980"/>
                    </a:ext>
                  </a:extLst>
                </a:gridCol>
                <a:gridCol w="1918547">
                  <a:extLst>
                    <a:ext uri="{9D8B030D-6E8A-4147-A177-3AD203B41FA5}">
                      <a16:colId xmlns:a16="http://schemas.microsoft.com/office/drawing/2014/main" val="3139970476"/>
                    </a:ext>
                  </a:extLst>
                </a:gridCol>
              </a:tblGrid>
              <a:tr h="549318">
                <a:tc>
                  <a:txBody>
                    <a:bodyPr/>
                    <a:lstStyle/>
                    <a:p>
                      <a:endParaRPr lang="en-US" dirty="0"/>
                    </a:p>
                  </a:txBody>
                  <a:tcPr/>
                </a:tc>
                <a:tc>
                  <a:txBody>
                    <a:bodyPr/>
                    <a:lstStyle/>
                    <a:p>
                      <a:r>
                        <a:rPr lang="en-US" dirty="0"/>
                        <a:t>Test not ordered</a:t>
                      </a:r>
                    </a:p>
                  </a:txBody>
                  <a:tcPr/>
                </a:tc>
                <a:tc>
                  <a:txBody>
                    <a:bodyPr/>
                    <a:lstStyle/>
                    <a:p>
                      <a:r>
                        <a:rPr lang="en-US" dirty="0"/>
                        <a:t>Test ordered</a:t>
                      </a:r>
                    </a:p>
                  </a:txBody>
                  <a:tcPr/>
                </a:tc>
                <a:extLst>
                  <a:ext uri="{0D108BD9-81ED-4DB2-BD59-A6C34878D82A}">
                    <a16:rowId xmlns:a16="http://schemas.microsoft.com/office/drawing/2014/main" val="3311939680"/>
                  </a:ext>
                </a:extLst>
              </a:tr>
              <a:tr h="549318">
                <a:tc>
                  <a:txBody>
                    <a:bodyPr/>
                    <a:lstStyle/>
                    <a:p>
                      <a:r>
                        <a:rPr lang="en-US" b="1" dirty="0"/>
                        <a:t>Clinic 1</a:t>
                      </a:r>
                    </a:p>
                  </a:txBody>
                  <a:tcPr/>
                </a:tc>
                <a:tc>
                  <a:txBody>
                    <a:bodyPr/>
                    <a:lstStyle/>
                    <a:p>
                      <a:r>
                        <a:rPr lang="en-US" dirty="0"/>
                        <a:t>103</a:t>
                      </a:r>
                    </a:p>
                  </a:txBody>
                  <a:tcPr/>
                </a:tc>
                <a:tc>
                  <a:txBody>
                    <a:bodyPr/>
                    <a:lstStyle/>
                    <a:p>
                      <a:r>
                        <a:rPr lang="en-US" dirty="0"/>
                        <a:t>51</a:t>
                      </a:r>
                    </a:p>
                  </a:txBody>
                  <a:tcPr/>
                </a:tc>
                <a:extLst>
                  <a:ext uri="{0D108BD9-81ED-4DB2-BD59-A6C34878D82A}">
                    <a16:rowId xmlns:a16="http://schemas.microsoft.com/office/drawing/2014/main" val="2868227399"/>
                  </a:ext>
                </a:extLst>
              </a:tr>
              <a:tr h="549318">
                <a:tc>
                  <a:txBody>
                    <a:bodyPr/>
                    <a:lstStyle/>
                    <a:p>
                      <a:r>
                        <a:rPr lang="en-US" b="1" dirty="0"/>
                        <a:t>Clinic 2</a:t>
                      </a:r>
                    </a:p>
                  </a:txBody>
                  <a:tcPr/>
                </a:tc>
                <a:tc>
                  <a:txBody>
                    <a:bodyPr/>
                    <a:lstStyle/>
                    <a:p>
                      <a:r>
                        <a:rPr lang="en-US" dirty="0"/>
                        <a:t>209</a:t>
                      </a:r>
                    </a:p>
                  </a:txBody>
                  <a:tcPr/>
                </a:tc>
                <a:tc>
                  <a:txBody>
                    <a:bodyPr/>
                    <a:lstStyle/>
                    <a:p>
                      <a:r>
                        <a:rPr lang="en-US" dirty="0"/>
                        <a:t>81</a:t>
                      </a:r>
                    </a:p>
                  </a:txBody>
                  <a:tcPr/>
                </a:tc>
                <a:extLst>
                  <a:ext uri="{0D108BD9-81ED-4DB2-BD59-A6C34878D82A}">
                    <a16:rowId xmlns:a16="http://schemas.microsoft.com/office/drawing/2014/main" val="2414435799"/>
                  </a:ext>
                </a:extLst>
              </a:tr>
            </a:tbl>
          </a:graphicData>
        </a:graphic>
      </p:graphicFrame>
    </p:spTree>
    <p:extLst>
      <p:ext uri="{BB962C8B-B14F-4D97-AF65-F5344CB8AC3E}">
        <p14:creationId xmlns:p14="http://schemas.microsoft.com/office/powerpoint/2010/main" val="2649740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a:xfrm>
            <a:off x="1024128" y="534416"/>
            <a:ext cx="9720072" cy="1499616"/>
          </a:xfrm>
        </p:spPr>
        <p:txBody>
          <a:bodyPr/>
          <a:lstStyle/>
          <a:p>
            <a:r>
              <a:rPr lang="en-US" dirty="0"/>
              <a:t>Chi-squared test</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a:xfrm>
            <a:off x="1024127" y="1859280"/>
            <a:ext cx="9720073" cy="4683760"/>
          </a:xfrm>
        </p:spPr>
        <p:txBody>
          <a:bodyPr>
            <a:normAutofit fontScale="77500" lnSpcReduction="20000"/>
          </a:bodyPr>
          <a:lstStyle/>
          <a:p>
            <a:r>
              <a:rPr lang="en-US" sz="3200" dirty="0"/>
              <a:t>If on average the test is ordered for 29.7% of visits. Then for clinic 1, which has 154 total visits we’d expect</a:t>
            </a:r>
            <a:br>
              <a:rPr lang="en-US" sz="3200" dirty="0"/>
            </a:br>
            <a:r>
              <a:rPr lang="en-US" sz="3200" dirty="0"/>
              <a:t>154*0.703: 108.2 tests not ordered, and 154*0.297: 45.8 tests ordered</a:t>
            </a:r>
            <a:br>
              <a:rPr lang="en-US" sz="3200" dirty="0"/>
            </a:br>
            <a:br>
              <a:rPr lang="en-US" sz="3200" dirty="0"/>
            </a:br>
            <a:r>
              <a:rPr lang="en-US" sz="3200" dirty="0"/>
              <a:t>Clinical 2 has 290 total visits, so we’d expect 86.1 tests ordered, 203.9 tests not ordered</a:t>
            </a:r>
          </a:p>
          <a:p>
            <a:endParaRPr lang="en-US" sz="3200" dirty="0"/>
          </a:p>
          <a:p>
            <a:endParaRPr lang="en-US" sz="3200" dirty="0"/>
          </a:p>
          <a:p>
            <a:endParaRPr lang="en-US" sz="3200" dirty="0"/>
          </a:p>
          <a:p>
            <a:endParaRPr lang="en-US" sz="3200" dirty="0"/>
          </a:p>
          <a:p>
            <a:endParaRPr lang="en-US" sz="3200" dirty="0"/>
          </a:p>
          <a:p>
            <a:pPr marL="0" indent="0">
              <a:buNone/>
            </a:pPr>
            <a:r>
              <a:rPr lang="en-US" sz="3200" dirty="0"/>
              <a:t>A chi-squared test checks whether this table is meaningfully different to the observed table</a:t>
            </a:r>
          </a:p>
          <a:p>
            <a:pPr marL="0" indent="0">
              <a:buNone/>
            </a:pPr>
            <a:endParaRPr lang="en-US" sz="3200" dirty="0"/>
          </a:p>
        </p:txBody>
      </p:sp>
      <p:graphicFrame>
        <p:nvGraphicFramePr>
          <p:cNvPr id="4" name="Table 4">
            <a:extLst>
              <a:ext uri="{FF2B5EF4-FFF2-40B4-BE49-F238E27FC236}">
                <a16:creationId xmlns:a16="http://schemas.microsoft.com/office/drawing/2014/main" id="{059EA5C5-9ABB-4A32-B6D5-CAEBE2BF35EC}"/>
              </a:ext>
            </a:extLst>
          </p:cNvPr>
          <p:cNvGraphicFramePr>
            <a:graphicFrameLocks noGrp="1"/>
          </p:cNvGraphicFramePr>
          <p:nvPr>
            <p:extLst>
              <p:ext uri="{D42A27DB-BD31-4B8C-83A1-F6EECF244321}">
                <p14:modId xmlns:p14="http://schemas.microsoft.com/office/powerpoint/2010/main" val="3070970234"/>
              </p:ext>
            </p:extLst>
          </p:nvPr>
        </p:nvGraphicFramePr>
        <p:xfrm>
          <a:off x="2545080" y="3794416"/>
          <a:ext cx="7330440" cy="1738716"/>
        </p:xfrm>
        <a:graphic>
          <a:graphicData uri="http://schemas.openxmlformats.org/drawingml/2006/table">
            <a:tbl>
              <a:tblPr firstRow="1" bandRow="1">
                <a:tableStyleId>{5C22544A-7EE6-4342-B048-85BDC9FD1C3A}</a:tableStyleId>
              </a:tblPr>
              <a:tblGrid>
                <a:gridCol w="2443480">
                  <a:extLst>
                    <a:ext uri="{9D8B030D-6E8A-4147-A177-3AD203B41FA5}">
                      <a16:colId xmlns:a16="http://schemas.microsoft.com/office/drawing/2014/main" val="1457878097"/>
                    </a:ext>
                  </a:extLst>
                </a:gridCol>
                <a:gridCol w="2443480">
                  <a:extLst>
                    <a:ext uri="{9D8B030D-6E8A-4147-A177-3AD203B41FA5}">
                      <a16:colId xmlns:a16="http://schemas.microsoft.com/office/drawing/2014/main" val="525565980"/>
                    </a:ext>
                  </a:extLst>
                </a:gridCol>
                <a:gridCol w="2443480">
                  <a:extLst>
                    <a:ext uri="{9D8B030D-6E8A-4147-A177-3AD203B41FA5}">
                      <a16:colId xmlns:a16="http://schemas.microsoft.com/office/drawing/2014/main" val="3139970476"/>
                    </a:ext>
                  </a:extLst>
                </a:gridCol>
              </a:tblGrid>
              <a:tr h="549318">
                <a:tc>
                  <a:txBody>
                    <a:bodyPr/>
                    <a:lstStyle/>
                    <a:p>
                      <a:endParaRPr lang="en-US" dirty="0"/>
                    </a:p>
                  </a:txBody>
                  <a:tcPr/>
                </a:tc>
                <a:tc>
                  <a:txBody>
                    <a:bodyPr/>
                    <a:lstStyle/>
                    <a:p>
                      <a:r>
                        <a:rPr lang="en-US" dirty="0"/>
                        <a:t>Test not ordered</a:t>
                      </a:r>
                      <a:br>
                        <a:rPr lang="en-US" dirty="0"/>
                      </a:br>
                      <a:r>
                        <a:rPr lang="en-US" dirty="0"/>
                        <a:t>(Expected)</a:t>
                      </a:r>
                    </a:p>
                  </a:txBody>
                  <a:tcPr/>
                </a:tc>
                <a:tc>
                  <a:txBody>
                    <a:bodyPr/>
                    <a:lstStyle/>
                    <a:p>
                      <a:r>
                        <a:rPr lang="en-US" dirty="0"/>
                        <a:t>Test ordered</a:t>
                      </a:r>
                      <a:br>
                        <a:rPr lang="en-US" dirty="0"/>
                      </a:br>
                      <a:r>
                        <a:rPr lang="en-US" dirty="0"/>
                        <a:t>(Expected)</a:t>
                      </a:r>
                    </a:p>
                  </a:txBody>
                  <a:tcPr/>
                </a:tc>
                <a:extLst>
                  <a:ext uri="{0D108BD9-81ED-4DB2-BD59-A6C34878D82A}">
                    <a16:rowId xmlns:a16="http://schemas.microsoft.com/office/drawing/2014/main" val="3311939680"/>
                  </a:ext>
                </a:extLst>
              </a:tr>
              <a:tr h="549318">
                <a:tc>
                  <a:txBody>
                    <a:bodyPr/>
                    <a:lstStyle/>
                    <a:p>
                      <a:r>
                        <a:rPr lang="en-US" b="1" dirty="0"/>
                        <a:t>Clinic 1</a:t>
                      </a:r>
                    </a:p>
                  </a:txBody>
                  <a:tcPr/>
                </a:tc>
                <a:tc>
                  <a:txBody>
                    <a:bodyPr/>
                    <a:lstStyle/>
                    <a:p>
                      <a:r>
                        <a:rPr lang="en-US" dirty="0"/>
                        <a:t>108.2</a:t>
                      </a:r>
                    </a:p>
                  </a:txBody>
                  <a:tcPr/>
                </a:tc>
                <a:tc>
                  <a:txBody>
                    <a:bodyPr/>
                    <a:lstStyle/>
                    <a:p>
                      <a:r>
                        <a:rPr lang="en-US" dirty="0"/>
                        <a:t>45.8</a:t>
                      </a:r>
                    </a:p>
                  </a:txBody>
                  <a:tcPr/>
                </a:tc>
                <a:extLst>
                  <a:ext uri="{0D108BD9-81ED-4DB2-BD59-A6C34878D82A}">
                    <a16:rowId xmlns:a16="http://schemas.microsoft.com/office/drawing/2014/main" val="2868227399"/>
                  </a:ext>
                </a:extLst>
              </a:tr>
              <a:tr h="549318">
                <a:tc>
                  <a:txBody>
                    <a:bodyPr/>
                    <a:lstStyle/>
                    <a:p>
                      <a:r>
                        <a:rPr lang="en-US" b="1" dirty="0"/>
                        <a:t>Clinic 2</a:t>
                      </a:r>
                    </a:p>
                  </a:txBody>
                  <a:tcPr/>
                </a:tc>
                <a:tc>
                  <a:txBody>
                    <a:bodyPr/>
                    <a:lstStyle/>
                    <a:p>
                      <a:r>
                        <a:rPr lang="en-US" dirty="0"/>
                        <a:t>203.9</a:t>
                      </a:r>
                    </a:p>
                  </a:txBody>
                  <a:tcPr/>
                </a:tc>
                <a:tc>
                  <a:txBody>
                    <a:bodyPr/>
                    <a:lstStyle/>
                    <a:p>
                      <a:r>
                        <a:rPr lang="en-US" dirty="0"/>
                        <a:t>86.1</a:t>
                      </a:r>
                    </a:p>
                  </a:txBody>
                  <a:tcPr/>
                </a:tc>
                <a:extLst>
                  <a:ext uri="{0D108BD9-81ED-4DB2-BD59-A6C34878D82A}">
                    <a16:rowId xmlns:a16="http://schemas.microsoft.com/office/drawing/2014/main" val="2414435799"/>
                  </a:ext>
                </a:extLst>
              </a:tr>
            </a:tbl>
          </a:graphicData>
        </a:graphic>
      </p:graphicFrame>
    </p:spTree>
    <p:extLst>
      <p:ext uri="{BB962C8B-B14F-4D97-AF65-F5344CB8AC3E}">
        <p14:creationId xmlns:p14="http://schemas.microsoft.com/office/powerpoint/2010/main" val="33958782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9770" y="1046355"/>
            <a:ext cx="5800460" cy="777536"/>
          </a:xfrm>
        </p:spPr>
        <p:txBody>
          <a:bodyPr/>
          <a:lstStyle/>
          <a:p>
            <a:r>
              <a:rPr lang="en-US" sz="4800" dirty="0">
                <a:solidFill>
                  <a:srgbClr val="000000"/>
                </a:solidFill>
              </a:rPr>
              <a:t>Chi-squared test</a:t>
            </a:r>
          </a:p>
        </p:txBody>
      </p:sp>
      <p:sp>
        <p:nvSpPr>
          <p:cNvPr id="7" name="Rectangle 6"/>
          <p:cNvSpPr/>
          <p:nvPr/>
        </p:nvSpPr>
        <p:spPr>
          <a:xfrm>
            <a:off x="869629" y="1917218"/>
            <a:ext cx="11018141" cy="3539430"/>
          </a:xfrm>
          <a:prstGeom prst="rect">
            <a:avLst/>
          </a:prstGeom>
        </p:spPr>
        <p:txBody>
          <a:bodyPr wrap="square">
            <a:spAutoFit/>
          </a:bodyPr>
          <a:lstStyle/>
          <a:p>
            <a:r>
              <a:rPr lang="en-US" sz="3200" dirty="0">
                <a:latin typeface="Calibri" panose="020F0502020204030204" pitchFamily="34" charset="0"/>
              </a:rPr>
              <a:t>To run chi-squared tests in R, we have three steps</a:t>
            </a:r>
          </a:p>
          <a:p>
            <a:pPr marL="514350" indent="-514350">
              <a:buAutoNum type="arabicPeriod"/>
            </a:pPr>
            <a:r>
              <a:rPr lang="en-US" sz="3200" dirty="0">
                <a:latin typeface="Calibri" panose="020F0502020204030204" pitchFamily="34" charset="0"/>
              </a:rPr>
              <a:t>Filter down to the given test and groups</a:t>
            </a:r>
          </a:p>
          <a:p>
            <a:pPr marL="514350" indent="-514350">
              <a:buAutoNum type="arabicPeriod"/>
            </a:pPr>
            <a:r>
              <a:rPr lang="en-US" sz="3200" dirty="0">
                <a:latin typeface="Calibri" panose="020F0502020204030204" pitchFamily="34" charset="0"/>
              </a:rPr>
              <a:t>Generate the binary outcome variable</a:t>
            </a:r>
          </a:p>
          <a:p>
            <a:pPr marL="514350" indent="-514350">
              <a:buAutoNum type="arabicPeriod"/>
            </a:pPr>
            <a:r>
              <a:rPr lang="en-US" sz="3200" dirty="0">
                <a:latin typeface="Calibri" panose="020F0502020204030204" pitchFamily="34" charset="0"/>
              </a:rPr>
              <a:t>Run the test</a:t>
            </a:r>
          </a:p>
          <a:p>
            <a:pPr marL="514350" indent="-514350">
              <a:buAutoNum type="arabicPeriod"/>
            </a:pPr>
            <a:endParaRPr lang="en-US" sz="3200" dirty="0">
              <a:latin typeface="Calibri" panose="020F0502020204030204" pitchFamily="34" charset="0"/>
            </a:endParaRPr>
          </a:p>
          <a:p>
            <a:r>
              <a:rPr lang="en-US" sz="3200" dirty="0">
                <a:latin typeface="Calibri" panose="020F0502020204030204" pitchFamily="34" charset="0"/>
              </a:rPr>
              <a:t>To illustrate this, lets check whether male + female outpatients have different rates of low iron (&lt;32)</a:t>
            </a:r>
          </a:p>
        </p:txBody>
      </p:sp>
    </p:spTree>
    <p:extLst>
      <p:ext uri="{BB962C8B-B14F-4D97-AF65-F5344CB8AC3E}">
        <p14:creationId xmlns:p14="http://schemas.microsoft.com/office/powerpoint/2010/main" val="3027716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9770" y="1046355"/>
            <a:ext cx="5800460" cy="777536"/>
          </a:xfrm>
        </p:spPr>
        <p:txBody>
          <a:bodyPr/>
          <a:lstStyle/>
          <a:p>
            <a:r>
              <a:rPr lang="en-US" sz="4800" dirty="0">
                <a:solidFill>
                  <a:srgbClr val="000000"/>
                </a:solidFill>
              </a:rPr>
              <a:t>Chi-squared test</a:t>
            </a:r>
          </a:p>
        </p:txBody>
      </p:sp>
      <p:sp>
        <p:nvSpPr>
          <p:cNvPr id="7" name="Rectangle 6"/>
          <p:cNvSpPr/>
          <p:nvPr/>
        </p:nvSpPr>
        <p:spPr>
          <a:xfrm>
            <a:off x="869629" y="1917218"/>
            <a:ext cx="11018141" cy="2062103"/>
          </a:xfrm>
          <a:prstGeom prst="rect">
            <a:avLst/>
          </a:prstGeom>
        </p:spPr>
        <p:txBody>
          <a:bodyPr wrap="square">
            <a:spAutoFit/>
          </a:bodyPr>
          <a:lstStyle/>
          <a:p>
            <a:r>
              <a:rPr lang="en-US" sz="3200" dirty="0">
                <a:latin typeface="Calibri" panose="020F0502020204030204" pitchFamily="34" charset="0"/>
              </a:rPr>
              <a:t>To run chi-squared tests in R, we have three steps</a:t>
            </a:r>
          </a:p>
          <a:p>
            <a:pPr marL="514350" indent="-514350">
              <a:buAutoNum type="arabicPeriod"/>
            </a:pPr>
            <a:r>
              <a:rPr lang="en-US" sz="3200" b="1" dirty="0">
                <a:latin typeface="Calibri" panose="020F0502020204030204" pitchFamily="34" charset="0"/>
              </a:rPr>
              <a:t>Filter down to the given test and groups</a:t>
            </a:r>
          </a:p>
          <a:p>
            <a:pPr marL="514350" indent="-514350">
              <a:buAutoNum type="arabicPeriod"/>
            </a:pPr>
            <a:r>
              <a:rPr lang="en-US" sz="3200" dirty="0">
                <a:latin typeface="Calibri" panose="020F0502020204030204" pitchFamily="34" charset="0"/>
              </a:rPr>
              <a:t>Generate the binary outcome variable</a:t>
            </a:r>
          </a:p>
          <a:p>
            <a:pPr marL="514350" indent="-514350">
              <a:buAutoNum type="arabicPeriod"/>
            </a:pPr>
            <a:r>
              <a:rPr lang="en-US" sz="3200" dirty="0">
                <a:latin typeface="Calibri" panose="020F0502020204030204" pitchFamily="34" charset="0"/>
              </a:rPr>
              <a:t>Run the test</a:t>
            </a:r>
          </a:p>
        </p:txBody>
      </p:sp>
      <p:sp>
        <p:nvSpPr>
          <p:cNvPr id="3" name="Rectangle 2">
            <a:extLst>
              <a:ext uri="{FF2B5EF4-FFF2-40B4-BE49-F238E27FC236}">
                <a16:creationId xmlns:a16="http://schemas.microsoft.com/office/drawing/2014/main" id="{500E3552-2248-F91D-4D9D-C17076B0F7FA}"/>
              </a:ext>
            </a:extLst>
          </p:cNvPr>
          <p:cNvSpPr/>
          <p:nvPr/>
        </p:nvSpPr>
        <p:spPr>
          <a:xfrm>
            <a:off x="547173" y="4666208"/>
            <a:ext cx="10837274" cy="767183"/>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8ED6C8F-DCF2-79C8-7510-7E1F47AEEAB8}"/>
              </a:ext>
            </a:extLst>
          </p:cNvPr>
          <p:cNvSpPr txBox="1"/>
          <p:nvPr/>
        </p:nvSpPr>
        <p:spPr>
          <a:xfrm>
            <a:off x="547172" y="4838816"/>
            <a:ext cx="11018141"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iron_subset</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test == ‘</a:t>
            </a:r>
            <a:r>
              <a:rPr lang="fr-FR" sz="2000" dirty="0" err="1">
                <a:solidFill>
                  <a:srgbClr val="164F86"/>
                </a:solidFill>
                <a:latin typeface="Monaco" pitchFamily="2" charset="77"/>
                <a:ea typeface="Courier New"/>
                <a:cs typeface="Consolas" panose="020B0609020204030204" pitchFamily="49" charset="0"/>
                <a:sym typeface="Courier New"/>
              </a:rPr>
              <a:t>iron</a:t>
            </a:r>
            <a:r>
              <a:rPr lang="fr-FR"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pat_type</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outpatient</a:t>
            </a:r>
            <a:r>
              <a:rPr lang="fr-FR" sz="2000" dirty="0">
                <a:solidFill>
                  <a:srgbClr val="164F86"/>
                </a:solidFill>
                <a:latin typeface="Monaco" pitchFamily="2" charset="77"/>
                <a:ea typeface="Courier New"/>
                <a:cs typeface="Consolas" panose="020B0609020204030204" pitchFamily="49" charset="0"/>
                <a:sym typeface="Courier New"/>
              </a:rPr>
              <a:t>’)</a:t>
            </a:r>
          </a:p>
        </p:txBody>
      </p:sp>
    </p:spTree>
    <p:extLst>
      <p:ext uri="{BB962C8B-B14F-4D97-AF65-F5344CB8AC3E}">
        <p14:creationId xmlns:p14="http://schemas.microsoft.com/office/powerpoint/2010/main" val="21601798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9770" y="1046355"/>
            <a:ext cx="5800460" cy="777536"/>
          </a:xfrm>
        </p:spPr>
        <p:txBody>
          <a:bodyPr/>
          <a:lstStyle/>
          <a:p>
            <a:r>
              <a:rPr lang="en-US" sz="4800" dirty="0">
                <a:solidFill>
                  <a:srgbClr val="000000"/>
                </a:solidFill>
              </a:rPr>
              <a:t>Chi-squared test</a:t>
            </a:r>
          </a:p>
        </p:txBody>
      </p:sp>
      <p:sp>
        <p:nvSpPr>
          <p:cNvPr id="7" name="Rectangle 6"/>
          <p:cNvSpPr/>
          <p:nvPr/>
        </p:nvSpPr>
        <p:spPr>
          <a:xfrm>
            <a:off x="869629" y="1917218"/>
            <a:ext cx="11018141" cy="2062103"/>
          </a:xfrm>
          <a:prstGeom prst="rect">
            <a:avLst/>
          </a:prstGeom>
        </p:spPr>
        <p:txBody>
          <a:bodyPr wrap="square">
            <a:spAutoFit/>
          </a:bodyPr>
          <a:lstStyle/>
          <a:p>
            <a:r>
              <a:rPr lang="en-US" sz="3200" dirty="0">
                <a:latin typeface="Calibri" panose="020F0502020204030204" pitchFamily="34" charset="0"/>
              </a:rPr>
              <a:t>To run chi-squared tests in R, we have three steps</a:t>
            </a:r>
          </a:p>
          <a:p>
            <a:pPr marL="514350" indent="-514350">
              <a:buAutoNum type="arabicPeriod"/>
            </a:pPr>
            <a:r>
              <a:rPr lang="en-US" sz="3200" dirty="0">
                <a:latin typeface="Calibri" panose="020F0502020204030204" pitchFamily="34" charset="0"/>
              </a:rPr>
              <a:t>Filter down to the given test and groups</a:t>
            </a:r>
          </a:p>
          <a:p>
            <a:pPr marL="514350" indent="-514350">
              <a:buAutoNum type="arabicPeriod"/>
            </a:pPr>
            <a:r>
              <a:rPr lang="en-US" sz="3200" b="1" dirty="0">
                <a:latin typeface="Calibri" panose="020F0502020204030204" pitchFamily="34" charset="0"/>
              </a:rPr>
              <a:t>Generate the binary outcome variable</a:t>
            </a:r>
          </a:p>
          <a:p>
            <a:pPr marL="514350" indent="-514350">
              <a:buAutoNum type="arabicPeriod"/>
            </a:pPr>
            <a:r>
              <a:rPr lang="en-US" sz="3200" dirty="0">
                <a:latin typeface="Calibri" panose="020F0502020204030204" pitchFamily="34" charset="0"/>
              </a:rPr>
              <a:t>Run the test</a:t>
            </a:r>
          </a:p>
        </p:txBody>
      </p:sp>
      <p:sp>
        <p:nvSpPr>
          <p:cNvPr id="3" name="Rectangle 2">
            <a:extLst>
              <a:ext uri="{FF2B5EF4-FFF2-40B4-BE49-F238E27FC236}">
                <a16:creationId xmlns:a16="http://schemas.microsoft.com/office/drawing/2014/main" id="{500E3552-2248-F91D-4D9D-C17076B0F7FA}"/>
              </a:ext>
            </a:extLst>
          </p:cNvPr>
          <p:cNvSpPr/>
          <p:nvPr/>
        </p:nvSpPr>
        <p:spPr>
          <a:xfrm>
            <a:off x="2809461" y="4666208"/>
            <a:ext cx="6239857" cy="1032227"/>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8ED6C8F-DCF2-79C8-7510-7E1F47AEEAB8}"/>
              </a:ext>
            </a:extLst>
          </p:cNvPr>
          <p:cNvSpPr txBox="1"/>
          <p:nvPr/>
        </p:nvSpPr>
        <p:spPr>
          <a:xfrm>
            <a:off x="3142681" y="4828378"/>
            <a:ext cx="5906637" cy="707886"/>
          </a:xfrm>
          <a:prstGeom prst="rect">
            <a:avLst/>
          </a:prstGeom>
          <a:noFill/>
        </p:spPr>
        <p:txBody>
          <a:bodyPr wrap="square" rtlCol="0">
            <a:spAutoFit/>
          </a:bodyPr>
          <a:lstStyle/>
          <a:p>
            <a:r>
              <a:rPr lang="fr-FR" sz="2000" dirty="0" err="1">
                <a:solidFill>
                  <a:srgbClr val="164F86"/>
                </a:solidFill>
                <a:latin typeface="Monaco" pitchFamily="2" charset="77"/>
                <a:ea typeface="Courier New"/>
                <a:cs typeface="Consolas" panose="020B0609020204030204" pitchFamily="49" charset="0"/>
                <a:sym typeface="Courier New"/>
              </a:rPr>
              <a:t>iron_subset</a:t>
            </a:r>
            <a:r>
              <a:rPr lang="fr-FR"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iron_subset</a:t>
            </a:r>
            <a:r>
              <a:rPr lang="fr-FR" sz="2000" dirty="0">
                <a:solidFill>
                  <a:srgbClr val="164F86"/>
                </a:solidFill>
                <a:latin typeface="Monaco" pitchFamily="2" charset="77"/>
                <a:ea typeface="Courier New"/>
                <a:cs typeface="Consolas" panose="020B0609020204030204" pitchFamily="49" charset="0"/>
                <a:sym typeface="Courier New"/>
              </a:rPr>
              <a:t> |&gt; </a:t>
            </a:r>
          </a:p>
          <a:p>
            <a:r>
              <a:rPr lang="fr-FR"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mutate</a:t>
            </a:r>
            <a:r>
              <a:rPr lang="fr-FR" sz="2000" dirty="0">
                <a:solidFill>
                  <a:srgbClr val="164F86"/>
                </a:solidFill>
                <a:latin typeface="Monaco" pitchFamily="2" charset="77"/>
                <a:ea typeface="Courier New"/>
                <a:cs typeface="Consolas" panose="020B0609020204030204" pitchFamily="49" charset="0"/>
                <a:sym typeface="Courier New"/>
              </a:rPr>
              <a:t>(</a:t>
            </a:r>
            <a:r>
              <a:rPr lang="fr-FR" sz="2000" dirty="0" err="1">
                <a:solidFill>
                  <a:srgbClr val="164F86"/>
                </a:solidFill>
                <a:latin typeface="Monaco" pitchFamily="2" charset="77"/>
                <a:ea typeface="Courier New"/>
                <a:cs typeface="Consolas" panose="020B0609020204030204" pitchFamily="49" charset="0"/>
                <a:sym typeface="Courier New"/>
              </a:rPr>
              <a:t>iron_binary</a:t>
            </a:r>
            <a:r>
              <a:rPr lang="fr-FR" sz="2000" dirty="0">
                <a:solidFill>
                  <a:srgbClr val="164F86"/>
                </a:solidFill>
                <a:latin typeface="Monaco" pitchFamily="2" charset="77"/>
                <a:ea typeface="Courier New"/>
                <a:cs typeface="Consolas" panose="020B0609020204030204" pitchFamily="49" charset="0"/>
                <a:sym typeface="Courier New"/>
              </a:rPr>
              <a:t> = (value &lt; 32))</a:t>
            </a:r>
            <a:endParaRPr lang="en-US" sz="2000" dirty="0">
              <a:solidFill>
                <a:srgbClr val="164F86"/>
              </a:solidFill>
              <a:latin typeface="Monaco" pitchFamily="2" charset="77"/>
              <a:ea typeface="Courier New"/>
              <a:cs typeface="Consolas" panose="020B0609020204030204" pitchFamily="49" charset="0"/>
              <a:sym typeface="Courier New"/>
            </a:endParaRPr>
          </a:p>
        </p:txBody>
      </p:sp>
    </p:spTree>
    <p:extLst>
      <p:ext uri="{BB962C8B-B14F-4D97-AF65-F5344CB8AC3E}">
        <p14:creationId xmlns:p14="http://schemas.microsoft.com/office/powerpoint/2010/main" val="24220411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9770" y="1046355"/>
            <a:ext cx="5800460" cy="777536"/>
          </a:xfrm>
        </p:spPr>
        <p:txBody>
          <a:bodyPr/>
          <a:lstStyle/>
          <a:p>
            <a:r>
              <a:rPr lang="en-US" sz="4800" dirty="0">
                <a:solidFill>
                  <a:srgbClr val="000000"/>
                </a:solidFill>
              </a:rPr>
              <a:t>Chi-squared test</a:t>
            </a:r>
          </a:p>
        </p:txBody>
      </p:sp>
      <p:sp>
        <p:nvSpPr>
          <p:cNvPr id="7" name="Rectangle 6"/>
          <p:cNvSpPr/>
          <p:nvPr/>
        </p:nvSpPr>
        <p:spPr>
          <a:xfrm>
            <a:off x="869629" y="1917218"/>
            <a:ext cx="11018141" cy="2062103"/>
          </a:xfrm>
          <a:prstGeom prst="rect">
            <a:avLst/>
          </a:prstGeom>
        </p:spPr>
        <p:txBody>
          <a:bodyPr wrap="square">
            <a:spAutoFit/>
          </a:bodyPr>
          <a:lstStyle/>
          <a:p>
            <a:r>
              <a:rPr lang="en-US" sz="3200" dirty="0">
                <a:latin typeface="Calibri" panose="020F0502020204030204" pitchFamily="34" charset="0"/>
              </a:rPr>
              <a:t>To run chi-squared tests in R, we have three steps</a:t>
            </a:r>
          </a:p>
          <a:p>
            <a:pPr marL="514350" indent="-514350">
              <a:buAutoNum type="arabicPeriod"/>
            </a:pPr>
            <a:r>
              <a:rPr lang="en-US" sz="3200" dirty="0">
                <a:latin typeface="Calibri" panose="020F0502020204030204" pitchFamily="34" charset="0"/>
              </a:rPr>
              <a:t>Filter down to the given test and groups</a:t>
            </a:r>
          </a:p>
          <a:p>
            <a:pPr marL="514350" indent="-514350">
              <a:buAutoNum type="arabicPeriod"/>
            </a:pPr>
            <a:r>
              <a:rPr lang="en-US" sz="3200" dirty="0">
                <a:latin typeface="Calibri" panose="020F0502020204030204" pitchFamily="34" charset="0"/>
              </a:rPr>
              <a:t>Generate the binary outcome variable</a:t>
            </a:r>
          </a:p>
          <a:p>
            <a:pPr marL="514350" indent="-514350">
              <a:buAutoNum type="arabicPeriod"/>
            </a:pPr>
            <a:r>
              <a:rPr lang="en-US" sz="3200" b="1" dirty="0">
                <a:latin typeface="Calibri" panose="020F0502020204030204" pitchFamily="34" charset="0"/>
              </a:rPr>
              <a:t>Run the test</a:t>
            </a:r>
          </a:p>
        </p:txBody>
      </p:sp>
      <p:sp>
        <p:nvSpPr>
          <p:cNvPr id="3" name="Rectangle 2">
            <a:extLst>
              <a:ext uri="{FF2B5EF4-FFF2-40B4-BE49-F238E27FC236}">
                <a16:creationId xmlns:a16="http://schemas.microsoft.com/office/drawing/2014/main" id="{500E3552-2248-F91D-4D9D-C17076B0F7FA}"/>
              </a:ext>
            </a:extLst>
          </p:cNvPr>
          <p:cNvSpPr/>
          <p:nvPr/>
        </p:nvSpPr>
        <p:spPr>
          <a:xfrm>
            <a:off x="1948069" y="5811645"/>
            <a:ext cx="7712765" cy="740680"/>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8ED6C8F-DCF2-79C8-7510-7E1F47AEEAB8}"/>
              </a:ext>
            </a:extLst>
          </p:cNvPr>
          <p:cNvSpPr txBox="1"/>
          <p:nvPr/>
        </p:nvSpPr>
        <p:spPr>
          <a:xfrm>
            <a:off x="2213113" y="5973815"/>
            <a:ext cx="7180762"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chisq_test</a:t>
            </a:r>
            <a:r>
              <a:rPr lang="en-US" sz="2000" dirty="0">
                <a:solidFill>
                  <a:srgbClr val="164F86"/>
                </a:solidFill>
                <a:latin typeface="Monaco" pitchFamily="2" charset="77"/>
                <a:ea typeface="Courier New"/>
                <a:cs typeface="Consolas" panose="020B0609020204030204" pitchFamily="49" charset="0"/>
                <a:sym typeface="Courier New"/>
              </a:rPr>
              <a:t>(</a:t>
            </a:r>
            <a:r>
              <a:rPr lang="en-US" sz="2000" dirty="0" err="1">
                <a:solidFill>
                  <a:srgbClr val="164F86"/>
                </a:solidFill>
                <a:latin typeface="Monaco" pitchFamily="2" charset="77"/>
                <a:ea typeface="Courier New"/>
                <a:cs typeface="Consolas" panose="020B0609020204030204" pitchFamily="49" charset="0"/>
                <a:sym typeface="Courier New"/>
              </a:rPr>
              <a:t>iron_subset</a:t>
            </a:r>
            <a:r>
              <a:rPr lang="en-US" sz="2000" dirty="0">
                <a:solidFill>
                  <a:srgbClr val="164F86"/>
                </a:solidFill>
                <a:latin typeface="Monaco" pitchFamily="2" charset="77"/>
                <a:ea typeface="Courier New"/>
                <a:cs typeface="Consolas" panose="020B0609020204030204" pitchFamily="49" charset="0"/>
                <a:sym typeface="Courier New"/>
              </a:rPr>
              <a:t>, </a:t>
            </a:r>
            <a:r>
              <a:rPr lang="en-US" sz="2000" dirty="0" err="1">
                <a:solidFill>
                  <a:srgbClr val="164F86"/>
                </a:solidFill>
                <a:latin typeface="Monaco" pitchFamily="2" charset="77"/>
                <a:ea typeface="Courier New"/>
                <a:cs typeface="Consolas" panose="020B0609020204030204" pitchFamily="49" charset="0"/>
                <a:sym typeface="Courier New"/>
              </a:rPr>
              <a:t>iron_binary</a:t>
            </a:r>
            <a:r>
              <a:rPr lang="en-US" sz="2000" dirty="0">
                <a:solidFill>
                  <a:srgbClr val="164F86"/>
                </a:solidFill>
                <a:latin typeface="Monaco" pitchFamily="2" charset="77"/>
                <a:ea typeface="Courier New"/>
                <a:cs typeface="Consolas" panose="020B0609020204030204" pitchFamily="49" charset="0"/>
                <a:sym typeface="Courier New"/>
              </a:rPr>
              <a:t> ~ gender)</a:t>
            </a:r>
          </a:p>
        </p:txBody>
      </p:sp>
      <p:grpSp>
        <p:nvGrpSpPr>
          <p:cNvPr id="5" name="Group 4">
            <a:extLst>
              <a:ext uri="{FF2B5EF4-FFF2-40B4-BE49-F238E27FC236}">
                <a16:creationId xmlns:a16="http://schemas.microsoft.com/office/drawing/2014/main" id="{94ABAF38-FA15-0CDB-6937-02F0BF57B9E8}"/>
              </a:ext>
            </a:extLst>
          </p:cNvPr>
          <p:cNvGrpSpPr/>
          <p:nvPr/>
        </p:nvGrpSpPr>
        <p:grpSpPr>
          <a:xfrm>
            <a:off x="3122543" y="4197240"/>
            <a:ext cx="2365216" cy="1246648"/>
            <a:chOff x="896764" y="1732048"/>
            <a:chExt cx="2365216" cy="1246648"/>
          </a:xfrm>
        </p:grpSpPr>
        <p:sp>
          <p:nvSpPr>
            <p:cNvPr id="6" name="Rounded Rectangular Callout 5">
              <a:extLst>
                <a:ext uri="{FF2B5EF4-FFF2-40B4-BE49-F238E27FC236}">
                  <a16:creationId xmlns:a16="http://schemas.microsoft.com/office/drawing/2014/main" id="{0B4779D5-D7AE-F786-FFFF-5C5539A42EA2}"/>
                </a:ext>
              </a:extLst>
            </p:cNvPr>
            <p:cNvSpPr/>
            <p:nvPr/>
          </p:nvSpPr>
          <p:spPr>
            <a:xfrm>
              <a:off x="896764" y="1732048"/>
              <a:ext cx="2365216" cy="1246648"/>
            </a:xfrm>
            <a:prstGeom prst="wedgeRoundRectCallout">
              <a:avLst>
                <a:gd name="adj1" fmla="val -6901"/>
                <a:gd name="adj2" fmla="val 80824"/>
                <a:gd name="adj3" fmla="val 16667"/>
              </a:avLst>
            </a:prstGeom>
            <a:solidFill>
              <a:srgbClr val="92D05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D69B9E7-0132-2817-5D6B-C2844FF5AFF7}"/>
                </a:ext>
              </a:extLst>
            </p:cNvPr>
            <p:cNvSpPr txBox="1"/>
            <p:nvPr/>
          </p:nvSpPr>
          <p:spPr>
            <a:xfrm>
              <a:off x="896764" y="1811673"/>
              <a:ext cx="2365216"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err="1">
                  <a:solidFill>
                    <a:schemeClr val="bg1"/>
                  </a:solidFill>
                </a:rPr>
                <a:t>dataframe</a:t>
              </a:r>
              <a:endParaRPr lang="en-US" sz="2800" dirty="0">
                <a:solidFill>
                  <a:schemeClr val="bg1"/>
                </a:solidFill>
                <a:latin typeface="Consolas" panose="020B0609020204030204" pitchFamily="49" charset="0"/>
                <a:ea typeface="Monaco" charset="0"/>
                <a:cs typeface="Consolas" panose="020B0609020204030204" pitchFamily="49" charset="0"/>
              </a:endParaRPr>
            </a:p>
            <a:p>
              <a:pPr algn="ctr"/>
              <a:endParaRPr lang="en-US" dirty="0">
                <a:solidFill>
                  <a:schemeClr val="bg1"/>
                </a:solidFill>
              </a:endParaRPr>
            </a:p>
          </p:txBody>
        </p:sp>
      </p:grpSp>
      <p:grpSp>
        <p:nvGrpSpPr>
          <p:cNvPr id="9" name="Group 8">
            <a:extLst>
              <a:ext uri="{FF2B5EF4-FFF2-40B4-BE49-F238E27FC236}">
                <a16:creationId xmlns:a16="http://schemas.microsoft.com/office/drawing/2014/main" id="{472773AA-8037-169E-B367-A52F6F3239D1}"/>
              </a:ext>
            </a:extLst>
          </p:cNvPr>
          <p:cNvGrpSpPr/>
          <p:nvPr/>
        </p:nvGrpSpPr>
        <p:grpSpPr>
          <a:xfrm>
            <a:off x="5803494" y="4004744"/>
            <a:ext cx="2365216" cy="1508105"/>
            <a:chOff x="896764" y="1596230"/>
            <a:chExt cx="2365216" cy="1508105"/>
          </a:xfrm>
        </p:grpSpPr>
        <p:sp>
          <p:nvSpPr>
            <p:cNvPr id="10" name="Rounded Rectangular Callout 9">
              <a:extLst>
                <a:ext uri="{FF2B5EF4-FFF2-40B4-BE49-F238E27FC236}">
                  <a16:creationId xmlns:a16="http://schemas.microsoft.com/office/drawing/2014/main" id="{BA62AE7C-C059-D12E-920C-1C43DD5E850D}"/>
                </a:ext>
              </a:extLst>
            </p:cNvPr>
            <p:cNvSpPr/>
            <p:nvPr/>
          </p:nvSpPr>
          <p:spPr>
            <a:xfrm>
              <a:off x="896764" y="1732048"/>
              <a:ext cx="2365216" cy="1246648"/>
            </a:xfrm>
            <a:prstGeom prst="wedgeRoundRectCallout">
              <a:avLst>
                <a:gd name="adj1" fmla="val -24370"/>
                <a:gd name="adj2" fmla="val 86518"/>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16B2A74-91F8-2C52-6B4E-C8EEA1E55FBA}"/>
                </a:ext>
              </a:extLst>
            </p:cNvPr>
            <p:cNvSpPr txBox="1"/>
            <p:nvPr/>
          </p:nvSpPr>
          <p:spPr>
            <a:xfrm>
              <a:off x="896764" y="1596230"/>
              <a:ext cx="2365216"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outcome variable</a:t>
              </a:r>
              <a:endParaRPr lang="en-US" sz="2800" dirty="0">
                <a:solidFill>
                  <a:schemeClr val="bg1"/>
                </a:solidFill>
                <a:latin typeface="Consolas" panose="020B0609020204030204" pitchFamily="49" charset="0"/>
                <a:ea typeface="Monaco" charset="0"/>
                <a:cs typeface="Consolas" panose="020B0609020204030204" pitchFamily="49" charset="0"/>
              </a:endParaRPr>
            </a:p>
            <a:p>
              <a:pPr algn="ctr"/>
              <a:endParaRPr lang="en-US" dirty="0">
                <a:solidFill>
                  <a:schemeClr val="bg1"/>
                </a:solidFill>
              </a:endParaRPr>
            </a:p>
          </p:txBody>
        </p:sp>
      </p:grpSp>
      <p:grpSp>
        <p:nvGrpSpPr>
          <p:cNvPr id="12" name="Group 11">
            <a:extLst>
              <a:ext uri="{FF2B5EF4-FFF2-40B4-BE49-F238E27FC236}">
                <a16:creationId xmlns:a16="http://schemas.microsoft.com/office/drawing/2014/main" id="{EE98A579-03C9-5CDD-3517-1592F52BEE28}"/>
              </a:ext>
            </a:extLst>
          </p:cNvPr>
          <p:cNvGrpSpPr/>
          <p:nvPr/>
        </p:nvGrpSpPr>
        <p:grpSpPr>
          <a:xfrm>
            <a:off x="8270043" y="4140563"/>
            <a:ext cx="2730760" cy="1246648"/>
            <a:chOff x="896764" y="1732048"/>
            <a:chExt cx="2365216" cy="1246648"/>
          </a:xfrm>
        </p:grpSpPr>
        <p:sp>
          <p:nvSpPr>
            <p:cNvPr id="13" name="Rounded Rectangular Callout 12">
              <a:extLst>
                <a:ext uri="{FF2B5EF4-FFF2-40B4-BE49-F238E27FC236}">
                  <a16:creationId xmlns:a16="http://schemas.microsoft.com/office/drawing/2014/main" id="{53E12E3E-D078-7178-FA5A-60E6DB0932FF}"/>
                </a:ext>
              </a:extLst>
            </p:cNvPr>
            <p:cNvSpPr/>
            <p:nvPr/>
          </p:nvSpPr>
          <p:spPr>
            <a:xfrm>
              <a:off x="896764" y="1732048"/>
              <a:ext cx="2365216" cy="1246648"/>
            </a:xfrm>
            <a:prstGeom prst="wedgeRoundRectCallout">
              <a:avLst>
                <a:gd name="adj1" fmla="val -36721"/>
                <a:gd name="adj2" fmla="val 94612"/>
                <a:gd name="adj3" fmla="val 16667"/>
              </a:avLst>
            </a:prstGeom>
            <a:solidFill>
              <a:srgbClr val="92D05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3EC2ECE4-8C31-185E-0148-73B29728D501}"/>
                </a:ext>
              </a:extLst>
            </p:cNvPr>
            <p:cNvSpPr txBox="1"/>
            <p:nvPr/>
          </p:nvSpPr>
          <p:spPr>
            <a:xfrm>
              <a:off x="896764" y="1811673"/>
              <a:ext cx="2365216"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group value</a:t>
              </a:r>
              <a:endParaRPr lang="en-US" sz="2800" dirty="0">
                <a:solidFill>
                  <a:schemeClr val="bg1"/>
                </a:solidFill>
                <a:latin typeface="Consolas" panose="020B0609020204030204" pitchFamily="49" charset="0"/>
                <a:ea typeface="Monaco" charset="0"/>
                <a:cs typeface="Consolas" panose="020B0609020204030204" pitchFamily="49" charset="0"/>
              </a:endParaRPr>
            </a:p>
            <a:p>
              <a:pPr algn="ctr"/>
              <a:endParaRPr lang="en-US" dirty="0">
                <a:solidFill>
                  <a:schemeClr val="bg1"/>
                </a:solidFill>
              </a:endParaRPr>
            </a:p>
          </p:txBody>
        </p:sp>
      </p:grpSp>
    </p:spTree>
    <p:extLst>
      <p:ext uri="{BB962C8B-B14F-4D97-AF65-F5344CB8AC3E}">
        <p14:creationId xmlns:p14="http://schemas.microsoft.com/office/powerpoint/2010/main" val="269382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8490" y="896643"/>
            <a:ext cx="5800460" cy="777536"/>
          </a:xfrm>
        </p:spPr>
        <p:txBody>
          <a:bodyPr/>
          <a:lstStyle/>
          <a:p>
            <a:r>
              <a:rPr lang="en-US" sz="4800" dirty="0">
                <a:solidFill>
                  <a:srgbClr val="000000"/>
                </a:solidFill>
              </a:rPr>
              <a:t>Chi-squared test in R</a:t>
            </a:r>
          </a:p>
        </p:txBody>
      </p:sp>
      <p:sp>
        <p:nvSpPr>
          <p:cNvPr id="14" name="Rectangle 13">
            <a:extLst>
              <a:ext uri="{FF2B5EF4-FFF2-40B4-BE49-F238E27FC236}">
                <a16:creationId xmlns:a16="http://schemas.microsoft.com/office/drawing/2014/main" id="{8E8417EA-98D0-40BF-B26D-D9453B16E3BD}"/>
              </a:ext>
            </a:extLst>
          </p:cNvPr>
          <p:cNvSpPr/>
          <p:nvPr/>
        </p:nvSpPr>
        <p:spPr>
          <a:xfrm>
            <a:off x="586929" y="2266122"/>
            <a:ext cx="11018141" cy="2014330"/>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E17F181-FB6E-4FB2-9EEF-48A5EFC2EE77}"/>
              </a:ext>
            </a:extLst>
          </p:cNvPr>
          <p:cNvSpPr txBox="1"/>
          <p:nvPr/>
        </p:nvSpPr>
        <p:spPr>
          <a:xfrm>
            <a:off x="767797" y="3706785"/>
            <a:ext cx="9489386"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chisq_test</a:t>
            </a:r>
            <a:r>
              <a:rPr lang="en-US" sz="2000" dirty="0">
                <a:solidFill>
                  <a:srgbClr val="164F86"/>
                </a:solidFill>
                <a:latin typeface="Monaco" pitchFamily="2" charset="77"/>
                <a:ea typeface="Courier New"/>
                <a:cs typeface="Consolas" panose="020B0609020204030204" pitchFamily="49" charset="0"/>
                <a:sym typeface="Courier New"/>
              </a:rPr>
              <a:t>(</a:t>
            </a:r>
            <a:r>
              <a:rPr lang="en-US" sz="2000" dirty="0" err="1">
                <a:solidFill>
                  <a:srgbClr val="164F86"/>
                </a:solidFill>
                <a:latin typeface="Monaco" pitchFamily="2" charset="77"/>
                <a:ea typeface="Courier New"/>
                <a:cs typeface="Consolas" panose="020B0609020204030204" pitchFamily="49" charset="0"/>
                <a:sym typeface="Courier New"/>
              </a:rPr>
              <a:t>iron_subset</a:t>
            </a:r>
            <a:r>
              <a:rPr lang="en-US" sz="2000" dirty="0">
                <a:solidFill>
                  <a:srgbClr val="164F86"/>
                </a:solidFill>
                <a:latin typeface="Monaco" pitchFamily="2" charset="77"/>
                <a:ea typeface="Courier New"/>
                <a:cs typeface="Consolas" panose="020B0609020204030204" pitchFamily="49" charset="0"/>
                <a:sym typeface="Courier New"/>
              </a:rPr>
              <a:t>, </a:t>
            </a:r>
            <a:r>
              <a:rPr lang="en-US" sz="2000" dirty="0" err="1">
                <a:solidFill>
                  <a:srgbClr val="164F86"/>
                </a:solidFill>
                <a:latin typeface="Monaco" pitchFamily="2" charset="77"/>
                <a:ea typeface="Courier New"/>
                <a:cs typeface="Consolas" panose="020B0609020204030204" pitchFamily="49" charset="0"/>
                <a:sym typeface="Courier New"/>
              </a:rPr>
              <a:t>iron_binary</a:t>
            </a:r>
            <a:r>
              <a:rPr lang="en-US" sz="2000" dirty="0">
                <a:solidFill>
                  <a:srgbClr val="164F86"/>
                </a:solidFill>
                <a:latin typeface="Monaco" pitchFamily="2" charset="77"/>
                <a:ea typeface="Courier New"/>
                <a:cs typeface="Consolas" panose="020B0609020204030204" pitchFamily="49" charset="0"/>
                <a:sym typeface="Courier New"/>
              </a:rPr>
              <a:t> ~ gender)</a:t>
            </a:r>
          </a:p>
        </p:txBody>
      </p:sp>
      <p:sp>
        <p:nvSpPr>
          <p:cNvPr id="16" name="TextBox 15">
            <a:extLst>
              <a:ext uri="{FF2B5EF4-FFF2-40B4-BE49-F238E27FC236}">
                <a16:creationId xmlns:a16="http://schemas.microsoft.com/office/drawing/2014/main" id="{A5FDAFCB-1747-47F5-AB0D-B8A169E55188}"/>
              </a:ext>
            </a:extLst>
          </p:cNvPr>
          <p:cNvSpPr txBox="1"/>
          <p:nvPr/>
        </p:nvSpPr>
        <p:spPr>
          <a:xfrm>
            <a:off x="767797" y="2475006"/>
            <a:ext cx="10837273" cy="1015663"/>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iron_subset</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test == ‘</a:t>
            </a:r>
            <a:r>
              <a:rPr lang="fr-FR" sz="2000" dirty="0" err="1">
                <a:solidFill>
                  <a:srgbClr val="164F86"/>
                </a:solidFill>
                <a:latin typeface="Monaco" pitchFamily="2" charset="77"/>
                <a:ea typeface="Courier New"/>
                <a:cs typeface="Consolas" panose="020B0609020204030204" pitchFamily="49" charset="0"/>
                <a:sym typeface="Courier New"/>
              </a:rPr>
              <a:t>iron</a:t>
            </a:r>
            <a:r>
              <a:rPr lang="fr-FR"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pat_type</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outpatient</a:t>
            </a:r>
            <a:r>
              <a:rPr lang="fr-FR" sz="2000" dirty="0">
                <a:solidFill>
                  <a:srgbClr val="164F86"/>
                </a:solidFill>
                <a:latin typeface="Monaco" pitchFamily="2" charset="77"/>
                <a:ea typeface="Courier New"/>
                <a:cs typeface="Consolas" panose="020B0609020204030204" pitchFamily="49" charset="0"/>
                <a:sym typeface="Courier New"/>
              </a:rPr>
              <a:t>’)</a:t>
            </a:r>
          </a:p>
          <a:p>
            <a:endParaRPr lang="fr-FR" sz="2000" dirty="0">
              <a:solidFill>
                <a:srgbClr val="164F86"/>
              </a:solidFill>
              <a:latin typeface="Monaco" pitchFamily="2" charset="77"/>
              <a:ea typeface="Courier New"/>
              <a:cs typeface="Consolas" panose="020B0609020204030204" pitchFamily="49" charset="0"/>
              <a:sym typeface="Courier New"/>
            </a:endParaRPr>
          </a:p>
          <a:p>
            <a:r>
              <a:rPr lang="fr-FR" sz="2000" dirty="0" err="1">
                <a:solidFill>
                  <a:srgbClr val="164F86"/>
                </a:solidFill>
                <a:latin typeface="Monaco" pitchFamily="2" charset="77"/>
                <a:ea typeface="Courier New"/>
                <a:cs typeface="Consolas" panose="020B0609020204030204" pitchFamily="49" charset="0"/>
                <a:sym typeface="Courier New"/>
              </a:rPr>
              <a:t>iron_subset</a:t>
            </a:r>
            <a:r>
              <a:rPr lang="fr-FR"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iron_subset</a:t>
            </a:r>
            <a:r>
              <a:rPr lang="fr-FR" sz="2000" dirty="0">
                <a:solidFill>
                  <a:srgbClr val="164F86"/>
                </a:solidFill>
                <a:latin typeface="Monaco" pitchFamily="2" charset="77"/>
                <a:ea typeface="Courier New"/>
                <a:cs typeface="Consolas" panose="020B0609020204030204" pitchFamily="49" charset="0"/>
                <a:sym typeface="Courier New"/>
              </a:rPr>
              <a:t> |&gt; </a:t>
            </a:r>
            <a:r>
              <a:rPr lang="fr-FR" sz="2000" dirty="0" err="1">
                <a:solidFill>
                  <a:srgbClr val="164F86"/>
                </a:solidFill>
                <a:latin typeface="Monaco" pitchFamily="2" charset="77"/>
                <a:ea typeface="Courier New"/>
                <a:cs typeface="Consolas" panose="020B0609020204030204" pitchFamily="49" charset="0"/>
                <a:sym typeface="Courier New"/>
              </a:rPr>
              <a:t>mutate</a:t>
            </a:r>
            <a:r>
              <a:rPr lang="fr-FR" sz="2000" dirty="0">
                <a:solidFill>
                  <a:srgbClr val="164F86"/>
                </a:solidFill>
                <a:latin typeface="Monaco" pitchFamily="2" charset="77"/>
                <a:ea typeface="Courier New"/>
                <a:cs typeface="Consolas" panose="020B0609020204030204" pitchFamily="49" charset="0"/>
                <a:sym typeface="Courier New"/>
              </a:rPr>
              <a:t>(</a:t>
            </a:r>
            <a:r>
              <a:rPr lang="fr-FR" sz="2000" dirty="0" err="1">
                <a:solidFill>
                  <a:srgbClr val="164F86"/>
                </a:solidFill>
                <a:latin typeface="Monaco" pitchFamily="2" charset="77"/>
                <a:ea typeface="Courier New"/>
                <a:cs typeface="Consolas" panose="020B0609020204030204" pitchFamily="49" charset="0"/>
                <a:sym typeface="Courier New"/>
              </a:rPr>
              <a:t>iron_binary</a:t>
            </a:r>
            <a:r>
              <a:rPr lang="fr-FR" sz="2000" dirty="0">
                <a:solidFill>
                  <a:srgbClr val="164F86"/>
                </a:solidFill>
                <a:latin typeface="Monaco" pitchFamily="2" charset="77"/>
                <a:ea typeface="Courier New"/>
                <a:cs typeface="Consolas" panose="020B0609020204030204" pitchFamily="49" charset="0"/>
                <a:sym typeface="Courier New"/>
              </a:rPr>
              <a:t> = (value &lt; 32))</a:t>
            </a:r>
            <a:endParaRPr lang="en-US" sz="2000" dirty="0">
              <a:solidFill>
                <a:srgbClr val="164F86"/>
              </a:solidFill>
              <a:latin typeface="Monaco" pitchFamily="2" charset="77"/>
              <a:ea typeface="Courier New"/>
              <a:cs typeface="Consolas" panose="020B0609020204030204" pitchFamily="49" charset="0"/>
              <a:sym typeface="Courier New"/>
            </a:endParaRPr>
          </a:p>
        </p:txBody>
      </p:sp>
      <p:pic>
        <p:nvPicPr>
          <p:cNvPr id="5" name="Picture 4" descr="A screenshot of a computer&#10;&#10;Description automatically generated">
            <a:extLst>
              <a:ext uri="{FF2B5EF4-FFF2-40B4-BE49-F238E27FC236}">
                <a16:creationId xmlns:a16="http://schemas.microsoft.com/office/drawing/2014/main" id="{80D537AA-4631-C186-C477-EEC282F946E1}"/>
              </a:ext>
            </a:extLst>
          </p:cNvPr>
          <p:cNvPicPr>
            <a:picLocks noChangeAspect="1"/>
          </p:cNvPicPr>
          <p:nvPr/>
        </p:nvPicPr>
        <p:blipFill>
          <a:blip r:embed="rId3"/>
          <a:stretch>
            <a:fillRect/>
          </a:stretch>
        </p:blipFill>
        <p:spPr>
          <a:xfrm>
            <a:off x="2520602" y="4872395"/>
            <a:ext cx="7150795" cy="1382631"/>
          </a:xfrm>
          <a:prstGeom prst="rect">
            <a:avLst/>
          </a:prstGeom>
        </p:spPr>
      </p:pic>
    </p:spTree>
    <p:extLst>
      <p:ext uri="{BB962C8B-B14F-4D97-AF65-F5344CB8AC3E}">
        <p14:creationId xmlns:p14="http://schemas.microsoft.com/office/powerpoint/2010/main" val="36311122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8A44-9D05-7643-3D6C-5083DA994FF0}"/>
              </a:ext>
            </a:extLst>
          </p:cNvPr>
          <p:cNvSpPr>
            <a:spLocks noGrp="1"/>
          </p:cNvSpPr>
          <p:nvPr>
            <p:ph type="title"/>
          </p:nvPr>
        </p:nvSpPr>
        <p:spPr/>
        <p:txBody>
          <a:bodyPr/>
          <a:lstStyle/>
          <a:p>
            <a:r>
              <a:rPr lang="en-US" dirty="0"/>
              <a:t>Regression Concepts</a:t>
            </a:r>
          </a:p>
        </p:txBody>
      </p:sp>
    </p:spTree>
    <p:extLst>
      <p:ext uri="{BB962C8B-B14F-4D97-AF65-F5344CB8AC3E}">
        <p14:creationId xmlns:p14="http://schemas.microsoft.com/office/powerpoint/2010/main" val="13399951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9">
          <a:extLst>
            <a:ext uri="{FF2B5EF4-FFF2-40B4-BE49-F238E27FC236}">
              <a16:creationId xmlns:a16="http://schemas.microsoft.com/office/drawing/2014/main" id="{F7F6E532-C11A-D7B9-4820-961F1C618158}"/>
            </a:ext>
          </a:extLst>
        </p:cNvPr>
        <p:cNvGrpSpPr/>
        <p:nvPr/>
      </p:nvGrpSpPr>
      <p:grpSpPr>
        <a:xfrm>
          <a:off x="0" y="0"/>
          <a:ext cx="0" cy="0"/>
          <a:chOff x="0" y="0"/>
          <a:chExt cx="0" cy="0"/>
        </a:xfrm>
      </p:grpSpPr>
      <p:sp>
        <p:nvSpPr>
          <p:cNvPr id="270" name="Google Shape;270;p8">
            <a:extLst>
              <a:ext uri="{FF2B5EF4-FFF2-40B4-BE49-F238E27FC236}">
                <a16:creationId xmlns:a16="http://schemas.microsoft.com/office/drawing/2014/main" id="{DA9BB4A0-B5BF-0611-61D0-33853A18E120}"/>
              </a:ext>
            </a:extLst>
          </p:cNvPr>
          <p:cNvSpPr txBox="1">
            <a:spLocks noGrp="1"/>
          </p:cNvSpPr>
          <p:nvPr>
            <p:ph type="body" idx="1"/>
          </p:nvPr>
        </p:nvSpPr>
        <p:spPr>
          <a:xfrm>
            <a:off x="623777" y="1987124"/>
            <a:ext cx="10515601" cy="31414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22222"/>
              </a:lnSpc>
              <a:spcBef>
                <a:spcPts val="0"/>
              </a:spcBef>
              <a:spcAft>
                <a:spcPts val="0"/>
              </a:spcAft>
              <a:buClr>
                <a:schemeClr val="accent1"/>
              </a:buClr>
              <a:buSzPct val="100000"/>
              <a:buNone/>
            </a:pPr>
            <a:r>
              <a:rPr lang="en-CA" b="1" dirty="0"/>
              <a:t>Correlation Coefficient (r):</a:t>
            </a:r>
            <a:endParaRPr dirty="0"/>
          </a:p>
          <a:p>
            <a:pPr marL="228600" lvl="0" indent="-228600" algn="l" rtl="0">
              <a:lnSpc>
                <a:spcPct val="122222"/>
              </a:lnSpc>
              <a:spcBef>
                <a:spcPts val="1000"/>
              </a:spcBef>
              <a:spcAft>
                <a:spcPts val="0"/>
              </a:spcAft>
              <a:buClr>
                <a:schemeClr val="accent1"/>
              </a:buClr>
              <a:buSzPct val="100000"/>
              <a:buFont typeface="Arial"/>
              <a:buChar char="•"/>
            </a:pPr>
            <a:r>
              <a:rPr lang="en-CA" dirty="0"/>
              <a:t>Strength &amp; direction of the linear relationship between two continuous variables</a:t>
            </a:r>
          </a:p>
          <a:p>
            <a:pPr marL="228600" lvl="0" indent="-228600" algn="l" rtl="0">
              <a:lnSpc>
                <a:spcPct val="122222"/>
              </a:lnSpc>
              <a:spcBef>
                <a:spcPts val="1000"/>
              </a:spcBef>
              <a:spcAft>
                <a:spcPts val="0"/>
              </a:spcAft>
              <a:buClr>
                <a:schemeClr val="accent1"/>
              </a:buClr>
              <a:buSzPct val="100000"/>
              <a:buFont typeface="Arial"/>
              <a:buChar char="•"/>
            </a:pPr>
            <a:r>
              <a:rPr lang="en-US" dirty="0"/>
              <a:t>Pearson correlation coefficient (r) assumes approximately bivariate normal distribution</a:t>
            </a:r>
            <a:endParaRPr dirty="0"/>
          </a:p>
          <a:p>
            <a:pPr marL="228600" lvl="0" indent="-228600" algn="l" rtl="0">
              <a:lnSpc>
                <a:spcPct val="122222"/>
              </a:lnSpc>
              <a:spcBef>
                <a:spcPts val="1000"/>
              </a:spcBef>
              <a:spcAft>
                <a:spcPts val="0"/>
              </a:spcAft>
              <a:buClr>
                <a:schemeClr val="accent1"/>
              </a:buClr>
              <a:buSzPct val="100000"/>
              <a:buFont typeface="Arial"/>
              <a:buChar char="•"/>
            </a:pPr>
            <a:r>
              <a:rPr lang="en-CA" dirty="0"/>
              <a:t>Values range from </a:t>
            </a:r>
            <a:r>
              <a:rPr lang="en-CA" b="1" dirty="0"/>
              <a:t>–1 to +1</a:t>
            </a:r>
            <a:endParaRPr dirty="0"/>
          </a:p>
          <a:p>
            <a:pPr marL="742950" lvl="1" indent="-285750" algn="l" rtl="0">
              <a:lnSpc>
                <a:spcPct val="122222"/>
              </a:lnSpc>
              <a:spcBef>
                <a:spcPts val="500"/>
              </a:spcBef>
              <a:spcAft>
                <a:spcPts val="0"/>
              </a:spcAft>
              <a:buClr>
                <a:schemeClr val="accent1"/>
              </a:buClr>
              <a:buSzPct val="100000"/>
              <a:buFont typeface="Arial"/>
              <a:buChar char="•"/>
            </a:pPr>
            <a:r>
              <a:rPr lang="en-CA" dirty="0"/>
              <a:t>r= +1: perfect positive linear correlation</a:t>
            </a:r>
            <a:endParaRPr dirty="0"/>
          </a:p>
          <a:p>
            <a:pPr marL="742950" lvl="1" indent="-285750" algn="l" rtl="0">
              <a:lnSpc>
                <a:spcPct val="122222"/>
              </a:lnSpc>
              <a:spcBef>
                <a:spcPts val="500"/>
              </a:spcBef>
              <a:spcAft>
                <a:spcPts val="0"/>
              </a:spcAft>
              <a:buClr>
                <a:schemeClr val="accent1"/>
              </a:buClr>
              <a:buSzPct val="100000"/>
              <a:buFont typeface="Arial"/>
              <a:buChar char="•"/>
            </a:pPr>
            <a:r>
              <a:rPr lang="en-CA" dirty="0"/>
              <a:t>r= −1: perfect negative linear correlation</a:t>
            </a:r>
            <a:endParaRPr dirty="0"/>
          </a:p>
          <a:p>
            <a:pPr marL="742950" lvl="1" indent="-285750" algn="l" rtl="0">
              <a:lnSpc>
                <a:spcPct val="122222"/>
              </a:lnSpc>
              <a:spcBef>
                <a:spcPts val="500"/>
              </a:spcBef>
              <a:spcAft>
                <a:spcPts val="0"/>
              </a:spcAft>
              <a:buClr>
                <a:schemeClr val="accent1"/>
              </a:buClr>
              <a:buSzPct val="100000"/>
              <a:buFont typeface="Arial"/>
              <a:buChar char="•"/>
            </a:pPr>
            <a:r>
              <a:rPr lang="en-CA" dirty="0"/>
              <a:t>r= 0 : no linear correlation</a:t>
            </a:r>
            <a:endParaRPr dirty="0"/>
          </a:p>
          <a:p>
            <a:pPr marL="228600" lvl="0" indent="-122872" algn="l" rtl="0">
              <a:lnSpc>
                <a:spcPct val="122222"/>
              </a:lnSpc>
              <a:spcBef>
                <a:spcPts val="1000"/>
              </a:spcBef>
              <a:spcAft>
                <a:spcPts val="0"/>
              </a:spcAft>
              <a:buClr>
                <a:schemeClr val="accent1"/>
              </a:buClr>
              <a:buSzPct val="100000"/>
              <a:buNone/>
            </a:pPr>
            <a:endParaRPr dirty="0"/>
          </a:p>
        </p:txBody>
      </p:sp>
      <p:sp>
        <p:nvSpPr>
          <p:cNvPr id="271" name="Google Shape;271;p8">
            <a:extLst>
              <a:ext uri="{FF2B5EF4-FFF2-40B4-BE49-F238E27FC236}">
                <a16:creationId xmlns:a16="http://schemas.microsoft.com/office/drawing/2014/main" id="{8020748C-8EB5-3A40-B983-682CE98AA890}"/>
              </a:ext>
            </a:extLst>
          </p:cNvPr>
          <p:cNvSpPr txBox="1">
            <a:spLocks noGrp="1"/>
          </p:cNvSpPr>
          <p:nvPr>
            <p:ph type="title"/>
          </p:nvPr>
        </p:nvSpPr>
        <p:spPr>
          <a:xfrm>
            <a:off x="838200" y="86181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CA" dirty="0"/>
              <a:t>Correlation Coefficients</a:t>
            </a:r>
            <a:endParaRPr dirty="0"/>
          </a:p>
        </p:txBody>
      </p:sp>
      <p:pic>
        <p:nvPicPr>
          <p:cNvPr id="1026" name="Picture 2" descr="Equation">
            <a:extLst>
              <a:ext uri="{FF2B5EF4-FFF2-40B4-BE49-F238E27FC236}">
                <a16:creationId xmlns:a16="http://schemas.microsoft.com/office/drawing/2014/main" id="{AD8697A6-B800-A038-9C28-1E063F8335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1426" y="5386246"/>
            <a:ext cx="3075609" cy="981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6525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A4591B-3BF9-C892-0003-01FB4A165F81}"/>
              </a:ext>
            </a:extLst>
          </p:cNvPr>
          <p:cNvSpPr txBox="1"/>
          <p:nvPr/>
        </p:nvSpPr>
        <p:spPr>
          <a:xfrm>
            <a:off x="2299252" y="6470704"/>
            <a:ext cx="7593496" cy="369332"/>
          </a:xfrm>
          <a:prstGeom prst="rect">
            <a:avLst/>
          </a:prstGeom>
          <a:noFill/>
        </p:spPr>
        <p:txBody>
          <a:bodyPr wrap="square">
            <a:spAutoFit/>
          </a:bodyPr>
          <a:lstStyle/>
          <a:p>
            <a:pPr algn="ctr"/>
            <a:r>
              <a:rPr lang="en-US" dirty="0"/>
              <a:t>https://</a:t>
            </a:r>
            <a:r>
              <a:rPr lang="en-US" dirty="0" err="1"/>
              <a:t>www.statlect.com</a:t>
            </a:r>
            <a:r>
              <a:rPr lang="en-US" dirty="0"/>
              <a:t>/fundamentals-of-probability/linear-correlation</a:t>
            </a:r>
          </a:p>
        </p:txBody>
      </p:sp>
      <p:pic>
        <p:nvPicPr>
          <p:cNvPr id="6" name="Picture 5" descr="A group of graphs with dots&#10;&#10;AI-generated content may be incorrect.">
            <a:extLst>
              <a:ext uri="{FF2B5EF4-FFF2-40B4-BE49-F238E27FC236}">
                <a16:creationId xmlns:a16="http://schemas.microsoft.com/office/drawing/2014/main" id="{A2F4D9EF-E749-F56C-C12F-5AF5A6F21429}"/>
              </a:ext>
            </a:extLst>
          </p:cNvPr>
          <p:cNvPicPr>
            <a:picLocks noChangeAspect="1"/>
          </p:cNvPicPr>
          <p:nvPr/>
        </p:nvPicPr>
        <p:blipFill>
          <a:blip r:embed="rId2"/>
          <a:stretch>
            <a:fillRect/>
          </a:stretch>
        </p:blipFill>
        <p:spPr>
          <a:xfrm>
            <a:off x="3094383" y="142971"/>
            <a:ext cx="6003234" cy="6327733"/>
          </a:xfrm>
          <a:prstGeom prst="rect">
            <a:avLst/>
          </a:prstGeom>
        </p:spPr>
      </p:pic>
    </p:spTree>
    <p:extLst>
      <p:ext uri="{BB962C8B-B14F-4D97-AF65-F5344CB8AC3E}">
        <p14:creationId xmlns:p14="http://schemas.microsoft.com/office/powerpoint/2010/main" val="184654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9">
          <a:extLst>
            <a:ext uri="{FF2B5EF4-FFF2-40B4-BE49-F238E27FC236}">
              <a16:creationId xmlns:a16="http://schemas.microsoft.com/office/drawing/2014/main" id="{86C2ED5F-39C1-4433-7CB5-7CF63830EA68}"/>
            </a:ext>
          </a:extLst>
        </p:cNvPr>
        <p:cNvGrpSpPr/>
        <p:nvPr/>
      </p:nvGrpSpPr>
      <p:grpSpPr>
        <a:xfrm>
          <a:off x="0" y="0"/>
          <a:ext cx="0" cy="0"/>
          <a:chOff x="0" y="0"/>
          <a:chExt cx="0" cy="0"/>
        </a:xfrm>
      </p:grpSpPr>
      <p:sp>
        <p:nvSpPr>
          <p:cNvPr id="270" name="Google Shape;270;p8">
            <a:extLst>
              <a:ext uri="{FF2B5EF4-FFF2-40B4-BE49-F238E27FC236}">
                <a16:creationId xmlns:a16="http://schemas.microsoft.com/office/drawing/2014/main" id="{F5B333AD-3AD8-2598-8D98-A413BDFA647B}"/>
              </a:ext>
            </a:extLst>
          </p:cNvPr>
          <p:cNvSpPr txBox="1">
            <a:spLocks noGrp="1"/>
          </p:cNvSpPr>
          <p:nvPr>
            <p:ph type="body" idx="1"/>
          </p:nvPr>
        </p:nvSpPr>
        <p:spPr>
          <a:xfrm>
            <a:off x="573272" y="1895061"/>
            <a:ext cx="10515601" cy="4506549"/>
          </a:xfrm>
          <a:prstGeom prst="rect">
            <a:avLst/>
          </a:prstGeom>
          <a:noFill/>
          <a:ln>
            <a:noFill/>
          </a:ln>
        </p:spPr>
        <p:txBody>
          <a:bodyPr spcFirstLastPara="1" wrap="square" lIns="91425" tIns="45700" rIns="91425" bIns="45700" anchor="t" anchorCtr="0">
            <a:normAutofit/>
          </a:bodyPr>
          <a:lstStyle/>
          <a:p>
            <a:pPr marL="228600" lvl="0" indent="-228600" algn="l" rtl="0">
              <a:lnSpc>
                <a:spcPct val="122222"/>
              </a:lnSpc>
              <a:spcBef>
                <a:spcPts val="1000"/>
              </a:spcBef>
              <a:spcAft>
                <a:spcPts val="0"/>
              </a:spcAft>
              <a:buClr>
                <a:schemeClr val="accent1"/>
              </a:buClr>
              <a:buSzPct val="100000"/>
              <a:buNone/>
            </a:pPr>
            <a:r>
              <a:rPr lang="en-CA" b="1" dirty="0"/>
              <a:t>In Linear Regression:</a:t>
            </a:r>
            <a:endParaRPr dirty="0"/>
          </a:p>
          <a:p>
            <a:pPr marL="228600" lvl="0" indent="-228600" algn="l" rtl="0">
              <a:lnSpc>
                <a:spcPct val="122222"/>
              </a:lnSpc>
              <a:spcBef>
                <a:spcPts val="1000"/>
              </a:spcBef>
              <a:spcAft>
                <a:spcPts val="0"/>
              </a:spcAft>
              <a:buClr>
                <a:schemeClr val="accent1"/>
              </a:buClr>
              <a:buSzPct val="100000"/>
              <a:buFont typeface="Arial"/>
              <a:buChar char="•"/>
            </a:pPr>
            <a:r>
              <a:rPr lang="en-CA" dirty="0"/>
              <a:t>Correlation reflects how well the independent variable (X) predicts the dependent variable (Y)</a:t>
            </a:r>
            <a:endParaRPr dirty="0"/>
          </a:p>
          <a:p>
            <a:pPr marL="228600" lvl="0" indent="-228600" algn="l" rtl="0">
              <a:lnSpc>
                <a:spcPct val="122222"/>
              </a:lnSpc>
              <a:spcBef>
                <a:spcPts val="1000"/>
              </a:spcBef>
              <a:spcAft>
                <a:spcPts val="0"/>
              </a:spcAft>
              <a:buClr>
                <a:schemeClr val="accent1"/>
              </a:buClr>
              <a:buSzPct val="100000"/>
              <a:buFont typeface="Arial"/>
              <a:buChar char="•"/>
            </a:pPr>
            <a:r>
              <a:rPr lang="en-CA" dirty="0"/>
              <a:t>Stronger |r| = data points lie closer to the regression line</a:t>
            </a:r>
            <a:endParaRPr dirty="0"/>
          </a:p>
          <a:p>
            <a:pPr marL="228600" lvl="0" indent="-228600" algn="l" rtl="0">
              <a:lnSpc>
                <a:spcPct val="122222"/>
              </a:lnSpc>
              <a:spcBef>
                <a:spcPts val="1000"/>
              </a:spcBef>
              <a:spcAft>
                <a:spcPts val="0"/>
              </a:spcAft>
              <a:buClr>
                <a:schemeClr val="accent1"/>
              </a:buClr>
              <a:buSzPct val="100000"/>
              <a:buNone/>
            </a:pPr>
            <a:r>
              <a:rPr lang="en-CA" b="1" dirty="0"/>
              <a:t>Coefficient of Determination (R²):</a:t>
            </a:r>
            <a:endParaRPr dirty="0"/>
          </a:p>
          <a:p>
            <a:pPr marL="228600" lvl="0" indent="-228600" algn="l" rtl="0">
              <a:lnSpc>
                <a:spcPct val="122222"/>
              </a:lnSpc>
              <a:spcBef>
                <a:spcPts val="1000"/>
              </a:spcBef>
              <a:spcAft>
                <a:spcPts val="0"/>
              </a:spcAft>
              <a:buClr>
                <a:schemeClr val="accent1"/>
              </a:buClr>
              <a:buSzPct val="100000"/>
              <a:buFont typeface="Arial"/>
              <a:buChar char="•"/>
            </a:pPr>
            <a:r>
              <a:rPr lang="en-CA" dirty="0"/>
              <a:t>R</a:t>
            </a:r>
            <a:r>
              <a:rPr lang="en-CA" baseline="30000" dirty="0"/>
              <a:t>2 </a:t>
            </a:r>
            <a:r>
              <a:rPr lang="en-CA" dirty="0"/>
              <a:t>= r</a:t>
            </a:r>
            <a:r>
              <a:rPr lang="en-CA" baseline="30000" dirty="0"/>
              <a:t>2 </a:t>
            </a:r>
            <a:r>
              <a:rPr lang="en-CA" dirty="0"/>
              <a:t>in simple linear regression</a:t>
            </a:r>
            <a:endParaRPr dirty="0"/>
          </a:p>
          <a:p>
            <a:pPr marL="228600" lvl="0" indent="-228600" algn="l" rtl="0">
              <a:lnSpc>
                <a:spcPct val="122222"/>
              </a:lnSpc>
              <a:spcBef>
                <a:spcPts val="1000"/>
              </a:spcBef>
              <a:spcAft>
                <a:spcPts val="0"/>
              </a:spcAft>
              <a:buClr>
                <a:schemeClr val="accent1"/>
              </a:buClr>
              <a:buSzPct val="100000"/>
              <a:buFont typeface="Arial"/>
              <a:buChar char="•"/>
            </a:pPr>
            <a:r>
              <a:rPr lang="en-CA" dirty="0"/>
              <a:t>Represents the </a:t>
            </a:r>
            <a:r>
              <a:rPr lang="en-CA" b="1" dirty="0"/>
              <a:t>proportion of variance in Y explained by X</a:t>
            </a:r>
            <a:endParaRPr dirty="0"/>
          </a:p>
          <a:p>
            <a:pPr marL="685800" lvl="1" indent="-228600">
              <a:spcBef>
                <a:spcPts val="1000"/>
              </a:spcBef>
              <a:buClr>
                <a:schemeClr val="accent1"/>
              </a:buClr>
              <a:buSzPct val="100000"/>
            </a:pPr>
            <a:r>
              <a:rPr lang="en-CA" dirty="0"/>
              <a:t>Example: R</a:t>
            </a:r>
            <a:r>
              <a:rPr lang="en-CA" baseline="30000" dirty="0"/>
              <a:t>2</a:t>
            </a:r>
            <a:r>
              <a:rPr lang="en-CA" dirty="0"/>
              <a:t>=0.64 → 64% of variation in Y is explained by X</a:t>
            </a:r>
            <a:endParaRPr dirty="0"/>
          </a:p>
          <a:p>
            <a:pPr marL="228600" lvl="0" indent="-122872" algn="l" rtl="0">
              <a:lnSpc>
                <a:spcPct val="122222"/>
              </a:lnSpc>
              <a:spcBef>
                <a:spcPts val="1000"/>
              </a:spcBef>
              <a:spcAft>
                <a:spcPts val="0"/>
              </a:spcAft>
              <a:buClr>
                <a:schemeClr val="accent1"/>
              </a:buClr>
              <a:buSzPct val="100000"/>
              <a:buNone/>
            </a:pPr>
            <a:endParaRPr dirty="0"/>
          </a:p>
        </p:txBody>
      </p:sp>
      <p:sp>
        <p:nvSpPr>
          <p:cNvPr id="271" name="Google Shape;271;p8">
            <a:extLst>
              <a:ext uri="{FF2B5EF4-FFF2-40B4-BE49-F238E27FC236}">
                <a16:creationId xmlns:a16="http://schemas.microsoft.com/office/drawing/2014/main" id="{60C6933E-1D19-AF46-5FC0-28CCC53B1F11}"/>
              </a:ext>
            </a:extLst>
          </p:cNvPr>
          <p:cNvSpPr txBox="1">
            <a:spLocks noGrp="1"/>
          </p:cNvSpPr>
          <p:nvPr>
            <p:ph type="title"/>
          </p:nvPr>
        </p:nvSpPr>
        <p:spPr>
          <a:xfrm>
            <a:off x="838200" y="799520"/>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CA" dirty="0"/>
              <a:t>Correlation Coefficients</a:t>
            </a:r>
            <a:endParaRPr dirty="0"/>
          </a:p>
        </p:txBody>
      </p:sp>
      <p:sp>
        <p:nvSpPr>
          <p:cNvPr id="2" name="TextBox 1">
            <a:extLst>
              <a:ext uri="{FF2B5EF4-FFF2-40B4-BE49-F238E27FC236}">
                <a16:creationId xmlns:a16="http://schemas.microsoft.com/office/drawing/2014/main" id="{038A8A35-2E6C-7E49-AA12-6194FD45AC13}"/>
              </a:ext>
            </a:extLst>
          </p:cNvPr>
          <p:cNvSpPr txBox="1"/>
          <p:nvPr/>
        </p:nvSpPr>
        <p:spPr>
          <a:xfrm>
            <a:off x="7885044" y="3666518"/>
            <a:ext cx="4176237" cy="163955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pPr marL="228600" lvl="0" indent="-228600">
              <a:lnSpc>
                <a:spcPct val="122222"/>
              </a:lnSpc>
              <a:spcBef>
                <a:spcPts val="1000"/>
              </a:spcBef>
              <a:buSzPct val="100000"/>
            </a:pPr>
            <a:r>
              <a:rPr lang="en-CA" b="1" dirty="0"/>
              <a:t>Important Notes:</a:t>
            </a:r>
            <a:endParaRPr lang="en-CA" dirty="0"/>
          </a:p>
          <a:p>
            <a:pPr marL="228600" lvl="0" indent="-228600">
              <a:lnSpc>
                <a:spcPct val="122222"/>
              </a:lnSpc>
              <a:spcBef>
                <a:spcPts val="1000"/>
              </a:spcBef>
              <a:buSzPct val="100000"/>
              <a:buFont typeface="Arial"/>
              <a:buChar char="•"/>
            </a:pPr>
            <a:r>
              <a:rPr lang="en-CA" dirty="0"/>
              <a:t>Correlation does not imply causation</a:t>
            </a:r>
          </a:p>
          <a:p>
            <a:pPr marL="228600" lvl="0" indent="-228600">
              <a:lnSpc>
                <a:spcPct val="122222"/>
              </a:lnSpc>
              <a:spcBef>
                <a:spcPts val="1000"/>
              </a:spcBef>
              <a:buSzPct val="100000"/>
              <a:buFont typeface="Arial"/>
              <a:buChar char="•"/>
            </a:pPr>
            <a:r>
              <a:rPr lang="en-CA" dirty="0"/>
              <a:t>Outliers can strongly affect r and R²</a:t>
            </a:r>
          </a:p>
          <a:p>
            <a:endParaRPr lang="en-US" dirty="0"/>
          </a:p>
        </p:txBody>
      </p:sp>
    </p:spTree>
    <p:extLst>
      <p:ext uri="{BB962C8B-B14F-4D97-AF65-F5344CB8AC3E}">
        <p14:creationId xmlns:p14="http://schemas.microsoft.com/office/powerpoint/2010/main" val="4234589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g3687c4520ce_0_50"/>
          <p:cNvSpPr txBox="1">
            <a:spLocks noGrp="1"/>
          </p:cNvSpPr>
          <p:nvPr>
            <p:ph type="body" idx="1"/>
          </p:nvPr>
        </p:nvSpPr>
        <p:spPr>
          <a:xfrm>
            <a:off x="398263" y="2024407"/>
            <a:ext cx="11126804" cy="39378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None/>
            </a:pPr>
            <a:r>
              <a:rPr lang="en-CA" sz="2500" dirty="0"/>
              <a:t>A correlation coefficient can be interpreted as how much one variable changes as the other variable changes. It is useful to think of these in standard deviations. How many SDs does one variable change with a 1 SD change in the other variable?</a:t>
            </a:r>
            <a:endParaRPr sz="2500" dirty="0"/>
          </a:p>
          <a:p>
            <a:pPr marL="0" lvl="0" indent="0" algn="l" rtl="0">
              <a:lnSpc>
                <a:spcPct val="98181"/>
              </a:lnSpc>
              <a:spcBef>
                <a:spcPts val="1000"/>
              </a:spcBef>
              <a:spcAft>
                <a:spcPts val="0"/>
              </a:spcAft>
              <a:buClr>
                <a:schemeClr val="dk1"/>
              </a:buClr>
              <a:buSzPct val="42307"/>
              <a:buFont typeface="Arial"/>
              <a:buNone/>
            </a:pPr>
            <a:r>
              <a:rPr lang="en-CA" sz="2600" dirty="0">
                <a:solidFill>
                  <a:schemeClr val="dk1"/>
                </a:solidFill>
              </a:rPr>
              <a:t>•</a:t>
            </a:r>
            <a:r>
              <a:rPr lang="en-CA" sz="2600" i="1" dirty="0">
                <a:solidFill>
                  <a:schemeClr val="dk1"/>
                </a:solidFill>
              </a:rPr>
              <a:t>r</a:t>
            </a:r>
            <a:r>
              <a:rPr lang="en-CA" sz="2600" dirty="0">
                <a:solidFill>
                  <a:schemeClr val="dk1"/>
                </a:solidFill>
              </a:rPr>
              <a:t> measures the strength of the relationship between methods, not the level of agreement</a:t>
            </a:r>
            <a:endParaRPr sz="2600" dirty="0">
              <a:solidFill>
                <a:schemeClr val="dk1"/>
              </a:solidFill>
            </a:endParaRPr>
          </a:p>
          <a:p>
            <a:pPr marL="12700" lvl="0" indent="0" algn="l" rtl="0">
              <a:lnSpc>
                <a:spcPct val="98181"/>
              </a:lnSpc>
              <a:spcBef>
                <a:spcPts val="500"/>
              </a:spcBef>
              <a:spcAft>
                <a:spcPts val="0"/>
              </a:spcAft>
              <a:buClr>
                <a:schemeClr val="dk1"/>
              </a:buClr>
              <a:buSzPct val="50000"/>
              <a:buFont typeface="Arial"/>
              <a:buNone/>
            </a:pPr>
            <a:r>
              <a:rPr lang="en-CA" sz="2200" dirty="0">
                <a:solidFill>
                  <a:schemeClr val="dk1"/>
                </a:solidFill>
              </a:rPr>
              <a:t>	•e.g., x=data points; y=x  gives correlation coefficient of 1</a:t>
            </a:r>
            <a:endParaRPr sz="2200" dirty="0">
              <a:solidFill>
                <a:schemeClr val="dk1"/>
              </a:solidFill>
            </a:endParaRPr>
          </a:p>
          <a:p>
            <a:pPr marL="12700" lvl="0" indent="0" algn="l" rtl="0">
              <a:lnSpc>
                <a:spcPct val="98181"/>
              </a:lnSpc>
              <a:spcBef>
                <a:spcPts val="500"/>
              </a:spcBef>
              <a:spcAft>
                <a:spcPts val="0"/>
              </a:spcAft>
              <a:buClr>
                <a:schemeClr val="dk1"/>
              </a:buClr>
              <a:buSzPct val="50000"/>
              <a:buFont typeface="Arial"/>
              <a:buNone/>
            </a:pPr>
            <a:r>
              <a:rPr lang="en-CA" sz="2200" dirty="0">
                <a:solidFill>
                  <a:schemeClr val="dk1"/>
                </a:solidFill>
              </a:rPr>
              <a:t>	•But x=data points, z=x+25 gives correlation coefficient of 1</a:t>
            </a:r>
            <a:endParaRPr sz="2200" dirty="0">
              <a:solidFill>
                <a:schemeClr val="dk1"/>
              </a:solidFill>
            </a:endParaRPr>
          </a:p>
          <a:p>
            <a:pPr marL="12700" lvl="0" indent="0" algn="l" rtl="0">
              <a:lnSpc>
                <a:spcPct val="98181"/>
              </a:lnSpc>
              <a:spcBef>
                <a:spcPts val="500"/>
              </a:spcBef>
              <a:spcAft>
                <a:spcPts val="0"/>
              </a:spcAft>
              <a:buClr>
                <a:schemeClr val="dk1"/>
              </a:buClr>
              <a:buSzPct val="50000"/>
              <a:buFont typeface="Arial"/>
              <a:buNone/>
            </a:pPr>
            <a:r>
              <a:rPr lang="en-CA" sz="2200" dirty="0">
                <a:solidFill>
                  <a:schemeClr val="dk1"/>
                </a:solidFill>
              </a:rPr>
              <a:t>	•If the points lie on a straight line with slope ≠ 0, there will be perfect correlation (positive or negative)</a:t>
            </a:r>
            <a:endParaRPr sz="2200" dirty="0">
              <a:solidFill>
                <a:schemeClr val="dk1"/>
              </a:solidFill>
            </a:endParaRPr>
          </a:p>
          <a:p>
            <a:pPr marL="0" lvl="0" indent="0" algn="l" rtl="0">
              <a:lnSpc>
                <a:spcPct val="98181"/>
              </a:lnSpc>
              <a:spcBef>
                <a:spcPts val="1000"/>
              </a:spcBef>
              <a:spcAft>
                <a:spcPts val="0"/>
              </a:spcAft>
              <a:buClr>
                <a:schemeClr val="dk1"/>
              </a:buClr>
              <a:buSzPct val="42307"/>
              <a:buFont typeface="Arial"/>
              <a:buNone/>
            </a:pPr>
            <a:r>
              <a:rPr lang="en-CA" sz="2600" dirty="0">
                <a:solidFill>
                  <a:schemeClr val="dk1"/>
                </a:solidFill>
              </a:rPr>
              <a:t>•The wider the range of values, the stronger the correlation can be</a:t>
            </a:r>
            <a:endParaRPr sz="2600" dirty="0">
              <a:solidFill>
                <a:schemeClr val="dk1"/>
              </a:solidFill>
            </a:endParaRPr>
          </a:p>
          <a:p>
            <a:pPr marL="0" lvl="0" indent="0" algn="l" rtl="0">
              <a:lnSpc>
                <a:spcPct val="98181"/>
              </a:lnSpc>
              <a:spcBef>
                <a:spcPts val="1000"/>
              </a:spcBef>
              <a:spcAft>
                <a:spcPts val="0"/>
              </a:spcAft>
              <a:buClr>
                <a:schemeClr val="dk1"/>
              </a:buClr>
              <a:buSzPct val="42307"/>
              <a:buFont typeface="Arial"/>
              <a:buNone/>
            </a:pPr>
            <a:r>
              <a:rPr lang="en-CA" sz="2600" dirty="0">
                <a:solidFill>
                  <a:schemeClr val="dk1"/>
                </a:solidFill>
              </a:rPr>
              <a:t>•May be confusion about independent and dependent variables, and which way to plot the graph (the </a:t>
            </a:r>
            <a:r>
              <a:rPr lang="en-CA" sz="2600" i="1" dirty="0">
                <a:solidFill>
                  <a:schemeClr val="dk1"/>
                </a:solidFill>
              </a:rPr>
              <a:t>r</a:t>
            </a:r>
            <a:r>
              <a:rPr lang="en-CA" sz="2600" dirty="0">
                <a:solidFill>
                  <a:schemeClr val="dk1"/>
                </a:solidFill>
              </a:rPr>
              <a:t> value is the same either way)</a:t>
            </a:r>
            <a:endParaRPr sz="2600" dirty="0">
              <a:solidFill>
                <a:schemeClr val="dk1"/>
              </a:solidFill>
            </a:endParaRPr>
          </a:p>
          <a:p>
            <a:pPr marL="0" lvl="0" indent="0" algn="l" rtl="0">
              <a:lnSpc>
                <a:spcPct val="98181"/>
              </a:lnSpc>
              <a:spcBef>
                <a:spcPts val="1000"/>
              </a:spcBef>
              <a:spcAft>
                <a:spcPts val="0"/>
              </a:spcAft>
              <a:buClr>
                <a:schemeClr val="dk1"/>
              </a:buClr>
              <a:buSzPct val="42307"/>
              <a:buFont typeface="Arial"/>
              <a:buNone/>
            </a:pPr>
            <a:r>
              <a:rPr lang="en-CA" sz="2600" dirty="0">
                <a:solidFill>
                  <a:schemeClr val="dk1"/>
                </a:solidFill>
              </a:rPr>
              <a:t>•Measurements of the same measurand should be strongly related!</a:t>
            </a:r>
            <a:endParaRPr sz="2600" dirty="0">
              <a:solidFill>
                <a:schemeClr val="dk1"/>
              </a:solidFill>
            </a:endParaRPr>
          </a:p>
          <a:p>
            <a:pPr marL="0" lvl="0" indent="0" algn="l" rtl="0">
              <a:spcBef>
                <a:spcPts val="1000"/>
              </a:spcBef>
              <a:spcAft>
                <a:spcPts val="0"/>
              </a:spcAft>
              <a:buNone/>
            </a:pPr>
            <a:endParaRPr dirty="0"/>
          </a:p>
        </p:txBody>
      </p:sp>
      <p:sp>
        <p:nvSpPr>
          <p:cNvPr id="280" name="Google Shape;280;g3687c4520ce_0_50"/>
          <p:cNvSpPr txBox="1">
            <a:spLocks noGrp="1"/>
          </p:cNvSpPr>
          <p:nvPr>
            <p:ph type="title"/>
          </p:nvPr>
        </p:nvSpPr>
        <p:spPr>
          <a:xfrm>
            <a:off x="838200" y="895793"/>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CA" dirty="0"/>
              <a:t>What Does the Correlation Coefficient Mean?</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BFA5E0-C1DC-B817-B9F5-747844D3674F}"/>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46</a:t>
            </a:fld>
            <a:endParaRPr lang="en-US">
              <a:solidFill>
                <a:prstClr val="black">
                  <a:lumMod val="95000"/>
                  <a:lumOff val="5000"/>
                </a:prstClr>
              </a:solidFill>
            </a:endParaRPr>
          </a:p>
        </p:txBody>
      </p:sp>
      <p:sp>
        <p:nvSpPr>
          <p:cNvPr id="3" name="Title 2">
            <a:extLst>
              <a:ext uri="{FF2B5EF4-FFF2-40B4-BE49-F238E27FC236}">
                <a16:creationId xmlns:a16="http://schemas.microsoft.com/office/drawing/2014/main" id="{2C30BF75-E08D-9CFB-D7F8-F6278A1EBD43}"/>
              </a:ext>
            </a:extLst>
          </p:cNvPr>
          <p:cNvSpPr>
            <a:spLocks noGrp="1"/>
          </p:cNvSpPr>
          <p:nvPr>
            <p:ph type="title"/>
          </p:nvPr>
        </p:nvSpPr>
        <p:spPr/>
        <p:txBody>
          <a:bodyPr/>
          <a:lstStyle/>
          <a:p>
            <a:r>
              <a:rPr lang="en-US" dirty="0"/>
              <a:t>Exercise 4</a:t>
            </a:r>
          </a:p>
        </p:txBody>
      </p:sp>
      <p:sp>
        <p:nvSpPr>
          <p:cNvPr id="4" name="Text Placeholder 3">
            <a:extLst>
              <a:ext uri="{FF2B5EF4-FFF2-40B4-BE49-F238E27FC236}">
                <a16:creationId xmlns:a16="http://schemas.microsoft.com/office/drawing/2014/main" id="{9713CC45-48F4-4DC2-C266-033B9F3F69AD}"/>
              </a:ext>
            </a:extLst>
          </p:cNvPr>
          <p:cNvSpPr>
            <a:spLocks noGrp="1"/>
          </p:cNvSpPr>
          <p:nvPr>
            <p:ph type="body" sz="quarter" idx="13"/>
          </p:nvPr>
        </p:nvSpPr>
        <p:spPr/>
        <p:txBody>
          <a:bodyPr/>
          <a:lstStyle/>
          <a:p>
            <a:r>
              <a:rPr lang="en-US" dirty="0"/>
              <a:t>Complete the correlation exercise in the lesson_3_exercises pdf.</a:t>
            </a:r>
          </a:p>
        </p:txBody>
      </p:sp>
    </p:spTree>
    <p:extLst>
      <p:ext uri="{BB962C8B-B14F-4D97-AF65-F5344CB8AC3E}">
        <p14:creationId xmlns:p14="http://schemas.microsoft.com/office/powerpoint/2010/main" val="13823173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8" name="Google Shape;288;p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CA" dirty="0"/>
              <a:t>Linear Regression</a:t>
            </a:r>
            <a:endParaRPr dirty="0"/>
          </a:p>
        </p:txBody>
      </p:sp>
      <p:sp>
        <p:nvSpPr>
          <p:cNvPr id="287" name="Google Shape;287;p9"/>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122222"/>
              </a:lnSpc>
              <a:spcBef>
                <a:spcPts val="0"/>
              </a:spcBef>
              <a:spcAft>
                <a:spcPts val="0"/>
              </a:spcAft>
              <a:buClr>
                <a:schemeClr val="accent1"/>
              </a:buClr>
              <a:buSzPts val="1800"/>
              <a:buNone/>
            </a:pPr>
            <a:r>
              <a:rPr lang="en-CA" b="1" dirty="0"/>
              <a:t>Purpose:</a:t>
            </a:r>
            <a:endParaRPr dirty="0"/>
          </a:p>
          <a:p>
            <a:pPr marL="228600" lvl="0" indent="-228600" algn="l" rtl="0">
              <a:lnSpc>
                <a:spcPct val="122222"/>
              </a:lnSpc>
              <a:spcBef>
                <a:spcPts val="1000"/>
              </a:spcBef>
              <a:spcAft>
                <a:spcPts val="0"/>
              </a:spcAft>
              <a:buClr>
                <a:schemeClr val="accent1"/>
              </a:buClr>
              <a:buSzPts val="1800"/>
              <a:buFont typeface="Arial"/>
              <a:buChar char="•"/>
            </a:pPr>
            <a:r>
              <a:rPr lang="en-CA" dirty="0"/>
              <a:t>Model relationship between an independent variable (X) and a dependent variable (Y)</a:t>
            </a:r>
            <a:endParaRPr dirty="0"/>
          </a:p>
          <a:p>
            <a:pPr marL="228600" lvl="0" indent="-228600" algn="l" rtl="0">
              <a:lnSpc>
                <a:spcPct val="122222"/>
              </a:lnSpc>
              <a:spcBef>
                <a:spcPts val="1000"/>
              </a:spcBef>
              <a:spcAft>
                <a:spcPts val="0"/>
              </a:spcAft>
              <a:buClr>
                <a:schemeClr val="accent1"/>
              </a:buClr>
              <a:buSzPts val="1800"/>
              <a:buFont typeface="Arial"/>
              <a:buChar char="•"/>
            </a:pPr>
            <a:r>
              <a:rPr lang="en-CA" dirty="0"/>
              <a:t>Predict Y based on X</a:t>
            </a:r>
            <a:endParaRPr dirty="0"/>
          </a:p>
          <a:p>
            <a:pPr marL="228600" lvl="0" indent="-228600" algn="l" rtl="0">
              <a:lnSpc>
                <a:spcPct val="122222"/>
              </a:lnSpc>
              <a:spcBef>
                <a:spcPts val="1000"/>
              </a:spcBef>
              <a:spcAft>
                <a:spcPts val="0"/>
              </a:spcAft>
              <a:buClr>
                <a:schemeClr val="accent1"/>
              </a:buClr>
              <a:buSzPts val="1800"/>
              <a:buNone/>
            </a:pPr>
            <a:endParaRPr b="1" dirty="0"/>
          </a:p>
          <a:p>
            <a:pPr marL="228600" lvl="0" indent="-228600" algn="l" rtl="0">
              <a:lnSpc>
                <a:spcPct val="122222"/>
              </a:lnSpc>
              <a:spcBef>
                <a:spcPts val="1000"/>
              </a:spcBef>
              <a:spcAft>
                <a:spcPts val="0"/>
              </a:spcAft>
              <a:buClr>
                <a:schemeClr val="accent1"/>
              </a:buClr>
              <a:buSzPts val="1800"/>
              <a:buNone/>
            </a:pPr>
            <a:r>
              <a:rPr lang="en-CA" b="1" dirty="0"/>
              <a:t>Key Assumptions:</a:t>
            </a:r>
            <a:endParaRPr dirty="0"/>
          </a:p>
          <a:p>
            <a:pPr marL="228600" lvl="0" indent="-228600" algn="l" rtl="0">
              <a:lnSpc>
                <a:spcPct val="122222"/>
              </a:lnSpc>
              <a:spcBef>
                <a:spcPts val="1000"/>
              </a:spcBef>
              <a:spcAft>
                <a:spcPts val="0"/>
              </a:spcAft>
              <a:buClr>
                <a:schemeClr val="accent1"/>
              </a:buClr>
              <a:buSzPts val="1800"/>
              <a:buFont typeface="Arial"/>
              <a:buChar char="•"/>
            </a:pPr>
            <a:r>
              <a:rPr lang="en-CA" dirty="0"/>
              <a:t>Linearity: relationship between X and Y is linear</a:t>
            </a:r>
            <a:endParaRPr dirty="0"/>
          </a:p>
          <a:p>
            <a:pPr marL="228600" lvl="0" indent="-228600" algn="l" rtl="0">
              <a:lnSpc>
                <a:spcPct val="122222"/>
              </a:lnSpc>
              <a:spcBef>
                <a:spcPts val="1000"/>
              </a:spcBef>
              <a:spcAft>
                <a:spcPts val="0"/>
              </a:spcAft>
              <a:buClr>
                <a:schemeClr val="accent1"/>
              </a:buClr>
              <a:buSzPts val="1800"/>
              <a:buFont typeface="Arial"/>
              <a:buChar char="•"/>
            </a:pPr>
            <a:r>
              <a:rPr lang="en-CA" dirty="0"/>
              <a:t>Independence: observations are independent</a:t>
            </a:r>
            <a:endParaRPr dirty="0"/>
          </a:p>
          <a:p>
            <a:pPr marL="228600" lvl="0" indent="-228600" algn="l" rtl="0">
              <a:lnSpc>
                <a:spcPct val="122222"/>
              </a:lnSpc>
              <a:spcBef>
                <a:spcPts val="1000"/>
              </a:spcBef>
              <a:spcAft>
                <a:spcPts val="0"/>
              </a:spcAft>
              <a:buClr>
                <a:schemeClr val="accent1"/>
              </a:buClr>
              <a:buSzPts val="1800"/>
              <a:buFont typeface="Arial"/>
              <a:buChar char="•"/>
            </a:pPr>
            <a:r>
              <a:rPr lang="en-CA" dirty="0"/>
              <a:t>Homoscedasticity: constant variance of residuals</a:t>
            </a:r>
            <a:endParaRPr dirty="0"/>
          </a:p>
          <a:p>
            <a:pPr marL="228600" lvl="0" indent="-228600" algn="l" rtl="0">
              <a:lnSpc>
                <a:spcPct val="122222"/>
              </a:lnSpc>
              <a:spcBef>
                <a:spcPts val="1000"/>
              </a:spcBef>
              <a:spcAft>
                <a:spcPts val="0"/>
              </a:spcAft>
              <a:buClr>
                <a:schemeClr val="accent1"/>
              </a:buClr>
              <a:buSzPts val="1800"/>
              <a:buFont typeface="Arial"/>
              <a:buChar char="•"/>
            </a:pPr>
            <a:r>
              <a:rPr lang="en-CA" dirty="0"/>
              <a:t>Normality: residuals are normally distributed</a:t>
            </a:r>
            <a:endParaRPr dirty="0"/>
          </a:p>
        </p:txBody>
      </p:sp>
      <p:pic>
        <p:nvPicPr>
          <p:cNvPr id="290" name="Google Shape;290;p9"/>
          <p:cNvPicPr preferRelativeResize="0"/>
          <p:nvPr/>
        </p:nvPicPr>
        <p:blipFill rotWithShape="1">
          <a:blip r:embed="rId3">
            <a:alphaModFix/>
          </a:blip>
          <a:srcRect/>
          <a:stretch/>
        </p:blipFill>
        <p:spPr>
          <a:xfrm>
            <a:off x="7032994" y="3090934"/>
            <a:ext cx="2400300" cy="457200"/>
          </a:xfrm>
          <a:prstGeom prst="rect">
            <a:avLst/>
          </a:prstGeom>
          <a:noFill/>
          <a:ln>
            <a:noFill/>
          </a:ln>
        </p:spPr>
      </p:pic>
      <p:pic>
        <p:nvPicPr>
          <p:cNvPr id="291" name="Google Shape;291;p9"/>
          <p:cNvPicPr preferRelativeResize="0"/>
          <p:nvPr/>
        </p:nvPicPr>
        <p:blipFill rotWithShape="1">
          <a:blip r:embed="rId4">
            <a:alphaModFix/>
          </a:blip>
          <a:srcRect/>
          <a:stretch/>
        </p:blipFill>
        <p:spPr>
          <a:xfrm>
            <a:off x="6656424" y="3767066"/>
            <a:ext cx="5067300" cy="14859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9" name="Google Shape;299;p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CA"/>
              <a:t>Linear Regression Example</a:t>
            </a:r>
            <a:endParaRPr/>
          </a:p>
        </p:txBody>
      </p:sp>
      <p:sp>
        <p:nvSpPr>
          <p:cNvPr id="298" name="Google Shape;298;p10"/>
          <p:cNvSpPr txBox="1">
            <a:spLocks noGrp="1"/>
          </p:cNvSpPr>
          <p:nvPr>
            <p:ph idx="1"/>
          </p:nvPr>
        </p:nvSpPr>
        <p:spPr>
          <a:xfrm>
            <a:off x="282006" y="2834640"/>
            <a:ext cx="9720073" cy="402336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0"/>
              </a:spcBef>
              <a:spcAft>
                <a:spcPts val="0"/>
              </a:spcAft>
              <a:buClr>
                <a:schemeClr val="accent1"/>
              </a:buClr>
              <a:buSzPts val="1800"/>
              <a:buNone/>
            </a:pPr>
            <a:r>
              <a:rPr lang="en-CA" sz="3600" dirty="0"/>
              <a:t>Method Comparison</a:t>
            </a:r>
            <a:endParaRPr sz="3600" dirty="0"/>
          </a:p>
          <a:p>
            <a:pPr marL="457200" lvl="1" indent="0" algn="l" rtl="0">
              <a:lnSpc>
                <a:spcPct val="122222"/>
              </a:lnSpc>
              <a:spcBef>
                <a:spcPts val="500"/>
              </a:spcBef>
              <a:spcAft>
                <a:spcPts val="0"/>
              </a:spcAft>
              <a:buClr>
                <a:schemeClr val="accent1"/>
              </a:buClr>
              <a:buSzPts val="1800"/>
              <a:buNone/>
            </a:pPr>
            <a:r>
              <a:rPr lang="en-CA" sz="3600" dirty="0"/>
              <a:t>Creatinine dataset</a:t>
            </a:r>
            <a:endParaRPr sz="3600" dirty="0"/>
          </a:p>
        </p:txBody>
      </p:sp>
      <p:sp>
        <p:nvSpPr>
          <p:cNvPr id="302" name="Google Shape;302;p10"/>
          <p:cNvSpPr txBox="1"/>
          <p:nvPr/>
        </p:nvSpPr>
        <p:spPr>
          <a:xfrm>
            <a:off x="9494770" y="1825625"/>
            <a:ext cx="1660909"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dirty="0">
                <a:solidFill>
                  <a:srgbClr val="0600FF"/>
                </a:solidFill>
                <a:latin typeface="Arial"/>
                <a:ea typeface="Arial"/>
                <a:cs typeface="Arial"/>
                <a:sym typeface="Arial"/>
              </a:rPr>
              <a:t>y= 0.04 + 0.97x</a:t>
            </a:r>
            <a:endParaRPr dirty="0"/>
          </a:p>
        </p:txBody>
      </p:sp>
      <p:pic>
        <p:nvPicPr>
          <p:cNvPr id="3" name="Picture 2" descr="A blue line on a black background&#10;&#10;AI-generated content may be incorrect.">
            <a:extLst>
              <a:ext uri="{FF2B5EF4-FFF2-40B4-BE49-F238E27FC236}">
                <a16:creationId xmlns:a16="http://schemas.microsoft.com/office/drawing/2014/main" id="{AF7EEACD-4B1A-4DA0-85F1-77EB0E4A7961}"/>
              </a:ext>
            </a:extLst>
          </p:cNvPr>
          <p:cNvPicPr>
            <a:picLocks noChangeAspect="1"/>
          </p:cNvPicPr>
          <p:nvPr/>
        </p:nvPicPr>
        <p:blipFill>
          <a:blip r:embed="rId3"/>
          <a:stretch>
            <a:fillRect/>
          </a:stretch>
        </p:blipFill>
        <p:spPr>
          <a:xfrm>
            <a:off x="4552974" y="1094509"/>
            <a:ext cx="7772400" cy="58293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 name="Picture 2" descr="A blue line on a black background&#10;&#10;AI-generated content may be incorrect.">
            <a:extLst>
              <a:ext uri="{FF2B5EF4-FFF2-40B4-BE49-F238E27FC236}">
                <a16:creationId xmlns:a16="http://schemas.microsoft.com/office/drawing/2014/main" id="{18888C94-E532-D8C9-51F2-266A1D70AA7E}"/>
              </a:ext>
            </a:extLst>
          </p:cNvPr>
          <p:cNvPicPr>
            <a:picLocks noChangeAspect="1"/>
          </p:cNvPicPr>
          <p:nvPr/>
        </p:nvPicPr>
        <p:blipFill>
          <a:blip r:embed="rId3"/>
          <a:stretch>
            <a:fillRect/>
          </a:stretch>
        </p:blipFill>
        <p:spPr>
          <a:xfrm>
            <a:off x="5937360" y="1775338"/>
            <a:ext cx="6451885" cy="4838914"/>
          </a:xfrm>
          <a:prstGeom prst="rect">
            <a:avLst/>
          </a:prstGeom>
        </p:spPr>
      </p:pic>
      <p:sp>
        <p:nvSpPr>
          <p:cNvPr id="309" name="Google Shape;309;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CA" dirty="0"/>
              <a:t>Checking Model Assumptions</a:t>
            </a:r>
            <a:endParaRPr dirty="0"/>
          </a:p>
        </p:txBody>
      </p:sp>
      <p:sp>
        <p:nvSpPr>
          <p:cNvPr id="308" name="Google Shape;308;p11"/>
          <p:cNvSpPr txBox="1">
            <a:spLocks noGrp="1"/>
          </p:cNvSpPr>
          <p:nvPr>
            <p:ph idx="1"/>
          </p:nvPr>
        </p:nvSpPr>
        <p:spPr>
          <a:xfrm>
            <a:off x="0" y="2183115"/>
            <a:ext cx="9720073" cy="402336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0"/>
              </a:spcBef>
              <a:spcAft>
                <a:spcPts val="0"/>
              </a:spcAft>
              <a:buClr>
                <a:schemeClr val="accent1"/>
              </a:buClr>
              <a:buSzPts val="1800"/>
              <a:buNone/>
            </a:pPr>
            <a:r>
              <a:rPr lang="en-CA" dirty="0"/>
              <a:t>Linearity: relationship between X and Y is linear</a:t>
            </a:r>
            <a:endParaRPr dirty="0"/>
          </a:p>
          <a:p>
            <a:pPr marL="0" lvl="0" indent="0" algn="l" rtl="0">
              <a:lnSpc>
                <a:spcPct val="122222"/>
              </a:lnSpc>
              <a:spcBef>
                <a:spcPts val="1000"/>
              </a:spcBef>
              <a:spcAft>
                <a:spcPts val="0"/>
              </a:spcAft>
              <a:buClr>
                <a:schemeClr val="accent1"/>
              </a:buClr>
              <a:buSzPts val="1800"/>
              <a:buNone/>
            </a:pPr>
            <a:r>
              <a:rPr lang="en-CA" dirty="0"/>
              <a:t>Independence: observations are independent</a:t>
            </a:r>
            <a:endParaRPr dirty="0"/>
          </a:p>
          <a:p>
            <a:pPr marL="0" lvl="0" indent="0" algn="l" rtl="0">
              <a:lnSpc>
                <a:spcPct val="122222"/>
              </a:lnSpc>
              <a:spcBef>
                <a:spcPts val="1000"/>
              </a:spcBef>
              <a:spcAft>
                <a:spcPts val="0"/>
              </a:spcAft>
              <a:buClr>
                <a:schemeClr val="accent1"/>
              </a:buClr>
              <a:buSzPts val="1800"/>
              <a:buNone/>
            </a:pPr>
            <a:r>
              <a:rPr lang="en-CA" dirty="0"/>
              <a:t>Homoscedasticity: constant variance of residuals</a:t>
            </a:r>
            <a:endParaRPr dirty="0"/>
          </a:p>
          <a:p>
            <a:pPr marL="0" lvl="0" indent="0" algn="l" rtl="0">
              <a:lnSpc>
                <a:spcPct val="122222"/>
              </a:lnSpc>
              <a:spcBef>
                <a:spcPts val="1000"/>
              </a:spcBef>
              <a:spcAft>
                <a:spcPts val="0"/>
              </a:spcAft>
              <a:buClr>
                <a:schemeClr val="accent1"/>
              </a:buClr>
              <a:buSzPts val="1800"/>
              <a:buNone/>
            </a:pPr>
            <a:r>
              <a:rPr lang="en-CA" dirty="0"/>
              <a:t>Normality: residuals are normally distributed</a:t>
            </a:r>
            <a:endParaRPr dirty="0"/>
          </a:p>
          <a:p>
            <a:pPr marL="114300" lvl="0" indent="0" algn="l" rtl="0">
              <a:lnSpc>
                <a:spcPct val="122222"/>
              </a:lnSpc>
              <a:spcBef>
                <a:spcPts val="1000"/>
              </a:spcBef>
              <a:spcAft>
                <a:spcPts val="0"/>
              </a:spcAft>
              <a:buClr>
                <a:schemeClr val="accent1"/>
              </a:buClr>
              <a:buSzPts val="1800"/>
              <a:buNone/>
            </a:pPr>
            <a:endParaRPr dirty="0"/>
          </a:p>
        </p:txBody>
      </p:sp>
      <p:pic>
        <p:nvPicPr>
          <p:cNvPr id="312" name="Google Shape;312;p11" descr="Checkbox Checked with solid fill"/>
          <p:cNvPicPr preferRelativeResize="0"/>
          <p:nvPr/>
        </p:nvPicPr>
        <p:blipFill rotWithShape="1">
          <a:blip r:embed="rId4">
            <a:alphaModFix/>
          </a:blip>
          <a:srcRect/>
          <a:stretch/>
        </p:blipFill>
        <p:spPr>
          <a:xfrm>
            <a:off x="5418233" y="2183115"/>
            <a:ext cx="561289" cy="561289"/>
          </a:xfrm>
          <a:prstGeom prst="rect">
            <a:avLst/>
          </a:prstGeom>
          <a:noFill/>
          <a:ln>
            <a:noFill/>
          </a:ln>
        </p:spPr>
      </p:pic>
      <p:pic>
        <p:nvPicPr>
          <p:cNvPr id="313" name="Google Shape;313;p11" descr="Checkbox Checked with solid fill"/>
          <p:cNvPicPr preferRelativeResize="0"/>
          <p:nvPr/>
        </p:nvPicPr>
        <p:blipFill rotWithShape="1">
          <a:blip r:embed="rId4">
            <a:alphaModFix/>
          </a:blip>
          <a:srcRect/>
          <a:stretch/>
        </p:blipFill>
        <p:spPr>
          <a:xfrm>
            <a:off x="5418233" y="2704298"/>
            <a:ext cx="561289" cy="561289"/>
          </a:xfrm>
          <a:prstGeom prst="rect">
            <a:avLst/>
          </a:prstGeom>
          <a:noFill/>
          <a:ln>
            <a:noFill/>
          </a:ln>
        </p:spPr>
      </p:pic>
      <p:cxnSp>
        <p:nvCxnSpPr>
          <p:cNvPr id="315" name="Google Shape;315;p11"/>
          <p:cNvCxnSpPr>
            <a:cxnSpLocks/>
          </p:cNvCxnSpPr>
          <p:nvPr/>
        </p:nvCxnSpPr>
        <p:spPr>
          <a:xfrm>
            <a:off x="8723957" y="4285743"/>
            <a:ext cx="0" cy="227313"/>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316" name="Google Shape;316;p11"/>
          <p:cNvCxnSpPr/>
          <p:nvPr/>
        </p:nvCxnSpPr>
        <p:spPr>
          <a:xfrm>
            <a:off x="8192444" y="4849262"/>
            <a:ext cx="0" cy="222422"/>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317" name="Google Shape;317;p11"/>
          <p:cNvCxnSpPr>
            <a:cxnSpLocks/>
          </p:cNvCxnSpPr>
          <p:nvPr/>
        </p:nvCxnSpPr>
        <p:spPr>
          <a:xfrm>
            <a:off x="9820876" y="3637614"/>
            <a:ext cx="0" cy="211867"/>
          </a:xfrm>
          <a:prstGeom prst="straightConnector1">
            <a:avLst/>
          </a:prstGeom>
          <a:noFill/>
          <a:ln w="9525" cap="flat" cmpd="sng">
            <a:solidFill>
              <a:schemeClr val="accent1"/>
            </a:solidFill>
            <a:prstDash val="solid"/>
            <a:miter lim="800000"/>
            <a:headEnd type="triangle" w="med" len="med"/>
            <a:tailEnd type="triangle" w="med" len="med"/>
          </a:ln>
        </p:spPr>
      </p:cxnSp>
      <p:sp>
        <p:nvSpPr>
          <p:cNvPr id="318" name="Google Shape;318;p11"/>
          <p:cNvSpPr txBox="1"/>
          <p:nvPr/>
        </p:nvSpPr>
        <p:spPr>
          <a:xfrm>
            <a:off x="1613791" y="4624258"/>
            <a:ext cx="3424271" cy="954107"/>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CA" sz="1400">
                <a:solidFill>
                  <a:schemeClr val="dk1"/>
                </a:solidFill>
                <a:latin typeface="Arial"/>
                <a:ea typeface="Arial"/>
                <a:cs typeface="Arial"/>
                <a:sym typeface="Arial"/>
              </a:rPr>
              <a:t>Residual </a:t>
            </a:r>
            <a:endParaRPr/>
          </a:p>
          <a:p>
            <a:pPr marL="285750" marR="0" lvl="0" indent="-285750" algn="l" rtl="0">
              <a:spcBef>
                <a:spcPts val="0"/>
              </a:spcBef>
              <a:spcAft>
                <a:spcPts val="0"/>
              </a:spcAft>
              <a:buClr>
                <a:schemeClr val="dk1"/>
              </a:buClr>
              <a:buSzPts val="1400"/>
              <a:buFont typeface="Arial"/>
              <a:buChar char="•"/>
            </a:pPr>
            <a:r>
              <a:rPr lang="en-CA" sz="1400">
                <a:solidFill>
                  <a:schemeClr val="dk1"/>
                </a:solidFill>
                <a:latin typeface="Arial"/>
                <a:ea typeface="Arial"/>
                <a:cs typeface="Arial"/>
                <a:sym typeface="Arial"/>
              </a:rPr>
              <a:t>Difference between model and actual</a:t>
            </a:r>
            <a:endParaRPr/>
          </a:p>
          <a:p>
            <a:pPr marL="285750" marR="0" lvl="0" indent="-285750" algn="l" rtl="0">
              <a:spcBef>
                <a:spcPts val="0"/>
              </a:spcBef>
              <a:spcAft>
                <a:spcPts val="0"/>
              </a:spcAft>
              <a:buClr>
                <a:schemeClr val="dk1"/>
              </a:buClr>
              <a:buSzPts val="1400"/>
              <a:buFont typeface="Arial"/>
              <a:buChar char="•"/>
            </a:pPr>
            <a:r>
              <a:rPr lang="en-CA" sz="1400">
                <a:solidFill>
                  <a:schemeClr val="dk1"/>
                </a:solidFill>
                <a:latin typeface="Arial"/>
                <a:ea typeface="Arial"/>
                <a:cs typeface="Arial"/>
                <a:sym typeface="Arial"/>
              </a:rPr>
              <a:t>Each point has a residual</a:t>
            </a:r>
            <a:endParaRPr/>
          </a:p>
          <a:p>
            <a:pPr marL="285750" marR="0" lvl="0" indent="-285750" algn="l" rtl="0">
              <a:spcBef>
                <a:spcPts val="0"/>
              </a:spcBef>
              <a:spcAft>
                <a:spcPts val="0"/>
              </a:spcAft>
              <a:buClr>
                <a:schemeClr val="dk1"/>
              </a:buClr>
              <a:buSzPts val="1400"/>
              <a:buFont typeface="Arial"/>
              <a:buChar char="•"/>
            </a:pPr>
            <a:r>
              <a:rPr lang="en-CA" sz="1400">
                <a:solidFill>
                  <a:schemeClr val="dk1"/>
                </a:solidFill>
                <a:latin typeface="Arial"/>
                <a:ea typeface="Arial"/>
                <a:cs typeface="Arial"/>
                <a:sym typeface="Arial"/>
              </a:rPr>
              <a:t>Can be zero, positive. or negative</a:t>
            </a:r>
            <a:endParaRPr/>
          </a:p>
        </p:txBody>
      </p:sp>
      <p:cxnSp>
        <p:nvCxnSpPr>
          <p:cNvPr id="6" name="Google Shape;317;p11">
            <a:extLst>
              <a:ext uri="{FF2B5EF4-FFF2-40B4-BE49-F238E27FC236}">
                <a16:creationId xmlns:a16="http://schemas.microsoft.com/office/drawing/2014/main" id="{A50438FB-A83B-3FA2-F5D9-D47D5600A3B1}"/>
              </a:ext>
            </a:extLst>
          </p:cNvPr>
          <p:cNvCxnSpPr>
            <a:cxnSpLocks/>
          </p:cNvCxnSpPr>
          <p:nvPr/>
        </p:nvCxnSpPr>
        <p:spPr>
          <a:xfrm>
            <a:off x="7433276" y="5303631"/>
            <a:ext cx="0" cy="174625"/>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8" name="Google Shape;317;p11">
            <a:extLst>
              <a:ext uri="{FF2B5EF4-FFF2-40B4-BE49-F238E27FC236}">
                <a16:creationId xmlns:a16="http://schemas.microsoft.com/office/drawing/2014/main" id="{A2E1EFE0-38CC-D3D6-3FE8-18A985A2B8C5}"/>
              </a:ext>
            </a:extLst>
          </p:cNvPr>
          <p:cNvCxnSpPr>
            <a:cxnSpLocks/>
          </p:cNvCxnSpPr>
          <p:nvPr/>
        </p:nvCxnSpPr>
        <p:spPr>
          <a:xfrm>
            <a:off x="10967051" y="3186549"/>
            <a:ext cx="0" cy="174625"/>
          </a:xfrm>
          <a:prstGeom prst="straightConnector1">
            <a:avLst/>
          </a:prstGeom>
          <a:noFill/>
          <a:ln w="9525" cap="flat" cmpd="sng">
            <a:solidFill>
              <a:schemeClr val="accent1"/>
            </a:solidFill>
            <a:prstDash val="solid"/>
            <a:miter lim="800000"/>
            <a:headEnd type="triangle" w="med" len="med"/>
            <a:tailEnd type="triangle" w="med" len="med"/>
          </a:ln>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4" name="Google Shape;324;p1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CA" dirty="0"/>
              <a:t>Checking Model Assumptions</a:t>
            </a:r>
            <a:endParaRPr dirty="0"/>
          </a:p>
        </p:txBody>
      </p:sp>
      <p:sp>
        <p:nvSpPr>
          <p:cNvPr id="323" name="Google Shape;323;p12"/>
          <p:cNvSpPr txBox="1">
            <a:spLocks noGrp="1"/>
          </p:cNvSpPr>
          <p:nvPr>
            <p:ph idx="1"/>
          </p:nvPr>
        </p:nvSpPr>
        <p:spPr>
          <a:xfrm>
            <a:off x="140747" y="1861416"/>
            <a:ext cx="9720073" cy="402336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0"/>
              </a:spcBef>
              <a:spcAft>
                <a:spcPts val="0"/>
              </a:spcAft>
              <a:buClr>
                <a:schemeClr val="accent1"/>
              </a:buClr>
              <a:buSzPts val="1800"/>
              <a:buNone/>
            </a:pPr>
            <a:r>
              <a:rPr lang="en-CA" dirty="0"/>
              <a:t>Linearity: relationship between X and Y is linear</a:t>
            </a:r>
            <a:endParaRPr dirty="0"/>
          </a:p>
          <a:p>
            <a:pPr marL="0" lvl="0" indent="0" algn="l" rtl="0">
              <a:lnSpc>
                <a:spcPct val="122222"/>
              </a:lnSpc>
              <a:spcBef>
                <a:spcPts val="1000"/>
              </a:spcBef>
              <a:spcAft>
                <a:spcPts val="0"/>
              </a:spcAft>
              <a:buClr>
                <a:schemeClr val="accent1"/>
              </a:buClr>
              <a:buSzPts val="1800"/>
              <a:buNone/>
            </a:pPr>
            <a:r>
              <a:rPr lang="en-CA" dirty="0"/>
              <a:t>Independence: observations are independent</a:t>
            </a:r>
            <a:endParaRPr dirty="0"/>
          </a:p>
          <a:p>
            <a:pPr marL="0" lvl="0" indent="0" algn="l" rtl="0">
              <a:lnSpc>
                <a:spcPct val="122222"/>
              </a:lnSpc>
              <a:spcBef>
                <a:spcPts val="1000"/>
              </a:spcBef>
              <a:spcAft>
                <a:spcPts val="0"/>
              </a:spcAft>
              <a:buClr>
                <a:schemeClr val="accent1"/>
              </a:buClr>
              <a:buSzPts val="1800"/>
              <a:buNone/>
            </a:pPr>
            <a:r>
              <a:rPr lang="en-CA" dirty="0"/>
              <a:t>Homoscedasticity: constant variance of residuals</a:t>
            </a:r>
            <a:endParaRPr dirty="0"/>
          </a:p>
          <a:p>
            <a:pPr marL="0" lvl="0" indent="0" algn="l" rtl="0">
              <a:lnSpc>
                <a:spcPct val="122222"/>
              </a:lnSpc>
              <a:spcBef>
                <a:spcPts val="1000"/>
              </a:spcBef>
              <a:spcAft>
                <a:spcPts val="0"/>
              </a:spcAft>
              <a:buClr>
                <a:schemeClr val="accent1"/>
              </a:buClr>
              <a:buSzPts val="1800"/>
              <a:buNone/>
            </a:pPr>
            <a:r>
              <a:rPr lang="en-CA" dirty="0"/>
              <a:t>Normality: residuals are normally distributed</a:t>
            </a:r>
            <a:endParaRPr dirty="0"/>
          </a:p>
          <a:p>
            <a:pPr marL="114300" lvl="0" indent="0" algn="l" rtl="0">
              <a:lnSpc>
                <a:spcPct val="122222"/>
              </a:lnSpc>
              <a:spcBef>
                <a:spcPts val="1000"/>
              </a:spcBef>
              <a:spcAft>
                <a:spcPts val="0"/>
              </a:spcAft>
              <a:buClr>
                <a:schemeClr val="accent1"/>
              </a:buClr>
              <a:buSzPts val="1800"/>
              <a:buNone/>
            </a:pPr>
            <a:endParaRPr dirty="0"/>
          </a:p>
        </p:txBody>
      </p:sp>
      <p:pic>
        <p:nvPicPr>
          <p:cNvPr id="327" name="Google Shape;327;p12" descr="Checkbox Checked with solid fill"/>
          <p:cNvPicPr preferRelativeResize="0"/>
          <p:nvPr/>
        </p:nvPicPr>
        <p:blipFill rotWithShape="1">
          <a:blip r:embed="rId3">
            <a:alphaModFix/>
          </a:blip>
          <a:srcRect/>
          <a:stretch/>
        </p:blipFill>
        <p:spPr>
          <a:xfrm>
            <a:off x="5685799" y="1860410"/>
            <a:ext cx="561289" cy="561289"/>
          </a:xfrm>
          <a:prstGeom prst="rect">
            <a:avLst/>
          </a:prstGeom>
          <a:noFill/>
          <a:ln>
            <a:noFill/>
          </a:ln>
        </p:spPr>
      </p:pic>
      <p:pic>
        <p:nvPicPr>
          <p:cNvPr id="328" name="Google Shape;328;p12" descr="Checkbox Checked with solid fill"/>
          <p:cNvPicPr preferRelativeResize="0"/>
          <p:nvPr/>
        </p:nvPicPr>
        <p:blipFill rotWithShape="1">
          <a:blip r:embed="rId3">
            <a:alphaModFix/>
          </a:blip>
          <a:srcRect/>
          <a:stretch/>
        </p:blipFill>
        <p:spPr>
          <a:xfrm>
            <a:off x="5685798" y="2421075"/>
            <a:ext cx="561289" cy="561289"/>
          </a:xfrm>
          <a:prstGeom prst="rect">
            <a:avLst/>
          </a:prstGeom>
          <a:noFill/>
          <a:ln>
            <a:noFill/>
          </a:ln>
        </p:spPr>
      </p:pic>
      <p:pic>
        <p:nvPicPr>
          <p:cNvPr id="330" name="Google Shape;330;p12"/>
          <p:cNvPicPr preferRelativeResize="0"/>
          <p:nvPr/>
        </p:nvPicPr>
        <p:blipFill rotWithShape="1">
          <a:blip r:embed="rId4">
            <a:alphaModFix/>
          </a:blip>
          <a:srcRect/>
          <a:stretch/>
        </p:blipFill>
        <p:spPr>
          <a:xfrm>
            <a:off x="6969423" y="1864403"/>
            <a:ext cx="4658158" cy="3129194"/>
          </a:xfrm>
          <a:prstGeom prst="rect">
            <a:avLst/>
          </a:prstGeom>
          <a:noFill/>
          <a:ln>
            <a:noFill/>
          </a:ln>
        </p:spPr>
      </p:pic>
      <p:pic>
        <p:nvPicPr>
          <p:cNvPr id="331" name="Google Shape;331;p12" descr="Checkbox Checked with solid fill"/>
          <p:cNvPicPr preferRelativeResize="0"/>
          <p:nvPr/>
        </p:nvPicPr>
        <p:blipFill rotWithShape="1">
          <a:blip r:embed="rId3">
            <a:alphaModFix/>
          </a:blip>
          <a:srcRect/>
          <a:stretch/>
        </p:blipFill>
        <p:spPr>
          <a:xfrm>
            <a:off x="5685798" y="2922849"/>
            <a:ext cx="561289" cy="561289"/>
          </a:xfrm>
          <a:prstGeom prst="rect">
            <a:avLst/>
          </a:prstGeom>
          <a:noFill/>
          <a:ln>
            <a:noFill/>
          </a:ln>
        </p:spPr>
      </p:pic>
      <p:pic>
        <p:nvPicPr>
          <p:cNvPr id="332" name="Google Shape;332;p12" descr="Checkbox Checked with solid fill"/>
          <p:cNvPicPr preferRelativeResize="0"/>
          <p:nvPr/>
        </p:nvPicPr>
        <p:blipFill rotWithShape="1">
          <a:blip r:embed="rId3">
            <a:alphaModFix/>
          </a:blip>
          <a:srcRect/>
          <a:stretch/>
        </p:blipFill>
        <p:spPr>
          <a:xfrm>
            <a:off x="5685798" y="3482889"/>
            <a:ext cx="561289" cy="561289"/>
          </a:xfrm>
          <a:prstGeom prst="rect">
            <a:avLst/>
          </a:prstGeom>
          <a:noFill/>
          <a:ln>
            <a:noFill/>
          </a:ln>
        </p:spPr>
      </p:pic>
      <p:pic>
        <p:nvPicPr>
          <p:cNvPr id="8" name="Picture 7">
            <a:extLst>
              <a:ext uri="{FF2B5EF4-FFF2-40B4-BE49-F238E27FC236}">
                <a16:creationId xmlns:a16="http://schemas.microsoft.com/office/drawing/2014/main" id="{4D10C63A-658D-5129-32E1-F8023D30451D}"/>
              </a:ext>
            </a:extLst>
          </p:cNvPr>
          <p:cNvPicPr>
            <a:picLocks noChangeAspect="1"/>
          </p:cNvPicPr>
          <p:nvPr/>
        </p:nvPicPr>
        <p:blipFill>
          <a:blip r:embed="rId5"/>
          <a:stretch>
            <a:fillRect/>
          </a:stretch>
        </p:blipFill>
        <p:spPr>
          <a:xfrm>
            <a:off x="839850" y="3873096"/>
            <a:ext cx="4596353" cy="2857861"/>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36d658ecedf_1_161"/>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None/>
            </a:pPr>
            <a:r>
              <a:rPr lang="en-CA" dirty="0"/>
              <a:t>When we know the mathematical relationship between two variables (x and y)  from observed data, we can make a prediction about the value of y for any value of x. This is a key concept in data science.</a:t>
            </a:r>
            <a:endParaRPr dirty="0"/>
          </a:p>
          <a:p>
            <a:pPr marL="0" lvl="0" indent="0" algn="l" rtl="0">
              <a:spcBef>
                <a:spcPts val="1000"/>
              </a:spcBef>
              <a:spcAft>
                <a:spcPts val="0"/>
              </a:spcAft>
              <a:buNone/>
            </a:pPr>
            <a:r>
              <a:rPr lang="en-CA" dirty="0"/>
              <a:t>Recall that for a linear regression model, Y = β</a:t>
            </a:r>
            <a:r>
              <a:rPr lang="en-CA" baseline="-25000" dirty="0"/>
              <a:t>0</a:t>
            </a:r>
            <a:r>
              <a:rPr lang="en-CA" dirty="0"/>
              <a:t> + β</a:t>
            </a:r>
            <a:r>
              <a:rPr lang="en-CA" baseline="-25000" dirty="0"/>
              <a:t>1</a:t>
            </a:r>
            <a:r>
              <a:rPr lang="en-CA" dirty="0"/>
              <a:t>X + </a:t>
            </a:r>
            <a:r>
              <a:rPr lang="en-CA" dirty="0" err="1"/>
              <a:t>ε</a:t>
            </a:r>
            <a:r>
              <a:rPr lang="en-CA" dirty="0"/>
              <a:t> where this is the equation of a straight line with intercept of β</a:t>
            </a:r>
            <a:r>
              <a:rPr lang="en-CA" baseline="-25000" dirty="0"/>
              <a:t>0 </a:t>
            </a:r>
            <a:r>
              <a:rPr lang="en-CA" dirty="0"/>
              <a:t>and slope of β</a:t>
            </a:r>
            <a:r>
              <a:rPr lang="en-CA" baseline="-25000" dirty="0"/>
              <a:t>1</a:t>
            </a:r>
            <a:r>
              <a:rPr lang="en-CA" dirty="0"/>
              <a:t>. Here </a:t>
            </a:r>
            <a:r>
              <a:rPr lang="en-CA" dirty="0" err="1"/>
              <a:t>ε</a:t>
            </a:r>
            <a:r>
              <a:rPr lang="en-CA" dirty="0"/>
              <a:t> indicates the error term (the difference between an observed value and the regression line).</a:t>
            </a:r>
            <a:endParaRPr dirty="0"/>
          </a:p>
          <a:p>
            <a:pPr marL="0" lvl="0" indent="0" algn="l" rtl="0">
              <a:spcBef>
                <a:spcPts val="1000"/>
              </a:spcBef>
              <a:spcAft>
                <a:spcPts val="0"/>
              </a:spcAft>
              <a:buNone/>
            </a:pPr>
            <a:r>
              <a:rPr lang="en-CA" dirty="0"/>
              <a:t>If we have a new observation, let’s call it </a:t>
            </a:r>
            <a:r>
              <a:rPr lang="en-CA" dirty="0" err="1"/>
              <a:t>x</a:t>
            </a:r>
            <a:r>
              <a:rPr lang="en-CA" baseline="-25000" dirty="0" err="1"/>
              <a:t>n</a:t>
            </a:r>
            <a:r>
              <a:rPr lang="en-CA" dirty="0"/>
              <a:t>, we can predict </a:t>
            </a:r>
            <a:r>
              <a:rPr lang="en-CA" dirty="0" err="1"/>
              <a:t>y</a:t>
            </a:r>
            <a:r>
              <a:rPr lang="en-CA" baseline="-25000" dirty="0" err="1"/>
              <a:t>n</a:t>
            </a:r>
            <a:r>
              <a:rPr lang="en-CA" dirty="0"/>
              <a:t> by applying the equation above, and assuming that </a:t>
            </a:r>
            <a:r>
              <a:rPr lang="en-CA" dirty="0" err="1"/>
              <a:t>ε</a:t>
            </a:r>
            <a:r>
              <a:rPr lang="en-CA" dirty="0"/>
              <a:t> =0.</a:t>
            </a:r>
            <a:endParaRPr dirty="0"/>
          </a:p>
          <a:p>
            <a:pPr marL="0" lvl="0" indent="0" algn="l" rtl="0">
              <a:spcBef>
                <a:spcPts val="1000"/>
              </a:spcBef>
              <a:spcAft>
                <a:spcPts val="0"/>
              </a:spcAft>
              <a:buNone/>
            </a:pPr>
            <a:r>
              <a:rPr lang="en-CA" dirty="0"/>
              <a:t>We should limit predictions to the range of values of x that were observed in the regression model because the relationship between y and x may not be beyond the interval of the observed data.</a:t>
            </a:r>
            <a:endParaRPr dirty="0"/>
          </a:p>
        </p:txBody>
      </p:sp>
      <p:sp>
        <p:nvSpPr>
          <p:cNvPr id="339" name="Google Shape;339;g36d658ecedf_1_161"/>
          <p:cNvSpPr txBox="1">
            <a:spLocks noGrp="1"/>
          </p:cNvSpPr>
          <p:nvPr>
            <p:ph type="title"/>
          </p:nvPr>
        </p:nvSpPr>
        <p:spPr>
          <a:xfrm>
            <a:off x="838200" y="778340"/>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CA" dirty="0"/>
              <a:t>Making Predictions </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C9026-6725-D1CC-1CC1-DE1FFAB1D10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1292A5-6CCB-88A9-6C7E-1E3F155E6643}"/>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52</a:t>
            </a:fld>
            <a:endParaRPr lang="en-US">
              <a:solidFill>
                <a:prstClr val="black">
                  <a:lumMod val="95000"/>
                  <a:lumOff val="5000"/>
                </a:prstClr>
              </a:solidFill>
            </a:endParaRPr>
          </a:p>
        </p:txBody>
      </p:sp>
      <p:sp>
        <p:nvSpPr>
          <p:cNvPr id="3" name="Title 2">
            <a:extLst>
              <a:ext uri="{FF2B5EF4-FFF2-40B4-BE49-F238E27FC236}">
                <a16:creationId xmlns:a16="http://schemas.microsoft.com/office/drawing/2014/main" id="{FA02388A-982F-A0CD-9824-50EF9E2C3AF0}"/>
              </a:ext>
            </a:extLst>
          </p:cNvPr>
          <p:cNvSpPr>
            <a:spLocks noGrp="1"/>
          </p:cNvSpPr>
          <p:nvPr>
            <p:ph type="title"/>
          </p:nvPr>
        </p:nvSpPr>
        <p:spPr/>
        <p:txBody>
          <a:bodyPr/>
          <a:lstStyle/>
          <a:p>
            <a:r>
              <a:rPr lang="en-US" dirty="0"/>
              <a:t>Exercise 5</a:t>
            </a:r>
          </a:p>
        </p:txBody>
      </p:sp>
      <p:sp>
        <p:nvSpPr>
          <p:cNvPr id="4" name="Text Placeholder 3">
            <a:extLst>
              <a:ext uri="{FF2B5EF4-FFF2-40B4-BE49-F238E27FC236}">
                <a16:creationId xmlns:a16="http://schemas.microsoft.com/office/drawing/2014/main" id="{88F90A7A-693B-3EDA-BE7D-DB55C2C7558C}"/>
              </a:ext>
            </a:extLst>
          </p:cNvPr>
          <p:cNvSpPr>
            <a:spLocks noGrp="1"/>
          </p:cNvSpPr>
          <p:nvPr>
            <p:ph type="body" sz="quarter" idx="13"/>
          </p:nvPr>
        </p:nvSpPr>
        <p:spPr/>
        <p:txBody>
          <a:bodyPr/>
          <a:lstStyle/>
          <a:p>
            <a:r>
              <a:rPr lang="en-US" dirty="0"/>
              <a:t>Complete the regression exercise in the lesson_3_exercises pdf.</a:t>
            </a:r>
          </a:p>
        </p:txBody>
      </p:sp>
    </p:spTree>
    <p:extLst>
      <p:ext uri="{BB962C8B-B14F-4D97-AF65-F5344CB8AC3E}">
        <p14:creationId xmlns:p14="http://schemas.microsoft.com/office/powerpoint/2010/main" val="22255464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8CF9DE-665B-D524-38BD-EE89CB905534}"/>
              </a:ext>
            </a:extLst>
          </p:cNvPr>
          <p:cNvSpPr>
            <a:spLocks noGrp="1"/>
          </p:cNvSpPr>
          <p:nvPr>
            <p:ph type="title"/>
          </p:nvPr>
        </p:nvSpPr>
        <p:spPr/>
        <p:txBody>
          <a:bodyPr/>
          <a:lstStyle/>
          <a:p>
            <a:r>
              <a:rPr lang="en-US" dirty="0"/>
              <a:t>Sometimes ordinary least squares is not what the doctor has ordered…</a:t>
            </a:r>
          </a:p>
        </p:txBody>
      </p:sp>
      <p:sp>
        <p:nvSpPr>
          <p:cNvPr id="6" name="Content Placeholder 5">
            <a:extLst>
              <a:ext uri="{FF2B5EF4-FFF2-40B4-BE49-F238E27FC236}">
                <a16:creationId xmlns:a16="http://schemas.microsoft.com/office/drawing/2014/main" id="{CBF36734-58B2-AEBC-EBC4-8DD60DBFF5A5}"/>
              </a:ext>
            </a:extLst>
          </p:cNvPr>
          <p:cNvSpPr>
            <a:spLocks noGrp="1"/>
          </p:cNvSpPr>
          <p:nvPr>
            <p:ph idx="1"/>
          </p:nvPr>
        </p:nvSpPr>
        <p:spPr>
          <a:xfrm>
            <a:off x="1024128" y="2286000"/>
            <a:ext cx="9720073" cy="4393096"/>
          </a:xfrm>
        </p:spPr>
        <p:txBody>
          <a:bodyPr>
            <a:normAutofit/>
          </a:bodyPr>
          <a:lstStyle/>
          <a:p>
            <a:pPr marL="0" indent="0">
              <a:buNone/>
            </a:pPr>
            <a:r>
              <a:rPr lang="en-US" sz="2800" b="1" dirty="0"/>
              <a:t>Default regression analysis in Excel = ordinary least square (OLS)</a:t>
            </a:r>
          </a:p>
          <a:p>
            <a:r>
              <a:rPr lang="en-US" sz="2800" b="1" dirty="0"/>
              <a:t>Mechanics</a:t>
            </a:r>
            <a:r>
              <a:rPr lang="en-US" sz="2800" dirty="0"/>
              <a:t>: Fits a line by minimizing </a:t>
            </a:r>
            <a:r>
              <a:rPr lang="en-US" sz="2800" i="1" dirty="0"/>
              <a:t>vertical</a:t>
            </a:r>
            <a:r>
              <a:rPr lang="en-US" sz="2800" dirty="0"/>
              <a:t> distances between observed y-points and line.</a:t>
            </a:r>
          </a:p>
          <a:p>
            <a:r>
              <a:rPr lang="en-US" sz="2800" b="1" dirty="0"/>
              <a:t>Assumptions</a:t>
            </a:r>
            <a:r>
              <a:rPr lang="en-US" sz="2800" dirty="0"/>
              <a:t>:</a:t>
            </a:r>
          </a:p>
          <a:p>
            <a:pPr lvl="1"/>
            <a:r>
              <a:rPr lang="en-US" sz="2800" dirty="0"/>
              <a:t>All error in y-axis variable, x measured without error</a:t>
            </a:r>
          </a:p>
          <a:p>
            <a:pPr lvl="1"/>
            <a:r>
              <a:rPr lang="en-US" sz="2800" dirty="0"/>
              <a:t>Homoscedastic errors (constant variance)</a:t>
            </a:r>
          </a:p>
          <a:p>
            <a:pPr lvl="1"/>
            <a:r>
              <a:rPr lang="en-US" sz="2800" dirty="0"/>
              <a:t>Relationship is linear</a:t>
            </a:r>
          </a:p>
        </p:txBody>
      </p:sp>
    </p:spTree>
    <p:extLst>
      <p:ext uri="{BB962C8B-B14F-4D97-AF65-F5344CB8AC3E}">
        <p14:creationId xmlns:p14="http://schemas.microsoft.com/office/powerpoint/2010/main" val="18315039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2E5E-D9EF-B51E-D037-572F003D005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65AC95-36E0-9199-4F30-760912C10F3A}"/>
              </a:ext>
            </a:extLst>
          </p:cNvPr>
          <p:cNvSpPr>
            <a:spLocks noGrp="1"/>
          </p:cNvSpPr>
          <p:nvPr>
            <p:ph type="title"/>
          </p:nvPr>
        </p:nvSpPr>
        <p:spPr/>
        <p:txBody>
          <a:bodyPr/>
          <a:lstStyle/>
          <a:p>
            <a:r>
              <a:rPr lang="en-US" dirty="0"/>
              <a:t>Sometimes ordinary least squares is not what the doctor has ordered…</a:t>
            </a:r>
          </a:p>
        </p:txBody>
      </p:sp>
      <p:sp>
        <p:nvSpPr>
          <p:cNvPr id="6" name="Content Placeholder 5">
            <a:extLst>
              <a:ext uri="{FF2B5EF4-FFF2-40B4-BE49-F238E27FC236}">
                <a16:creationId xmlns:a16="http://schemas.microsoft.com/office/drawing/2014/main" id="{E38BB35A-5F19-67E3-3D5A-1A07D9DB0D47}"/>
              </a:ext>
            </a:extLst>
          </p:cNvPr>
          <p:cNvSpPr>
            <a:spLocks noGrp="1"/>
          </p:cNvSpPr>
          <p:nvPr>
            <p:ph idx="1"/>
          </p:nvPr>
        </p:nvSpPr>
        <p:spPr>
          <a:xfrm>
            <a:off x="1024128" y="2286000"/>
            <a:ext cx="9720073" cy="4393096"/>
          </a:xfrm>
        </p:spPr>
        <p:txBody>
          <a:bodyPr>
            <a:normAutofit/>
          </a:bodyPr>
          <a:lstStyle/>
          <a:p>
            <a:r>
              <a:rPr lang="en-US" sz="2800" b="1" dirty="0"/>
              <a:t>Issue in method comparison</a:t>
            </a:r>
            <a:r>
              <a:rPr lang="en-US" sz="2800" dirty="0"/>
              <a:t>:</a:t>
            </a:r>
          </a:p>
          <a:p>
            <a:pPr lvl="1"/>
            <a:r>
              <a:rPr lang="en-US" sz="2800" dirty="0"/>
              <a:t>Both methods (x and y) have imprecision → slope estimate biased toward zero (</a:t>
            </a:r>
            <a:r>
              <a:rPr lang="en-US" sz="2800" i="1" dirty="0"/>
              <a:t>attenuation bias</a:t>
            </a:r>
            <a:r>
              <a:rPr lang="en-US" sz="2800" dirty="0"/>
              <a:t>)</a:t>
            </a:r>
          </a:p>
          <a:p>
            <a:pPr lvl="1"/>
            <a:r>
              <a:rPr lang="en-US" sz="2800" dirty="0"/>
              <a:t>High (R^2) from OLS doesn’t mean good agreement in method comparison — often misleading if slope &lt; 1 and intercept ≠ 0</a:t>
            </a:r>
          </a:p>
          <a:p>
            <a:r>
              <a:rPr lang="en-US" sz="2800" b="1" dirty="0"/>
              <a:t>Good for</a:t>
            </a:r>
            <a:r>
              <a:rPr lang="en-US" sz="2800" dirty="0"/>
              <a:t>: Prediction when x truly measured without error (e.g., calibrator value).</a:t>
            </a:r>
          </a:p>
          <a:p>
            <a:pPr lvl="1">
              <a:buFont typeface="Arial" panose="020B0604020202020204" pitchFamily="34" charset="0"/>
              <a:buChar char="•"/>
            </a:pPr>
            <a:endParaRPr lang="en-US" dirty="0"/>
          </a:p>
        </p:txBody>
      </p:sp>
    </p:spTree>
    <p:extLst>
      <p:ext uri="{BB962C8B-B14F-4D97-AF65-F5344CB8AC3E}">
        <p14:creationId xmlns:p14="http://schemas.microsoft.com/office/powerpoint/2010/main" val="40202472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1E67E-8A0D-8328-CF6B-47AEEDF73DA4}"/>
              </a:ext>
            </a:extLst>
          </p:cNvPr>
          <p:cNvSpPr>
            <a:spLocks noGrp="1"/>
          </p:cNvSpPr>
          <p:nvPr>
            <p:ph type="title"/>
          </p:nvPr>
        </p:nvSpPr>
        <p:spPr/>
        <p:txBody>
          <a:bodyPr/>
          <a:lstStyle/>
          <a:p>
            <a:r>
              <a:rPr lang="en-US" dirty="0"/>
              <a:t>Deming regression is often more appropriate for comparisons expected to have similar error</a:t>
            </a:r>
          </a:p>
        </p:txBody>
      </p:sp>
      <p:sp>
        <p:nvSpPr>
          <p:cNvPr id="3" name="Content Placeholder 2">
            <a:extLst>
              <a:ext uri="{FF2B5EF4-FFF2-40B4-BE49-F238E27FC236}">
                <a16:creationId xmlns:a16="http://schemas.microsoft.com/office/drawing/2014/main" id="{0D6DF9B2-CF2D-F3EC-003B-51697108EC19}"/>
              </a:ext>
            </a:extLst>
          </p:cNvPr>
          <p:cNvSpPr>
            <a:spLocks noGrp="1"/>
          </p:cNvSpPr>
          <p:nvPr>
            <p:ph idx="1"/>
          </p:nvPr>
        </p:nvSpPr>
        <p:spPr>
          <a:xfrm>
            <a:off x="1024128" y="2286000"/>
            <a:ext cx="9720073" cy="4300330"/>
          </a:xfrm>
        </p:spPr>
        <p:txBody>
          <a:bodyPr>
            <a:normAutofit/>
          </a:bodyPr>
          <a:lstStyle/>
          <a:p>
            <a:r>
              <a:rPr lang="en-US" sz="2800" b="1" dirty="0"/>
              <a:t>Mechanics</a:t>
            </a:r>
            <a:r>
              <a:rPr lang="en-US" sz="2800" dirty="0"/>
              <a:t>: Fits a line minimizing </a:t>
            </a:r>
            <a:r>
              <a:rPr lang="en-US" sz="2800" i="1" dirty="0"/>
              <a:t>orthogonal</a:t>
            </a:r>
            <a:r>
              <a:rPr lang="en-US" sz="2800" dirty="0"/>
              <a:t> distances to the line (accounts for error in both axes)</a:t>
            </a:r>
          </a:p>
          <a:p>
            <a:r>
              <a:rPr lang="en-US" sz="2800" b="1" dirty="0"/>
              <a:t>Assumptions</a:t>
            </a:r>
            <a:r>
              <a:rPr lang="en-US" sz="2800" dirty="0"/>
              <a:t>:</a:t>
            </a:r>
          </a:p>
          <a:p>
            <a:pPr lvl="1"/>
            <a:r>
              <a:rPr lang="en-US" sz="2800" dirty="0"/>
              <a:t>Linear relationship</a:t>
            </a:r>
          </a:p>
          <a:p>
            <a:pPr lvl="1"/>
            <a:r>
              <a:rPr lang="en-US" sz="2800" dirty="0"/>
              <a:t>Normally distributed measurement error in both variables</a:t>
            </a:r>
          </a:p>
          <a:p>
            <a:pPr lvl="1"/>
            <a:r>
              <a:rPr lang="en-US" sz="2800" dirty="0"/>
              <a:t>Variance ratio of errors in x and y is known (often assumed = 1 if same units/precision)</a:t>
            </a:r>
          </a:p>
        </p:txBody>
      </p:sp>
    </p:spTree>
    <p:extLst>
      <p:ext uri="{BB962C8B-B14F-4D97-AF65-F5344CB8AC3E}">
        <p14:creationId xmlns:p14="http://schemas.microsoft.com/office/powerpoint/2010/main" val="31835891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BE7C9-D5DE-0C86-0C98-EA0CE521C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20460-7638-FD36-3527-B5C41E6152FD}"/>
              </a:ext>
            </a:extLst>
          </p:cNvPr>
          <p:cNvSpPr>
            <a:spLocks noGrp="1"/>
          </p:cNvSpPr>
          <p:nvPr>
            <p:ph type="title"/>
          </p:nvPr>
        </p:nvSpPr>
        <p:spPr/>
        <p:txBody>
          <a:bodyPr/>
          <a:lstStyle/>
          <a:p>
            <a:r>
              <a:rPr lang="en-US" dirty="0"/>
              <a:t>Deming regression is often more appropriate for comparisons expected to have similar error</a:t>
            </a:r>
          </a:p>
        </p:txBody>
      </p:sp>
      <p:sp>
        <p:nvSpPr>
          <p:cNvPr id="3" name="Content Placeholder 2">
            <a:extLst>
              <a:ext uri="{FF2B5EF4-FFF2-40B4-BE49-F238E27FC236}">
                <a16:creationId xmlns:a16="http://schemas.microsoft.com/office/drawing/2014/main" id="{059353C3-4BD2-1336-ED92-912300F3B5A9}"/>
              </a:ext>
            </a:extLst>
          </p:cNvPr>
          <p:cNvSpPr>
            <a:spLocks noGrp="1"/>
          </p:cNvSpPr>
          <p:nvPr>
            <p:ph idx="1"/>
          </p:nvPr>
        </p:nvSpPr>
        <p:spPr>
          <a:xfrm>
            <a:off x="1024128" y="2286000"/>
            <a:ext cx="9720073" cy="4300330"/>
          </a:xfrm>
        </p:spPr>
        <p:txBody>
          <a:bodyPr>
            <a:normAutofit fontScale="92500" lnSpcReduction="10000"/>
          </a:bodyPr>
          <a:lstStyle/>
          <a:p>
            <a:r>
              <a:rPr lang="en-US" sz="2800" b="1" dirty="0"/>
              <a:t>Strength in method comparison</a:t>
            </a:r>
            <a:r>
              <a:rPr lang="en-US" sz="2800" dirty="0"/>
              <a:t>:</a:t>
            </a:r>
          </a:p>
          <a:p>
            <a:pPr lvl="1"/>
            <a:r>
              <a:rPr lang="en-US" sz="2800" dirty="0"/>
              <a:t>Removes attenuation bias</a:t>
            </a:r>
          </a:p>
          <a:p>
            <a:pPr lvl="1"/>
            <a:r>
              <a:rPr lang="en-US" sz="2800" dirty="0"/>
              <a:t>More accurate slope/intercept estimates for comparing two analytic methods</a:t>
            </a:r>
          </a:p>
          <a:p>
            <a:pPr lvl="1"/>
            <a:r>
              <a:rPr lang="en-US" sz="2800" dirty="0"/>
              <a:t>Widely recommended in CLSI EP09 guidelines for method comparison</a:t>
            </a:r>
          </a:p>
          <a:p>
            <a:r>
              <a:rPr lang="en-US" sz="2800" b="1" dirty="0"/>
              <a:t>Limitation</a:t>
            </a:r>
            <a:r>
              <a:rPr lang="en-US" sz="2800" dirty="0"/>
              <a:t>:</a:t>
            </a:r>
          </a:p>
          <a:p>
            <a:pPr lvl="1"/>
            <a:r>
              <a:rPr lang="en-US" sz="2800" dirty="0"/>
              <a:t>Sensitive to outliers</a:t>
            </a:r>
          </a:p>
          <a:p>
            <a:pPr lvl="1"/>
            <a:r>
              <a:rPr lang="en-US" sz="2800" dirty="0"/>
              <a:t>Requires variance ratio — if poorly estimated, line can be misfit</a:t>
            </a:r>
          </a:p>
          <a:p>
            <a:r>
              <a:rPr lang="en-US" sz="2800" b="1" dirty="0"/>
              <a:t>Good for</a:t>
            </a:r>
            <a:r>
              <a:rPr lang="en-US" sz="2800" dirty="0"/>
              <a:t>: Two methods with similar distributions/error patterns, and variance ratio can be estimated</a:t>
            </a:r>
          </a:p>
          <a:p>
            <a:endParaRPr lang="en-US" dirty="0"/>
          </a:p>
        </p:txBody>
      </p:sp>
    </p:spTree>
    <p:extLst>
      <p:ext uri="{BB962C8B-B14F-4D97-AF65-F5344CB8AC3E}">
        <p14:creationId xmlns:p14="http://schemas.microsoft.com/office/powerpoint/2010/main" val="13909550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39EB-1B5E-EB64-899F-CB9748E9344A}"/>
              </a:ext>
            </a:extLst>
          </p:cNvPr>
          <p:cNvSpPr>
            <a:spLocks noGrp="1"/>
          </p:cNvSpPr>
          <p:nvPr>
            <p:ph type="title"/>
          </p:nvPr>
        </p:nvSpPr>
        <p:spPr/>
        <p:txBody>
          <a:bodyPr/>
          <a:lstStyle/>
          <a:p>
            <a:r>
              <a:rPr lang="en-US" dirty="0"/>
              <a:t>Considerations for more advanced regression</a:t>
            </a:r>
          </a:p>
        </p:txBody>
      </p:sp>
      <p:sp>
        <p:nvSpPr>
          <p:cNvPr id="3" name="Content Placeholder 2">
            <a:extLst>
              <a:ext uri="{FF2B5EF4-FFF2-40B4-BE49-F238E27FC236}">
                <a16:creationId xmlns:a16="http://schemas.microsoft.com/office/drawing/2014/main" id="{C0BCF4CB-5996-4B2F-E269-EB5333E00720}"/>
              </a:ext>
            </a:extLst>
          </p:cNvPr>
          <p:cNvSpPr>
            <a:spLocks noGrp="1"/>
          </p:cNvSpPr>
          <p:nvPr>
            <p:ph idx="1"/>
          </p:nvPr>
        </p:nvSpPr>
        <p:spPr/>
        <p:txBody>
          <a:bodyPr>
            <a:normAutofit/>
          </a:bodyPr>
          <a:lstStyle/>
          <a:p>
            <a:pPr>
              <a:buFont typeface="Arial" panose="020B0604020202020204" pitchFamily="34" charset="0"/>
              <a:buChar char="•"/>
            </a:pPr>
            <a:r>
              <a:rPr lang="en-US" sz="2800" dirty="0"/>
              <a:t> Deming regression is not available within the default analysis tools in Excel</a:t>
            </a:r>
          </a:p>
          <a:p>
            <a:pPr lvl="1">
              <a:buFont typeface="Arial" panose="020B0604020202020204" pitchFamily="34" charset="0"/>
              <a:buChar char="•"/>
            </a:pPr>
            <a:r>
              <a:rPr lang="en-US" sz="2400" dirty="0"/>
              <a:t> Readily available in </a:t>
            </a:r>
            <a:r>
              <a:rPr lang="en-US" sz="2400" dirty="0" err="1"/>
              <a:t>mcr</a:t>
            </a:r>
            <a:r>
              <a:rPr lang="en-US" sz="2400" dirty="0"/>
              <a:t> package in R</a:t>
            </a:r>
          </a:p>
          <a:p>
            <a:pPr lvl="1">
              <a:buFont typeface="Arial" panose="020B0604020202020204" pitchFamily="34" charset="0"/>
              <a:buChar char="•"/>
            </a:pPr>
            <a:endParaRPr lang="en-US" sz="2400" dirty="0"/>
          </a:p>
          <a:p>
            <a:pPr>
              <a:buFont typeface="Arial" panose="020B0604020202020204" pitchFamily="34" charset="0"/>
              <a:buChar char="•"/>
            </a:pPr>
            <a:r>
              <a:rPr lang="en-US" sz="2800" dirty="0"/>
              <a:t> Passing </a:t>
            </a:r>
            <a:r>
              <a:rPr lang="en-US" sz="2800" dirty="0" err="1"/>
              <a:t>Bablok</a:t>
            </a:r>
            <a:r>
              <a:rPr lang="en-US" sz="2800" dirty="0"/>
              <a:t> is another regression method that is non-parametric</a:t>
            </a:r>
          </a:p>
          <a:p>
            <a:pPr lvl="1">
              <a:buFont typeface="Arial" panose="020B0604020202020204" pitchFamily="34" charset="0"/>
              <a:buChar char="•"/>
            </a:pPr>
            <a:r>
              <a:rPr lang="en-US" sz="2400" dirty="0"/>
              <a:t> Robust to outliers</a:t>
            </a:r>
          </a:p>
          <a:p>
            <a:pPr lvl="1">
              <a:buFont typeface="Arial" panose="020B0604020202020204" pitchFamily="34" charset="0"/>
              <a:buChar char="•"/>
            </a:pPr>
            <a:r>
              <a:rPr lang="en-US" sz="2400" dirty="0"/>
              <a:t> Also not available in Excel</a:t>
            </a:r>
          </a:p>
        </p:txBody>
      </p:sp>
      <p:sp>
        <p:nvSpPr>
          <p:cNvPr id="4" name="Slide Number Placeholder 3">
            <a:extLst>
              <a:ext uri="{FF2B5EF4-FFF2-40B4-BE49-F238E27FC236}">
                <a16:creationId xmlns:a16="http://schemas.microsoft.com/office/drawing/2014/main" id="{ADE5311E-A9C2-1C2D-AC2D-BCAF1B011049}"/>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57</a:t>
            </a:fld>
            <a:endParaRPr lang="en-US">
              <a:solidFill>
                <a:prstClr val="black">
                  <a:lumMod val="95000"/>
                  <a:lumOff val="5000"/>
                </a:prstClr>
              </a:solidFill>
            </a:endParaRPr>
          </a:p>
        </p:txBody>
      </p:sp>
    </p:spTree>
    <p:extLst>
      <p:ext uri="{BB962C8B-B14F-4D97-AF65-F5344CB8AC3E}">
        <p14:creationId xmlns:p14="http://schemas.microsoft.com/office/powerpoint/2010/main" val="24941674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CD67-5047-CC3E-47F9-4F0F54E6DB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283507-B7E6-8451-03AC-AF2595E89ACA}"/>
              </a:ext>
            </a:extLst>
          </p:cNvPr>
          <p:cNvSpPr txBox="1"/>
          <p:nvPr/>
        </p:nvSpPr>
        <p:spPr>
          <a:xfrm>
            <a:off x="626225" y="201578"/>
            <a:ext cx="10939550" cy="5755422"/>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3200" dirty="0"/>
              <a:t> Understand the fundamental statistical concepts used in laboratory medicine, including measures of central tendency, variability, and probability distributions</a:t>
            </a:r>
          </a:p>
          <a:p>
            <a:pPr marL="342900" lvl="0" indent="-342900">
              <a:buFont typeface="+mj-lt"/>
              <a:buAutoNum type="arabicPeriod"/>
            </a:pPr>
            <a:r>
              <a:rPr lang="en-US" sz="3200" dirty="0"/>
              <a:t> Critically evaluate the validity and limitations of basic statistical inference methods (e.g., regression models, hypothesis testing, confidence intervals) in various laboratory scenarios</a:t>
            </a:r>
          </a:p>
          <a:p>
            <a:pPr marL="342900" lvl="0" indent="-342900">
              <a:buFont typeface="+mj-lt"/>
              <a:buAutoNum type="arabicPeriod"/>
            </a:pPr>
            <a:r>
              <a:rPr lang="en-US" sz="3200" dirty="0"/>
              <a:t> Apply statistical principles to real-world laboratory scenarios to improve laboratory quality, interpret results accurately, and make evidence-based decisions.</a:t>
            </a:r>
          </a:p>
        </p:txBody>
      </p:sp>
    </p:spTree>
    <p:extLst>
      <p:ext uri="{BB962C8B-B14F-4D97-AF65-F5344CB8AC3E}">
        <p14:creationId xmlns:p14="http://schemas.microsoft.com/office/powerpoint/2010/main" val="19798219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B20B-1384-871C-045C-87706EF2CCC3}"/>
              </a:ext>
            </a:extLst>
          </p:cNvPr>
          <p:cNvSpPr>
            <a:spLocks noGrp="1"/>
          </p:cNvSpPr>
          <p:nvPr>
            <p:ph type="title"/>
          </p:nvPr>
        </p:nvSpPr>
        <p:spPr/>
        <p:txBody>
          <a:bodyPr/>
          <a:lstStyle/>
          <a:p>
            <a:r>
              <a:rPr lang="en-US" dirty="0"/>
              <a:t>References &amp; Acknowledgements</a:t>
            </a:r>
          </a:p>
        </p:txBody>
      </p:sp>
      <p:sp>
        <p:nvSpPr>
          <p:cNvPr id="3" name="Content Placeholder 2">
            <a:extLst>
              <a:ext uri="{FF2B5EF4-FFF2-40B4-BE49-F238E27FC236}">
                <a16:creationId xmlns:a16="http://schemas.microsoft.com/office/drawing/2014/main" id="{37F248FF-58CD-07BA-D020-8EAE9E9AF4F7}"/>
              </a:ext>
            </a:extLst>
          </p:cNvPr>
          <p:cNvSpPr>
            <a:spLocks noGrp="1"/>
          </p:cNvSpPr>
          <p:nvPr>
            <p:ph idx="1"/>
          </p:nvPr>
        </p:nvSpPr>
        <p:spPr/>
        <p:txBody>
          <a:bodyPr>
            <a:normAutofit/>
          </a:bodyPr>
          <a:lstStyle/>
          <a:p>
            <a:r>
              <a:rPr lang="en-US" sz="2800" dirty="0"/>
              <a:t>Brody Foy for t-test content &amp; exercises</a:t>
            </a:r>
          </a:p>
          <a:p>
            <a:r>
              <a:rPr lang="en-US" sz="2800" dirty="0"/>
              <a:t>Tony Killeen &amp; Chris McCudden for correlation and regression content &amp; exercises adapted from ADLM Data Science Certificate program</a:t>
            </a:r>
          </a:p>
        </p:txBody>
      </p:sp>
      <p:sp>
        <p:nvSpPr>
          <p:cNvPr id="4" name="Slide Number Placeholder 3">
            <a:extLst>
              <a:ext uri="{FF2B5EF4-FFF2-40B4-BE49-F238E27FC236}">
                <a16:creationId xmlns:a16="http://schemas.microsoft.com/office/drawing/2014/main" id="{6C466DA9-46F3-1866-DC9B-72601DEC76D4}"/>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59</a:t>
            </a:fld>
            <a:endParaRPr lang="en-US">
              <a:solidFill>
                <a:prstClr val="black">
                  <a:lumMod val="95000"/>
                  <a:lumOff val="5000"/>
                </a:prstClr>
              </a:solidFill>
            </a:endParaRPr>
          </a:p>
        </p:txBody>
      </p:sp>
    </p:spTree>
    <p:extLst>
      <p:ext uri="{BB962C8B-B14F-4D97-AF65-F5344CB8AC3E}">
        <p14:creationId xmlns:p14="http://schemas.microsoft.com/office/powerpoint/2010/main" val="38305227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
  <TotalTime>61598</TotalTime>
  <Words>3390</Words>
  <Application>Microsoft Macintosh PowerPoint</Application>
  <PresentationFormat>Widescreen</PresentationFormat>
  <Paragraphs>371</Paragraphs>
  <Slides>59</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Arial</vt:lpstr>
      <vt:lpstr>Calibri</vt:lpstr>
      <vt:lpstr>Consolas</vt:lpstr>
      <vt:lpstr>Monaco</vt:lpstr>
      <vt:lpstr>Tw Cen MT</vt:lpstr>
      <vt:lpstr>Tw Cen MT Condensed</vt:lpstr>
      <vt:lpstr>Wingdings</vt:lpstr>
      <vt:lpstr>Wingdings 3</vt:lpstr>
      <vt:lpstr>Integral</vt:lpstr>
      <vt:lpstr>Statistics Fundamentals</vt:lpstr>
      <vt:lpstr>Disclosure of Relevant Financial Relationships</vt:lpstr>
      <vt:lpstr>Relevant Financial Relationships</vt:lpstr>
      <vt:lpstr>PowerPoint Presentation</vt:lpstr>
      <vt:lpstr>Concept review</vt:lpstr>
      <vt:lpstr>Summary Statistics</vt:lpstr>
      <vt:lpstr>The Normal Distribution</vt:lpstr>
      <vt:lpstr>Visualizing Distributions</vt:lpstr>
      <vt:lpstr>Features of the Normal Distribution</vt:lpstr>
      <vt:lpstr>Exercise 1</vt:lpstr>
      <vt:lpstr>Statistical tests</vt:lpstr>
      <vt:lpstr>Statistical tests</vt:lpstr>
      <vt:lpstr>Statistical tests</vt:lpstr>
      <vt:lpstr>Statistical tests</vt:lpstr>
      <vt:lpstr>Statistical tests</vt:lpstr>
      <vt:lpstr>Student’s t-test</vt:lpstr>
      <vt:lpstr>Student’s t-test</vt:lpstr>
      <vt:lpstr>One-sample t-test</vt:lpstr>
      <vt:lpstr>One-sample t-test</vt:lpstr>
      <vt:lpstr>One-sample t-test</vt:lpstr>
      <vt:lpstr>Exercise 2</vt:lpstr>
      <vt:lpstr>One-sample t-test in R</vt:lpstr>
      <vt:lpstr>One-sample t-test in R</vt:lpstr>
      <vt:lpstr>One-sample t-test</vt:lpstr>
      <vt:lpstr>2-sample t-test</vt:lpstr>
      <vt:lpstr>Two-sample t-test</vt:lpstr>
      <vt:lpstr>Two-sample t-test</vt:lpstr>
      <vt:lpstr>Exercise 3</vt:lpstr>
      <vt:lpstr>Two-sample t-test in R</vt:lpstr>
      <vt:lpstr>Two-sample t-test</vt:lpstr>
      <vt:lpstr>2-sample t-test in R</vt:lpstr>
      <vt:lpstr>Chi-squared test</vt:lpstr>
      <vt:lpstr>Chi-squared test</vt:lpstr>
      <vt:lpstr>Chi-squared test</vt:lpstr>
      <vt:lpstr>Chi-squared test</vt:lpstr>
      <vt:lpstr>Chi-squared test</vt:lpstr>
      <vt:lpstr>Chi-squared test</vt:lpstr>
      <vt:lpstr>Chi-squared test</vt:lpstr>
      <vt:lpstr>Chi-squared test</vt:lpstr>
      <vt:lpstr>Chi-squared test in R</vt:lpstr>
      <vt:lpstr>Regression Concepts</vt:lpstr>
      <vt:lpstr>Correlation Coefficients</vt:lpstr>
      <vt:lpstr>PowerPoint Presentation</vt:lpstr>
      <vt:lpstr>Correlation Coefficients</vt:lpstr>
      <vt:lpstr>What Does the Correlation Coefficient Mean?</vt:lpstr>
      <vt:lpstr>Exercise 4</vt:lpstr>
      <vt:lpstr>Linear Regression</vt:lpstr>
      <vt:lpstr>Linear Regression Example</vt:lpstr>
      <vt:lpstr>Checking Model Assumptions</vt:lpstr>
      <vt:lpstr>Checking Model Assumptions</vt:lpstr>
      <vt:lpstr>Making Predictions </vt:lpstr>
      <vt:lpstr>Exercise 5</vt:lpstr>
      <vt:lpstr>Sometimes ordinary least squares is not what the doctor has ordered…</vt:lpstr>
      <vt:lpstr>Sometimes ordinary least squares is not what the doctor has ordered…</vt:lpstr>
      <vt:lpstr>Deming regression is often more appropriate for comparisons expected to have similar error</vt:lpstr>
      <vt:lpstr>Deming regression is often more appropriate for comparisons expected to have similar error</vt:lpstr>
      <vt:lpstr>Considerations for more advanced regression</vt:lpstr>
      <vt:lpstr>PowerPoint Presentation</vt:lpstr>
      <vt:lpstr>References &amp;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Medical Doctors  Reproducible Clinical Data Analysis</dc:title>
  <dc:creator>Kadauke, Stephan,M.D.</dc:creator>
  <cp:lastModifiedBy>Patrick C Mathias</cp:lastModifiedBy>
  <cp:revision>749</cp:revision>
  <cp:lastPrinted>2020-07-14T03:12:28Z</cp:lastPrinted>
  <dcterms:created xsi:type="dcterms:W3CDTF">2018-02-01T22:00:01Z</dcterms:created>
  <dcterms:modified xsi:type="dcterms:W3CDTF">2025-09-22T22:05:05Z</dcterms:modified>
</cp:coreProperties>
</file>